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59" r:id="rId5"/>
    <p:sldId id="263" r:id="rId9"/>
    <p:sldId id="264" r:id="rId10"/>
    <p:sldId id="268" r:id="rId14"/>
    <p:sldId id="279" r:id="rId46"/>
    <p:sldId id="269" r:id="rId15"/>
    <p:sldId id="270" r:id="rId16"/>
    <p:sldId id="271" r:id="rId17"/>
    <p:sldId id="267" r:id="rId13"/>
    <p:sldId id="272" r:id="rId18"/>
    <p:sldId id="273" r:id="rId19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9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6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2" name="Google Shape;61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498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127248"/>
            <a:ext cx="78638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个人Agent被托付之前，先在这里练过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3749040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从交易开始：面向AI实验室与个人Agent的训练环境与数据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493776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人民币4,000万元（等值美元）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2062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206240" y="493776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2026年9月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项目概述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把交易等专业工作做成AI的训练环境：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可计分、可复现、可训练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金融领域训练环境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从交易起步：回放竞赛订单簿，模拟器计分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卖给实验室：环境授权、Agent轨迹、评测数据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下一步：向个人Agent开放练习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已做到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7个基准与环境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交易、事件预测、AI研究、数学、推理、财务、软件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5个公开仓库；零外部融资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1790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初步证据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Qwen3.8-27B在未见过的竞赛交易日上最高提升12%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这是最高值；均值与置信区间3个月内报告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3467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量化背景创始团队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剑桥、LSE、杜克数学；2005年生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Street、Citadel、Optiver、Millennium经历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3467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360万–4,200万美元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金融一个领域每年外采，17–24家买家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按前沿实验室定价自下而上推算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34670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人民币（等值美元）；投后估值5亿元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先在金融拿下2–3家付费实验室，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再把同一套方法复制到下一个领域。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奥赛与名校 → 华尔街最残酷的交易台：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我们最懂做题与做事的差距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United Stables首位员工：帮助U稳定币一年内从0做到14亿美元，一个月上线Binance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负责机构关系，参与SIG、DRW等合作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汇丰港元稳定币发行项目唯一实习生，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全程协助推进香港金管局（HKMA）合规项目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X（Twitter）博主，内容数百万浏览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2005年生 · LSE数学本科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剑桥机器学习暑研，师从著名统计学教授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Po-Ling Loh（国际数理统计学会会士）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剑桥研究中心AI最年轻本科研究员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设计五大Benchmark与强化学习环境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2005年生 · 剑桥数学一等荣誉（奖学金）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Millennium另类数据团队史上首位应届招聘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参与落地Plug and Play香港首场活动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（联合香港科技园；200+人规模）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主持强生MedTech科技峰会（200+人规模）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17岁成为出版作家；全网原创内容获10万+互动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2005年生 · 杜克数学与统计本科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55961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放弃顶级量化机构的转正offer，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来做这件事</a:t>
            </a: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实验室已经在为环境和专家数据付费；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前沿模型在交易里却还会亏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实验室在买环境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15亿美元+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15184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谷歌与RL环境公司Mechanize的交易（据报道）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3310128"/>
            <a:ext cx="348386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3383280"/>
            <a:ext cx="34838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2026年7月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3712464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Mercor收购RL环境公司Deeptune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4352544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352544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专家数据在放量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352544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27倍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352544" y="2615184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Mercor年化毛营收：16个月，7,500万→20亿美元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4352544" y="3310128"/>
            <a:ext cx="348386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4352544" y="3383280"/>
            <a:ext cx="34838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数千万美元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12464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英伟达一个季度付给Mercor的专家数据费用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4352544" y="4041648"/>
            <a:ext cx="348386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114800"/>
            <a:ext cx="34838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18倍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352544" y="4443984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AI年化收入一年增至3.75亿美元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8156448" y="151790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8156448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在交易里还会亏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156448" y="2615184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Alpha Arena：前沿模型实盘交易，32轮只有6轮赚钱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156448" y="3310128"/>
            <a:ext cx="348386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383280"/>
            <a:ext cx="34838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2/7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3712464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PolyBench：7个前沿模型在Polymarket上只有2个盈利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669280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来源：Mechanize（Business Insider）；Mercor（TechCrunch、Dealroom、The Information、福布斯）；Snorkel AI（路透社）；Alpha Arena（Nof1）；PolyBench（arXiv）。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问题与解决方案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AI已经学会推理，却还做不好真实世界里的事：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让真实结果成为下一轮训练信号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真实工作没有标准答案，只有世界的反应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3429000" y="1810512"/>
            <a:ext cx="2606040" cy="230428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1325880" y="182880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表面检查：通过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566160" y="182880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真实世界：失手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103120"/>
            <a:ext cx="548640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103120"/>
            <a:ext cx="777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325880" y="210312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历史回测一路上涨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154680" y="2103120"/>
            <a:ext cx="274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566160" y="210312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进入未见过的真实行情就亏钱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606040"/>
            <a:ext cx="54864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2606040"/>
            <a:ext cx="777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1325880" y="260604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3154680" y="2606040"/>
            <a:ext cx="274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566160" y="260604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上线后出错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108960"/>
            <a:ext cx="54864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108960"/>
            <a:ext cx="777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325880" y="310896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账看起来已经做完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3154680" y="3108960"/>
            <a:ext cx="274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566160" y="310896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月结对不平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611880"/>
            <a:ext cx="54864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548640" y="3611880"/>
            <a:ext cx="777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361188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3154680" y="3611880"/>
            <a:ext cx="274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3566160" y="361188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照着下注却亏钱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114800"/>
            <a:ext cx="54864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6492240" y="1463040"/>
            <a:ext cx="51480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AI要学会做事，需要一个</a:t>
            </a: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用真实结果结算每个动作的世界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6492240" y="1874520"/>
            <a:ext cx="4846320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6720840" y="187452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AI行动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6492240" y="2532888"/>
            <a:ext cx="4846320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6720840" y="2532888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环境按规则作出反应，结果可复现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6492240" y="3191256"/>
            <a:ext cx="4846320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6720840" y="3191256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按真实结果结算，留下Agent轨迹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6492240" y="3849624"/>
            <a:ext cx="4846320" cy="4572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6720840" y="3849624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下一轮训练：用成功轨迹迭代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6492240" y="2331720"/>
            <a:ext cx="48463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6492240" y="2990088"/>
            <a:ext cx="48463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6492240" y="3648456"/>
            <a:ext cx="48463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42" name="SimReal 5042"/>
          <p:cNvSpPr/>
          <p:nvPr/>
        </p:nvSpPr>
        <p:spPr>
          <a:xfrm>
            <a:off x="11338560" y="4078224"/>
            <a:ext cx="146304" cy="10973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3" name="SimReal 5043"/>
          <p:cNvSpPr/>
          <p:nvPr/>
        </p:nvSpPr>
        <p:spPr>
          <a:xfrm>
            <a:off x="11484864" y="2103120"/>
            <a:ext cx="10973" cy="197510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/>
          <p:nvPr/>
        </p:nvSpPr>
        <p:spPr>
          <a:xfrm>
            <a:off x="11338560" y="2103120"/>
            <a:ext cx="146304" cy="10973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5" name="SimReal 5045"/>
          <p:cNvSpPr txBox="1"/>
          <p:nvPr/>
        </p:nvSpPr>
        <p:spPr>
          <a:xfrm>
            <a:off x="11375136" y="262432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↑</a:t>
            </a:r>
          </a:p>
        </p:txBody>
      </p:sp>
      <p:sp>
        <p:nvSpPr>
          <p:cNvPr id="5046" name="SimReal 5046"/>
          <p:cNvSpPr/>
          <p:nvPr/>
        </p:nvSpPr>
        <p:spPr>
          <a:xfrm>
            <a:off x="548640" y="4434840"/>
            <a:ext cx="2635758" cy="65836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7" name="SimReal 5047"/>
          <p:cNvSpPr txBox="1"/>
          <p:nvPr/>
        </p:nvSpPr>
        <p:spPr>
          <a:xfrm>
            <a:off x="731520" y="4489704"/>
            <a:ext cx="226999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01 训练环境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31520" y="4764024"/>
            <a:ext cx="226999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按真实规则重建专业场景</a:t>
            </a:r>
          </a:p>
        </p:txBody>
      </p:sp>
      <p:sp>
        <p:nvSpPr>
          <p:cNvPr id="5049" name="SimReal 5049"/>
          <p:cNvSpPr/>
          <p:nvPr/>
        </p:nvSpPr>
        <p:spPr>
          <a:xfrm>
            <a:off x="3367278" y="4434840"/>
            <a:ext cx="2635758" cy="65836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0" name="SimReal 5050"/>
          <p:cNvSpPr txBox="1"/>
          <p:nvPr/>
        </p:nvSpPr>
        <p:spPr>
          <a:xfrm>
            <a:off x="3550158" y="4489704"/>
            <a:ext cx="226999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02 结果评分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3550158" y="4764024"/>
            <a:ext cx="226999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按真实结果打分，不靠AI主观判断</a:t>
            </a:r>
          </a:p>
        </p:txBody>
      </p:sp>
      <p:sp>
        <p:nvSpPr>
          <p:cNvPr id="5052" name="SimReal 5052"/>
          <p:cNvSpPr/>
          <p:nvPr/>
        </p:nvSpPr>
        <p:spPr>
          <a:xfrm>
            <a:off x="6185916" y="4434840"/>
            <a:ext cx="2635758" cy="65836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3" name="SimReal 5053"/>
          <p:cNvSpPr txBox="1"/>
          <p:nvPr/>
        </p:nvSpPr>
        <p:spPr>
          <a:xfrm>
            <a:off x="6368796" y="4489704"/>
            <a:ext cx="226999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03 专家反馈</a:t>
            </a:r>
          </a:p>
        </p:txBody>
      </p:sp>
      <p:sp>
        <p:nvSpPr>
          <p:cNvPr id="5054" name="SimReal 5054"/>
          <p:cNvSpPr txBox="1"/>
          <p:nvPr/>
        </p:nvSpPr>
        <p:spPr>
          <a:xfrm>
            <a:off x="6368796" y="4764024"/>
            <a:ext cx="226999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提供专业判断与评分标准</a:t>
            </a:r>
          </a:p>
        </p:txBody>
      </p:sp>
      <p:sp>
        <p:nvSpPr>
          <p:cNvPr id="5055" name="SimReal 5055"/>
          <p:cNvSpPr/>
          <p:nvPr/>
        </p:nvSpPr>
        <p:spPr>
          <a:xfrm>
            <a:off x="9004554" y="4434840"/>
            <a:ext cx="2635758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6" name="SimReal 5056"/>
          <p:cNvSpPr txBox="1"/>
          <p:nvPr/>
        </p:nvSpPr>
        <p:spPr>
          <a:xfrm>
            <a:off x="9187434" y="4489704"/>
            <a:ext cx="226999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SimReal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9187434" y="4764024"/>
            <a:ext cx="226999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同一套环境，打通评测、数据与训练</a:t>
            </a:r>
          </a:p>
        </p:txBody>
      </p:sp>
      <p:sp>
        <p:nvSpPr>
          <p:cNvPr id="5058" name="SimReal 5058"/>
          <p:cNvSpPr txBox="1"/>
          <p:nvPr/>
        </p:nvSpPr>
        <p:spPr>
          <a:xfrm>
            <a:off x="548640" y="523036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每一轮用真实结果筛出成功轨迹再训练：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今天是专家迭代，长期目标是RSI</a:t>
            </a: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59" name="SimReal 5059"/>
          <p:cNvSpPr txBox="1"/>
          <p:nvPr/>
        </p:nvSpPr>
        <p:spPr>
          <a:xfrm>
            <a:off x="548640" y="5760720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RSI：递归式自我改进，AI参与改进下一代AI</a:t>
            </a:r>
          </a:p>
        </p:txBody>
      </p:sp>
      <p:sp>
        <p:nvSpPr>
          <p:cNvPr id="5060" name="SimReal 506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61" name="SimReal 506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62" name="SimReal 506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0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旗舰实证 · Xitadel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两周，我们跑通了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做市交易的迭代训练闭环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585216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517904"/>
            <a:ext cx="12344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一个回合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828800" y="1517904"/>
            <a:ext cx="45720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用受限工具研究订单簿6或12小时，写出Trader.run(state)，提交不可撤回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38528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38528"/>
            <a:ext cx="12344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竞赛级市场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828800" y="1938528"/>
            <a:ext cx="45720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回放IMC Prosperity交易竞赛订单簿，逐笔撮合（规则见第12页）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2359152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48640" y="2359152"/>
            <a:ext cx="12344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模拟器当裁判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828800" y="2359152"/>
            <a:ext cx="45720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按盈亏、回撤与夏普计分，计分公式见第12页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779776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2779776"/>
            <a:ext cx="12344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对标人类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1828800" y="2779776"/>
            <a:ext cx="45720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同一留出交易日上的最佳人类竞赛策略记80分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20040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29184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514600" y="3310128"/>
            <a:ext cx="3886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开源模型Qwen3.8-27B训练后，</a:t>
            </a:r>
            <a:br>
              <a:rPr lang="zh-CN" sz="1200"/>
            </a:b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在未见过的竞赛交易日上表现最高提升12%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这是最高值，不是均值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4114800"/>
            <a:ext cx="5852160" cy="80467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77240" y="4187952"/>
            <a:ext cx="5394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3个月内报告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77240" y="4389120"/>
            <a:ext cx="5394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每个任务×10个随机种子，训练前后配对：均值、95%置信区间、配对检验p值、逐任务增减；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储备任务做第二组留出；FuturePredict用真实事件结算，报告训练前后的Brier分数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6812280" y="1517904"/>
            <a:ext cx="4828032" cy="340156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086600" y="1700784"/>
            <a:ext cx="42793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Xitadel公开预览版 · 7个任务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086600" y="1938528"/>
            <a:ext cx="42793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GPT 6在5/7个任务追平人类；多资产仅51分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10588752" y="2615184"/>
            <a:ext cx="13716" cy="162763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9857232" y="2395728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人类最佳 80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086600" y="279806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GPT 6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8321040" y="2843784"/>
            <a:ext cx="2190610" cy="1828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9908146" y="2798064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FAF9F6"/>
                </a:solidFill>
                <a:latin typeface="IBM Plex Mono"/>
                <a:ea typeface="IBM Plex Mono"/>
                <a:cs typeface="IBM Plex Mono"/>
                <a:sym typeface="IBM Plex Mono"/>
              </a:rPr>
              <a:t>77.28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7086600" y="3182112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GLM 5.3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8321040" y="3227832"/>
            <a:ext cx="853794" cy="1828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9229698" y="318211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30.12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7086600" y="356616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Kimi K3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8321040" y="3611880"/>
            <a:ext cx="784628" cy="1828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9160532" y="35661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27.68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7086600" y="3950208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DeepSeek V4 Pro</a:t>
            </a:r>
          </a:p>
        </p:txBody>
      </p:sp>
      <p:sp>
        <p:nvSpPr>
          <p:cNvPr id="5038" name="SimReal 5038"/>
          <p:cNvSpPr/>
          <p:nvPr/>
        </p:nvSpPr>
        <p:spPr>
          <a:xfrm>
            <a:off x="8321040" y="3995928"/>
            <a:ext cx="696755" cy="1828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9" name="SimReal 5039"/>
          <p:cNvSpPr txBox="1"/>
          <p:nvPr/>
        </p:nvSpPr>
        <p:spPr>
          <a:xfrm>
            <a:off x="9072659" y="395020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24.58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7086600" y="4352544"/>
            <a:ext cx="42793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task_04：GLM 5.3得96.03、GPT 6得89.53，Kimi K3、DeepSeek V4 Pro为0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总分为7个任务均分；公开结果用2/4小时试点时长（标准6/12小时）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548640" y="5047488"/>
            <a:ext cx="1109167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局限：竞赛市场由交易机器人构成，不等于交易所真实行情；回放不计我方订单对价格的冲击，下一步接真实行情数据。数据：IMC Prosperity 3、4开源回测资源（MIT许可）。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48640" y="5358384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只报能复现的数字：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原始记录、指标定义、脚本与结果哈希在尽调时提供</a:t>
            </a: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48640" y="5870448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来源：Xitadel-QuantBench公开仓库（README、REPORT、SCORING）。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产品与数据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7个基准与环境，从交易到软件工程；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5个已开源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产品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4612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领域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43484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950976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状态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548640" y="181051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548640" y="1810512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Xitadel-QuantBench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246120" y="1810512"/>
            <a:ext cx="1143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434840" y="1810512"/>
            <a:ext cx="4983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做市交易旗舰环境，详见第6页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9509760" y="1810512"/>
            <a:ext cx="213055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102星标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19456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219456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Simreal-MLBench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3246120" y="2194560"/>
            <a:ext cx="1143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AI研究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434840" y="2194560"/>
            <a:ext cx="4983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60个研究任务、7类数据，参照OpenAI的MLE-bench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509760" y="2194560"/>
            <a:ext cx="213055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178星标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257860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548640" y="2578608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 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future-prediction-bench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3246120" y="2578608"/>
            <a:ext cx="1143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事件预测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434840" y="2578608"/>
            <a:ext cx="4983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预测真实事件，揭晓后按结果训练；数据实时接入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509760" y="2578608"/>
            <a:ext cx="213055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部分开源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296265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2962656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MathmoBench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3246120" y="2962656"/>
            <a:ext cx="1143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数学证明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434840" y="2962656"/>
            <a:ext cx="4983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让AI证明答案，而不是猜答案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9509760" y="2962656"/>
            <a:ext cx="213055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102星标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548640" y="334670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548640" y="3346704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hard-puzzle-benchmark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246120" y="3346704"/>
            <a:ext cx="1143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逻辑推理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4434840" y="3346704"/>
            <a:ext cx="4983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749道人工编写的推理谜题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509760" y="3346704"/>
            <a:ext cx="213055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17星标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548640" y="373075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548640" y="3730752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Close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3246120" y="3730752"/>
            <a:ext cx="1143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财务结账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4434840" y="3730752"/>
            <a:ext cx="4983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让AI零差错完成月结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509760" y="3730752"/>
            <a:ext cx="213055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已上线  ·  非公开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548640" y="41148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548640" y="411480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SWE-Forward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3246120" y="4114800"/>
            <a:ext cx="1143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软件工程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4434840" y="4114800"/>
            <a:ext cx="4983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检验AI写的代码能否挺过下一个版本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9509760" y="4114800"/>
            <a:ext cx="213055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已上线  ·  非公开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548640" y="44988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548640" y="460857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每个环境产出三类数据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5120640" y="4572000"/>
            <a:ext cx="65196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会生长：模型错在哪，下一批数据就补到哪</a:t>
            </a:r>
          </a:p>
        </p:txBody>
      </p:sp>
      <p:sp>
        <p:nvSpPr>
          <p:cNvPr id="5048" name="SimReal 5048"/>
          <p:cNvSpPr/>
          <p:nvPr/>
        </p:nvSpPr>
        <p:spPr>
          <a:xfrm>
            <a:off x="548640" y="4864608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9" name="SimReal 5049"/>
          <p:cNvSpPr txBox="1"/>
          <p:nvPr/>
        </p:nvSpPr>
        <p:spPr>
          <a:xfrm>
            <a:off x="548640" y="4901184"/>
            <a:ext cx="351434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Agent轨迹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548640" y="5212080"/>
            <a:ext cx="35143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每一步动作、世界的反馈与最终结果，按真实结果标注成败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548640" y="5559552"/>
            <a:ext cx="351434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用于监督微调与强化学习</a:t>
            </a:r>
          </a:p>
        </p:txBody>
      </p:sp>
      <p:sp>
        <p:nvSpPr>
          <p:cNvPr id="5052" name="SimReal 5052"/>
          <p:cNvSpPr/>
          <p:nvPr/>
        </p:nvSpPr>
        <p:spPr>
          <a:xfrm>
            <a:off x="4337304" y="4864608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3" name="SimReal 5053"/>
          <p:cNvSpPr txBox="1"/>
          <p:nvPr/>
        </p:nvSpPr>
        <p:spPr>
          <a:xfrm>
            <a:off x="4337304" y="4901184"/>
            <a:ext cx="351434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专家数据</a:t>
            </a:r>
          </a:p>
        </p:txBody>
      </p:sp>
      <p:sp>
        <p:nvSpPr>
          <p:cNvPr id="5054" name="SimReal 5054"/>
          <p:cNvSpPr txBox="1"/>
          <p:nvPr/>
        </p:nvSpPr>
        <p:spPr>
          <a:xfrm>
            <a:off x="4337304" y="5212080"/>
            <a:ext cx="35143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真实工作的示范、判断与评分标准，来自专家网络（第8页）</a:t>
            </a:r>
          </a:p>
        </p:txBody>
      </p:sp>
      <p:sp>
        <p:nvSpPr>
          <p:cNvPr id="5055" name="SimReal 5055"/>
          <p:cNvSpPr txBox="1"/>
          <p:nvPr/>
        </p:nvSpPr>
        <p:spPr>
          <a:xfrm>
            <a:off x="4337304" y="5559552"/>
            <a:ext cx="351434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用于对齐、奖励模型与评分</a:t>
            </a:r>
          </a:p>
        </p:txBody>
      </p:sp>
      <p:sp>
        <p:nvSpPr>
          <p:cNvPr id="5056" name="SimReal 5056"/>
          <p:cNvSpPr/>
          <p:nvPr/>
        </p:nvSpPr>
        <p:spPr>
          <a:xfrm>
            <a:off x="8125968" y="4864608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7" name="SimReal 5057"/>
          <p:cNvSpPr txBox="1"/>
          <p:nvPr/>
        </p:nvSpPr>
        <p:spPr>
          <a:xfrm>
            <a:off x="8125968" y="4901184"/>
            <a:ext cx="351434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评测数据</a:t>
            </a:r>
          </a:p>
        </p:txBody>
      </p:sp>
      <p:sp>
        <p:nvSpPr>
          <p:cNvPr id="5058" name="SimReal 5058"/>
          <p:cNvSpPr txBox="1"/>
          <p:nvPr/>
        </p:nvSpPr>
        <p:spPr>
          <a:xfrm>
            <a:off x="8125968" y="5212080"/>
            <a:ext cx="35143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私有评测集与留出集：只做检验、不进训练，经攻防测试</a:t>
            </a:r>
          </a:p>
        </p:txBody>
      </p:sp>
      <p:sp>
        <p:nvSpPr>
          <p:cNvPr id="5059" name="SimReal 5059"/>
          <p:cNvSpPr txBox="1"/>
          <p:nvPr/>
        </p:nvSpPr>
        <p:spPr>
          <a:xfrm>
            <a:off x="8125968" y="5559552"/>
            <a:ext cx="351434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用于模型验收与持续评测</a:t>
            </a:r>
          </a:p>
        </p:txBody>
      </p:sp>
      <p:sp>
        <p:nvSpPr>
          <p:cNvPr id="5060" name="SimReal 5060"/>
          <p:cNvSpPr txBox="1"/>
          <p:nvPr/>
        </p:nvSpPr>
        <p:spPr>
          <a:xfrm>
            <a:off x="5486400" y="5870448"/>
            <a:ext cx="61539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星标数截至2026年9月29日</a:t>
            </a:r>
          </a:p>
        </p:txBody>
      </p:sp>
      <p:sp>
        <p:nvSpPr>
          <p:cNvPr id="5061" name="SimReal 506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62" name="SimReal 5062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63" name="SimReal 506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5210655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5261949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42502" y="5105959"/>
            <a:ext cx="1103947" cy="54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5251045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商业模式与进展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产品已公开；商业化从付费试点开始：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合作越深，收入越高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44752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2家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1956816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560320" y="1481328"/>
            <a:ext cx="90799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三条产品线   </a:t>
            </a: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  ·  AI数据（Agent轨迹、专家、评测）  ·  迭代训练服务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560320" y="1847088"/>
            <a:ext cx="90799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同一模式：AfterQuery 14个月做到年化1亿美元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28600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304288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阶段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920240" y="230428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客户买什么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669280" y="2304288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周期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766560" y="2304288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价格（美元）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092440" y="2304288"/>
            <a:ext cx="35478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为什么继续买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560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2560320"/>
            <a:ext cx="13258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免费评测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1920240" y="2560320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公开预览版7个任务跑分、训练数据、SDK、计分规则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669280" y="2560320"/>
            <a:ext cx="1051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1–2周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766560" y="2560320"/>
            <a:ext cx="12344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免费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092440" y="2560320"/>
            <a:ext cx="34747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跑分即获客；报告对标人类最佳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03580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548640" y="3035808"/>
            <a:ext cx="13258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920240" y="3035808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定制任务、留出交易日、奖励接口；数据附授权链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669280" y="3035808"/>
            <a:ext cx="1051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8–12周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766560" y="3035808"/>
            <a:ext cx="12344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5万–15万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8092440" y="3035808"/>
            <a:ext cx="34747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训练前后对比，按约定指标验收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351129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548640" y="3511296"/>
            <a:ext cx="13258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年度授权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920240" y="3511296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全套环境、撮合引擎、对手方模型、储备任务与专家数据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669280" y="3511296"/>
            <a:ext cx="1051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12个月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6766560" y="3511296"/>
            <a:ext cx="12344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40万–200万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8092440" y="3511296"/>
            <a:ext cx="34747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每季度更新任务与留出集：旧任务会饱和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548640" y="39867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/>
          <p:nvPr/>
        </p:nvSpPr>
        <p:spPr>
          <a:xfrm>
            <a:off x="548640" y="3986784"/>
            <a:ext cx="11091672" cy="4754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85800" y="3986784"/>
            <a:ext cx="13258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920240" y="3986784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训练实验、消融分析、迁移验证、托管运行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669280" y="3986784"/>
            <a:ext cx="23317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项目或持续服务合同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092440" y="3986784"/>
            <a:ext cx="34747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解决客户下一阶段的能力缺口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4535424"/>
            <a:ext cx="110916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单位经济（估算）：公开版环境平均约6人·天，第2家起直接复用。买家集中：可延伸到交易机构。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488289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支持我们研发的交易机构从业者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9616745" y="519379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Polymarket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48640" y="5760720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标识仅表示支持者任职机构，不代表机构背书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98059" y="2529597"/>
            <a:ext cx="675667" cy="445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06476" y="2478024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53425" y="2550204"/>
            <a:ext cx="744548" cy="40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66406" y="2603094"/>
            <a:ext cx="1008395" cy="2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44932" y="3572705"/>
            <a:ext cx="581921" cy="517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55513" y="3688077"/>
            <a:ext cx="1050566" cy="286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11926" y="3591509"/>
            <a:ext cx="627548" cy="479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77336" y="3678779"/>
            <a:ext cx="986535" cy="305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54853" y="4753893"/>
            <a:ext cx="962077" cy="312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949523" y="4683169"/>
            <a:ext cx="662546" cy="454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471940" y="4774436"/>
            <a:ext cx="1107519" cy="271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353823" y="4729774"/>
            <a:ext cx="833560" cy="36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7,000+专家已报名候补，来自21所顶尖大学的学生和校友：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专家数据的源头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72768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3042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已报名候补（可触达20万+）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606040" y="1572768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21所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606040" y="23042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顶尖大学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743200"/>
            <a:ext cx="393192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852928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入门岗位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600200" y="2852928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每个行业，AI最先接手的工作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3255264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顶尖科研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600200" y="3255264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最难的问题，最难的判断标准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48640" y="3657600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向上延伸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600200" y="36576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成员逐年晋升，网络延伸到资深与高层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056632" y="205740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网络覆盖的部分高校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54132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每做一个领域，资产都会留下来：</a:t>
            </a:r>
            <a:r>
              <a:rPr lang="zh-CN" sz="1300" b="0" i="0" u="none" strike="noStrike" cap="none">
                <a:solidFill>
                  <a:srgbClr val="33322F"/>
                </a:solidFill>
                <a:latin typeface="Newsreader"/>
                <a:ea typeface="Newsreader"/>
                <a:cs typeface="Newsreader"/>
                <a:sym typeface="Newsreader"/>
              </a:rPr>
              <a:t>专家网络 → 专家数据与判断标准 → 环境与验证器 → 失败案例库 → </a:t>
            </a: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复用到下一个领域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5943600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网络覆盖不等于已注册或参与交付；高校标识不代表学校背书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市场规模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按前沿实验室定价自下而上：金融单领域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每年约360万–4,200万美元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3941064" y="1883664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7790688" y="1883664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548640" y="1517904"/>
            <a:ext cx="33924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548640" y="1645920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① Epoch单价 × 一家实验室用量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01952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200–2,000美元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2523744"/>
            <a:ext cx="339242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每个任务；环境每个2万–30万，金融取中高段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2935224"/>
            <a:ext cx="202082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金融环境2–5个×10万–30万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2569464" y="2935224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20万–150万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319272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319272"/>
            <a:ext cx="202082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任务500–1,500个×500–2,000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569464" y="3319272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25万–300万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3703320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548640" y="3703320"/>
            <a:ext cx="202082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美国前沿每家每年（美元）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2569464" y="370332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45万–450万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4398264" y="1517904"/>
            <a:ext cx="33924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4398264" y="1645920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② 买家 × 每家年外采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398264" y="1901952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17–24家实验室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398264" y="2523744"/>
            <a:ext cx="339242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中美做Agent后训练的实验室，按预算分三层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98264" y="2935224"/>
            <a:ext cx="202082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美国前沿4–7家×45万–450万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419088" y="2935224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180万–3,150万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4398264" y="3319272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4398264" y="3319272"/>
            <a:ext cx="202082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新实验室5–7家×20万–80万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419088" y="3319272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100万–560万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4398264" y="3703320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4398264" y="3703320"/>
            <a:ext cx="202082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中国8–10家×10万–50万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419088" y="370332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80万–500万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4398264" y="4087368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4398264" y="4087368"/>
            <a:ext cx="202082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≈ 金融一个领域/年（美元）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6419088" y="4087368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360万–4,200万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8247888" y="1517904"/>
            <a:ext cx="3392424" cy="34747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8485632" y="1645920"/>
            <a:ext cx="29169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③ 若另2个领域与金融同规模（外推）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485632" y="1901952"/>
            <a:ext cx="291693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1,080万–1.26亿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8485632" y="2542032"/>
            <a:ext cx="1545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金融一个领域（美元/年）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0030968" y="2542032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360万–4,200万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8485632" y="2926080"/>
            <a:ext cx="29169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8485632" y="2926080"/>
            <a:ext cx="1545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交易+事件预测+AI研究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0030968" y="292608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× 3</a:t>
            </a:r>
          </a:p>
        </p:txBody>
      </p:sp>
      <p:sp>
        <p:nvSpPr>
          <p:cNvPr id="5042" name="SimReal 5042"/>
          <p:cNvSpPr/>
          <p:nvPr/>
        </p:nvSpPr>
        <p:spPr>
          <a:xfrm>
            <a:off x="8485632" y="3310128"/>
            <a:ext cx="29169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3" name="SimReal 5043"/>
          <p:cNvSpPr txBox="1"/>
          <p:nvPr/>
        </p:nvSpPr>
        <p:spPr>
          <a:xfrm>
            <a:off x="8485632" y="3310128"/>
            <a:ext cx="1545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3个领域每年（美元）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0030968" y="3310128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1,080万–1.26亿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8485632" y="3840480"/>
            <a:ext cx="2916936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行业背景：训练数据与RL环境</a:t>
            </a:r>
            <a:br>
              <a:rPr lang="zh-CN" sz="1000"/>
            </a:b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供应商年收入合计约85亿美元</a:t>
            </a:r>
            <a:br>
              <a:rPr lang="zh-CN" sz="1000"/>
            </a:b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来源：Deedy Das，2026年7月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548640" y="51389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金融一个领域就有数百万到数千万美元；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每多一个能计分的领域，再加一份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548640" y="5705856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来源：任务、环境单价与合同规模（每季度六到七位数）见Epoch AI（2026.1，18人访谈）、SemiAnalysis（2026.1）；行业收入见Deedy Das（2026.7），仅作背景。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推算：金融单价取中高段（任务价下限约500美元，据Mechanize每任务约2,400美元训练算力）；每家用量（中国参照UniPat订单）、三层家数与3个领域外推为我们的假设。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买家：OpenAI、Google DeepMind、Meta、xAI等美国前沿；Thinking Machines、Reflection AI等新实验室；阿里、字节、DeepSeek、月之暗面等中国实验室。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竞争格局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别人做一环，我们做让AI持续进步的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完整闭环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591056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专家数据平台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38528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Mercor、Surge、Handshake、AfterQuery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1517904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专家示范与判断，按人工意见打分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19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正进入RL环境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286000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235915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中国同行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77240" y="2706624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UniPat、Humanlaya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291840" y="2286000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专家数据、评测环境与基准；主要服务国内实验室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054096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77240" y="312724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AI交易评测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77240" y="3474720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Nof1（Alpha Arena）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3291840" y="3054096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实盘对战榜单：只评测，不训练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822192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777240" y="404164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实验室自建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3291840" y="3822192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只做自己熟悉的领域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4590288"/>
            <a:ext cx="6400800" cy="676656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77240" y="46634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SimReal 衍真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77240" y="5010912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环境、数据、评分、迭代训练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291840" y="4590288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每次结果都进入下一轮，AI越练越强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0" y="1517904"/>
            <a:ext cx="43251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我们的优势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7315200" y="1810512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7315200" y="1901952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金融know-how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7315200" y="2267712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量化团队设计撮合与奖励：交易里的纪律直接写进评分器（第12页）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7315200" y="2706624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315200" y="2798064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评分可验证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7315200" y="3163824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模拟器计分，不靠人工意见；人类基准取自6支竞赛队伍的公开提交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7315200" y="3602736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7315200" y="3694176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能评也能训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7315200" y="4059936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同一环境既评测又训练：Qwen3.8-27B训练后最高+12%（第6页）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7315200" y="4498848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7315200" y="4590288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自有资产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7315200" y="4956048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撮合与计分跑在自有引擎上；7,000+专家候补网络（第8页）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48640" y="557784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国内现状  </a:t>
            </a: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据彭博报道，阿里拟领投UniPat 3亿美元（估值25亿美元）；Humanlaya完成鼎晖领投的数亿元Pre-A；阿里、字节、DeepSeek等都买过两家的数据或服务。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实验室在按小时买金融know-how，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我们把它写进了环境与评分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10058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OpenAI付前投行人员每小时150美元，xAI招量化交易专家（彭博、xAI招聘页）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755648"/>
            <a:ext cx="3514344" cy="20116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3852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撮合真实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87168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简单回测把挂单当成必然成交，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模型学到的是回测的漏洞；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我们让订单排队，穿价与挂单分开算，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成交按下单时的订单簿归因，过期单计入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37304" y="1755648"/>
            <a:ext cx="3514344" cy="20116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611624" y="193852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风险进奖励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487168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= max(0, 盈亏 − 0.1×回撤) × 夏普系数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修好人类策略的3个缺陷后，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盈亏+63%，夏普却从7.27跌到3.03：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收益与风险会背离，奖励同时计回撤与夏普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8125968" y="1755648"/>
            <a:ext cx="3514344" cy="20116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8400288" y="193852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防钻空子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400288" y="2487168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最后一个完整交易日不给Agent看；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完整报告的哈希预先公开，事后不能挑；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确定性计分：同一策略永远同一分；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储备任务不公开，留出日一旦曝光就换题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4005072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4078224"/>
            <a:ext cx="35143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量化机构经历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4443984"/>
            <a:ext cx="35143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三位创始人都有量化机构经历（见第3页），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上面三项规则由团队自己设计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337304" y="4005072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337304" y="4078224"/>
            <a:ext cx="35143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买方在找什么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37304" y="4443984"/>
            <a:ext cx="35143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受访者反复列为关键质量标准之一：高分不能靠钻空子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Epoch AI，18人访谈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25968" y="4005072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25968" y="4078224"/>
            <a:ext cx="35143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交付速度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25968" y="4443984"/>
            <a:ext cx="35143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14天上线7个基准与环境，零外部融资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识破回测里的空子，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是量化交易的基本功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融资与资金用途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两台引擎：收入引擎赚今天的钱，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研发引擎把训练增益做实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463040"/>
            <a:ext cx="2601468" cy="71323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49808" y="1517904"/>
            <a:ext cx="223570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本轮融资（人民币，等值美元）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49808" y="1700784"/>
            <a:ext cx="223570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3378708" y="1463040"/>
            <a:ext cx="2601468" cy="71323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3579876" y="1517904"/>
            <a:ext cx="223570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本轮出让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3579876" y="1700784"/>
            <a:ext cx="223570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8%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08776" y="1463040"/>
            <a:ext cx="2601468" cy="71323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6409944" y="1517904"/>
            <a:ext cx="223570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投前估值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409944" y="1700784"/>
            <a:ext cx="223570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4.6亿元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9038844" y="1463040"/>
            <a:ext cx="2601468" cy="71323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9240012" y="1517904"/>
            <a:ext cx="223570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投后估值（约7,400万美元）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9240012" y="1700784"/>
            <a:ext cx="223570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5亿元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2286000"/>
            <a:ext cx="5408676" cy="26700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22960" y="2414016"/>
            <a:ext cx="48600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 收入引擎  · 投入2,000万元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22960" y="2633472"/>
            <a:ext cx="486003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环境与数据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22960" y="3017520"/>
            <a:ext cx="48600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环境一次搭建，授权给多家实验室；数据按交付量收费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22960" y="3310128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700万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600200" y="3310128"/>
            <a:ext cx="160705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环境生产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252978" y="3310128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400万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030218" y="3310128"/>
            <a:ext cx="160705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数据生产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22960" y="3602736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600万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600200" y="3602736"/>
            <a:ext cx="160705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交付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3252978" y="3602736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300万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030218" y="3602736"/>
            <a:ext cx="160705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销售与运营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22960" y="3931920"/>
            <a:ext cx="48600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5名环境工程师 · 3名交付 · 2名商务；跑道24个月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822960" y="4224528"/>
            <a:ext cx="48600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822960" y="4279392"/>
            <a:ext cx="152857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3个月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822960" y="4443984"/>
            <a:ext cx="15102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首个付费试点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2442972" y="4279392"/>
            <a:ext cx="152857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6个月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2442972" y="4443984"/>
            <a:ext cx="15102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第2家授权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4062984" y="4279392"/>
            <a:ext cx="152857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12个月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4062984" y="4443984"/>
            <a:ext cx="15102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2–3家付费实验室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年化100万–300万美元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6231636" y="2286000"/>
            <a:ext cx="5408676" cy="267004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6505956" y="2414016"/>
            <a:ext cx="48600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 研发引擎  · 投入2,000万元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6505956" y="2633472"/>
            <a:ext cx="486003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迭代训练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6505956" y="3017520"/>
            <a:ext cx="48600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 → 事件预测 → 财务结账：每个领域先证明增益，再规模化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6505956" y="3310128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900万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7283196" y="3310128"/>
            <a:ext cx="160705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算力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8935974" y="3310128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700万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9713214" y="3310128"/>
            <a:ext cx="160705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研究团队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6505956" y="3602736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400万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7283196" y="3602736"/>
            <a:ext cx="160705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实盘与合规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6505956" y="3931920"/>
            <a:ext cx="48600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3名研究员 · 约60万GPU小时</a:t>
            </a:r>
          </a:p>
        </p:txBody>
      </p:sp>
      <p:sp>
        <p:nvSpPr>
          <p:cNvPr id="5048" name="SimReal 5048"/>
          <p:cNvSpPr/>
          <p:nvPr/>
        </p:nvSpPr>
        <p:spPr>
          <a:xfrm>
            <a:off x="6505956" y="4224528"/>
            <a:ext cx="48600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9" name="SimReal 5049"/>
          <p:cNvSpPr txBox="1"/>
          <p:nvPr/>
        </p:nvSpPr>
        <p:spPr>
          <a:xfrm>
            <a:off x="6505956" y="4279392"/>
            <a:ext cx="152857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3个月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6505956" y="4443984"/>
            <a:ext cx="15102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交易增益显著性检验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8125968" y="4279392"/>
            <a:ext cx="152857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6个月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8125968" y="4443984"/>
            <a:ext cx="15102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事件预测验证增益</a:t>
            </a:r>
          </a:p>
        </p:txBody>
      </p:sp>
      <p:sp>
        <p:nvSpPr>
          <p:cNvPr id="5053" name="SimReal 5053"/>
          <p:cNvSpPr txBox="1"/>
          <p:nvPr/>
        </p:nvSpPr>
        <p:spPr>
          <a:xfrm>
            <a:off x="9745980" y="4279392"/>
            <a:ext cx="152857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12个月</a:t>
            </a:r>
          </a:p>
        </p:txBody>
      </p:sp>
      <p:sp>
        <p:nvSpPr>
          <p:cNvPr id="5054" name="SimReal 5054"/>
          <p:cNvSpPr txBox="1"/>
          <p:nvPr/>
        </p:nvSpPr>
        <p:spPr>
          <a:xfrm>
            <a:off x="9745980" y="4443984"/>
            <a:ext cx="15102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小资金实盘验证</a:t>
            </a:r>
          </a:p>
        </p:txBody>
      </p:sp>
      <p:sp>
        <p:nvSpPr>
          <p:cNvPr id="5055" name="SimReal 5055"/>
          <p:cNvSpPr txBox="1"/>
          <p:nvPr/>
        </p:nvSpPr>
        <p:spPr>
          <a:xfrm>
            <a:off x="548640" y="5047488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估值参照：同类公司种子轮投后1亿–10亿美元</a:t>
            </a:r>
          </a:p>
        </p:txBody>
      </p:sp>
      <p:sp>
        <p:nvSpPr>
          <p:cNvPr id="5056" name="SimReal 5056"/>
          <p:cNvSpPr/>
          <p:nvPr/>
        </p:nvSpPr>
        <p:spPr>
          <a:xfrm>
            <a:off x="548640" y="5266944"/>
            <a:ext cx="2601468" cy="548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7" name="SimReal 5057"/>
          <p:cNvSpPr txBox="1"/>
          <p:nvPr/>
        </p:nvSpPr>
        <p:spPr>
          <a:xfrm>
            <a:off x="731520" y="5285232"/>
            <a:ext cx="232714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Applied Compute  </a:t>
            </a: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1亿美元</a:t>
            </a:r>
          </a:p>
        </p:txBody>
      </p:sp>
      <p:sp>
        <p:nvSpPr>
          <p:cNvPr id="5058" name="SimReal 5058"/>
          <p:cNvSpPr txBox="1"/>
          <p:nvPr/>
        </p:nvSpPr>
        <p:spPr>
          <a:xfrm>
            <a:off x="731520" y="5577840"/>
            <a:ext cx="232714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种子轮投后 · 2025年6月</a:t>
            </a:r>
          </a:p>
        </p:txBody>
      </p:sp>
      <p:sp>
        <p:nvSpPr>
          <p:cNvPr id="5059" name="SimReal 5059"/>
          <p:cNvSpPr/>
          <p:nvPr/>
        </p:nvSpPr>
        <p:spPr>
          <a:xfrm>
            <a:off x="3378708" y="5266944"/>
            <a:ext cx="2601468" cy="548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60" name="SimReal 5060"/>
          <p:cNvSpPr txBox="1"/>
          <p:nvPr/>
        </p:nvSpPr>
        <p:spPr>
          <a:xfrm>
            <a:off x="3561588" y="5285232"/>
            <a:ext cx="232714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Mirendil  </a:t>
            </a: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10亿美元</a:t>
            </a:r>
          </a:p>
        </p:txBody>
      </p:sp>
      <p:sp>
        <p:nvSpPr>
          <p:cNvPr id="5061" name="SimReal 5061"/>
          <p:cNvSpPr txBox="1"/>
          <p:nvPr/>
        </p:nvSpPr>
        <p:spPr>
          <a:xfrm>
            <a:off x="3561588" y="5577840"/>
            <a:ext cx="232714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种子轮投后 · 2026年6月</a:t>
            </a:r>
          </a:p>
        </p:txBody>
      </p:sp>
      <p:sp>
        <p:nvSpPr>
          <p:cNvPr id="5062" name="SimReal 5062"/>
          <p:cNvSpPr/>
          <p:nvPr/>
        </p:nvSpPr>
        <p:spPr>
          <a:xfrm>
            <a:off x="6208776" y="5266944"/>
            <a:ext cx="2601468" cy="548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63" name="SimReal 5063"/>
          <p:cNvSpPr txBox="1"/>
          <p:nvPr/>
        </p:nvSpPr>
        <p:spPr>
          <a:xfrm>
            <a:off x="6391656" y="5285232"/>
            <a:ext cx="232714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Nof1  </a:t>
            </a: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1,500万美元</a:t>
            </a:r>
          </a:p>
        </p:txBody>
      </p:sp>
      <p:sp>
        <p:nvSpPr>
          <p:cNvPr id="5064" name="SimReal 5064"/>
          <p:cNvSpPr txBox="1"/>
          <p:nvPr/>
        </p:nvSpPr>
        <p:spPr>
          <a:xfrm>
            <a:off x="6391656" y="5577840"/>
            <a:ext cx="232714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融资额 · 2026年5月</a:t>
            </a:r>
          </a:p>
        </p:txBody>
      </p:sp>
      <p:sp>
        <p:nvSpPr>
          <p:cNvPr id="5065" name="SimReal 5065"/>
          <p:cNvSpPr/>
          <p:nvPr/>
        </p:nvSpPr>
        <p:spPr>
          <a:xfrm>
            <a:off x="9038844" y="5266944"/>
            <a:ext cx="2601468" cy="548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66" name="SimReal 5066"/>
          <p:cNvSpPr txBox="1"/>
          <p:nvPr/>
        </p:nvSpPr>
        <p:spPr>
          <a:xfrm>
            <a:off x="9221724" y="5285232"/>
            <a:ext cx="232714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超衍智能  </a:t>
            </a: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近4亿元人民币</a:t>
            </a:r>
          </a:p>
        </p:txBody>
      </p:sp>
      <p:sp>
        <p:nvSpPr>
          <p:cNvPr id="5067" name="SimReal 5067"/>
          <p:cNvSpPr txBox="1"/>
          <p:nvPr/>
        </p:nvSpPr>
        <p:spPr>
          <a:xfrm>
            <a:off x="9221724" y="5577840"/>
            <a:ext cx="232714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天使轮 · 2026年9月</a:t>
            </a:r>
          </a:p>
        </p:txBody>
      </p:sp>
      <p:sp>
        <p:nvSpPr>
          <p:cNvPr id="5068" name="SimReal 5068"/>
          <p:cNvSpPr txBox="1"/>
          <p:nvPr/>
        </p:nvSpPr>
        <p:spPr>
          <a:xfrm>
            <a:off x="548640" y="5888736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Applied Compute、Mirendil为投后估值；Nof1、超衍智能为融资额；美元按2026年9月30日中间价6.7351折算；数据按客户所在地区分开存储与交付，开曼—香港—境内架构于本轮交割前搭建。</a:t>
            </a:r>
          </a:p>
        </p:txBody>
      </p:sp>
      <p:sp>
        <p:nvSpPr>
          <p:cNvPr id="5069" name="SimReal 506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70" name="SimReal 5070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71" name="SimReal 507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20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37160"/>
            <a:ext cx="1737360" cy="164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20" descr="orbi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3840" y="914400"/>
            <a:ext cx="4325112" cy="585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20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1572768"/>
            <a:ext cx="365760" cy="452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20" descr="SimRea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2194560"/>
            <a:ext cx="731520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每个行业最强的AI，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都出自我们的世界。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4023360"/>
            <a:ext cx="7132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三个世界已上线：交易、AI研究、事件预测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4425696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SimReal 衍真  ·  让AI在真实世界里自我进化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5074920"/>
            <a:ext cx="51206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521208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business@simreal.co  ·  simreal.co  ·  x.com/simrealhq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下一步 · 个人Agent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一个Agent在替人做事之前，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需要先在足够真实的地方练过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2026年9月：个人Agent开始替人花钱（Instinct创始人披露年交易额10亿美元+，约一半是旅行），也开始替人出错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75564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1865376"/>
            <a:ext cx="256717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Muse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523744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Meta，9月8日上线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10天登顶美国App Store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90138" y="175564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390138" y="1865376"/>
            <a:ext cx="256717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Dots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390138" y="2523744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OpenAI，9月29日发布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常驻云端，替人持续做事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31636" y="175564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231636" y="1865376"/>
            <a:ext cx="256717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100亿美元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231636" y="2523744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Instinct估值，33天涨4倍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红杉、Benchmark、Coatue投资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9073134" y="1755648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073134" y="1865376"/>
            <a:ext cx="256717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200美元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073134" y="2523744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Instinct擅自替用户订位，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用户被收的取消费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32004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我们怎么接：同一批环境，第二类客户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456432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45643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开放什么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103120" y="3456432"/>
            <a:ext cx="953719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交易与事件预测两个环境；留出集不开放练习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38404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548640" y="384048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怎么收费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103120" y="3840480"/>
            <a:ext cx="953719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按练习回合计费，每回合2–10美元（按任务难度与时长）；默认保密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422452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4224528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数据规则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103120" y="4224528"/>
            <a:ext cx="953719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脱敏共享轨迹，可换练习额度与收益分成；交给实验室的数据附授权记录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6085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608576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验证节点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103120" y="4608576"/>
            <a:ext cx="953719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6个月内首批10个Agent团队接入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548640" y="49926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548640" y="523036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沙盒让Agent不闯祸，</a:t>
            </a: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我们让它做对</a:t>
            </a: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548640" y="5852160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来源：Meta与OpenAI发布（2026年9月）；TechCrunch（2026年9月25日）；Instinct（创始人播客，2026年9月；路透社，2026年9月28日；《大西洋月刊》、CNN，2026年9月）。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