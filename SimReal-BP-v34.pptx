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59" r:id="rId5"/>
    <p:sldId id="263" r:id="rId9"/>
    <p:sldId id="264" r:id="rId10"/>
    <p:sldId id="268" r:id="rId14"/>
    <p:sldId id="279" r:id="rId46"/>
    <p:sldId id="269" r:id="rId15"/>
    <p:sldId id="270" r:id="rId16"/>
    <p:sldId id="271" r:id="rId17"/>
    <p:sldId id="267" r:id="rId13"/>
    <p:sldId id="272" r:id="rId18"/>
    <p:sldId id="273" r:id="rId19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6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23444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让AI在真实世界里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127248"/>
            <a:ext cx="78638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个人Agent被托付之前，先在这里练过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37490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从交易开始：面向AI实验室与个人Agent的训练环境与数据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把交易等专业工作做成AI的训练环境：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可计分、可复现、可训练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金融领域训练环境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把交易等专业工作做成可计分、可复现的环境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卖给实验室：环境授权、Agent轨迹、评测数据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下一步：向个人Agent开放练习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7个基准与环境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交易、事件预测、AI研究、数学、推理、财务、软件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5个公开仓库；零外部融资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初步证据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Qwen3.8-27B在未见过的竞赛交易日上最高提升12%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这是最高值；均值与置信区间3个月内报告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量化背景创始团队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剑桥、LSE、杜克数学；2005年生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Street、Citadel、Optiver、Millennium经历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360万–4,200万美元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金融一个领域每年外采，17–24家买家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按前沿实验室定价自下而上推算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人民币（等值美元）；投后估值5亿元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先在金融拿下2–3家付费实验室，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再把同一套方法复制到下一个领域。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汇丰港元稳定币发行项目唯一实习生，全程协助推进香港金管局（HKMA）合规项目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香港科技园）；担任强生MedTech科技峰会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放弃顶级量化机构的转正offer，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来做这件事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实验室已经在为环境和专家数据付费；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前沿模型在交易里却还会亏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实验室在买环境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15亿美元+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谷歌与RL环境公司Mechanize的交易（据报道）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331012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338328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2026年7月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371246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Mercor收购RL环境公司Deeptune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专家数据在放量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352544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352544" y="331012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352544" y="338328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数千万美元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352544" y="371246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英伟达一个季度付给Mercor的专家数据费用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52544" y="404164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52544" y="411480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52544" y="444398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在交易里还会亏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6/32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156448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Alpha Arena：前沿模型实盘交易，32轮只有6轮赚钱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156448" y="331012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38328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2/7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371246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PolyBench：7个前沿模型在Polymarket上只有2个盈利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66928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来源：Mechanize（Business Insider）；Mercor（TechCrunch、Dealroom、The Information、福布斯）；Snorkel AI（路透社）；Alpha Arena（Nof1）；PolyBench（arXiv）。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问题与解决方案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AI已经学会推理，却还做不好真实世界里的事：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让真实结果成为下一轮训练信号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真实工作没有标准答案，只有世界的反应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3429000" y="1810512"/>
            <a:ext cx="2606040" cy="230428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1325880" y="1828800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566160" y="1828800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03120"/>
            <a:ext cx="548640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0312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325880" y="21031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154680" y="210312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566160" y="21031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60604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60604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1325880" y="260604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154680" y="260604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566160" y="260604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10896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10896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325880" y="310896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154680" y="310896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566160" y="310896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61188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61188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325880" y="361188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154680" y="361188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3566160" y="361188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照着下注却亏钱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11480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6492240" y="1463040"/>
            <a:ext cx="51480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用真实结果结算每个动作的世界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6720840" y="1874520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6492240" y="2532888"/>
            <a:ext cx="4846320" cy="457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6720840" y="2532888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环境按规则作出反应，结果可复现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6492240" y="3191256"/>
            <a:ext cx="4846320" cy="457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6720840" y="3191256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按真实结果结算，留下Agent轨迹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492240" y="3849624"/>
            <a:ext cx="484632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720840" y="3849624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下一轮训练：用成功轨迹迭代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92240" y="2331720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92240" y="2990088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6492240" y="364845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11338560" y="4078224"/>
            <a:ext cx="146304" cy="10973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/>
          <p:nvPr/>
        </p:nvSpPr>
        <p:spPr>
          <a:xfrm>
            <a:off x="11484864" y="2103120"/>
            <a:ext cx="10973" cy="197510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/>
          <p:nvPr/>
        </p:nvSpPr>
        <p:spPr>
          <a:xfrm>
            <a:off x="11338560" y="2103120"/>
            <a:ext cx="146304" cy="10973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5" name="SimReal 5045"/>
          <p:cNvSpPr txBox="1"/>
          <p:nvPr/>
        </p:nvSpPr>
        <p:spPr>
          <a:xfrm>
            <a:off x="11375136" y="262432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↑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548640" y="4434840"/>
            <a:ext cx="2635758" cy="6583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731520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01 训练环境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31520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按真实规则重建专业场景</a:t>
            </a:r>
          </a:p>
        </p:txBody>
      </p:sp>
      <p:sp>
        <p:nvSpPr>
          <p:cNvPr id="5049" name="SimReal 5049"/>
          <p:cNvSpPr/>
          <p:nvPr/>
        </p:nvSpPr>
        <p:spPr>
          <a:xfrm>
            <a:off x="3367278" y="4434840"/>
            <a:ext cx="2635758" cy="6583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0" name="SimReal 5050"/>
          <p:cNvSpPr txBox="1"/>
          <p:nvPr/>
        </p:nvSpPr>
        <p:spPr>
          <a:xfrm>
            <a:off x="3550158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02 结果评分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3550158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按真实结果打分，不靠AI主观判断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185916" y="4434840"/>
            <a:ext cx="2635758" cy="6583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368796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03 专家反馈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368796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004554" y="4434840"/>
            <a:ext cx="2635758" cy="6583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187434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187434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同一套环境，打通评测、数据与训练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每一轮用真实结果筛出成功轨迹再训练：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今天是专家迭代，长期目标是RSI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RSI：递归式自我改进，AI参与改进下一代AI；每轮真实结果都成为下一轮的训练数据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做市交易的迭代训练闭环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17904"/>
            <a:ext cx="1234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一个回合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17904"/>
            <a:ext cx="4572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拿到历史订单簿与产品规则，用受限工具研究6或12小时；写出Trader.run(state)，确认后不可撤回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1938528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38528"/>
            <a:ext cx="1234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竞赛级市场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1938528"/>
            <a:ext cx="4572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回放IMC Prosperity交易竞赛订单簿，逐笔撮合，成交按下单时的订单簿归因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359152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359152"/>
            <a:ext cx="1234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模拟器当裁判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359152"/>
            <a:ext cx="4572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按盈亏、回撤与夏普计分，计分公式见第12页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234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对标人类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1828800" y="2779776"/>
            <a:ext cx="4572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同一留出交易日上的最佳人类竞赛策略记80分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20040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514600" y="3310128"/>
            <a:ext cx="3886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00"/>
            </a:b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在未见过的竞赛交易日上表现最高提升12%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这是最高值，不是均值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4114800"/>
            <a:ext cx="5852160" cy="80467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77240" y="4187952"/>
            <a:ext cx="53949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3个月内报告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7240" y="4389120"/>
            <a:ext cx="53949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每个任务×10个随机种子，训练前后配对：均值、95%置信区间、配对检验p值、逐任务增减；储备任务做第二组留出；FuturePredict用真实事件结算，报告训练前后的Brier分数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6812280" y="1517904"/>
            <a:ext cx="4828032" cy="34015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086600" y="1700784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 · 7个任务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1938528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GPT-6在5/7个任务追平人类；多资产仅51分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10588752" y="2615184"/>
            <a:ext cx="13716" cy="16276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857232" y="2395728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人类最佳 80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2798064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GPT-6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2843784"/>
            <a:ext cx="2190610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908146" y="2798064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182112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227832"/>
            <a:ext cx="853794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229698" y="318211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35661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3611880"/>
            <a:ext cx="784628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160532" y="356616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7086600" y="395020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8321040" y="3995928"/>
            <a:ext cx="696755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9072659" y="395020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086600" y="4352544"/>
            <a:ext cx="427939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task_04：GLM 5.3得96.03、GPT 6得89.53，Kimi K3、DeepSeek V4 Pro为0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总分为7个任务均分；公开结果用2/4小时试点时长（标准6/12小时）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548640" y="4974336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局限：竞赛市场由交易机器人构成，不等于交易所真实行情；回放不计我方订单对价格的冲击，下一步接真实行情数据。数据：IMC Prosperity 3、4开源回测资源（MIT许可）。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35838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只报能复现的数字：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原始记录、指标定义、脚本与结果哈希在尽调时提供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870448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来源：Xitadel-QuantBench公开仓库（README、REPORT、SCORING）。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产品与数据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14天上线7个基准与环境，已有5个公开仓库；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1051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10512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1051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10512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回放竞赛订单簿，按盈亏、回撤与夏普计分；已跑通迭代训练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10512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1945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194560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194560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194560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194560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5786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578608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578608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578608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578608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296265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2962656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2962656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2962656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2962656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34670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346704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346704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346704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346704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37307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3730752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37307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3730752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3730752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114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114800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114800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114800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114800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44988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4608576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每个环境产出三类数据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120640" y="4572000"/>
            <a:ext cx="65196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会生长：模型错在哪，下一批数据就补到哪</a:t>
            </a:r>
          </a:p>
        </p:txBody>
      </p:sp>
      <p:sp>
        <p:nvSpPr>
          <p:cNvPr id="5048" name="SimReal 5048"/>
          <p:cNvSpPr/>
          <p:nvPr/>
        </p:nvSpPr>
        <p:spPr>
          <a:xfrm>
            <a:off x="548640" y="4864608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9" name="SimReal 5049"/>
          <p:cNvSpPr txBox="1"/>
          <p:nvPr/>
        </p:nvSpPr>
        <p:spPr>
          <a:xfrm>
            <a:off x="548640" y="4901184"/>
            <a:ext cx="3514344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548640" y="5212080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每一步动作、世界的反馈与最终结果，按真实结果标注成败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548640" y="5559552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4337304" y="4864608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4337304" y="4901184"/>
            <a:ext cx="3514344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4337304" y="5212080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真实工作里的示范、判断与评分标准，覆盖各行业入门岗位与顶尖科研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4337304" y="5559552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56" name="SimReal 5056"/>
          <p:cNvSpPr/>
          <p:nvPr/>
        </p:nvSpPr>
        <p:spPr>
          <a:xfrm>
            <a:off x="8125968" y="4864608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7" name="SimReal 5057"/>
          <p:cNvSpPr txBox="1"/>
          <p:nvPr/>
        </p:nvSpPr>
        <p:spPr>
          <a:xfrm>
            <a:off x="8125968" y="4901184"/>
            <a:ext cx="3514344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8125968" y="5212080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私有评测集与留出集，只用于检验、从不参与训练；上线前经过攻防测试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8125968" y="5559552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5486400" y="5870448"/>
            <a:ext cx="61539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星标数截至2026年9月29日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3" name="SimReal 506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52106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2619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5105959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5251045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商业模式与进展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产品已公开；商业化从付费试点开始：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4475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1956816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560320" y="1481328"/>
            <a:ext cx="90799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 ·  迭代训练服务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560320" y="1847088"/>
            <a:ext cx="90799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304288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阶段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920240" y="23042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669280" y="230428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周期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766560" y="230428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价格（美元）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092440" y="2304288"/>
            <a:ext cx="35478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5603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56032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免费评测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1920240" y="2560320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公开预览版7个任务跑分、训练数据、SDK、计分规则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669280" y="2560320"/>
            <a:ext cx="1051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1–2周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766560" y="2560320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免费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8092440" y="2560320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跑分即获客；报告对标人类最佳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30358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303580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920240" y="3035808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定制任务、留出交易日、奖励接口；自有或授权数据，交付附授权链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5669280" y="3035808"/>
            <a:ext cx="1051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8–12周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766560" y="3035808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5万–15万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8092440" y="3035808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训练前后对比，按约定指标验收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35112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35112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年度授权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920240" y="3511296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全套环境、撮合引擎、对手方模型、储备任务、Agent轨迹与专家数据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669280" y="3511296"/>
            <a:ext cx="1051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766560" y="3511296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40万–200万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8092440" y="3511296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每季度更新任务与留出集：旧任务会饱和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/>
          <p:nvPr/>
        </p:nvSpPr>
        <p:spPr>
          <a:xfrm>
            <a:off x="548640" y="3986784"/>
            <a:ext cx="11091672" cy="4754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85800" y="398678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920240" y="3986784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669280" y="3986784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092440" y="3986784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548640" y="4535424"/>
            <a:ext cx="110916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单位经济（估算）：公开版环境平均约6人·天；第2家复用同一环境。买家集中：同一环境授权多家，延伸到交易机构。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548640" y="488289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支持我们研发的交易机构从业者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616745" y="5193792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76072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7,000+专家已报名候补，来自21所顶尖大学的学生和校友：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专家数据的源头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已报名候补（可触达20万+）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按前沿实验室定价自下而上：金融单领域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每年约360万–4,200万美元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① Epoch单价 × 一家实验室用量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200–2,000美元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每个任务；环境每个2万–30万，金融取中高段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935224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金融环境2–5个×10万–30万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569464" y="2935224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20万–150万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3319272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任务500–1,500个×500–2,000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569464" y="331927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25万–300万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3703320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美国前沿每家每年（美元）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2569464" y="370332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45万–450万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② 买家 × 每家年外采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17–24家实验室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98264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中美做Agent后训练的实验室，按预算分三层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2935224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美国前沿4–7家×45万–450万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6419088" y="2935224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180万–3,150万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4398264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4398264" y="3319272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新实验室5–7家×20万–80万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419088" y="331927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100万–560万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4398264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4398264" y="3703320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中国8–10家×10万–50万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419088" y="370332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80万–500万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4398264" y="4087368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4398264" y="4087368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≈ 金融一个领域/年（美元）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419088" y="4087368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360万–4,200万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247888" y="1517904"/>
            <a:ext cx="3392424" cy="34747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③ 3个已上线领域 · 每年（美元，外推）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1,080万–1.26亿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2542032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金融一个领域（美元/年）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030968" y="2542032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360万–4,200万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8485632" y="2926080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8485632" y="2926080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事件预测、AI研究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030968" y="2926080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× 3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8485632" y="3310128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8485632" y="3310128"/>
            <a:ext cx="154533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3个领域每年（美元）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0030968" y="3310128"/>
            <a:ext cx="1371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1,080万–1.26亿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485632" y="3840480"/>
            <a:ext cx="29169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行业背景：训练数据与RL环境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供应商年收入合计约85亿美元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（Deedy Das，2026年7月）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金融只是第一个领域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金融一个领域就有数百万到数千万美元；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每多一个能计分的领域，再乘一次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" y="5705856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来源：任务、环境单价与合同规模（每季度六到七位数）见Epoch AI（2026.1，18人访谈）、SemiAnalysis（2026.1）；行业收入见Deedy Das（2026.7），仅作背景。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推算：金融单价取中高段（任务价下限约500美元，据Mechanize每任务约2,400美元训练算力）；每家用量、三层家数（中国参照UniPat订单）与3个领域外推为我们的假设。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买家：OpenAI、Google DeepMind、Meta、xAI等美国前沿；Thinking Machines、Reflection AI等新实验室；阿里、字节、DeepSeek、月之暗面等中国实验室。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Mercor、Surge、Handshake、AfterQuery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正进入RL环境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专家数据、评测环境与基准；主要服务国内实验室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1272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AI交易评测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777240" y="347472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Nof1（Alpha Arena）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实盘对战榜单：只评测，不训练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0416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环境、数据、评分、迭代训练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每次结果都进入下一轮，AI越练越强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我们的优势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金融know-how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量化团队设计撮合与奖励：交易里的纪律直接写进评分器（见下页）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评分可验证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模拟器计分，不靠人工意见；人类基准取自6支竞赛队伍的公开提交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能评也能训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同一环境既评测又训练：评测数据、Agent轨迹与迭代训练一起交付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撮合与计分跑在自有引擎上；储备任务与未公开的留出日；7个基准与环境已上线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据彭博报道，阿里拟领投UniPat 3亿美元（估值25亿美元）；Humanlaya完成鼎晖领投的数亿元Pre-A；阿里、字节、DeepSeek等都买过两家的数据或服务。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实验室在按小时买金融know-how，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我们把它写进了环境与评分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0058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OpenAI付前投行人员每小时150美元，xAI招量化交易专家（彭博、xAI招聘页）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撮合真实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简单回测把挂单当成必然成交，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模型学到的是回测的漏洞；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我们让订单排队，穿价与挂单分开算，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成交按下单时的订单簿归因，过期单计入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37304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611624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风险进奖励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 = max(0, 盈亏 − 0.1×回撤) × 夏普系数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修好人类策略的3个缺陷后，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盈亏+63%，夏普却从7.27跌到3.03：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收益和风险会背离，奖励必须给风险定价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125968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400288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防钻空子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400288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最后一个完整交易日不给Agent看；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完整报告的哈希预先公开，事后不能挑；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确定性计分：同一策略永远同一分；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储备任务不公开，留出日一旦曝光就换题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量化机构经历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548640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Street、Citadel、Optiver量化；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Millennium数据科学；剑桥、LSE、杜克数学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4337304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4337304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买方在找什么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4337304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实验室挑环境反复提到的关键标准：高分不能靠钻空子（Epoch AI，18人访谈）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125968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125968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125968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14天上线7个基准与环境，零外部融资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识破回测里的空子，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是量化交易的基本功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融资与资金用途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研发引擎把训练增益做实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463040"/>
            <a:ext cx="2601468" cy="71323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49808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本轮融资（人民币，等值美元）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49808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78708" y="1463040"/>
            <a:ext cx="2601468" cy="71323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579876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579876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08776" y="1463040"/>
            <a:ext cx="2601468" cy="71323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409944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409944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9038844" y="1463040"/>
            <a:ext cx="2601468" cy="71323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9240012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投后估值（约7,400万美元）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9240012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86000"/>
            <a:ext cx="5408676" cy="25603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22960" y="2414016"/>
            <a:ext cx="48600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投入2,000万元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822960" y="2633472"/>
            <a:ext cx="48600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822960" y="30175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22960" y="3310128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00200" y="3310128"/>
            <a:ext cx="160705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252978" y="3310128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030218" y="3310128"/>
            <a:ext cx="160705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22960" y="3602736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00200" y="3602736"/>
            <a:ext cx="160705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52978" y="3602736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030218" y="3602736"/>
            <a:ext cx="160705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22960" y="39319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5名环境工程师 · 3名交付 · 2名商务；跑道24个月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822960" y="4224528"/>
            <a:ext cx="48600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822960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822960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2442972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442972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第2家授权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4062984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4062984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2–3家付费实验室，年化100万–300万美元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231636" y="2286000"/>
            <a:ext cx="5408676" cy="25603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505956" y="2414016"/>
            <a:ext cx="48600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研发引擎  · 投入2,000万元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505956" y="2633472"/>
            <a:ext cx="48600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迭代训练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505956" y="30175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 → 事件预测 → 财务结账：每个领域先证明增益，再规模化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6505956" y="3310128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7283196" y="3310128"/>
            <a:ext cx="160705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8935974" y="3310128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713214" y="3310128"/>
            <a:ext cx="160705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6505956" y="3602736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7283196" y="3602736"/>
            <a:ext cx="160705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505956" y="39319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3名研究员 · 约60万GPU小时</a:t>
            </a:r>
          </a:p>
        </p:txBody>
      </p:sp>
      <p:sp>
        <p:nvSpPr>
          <p:cNvPr id="5048" name="SimReal 5048"/>
          <p:cNvSpPr/>
          <p:nvPr/>
        </p:nvSpPr>
        <p:spPr>
          <a:xfrm>
            <a:off x="6505956" y="4224528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9" name="SimReal 5049"/>
          <p:cNvSpPr txBox="1"/>
          <p:nvPr/>
        </p:nvSpPr>
        <p:spPr>
          <a:xfrm>
            <a:off x="6505956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6505956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交易增益显著性检验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8125968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8125968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事件预测验证增益</a:t>
            </a:r>
          </a:p>
        </p:txBody>
      </p:sp>
      <p:sp>
        <p:nvSpPr>
          <p:cNvPr id="5053" name="SimReal 5053"/>
          <p:cNvSpPr txBox="1"/>
          <p:nvPr/>
        </p:nvSpPr>
        <p:spPr>
          <a:xfrm>
            <a:off x="9745980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9745980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小资金实盘验证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548640" y="491947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估值参照：同类公司种子轮投后1亿–10亿美元</a:t>
            </a:r>
          </a:p>
        </p:txBody>
      </p:sp>
      <p:sp>
        <p:nvSpPr>
          <p:cNvPr id="5056" name="SimReal 5056"/>
          <p:cNvSpPr/>
          <p:nvPr/>
        </p:nvSpPr>
        <p:spPr>
          <a:xfrm>
            <a:off x="548640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7" name="SimReal 5057"/>
          <p:cNvSpPr txBox="1"/>
          <p:nvPr/>
        </p:nvSpPr>
        <p:spPr>
          <a:xfrm>
            <a:off x="731520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731520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 · 2025年6月</a:t>
            </a:r>
          </a:p>
        </p:txBody>
      </p:sp>
      <p:sp>
        <p:nvSpPr>
          <p:cNvPr id="5059" name="SimReal 5059"/>
          <p:cNvSpPr/>
          <p:nvPr/>
        </p:nvSpPr>
        <p:spPr>
          <a:xfrm>
            <a:off x="3378708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0" name="SimReal 5060"/>
          <p:cNvSpPr txBox="1"/>
          <p:nvPr/>
        </p:nvSpPr>
        <p:spPr>
          <a:xfrm>
            <a:off x="3561588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Mirendil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10亿美元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3561588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 · 2026年6月</a:t>
            </a:r>
          </a:p>
        </p:txBody>
      </p:sp>
      <p:sp>
        <p:nvSpPr>
          <p:cNvPr id="5062" name="SimReal 5062"/>
          <p:cNvSpPr/>
          <p:nvPr/>
        </p:nvSpPr>
        <p:spPr>
          <a:xfrm>
            <a:off x="6208776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3" name="SimReal 5063"/>
          <p:cNvSpPr txBox="1"/>
          <p:nvPr/>
        </p:nvSpPr>
        <p:spPr>
          <a:xfrm>
            <a:off x="6391656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Nof1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1,500万美元</a:t>
            </a:r>
          </a:p>
        </p:txBody>
      </p:sp>
      <p:sp>
        <p:nvSpPr>
          <p:cNvPr id="5064" name="SimReal 5064"/>
          <p:cNvSpPr txBox="1"/>
          <p:nvPr/>
        </p:nvSpPr>
        <p:spPr>
          <a:xfrm>
            <a:off x="6391656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融资额 · 2026年5月</a:t>
            </a:r>
          </a:p>
        </p:txBody>
      </p:sp>
      <p:sp>
        <p:nvSpPr>
          <p:cNvPr id="5065" name="SimReal 5065"/>
          <p:cNvSpPr/>
          <p:nvPr/>
        </p:nvSpPr>
        <p:spPr>
          <a:xfrm>
            <a:off x="9038844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6" name="SimReal 5066"/>
          <p:cNvSpPr txBox="1"/>
          <p:nvPr/>
        </p:nvSpPr>
        <p:spPr>
          <a:xfrm>
            <a:off x="9221724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超衍智能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近4亿元人民币</a:t>
            </a:r>
          </a:p>
        </p:txBody>
      </p:sp>
      <p:sp>
        <p:nvSpPr>
          <p:cNvPr id="5067" name="SimReal 5067"/>
          <p:cNvSpPr txBox="1"/>
          <p:nvPr/>
        </p:nvSpPr>
        <p:spPr>
          <a:xfrm>
            <a:off x="9221724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天使轮 · 2026年9月</a:t>
            </a:r>
          </a:p>
        </p:txBody>
      </p:sp>
      <p:sp>
        <p:nvSpPr>
          <p:cNvPr id="5068" name="SimReal 5068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Compute、Mirendil为投后估值；Nof1、超衍智能为融资额；美元按2026年9月30日中间价6.7351折算；数据按客户所在地区分开存储与交付，开曼—香港—境内架构于本轮交割前搭建。</a:t>
            </a:r>
          </a:p>
        </p:txBody>
      </p:sp>
      <p:sp>
        <p:nvSpPr>
          <p:cNvPr id="5069" name="SimReal 506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70" name="SimReal 507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71" name="SimReal 507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3152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三个世界已上线：交易、AI研究、事件预测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让AI在真实世界里自我进化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下一步 · 个人Agent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一个Agent在替人做事之前，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需要先在足够真实的地方练过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2026年9月：个人Agent开始替人花钱（Instinct创始人披露年交易额10亿美元+，约一半是旅行），也开始替人出错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Meta，9月8日上线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10天登顶美国App Store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OpenAI，9月29日发布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常驻云端，替人持续做事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100亿美元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Instinct估值，33天涨4倍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红杉、Benchmark、Coatue投资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200美元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Instinct擅自替用户订位，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用户被收的取消费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我们怎么接：同一批环境，第二类客户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45643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45643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开放什么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03120" y="3456432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交易与事件预测两个环境；留出集不开放练习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840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84048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怎么收费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103120" y="3840480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按练习回合计费，每回合2–10美元（按任务难度与时长）；默认保密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245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24528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数据规则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103120" y="4224528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脱敏共享轨迹，可换练习额度与收益分成；交给实验室的数据附授权记录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46085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4608576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验证节点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103120" y="4608576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6个月内首批10个Agent团队接入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548640" y="49926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沙盒让Agent不闯祸，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我们让它做对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来源：Meta与OpenAI发布（2026年9月）；TechCrunch（2026年9月25日）；Instinct（创始人播客，2026年9月；路透社，2026年9月28日；《大西洋月刊》、CNN，2026年9月）。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