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55448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搭建真实工作环境，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训练真正会工作的AI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520440"/>
            <a:ext cx="7498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面向AI实验室与企业的训练环境、专业数据与评测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61188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61188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人民币5亿元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5778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5778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481328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6093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1865376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训练环境与专业数据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68880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面向AI实验室与企业，提供训练环境、专业数据与评测；独家环境让AI自我进化（RSI）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4352544" y="1481328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4352544" y="16093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865376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2468880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交易、事件预测、AI研究、数学、推理、财务、软件工程；5个公开仓库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8156448" y="1481328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8156448" y="16093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核心成果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865376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2468880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310128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34381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694176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05后量化创始团队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4297680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剑桥、LSE、杜克本科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Street、Citadel、Optiver、Millennium经历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4352544" y="3310128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4352544" y="34381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694176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 → $700B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4297680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今天实验室每年采购85亿美元训练数据与RL环境；2030年训练市场约7,000亿美元，82倍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8156448" y="3310128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8156448" y="34381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694176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4297680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人民币4,000万元（等值美元），投后估值5亿元；商业交付与RSI研发各2,000万元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548640" y="535838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谁有最好的训练世界，谁就有该行业最好的AI；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从交易出发，让AI自我进化，走向整个世界。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我们最懂做题与做事的差距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2286000"/>
            <a:ext cx="3514344" cy="3154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822960" y="2468880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" y="3072384"/>
            <a:ext cx="2965704" cy="169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</a:p>
          <a:p>
            <a:pPr marL="0" marR="0" lvl="0" indent="0" algn="l" rtl="0">
              <a:lnSpc>
                <a:spcPct val="112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</a:p>
          <a:p>
            <a:pPr marL="0" marR="0" lvl="0" indent="0" algn="l" rtl="0">
              <a:lnSpc>
                <a:spcPct val="112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822960" y="4773168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822960" y="4864608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LSE数学本科 · 深国交 · USAMO入围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37304" y="2286000"/>
            <a:ext cx="3514344" cy="3154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611624" y="2468880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611624" y="3072384"/>
            <a:ext cx="2965704" cy="169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剑桥机器学习暑研，师从统计学教授Po-Ling Loh（国际数理统计学会会士）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剑桥研究中心AI最年轻本科研究员之一</a:t>
            </a:r>
          </a:p>
          <a:p>
            <a:pPr marL="0" marR="0" lvl="0" indent="0" algn="l" rtl="0">
              <a:lnSpc>
                <a:spcPct val="112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2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611624" y="4773168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4864608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剑桥数学一等荣誉（奖学金） · 深国交 · 剑桥数学竞赛全球前30 · 英国物理竞赛超级金奖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8125968" y="2286000"/>
            <a:ext cx="3514344" cy="3154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8400288" y="2468880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400288" y="3072384"/>
            <a:ext cx="2965704" cy="169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2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2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00288" y="4773168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00288" y="4864608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杜克数学与统计本科 · 上海包玉刚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AI、Mercor、AfterQuery创始人都在20岁左右起步；首轮投资人回报：</a:t>
            </a: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17,000倍、40倍、1,800倍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481328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6093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收入增长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1847088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 → 20亿美元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4352544" y="1481328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4352544" y="16093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融资速度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847088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 → 200亿美元（洽谈中）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8156448" y="1481328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8156448" y="1609344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需求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847088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 → 约1,110亿美元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42900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342900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2011680" y="342900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6323076" y="342900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6323076" y="342900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25亿美元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786116" y="342900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UniPat估值：阿里领投，腾讯、HSG跟投（2026年9月）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94106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548640" y="3941064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011680" y="3941064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6323076" y="394106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6323076" y="3941064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786116" y="3941064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4453128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4453128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011680" y="4453128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 → 32亿美元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6323076" y="4453128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6323076" y="4453128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786116" y="4453128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548640" y="496519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/>
          <p:nvPr/>
        </p:nvSpPr>
        <p:spPr>
          <a:xfrm>
            <a:off x="6323076" y="496519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来源：Mercor（TechCrunch、Sacra、Dealroom、彭博）；AfterQuery（Business Wire、福布斯）；Snorkel AI（公司公告）；UniPat（彭博）；Scale AI（公司博客）；AI智能体（Precedence Research）；文本存量（Epoch AI）。详见A2。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通过表面检查，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仍可能没有完成真实工作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261872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AI会做题了，但真实工作没有标准答案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6720840" y="1773936"/>
            <a:ext cx="4919472" cy="2889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2194560" y="1810512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6949440" y="1810512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真实世界：失手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10312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103120"/>
            <a:ext cx="15544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2194560" y="2103120"/>
            <a:ext cx="4023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历史回测一路上涨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6217920" y="2103120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949440" y="2103120"/>
            <a:ext cx="4572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进入未见过的真实行情就亏钱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27432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2743200"/>
            <a:ext cx="15544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194560" y="2743200"/>
            <a:ext cx="4023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217920" y="2743200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949440" y="2743200"/>
            <a:ext cx="4572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3383280"/>
            <a:ext cx="15544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94560" y="3383280"/>
            <a:ext cx="4023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6217920" y="3383280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949440" y="3383280"/>
            <a:ext cx="4572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40233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4023360"/>
            <a:ext cx="15544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194560" y="4023360"/>
            <a:ext cx="4023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6217920" y="4023360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949440" y="4023360"/>
            <a:ext cx="4572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事件揭晓后落空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466344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会对它每个动作做出真实反应的世界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反馈信号的升级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261872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783080"/>
            <a:ext cx="2601468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9659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· 互联网数据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222199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77240" y="284378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模型学会抄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777240" y="3483864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3593592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3378708" y="1783080"/>
            <a:ext cx="2601468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607308" y="19659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· 人类偏好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607308" y="222199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607308" y="284378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人来打分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3607308" y="3483864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3607308" y="3593592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6208776" y="1783080"/>
            <a:ext cx="2601468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6437376" y="19659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· 标准答案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437376" y="222199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6437376" y="284378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规则下解题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437376" y="3483864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437376" y="3593592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9038844" y="1783080"/>
            <a:ext cx="2601468" cy="27432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267444" y="19659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· 真实世界的反馈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9267444" y="222199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9267444" y="284378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AI进入现实经济，世界对每个动作做出反应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9267444" y="3483864"/>
            <a:ext cx="2144268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9267444" y="3593592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267444" y="4032504"/>
            <a:ext cx="214426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刚刚起步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9377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来自现实世界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解决方案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与专家反馈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261872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AI完成任务，结果成为下一轮训练信号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783080"/>
            <a:ext cx="603504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783080"/>
            <a:ext cx="45720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783080"/>
            <a:ext cx="15544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834640" y="1783080"/>
            <a:ext cx="356616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569464"/>
            <a:ext cx="603504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569464"/>
            <a:ext cx="45720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569464"/>
            <a:ext cx="15544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834640" y="2569464"/>
            <a:ext cx="356616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按真实结果打分，不靠另一个AI的主观判断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355848"/>
            <a:ext cx="603504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355848"/>
            <a:ext cx="45720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355848"/>
            <a:ext cx="15544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834640" y="3355848"/>
            <a:ext cx="356616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提供专业判断与评分标准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69664"/>
            <a:ext cx="603504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69664"/>
            <a:ext cx="1097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920240" y="4169664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同一套环境，连接评测与训练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7830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7830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3774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6060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6060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2004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42900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4290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按真实结果评分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402336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25196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25196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下一轮训练：自我进化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每一轮都从上一轮出发：这就是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旗舰实证 · Xitadel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全球首个做市交易的自我进化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517904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17904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上真实战场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828800" y="1517904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Trading授权数据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975104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975104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市场当裁判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828800" y="1975104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2432304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2432304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从结果中进化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1828800" y="2432304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2889504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3072384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743200" y="3108960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开源模型Qwen3.8-27B训练后，在未见过的真实行情上交易表现最高提升12%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3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受控实验，多次独立复现；运行记录尽调时提供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411480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4224528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4572000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6812280" y="1517904"/>
            <a:ext cx="4828032" cy="35661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7086600" y="1719072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 · 满分100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086600" y="1956816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10588752" y="2523744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9674352" y="2322576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人类基准 80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086600" y="270662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321040" y="2752344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10566514" y="270662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086600" y="312724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8321040" y="3172968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9229698" y="312724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086600" y="354787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8321040" y="3593592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160532" y="354787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086600" y="3968496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8321040" y="4014216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9072659" y="396849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086600" y="4489704"/>
            <a:ext cx="427939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国产模型得分不到GPT 6的一半：真实环境训练的空间最大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产品矩阵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14天上线7款产品，已有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5个公开仓库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481328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17904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3246120" y="1517904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4434840" y="1517904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9509760" y="1517904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1792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179222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246120" y="179222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434840" y="179222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回放真实交易日与订单簿，按盈亏结算；已跑通自我进化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9509760" y="179222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 · 102星标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27685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27685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246120" y="227685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4434840" y="227685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509760" y="227685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 · 178星标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27614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276148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3246120" y="276148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434840" y="276148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9509760" y="276148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 · 1星标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246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24612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246120" y="324612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4434840" y="324612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9509760" y="324612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 · 102星标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37307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373075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3246120" y="373075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434840" y="373075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509760" y="373075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 · 17星标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548640" y="42153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548640" y="421538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3246120" y="421538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4434840" y="421538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让AI零差错完成月结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509760" y="421538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· 非公开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548640" y="470001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548640" y="470001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3246120" y="470001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434840" y="470001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9509760" y="470001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· 非公开</a:t>
            </a:r>
          </a:p>
        </p:txBody>
      </p:sp>
      <p:sp>
        <p:nvSpPr>
          <p:cNvPr id="5044" name="SimReal 5044"/>
          <p:cNvSpPr/>
          <p:nvPr/>
        </p:nvSpPr>
        <p:spPr>
          <a:xfrm>
            <a:off x="548640" y="51846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5" name="SimReal 5045"/>
          <p:cNvSpPr txBox="1"/>
          <p:nvPr/>
        </p:nvSpPr>
        <p:spPr>
          <a:xfrm>
            <a:off x="548640" y="535838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14天上线，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6035040" y="5358384"/>
            <a:ext cx="56052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5个公开仓库 · 合计400星标 · 2026年9月29日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463040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四类产品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专业数据  ·  评测  ·  RSI自我进化服务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7589520" y="1463040"/>
            <a:ext cx="40507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99339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731520" y="2048256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926080" y="2048256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6080760" y="2048256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8595360" y="2048256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3408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731520" y="2340864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143000" y="2340864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926080" y="2340864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一个能力目标的环境与评测包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080760" y="2340864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595360" y="2340864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9077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31520" y="290779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143000" y="290779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926080" y="290779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6080760" y="290779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期限、范围、独占性、交付量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595360" y="290779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4747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1520" y="347472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1143000" y="347472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926080" y="347472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新场景、新任务、私有留出集、验证器维护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080760" y="347472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595360" y="347472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旧任务会被做饱和，新能力需要新任务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0416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/>
          <p:nvPr/>
        </p:nvSpPr>
        <p:spPr>
          <a:xfrm>
            <a:off x="548640" y="4041648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31520" y="404164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143000" y="404164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联合训练（RSI）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2926080" y="404164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080760" y="404164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8595360" y="404164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6" name="SimReal 5036"/>
          <p:cNvSpPr/>
          <p:nvPr/>
        </p:nvSpPr>
        <p:spPr>
          <a:xfrm>
            <a:off x="548640" y="4864608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786384" y="5010912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开源 vs 付费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786384" y="5358384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开源基准：公开，用来建立信任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付费产品：私有任务、留出集与验证器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4322064" y="4864608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4559808" y="5010912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非独家 vs 独家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358384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非独家：同一环境可授权给多家实验室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独家：按领域与期限锁定，溢价较大（Epoch AI）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8095488" y="4864608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8333232" y="5010912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交付之后，仍由我们提供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358384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验证器维护、难度升级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新任务更新、托管运行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4954622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05917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804" y="4933941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4995012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当前进展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商业采购正在推进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48132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627632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95728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688336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尚处采购洽谈阶段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48132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27632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395728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专家候补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688336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非已参与交付人数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48132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627632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395728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仓库星标合计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231636" y="2688336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2026年9月29日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73134" y="148132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073134" y="1627632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5位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395728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天使投资人主动联系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073134" y="2688336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处于交流阶段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329184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前沿实验室采购进度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22960" y="3835908"/>
            <a:ext cx="1054303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/>
          <p:nvPr/>
        </p:nvSpPr>
        <p:spPr>
          <a:xfrm>
            <a:off x="822960" y="3826764"/>
            <a:ext cx="3514344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/>
          <p:nvPr/>
        </p:nvSpPr>
        <p:spPr>
          <a:xfrm>
            <a:off x="740664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1440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接触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4255008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3605784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洽谈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605784" y="341985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当前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7769352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7120128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11283696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10634472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采购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45720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交易机构从业者支持研发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616745" y="4937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548640" y="5577840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交付能力 · 专家网络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20万+可触达、可验证的专家，来自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20万+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286000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2606040" y="155448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2286000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顶尖大学网络覆盖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每做一个领域，资产都会留下来：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任务与判断标准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市场规模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Ventures（2026.7）；Mercor年化毛营收（2026.7）、Surge收入（2024）、Snorkel年化收入（2026.9）；麦肯锡（2025.11）；IMF（2026.4）；科技公司年报。训练占比、美国以外渗透率为假设，详见A2。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481328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777240" y="15544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7240" y="190195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Mercor、Surge、AfterQuery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91840" y="148132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24942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777240" y="232257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777240" y="267004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291840" y="224942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UniPat由阿里领投，估值25亿美元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01752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77240" y="317296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291840" y="301752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78561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777240" y="3941064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91840" y="378561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553712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77240" y="4626864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777240" y="497433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数据、训练环境、结果反馈、自我进化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3291840" y="455371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不只测出AI的水平，还让它越练越强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每次结果都变成下一轮训练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315200" y="1481328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315200" y="17739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15200" y="18653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315200" y="22311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环境构建工具、验证器、专业任务库和失败案例积累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315200" y="26700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15200" y="27614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315200" y="31272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每轮模型升级，都需要新任务、新留出集和验证器维护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315200" y="3566160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15200" y="3657600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315200" y="4023360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7315200" y="446227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7315200" y="455371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315200" y="491947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548640" y="554126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9月，UniPat获阿里领投3亿美元（估值25亿美元）；Humanlaya完成鼎晖领投的数亿元人民币Pre-A，红杉中国、今日资本、BAI参投；阿里、字节、DeepSeek都已向两家采购。赛道在中美同时升温。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对标公司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35331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AI数据与后训练热点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182112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64992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602736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998464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181344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419088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8814816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8997696" y="1591056"/>
            <a:ext cx="2633472" cy="4389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9235440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2157984"/>
            <a:ext cx="2633472" cy="32004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786384" y="232257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786384" y="2670048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786384" y="3310128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86384" y="376732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86384" y="3822192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786384" y="42793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786384" y="4334256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786384" y="4791456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86384" y="4846320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3364992" y="2157984"/>
            <a:ext cx="2633472" cy="32004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3602736" y="232257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3602736" y="2670048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02736" y="3310128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3602736" y="376732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3602736" y="3822192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3602736" y="42793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3602736" y="4334256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3602736" y="4791456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3602736" y="4846320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</a:p>
        </p:txBody>
      </p:sp>
      <p:sp>
        <p:nvSpPr>
          <p:cNvPr id="5036" name="SimReal 5036"/>
          <p:cNvSpPr/>
          <p:nvPr/>
        </p:nvSpPr>
        <p:spPr>
          <a:xfrm>
            <a:off x="6181344" y="2157984"/>
            <a:ext cx="2633472" cy="32004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6419088" y="232257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6419088" y="2670048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19088" y="3310128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6419088" y="376732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6419088" y="3822192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419088" y="42793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419088" y="4334256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</a:p>
        </p:txBody>
      </p:sp>
      <p:sp>
        <p:nvSpPr>
          <p:cNvPr id="5044" name="SimReal 5044"/>
          <p:cNvSpPr/>
          <p:nvPr/>
        </p:nvSpPr>
        <p:spPr>
          <a:xfrm>
            <a:off x="6419088" y="4791456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5" name="SimReal 5045"/>
          <p:cNvSpPr txBox="1"/>
          <p:nvPr/>
        </p:nvSpPr>
        <p:spPr>
          <a:xfrm>
            <a:off x="6419088" y="4846320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8997696" y="2157984"/>
            <a:ext cx="2633472" cy="32004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9235440" y="232257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9235440" y="2670048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9235440" y="3310128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9235440" y="3767328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9235440" y="3822192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05后量化创始团队，高中同学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9235440" y="4279392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9235440" y="4334256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剑桥、LSE、杜克最后一年在读</a:t>
            </a:r>
          </a:p>
        </p:txBody>
      </p:sp>
      <p:sp>
        <p:nvSpPr>
          <p:cNvPr id="5054" name="SimReal 5054"/>
          <p:cNvSpPr/>
          <p:nvPr/>
        </p:nvSpPr>
        <p:spPr>
          <a:xfrm>
            <a:off x="9235440" y="4791456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5" name="SimReal 5055"/>
          <p:cNvSpPr txBox="1"/>
          <p:nvPr/>
        </p:nvSpPr>
        <p:spPr>
          <a:xfrm>
            <a:off x="9235440" y="4846320"/>
            <a:ext cx="215798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量化经历：Jane Street、Citadel、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Optiver、Millennium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548640" y="55778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本轮融资人民币4,000万元，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投后估值5亿元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481328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786384" y="160934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86384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22494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78708" y="1481328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616452" y="160934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08776" y="1481328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446520" y="160934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22494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38844" y="1481328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76588" y="160934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276588" y="22494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267004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本轮目标  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从付费试点推进到环境授权、复购与持续更新合同；实盘交易与事件预测的RSI上线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3218688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估值参照：同赛道公司已由头部机构定价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3474720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86384" y="3602736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UniPat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86384" y="3840480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25亿美元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4242816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最新估值（2026年9月）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86384" y="4480560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阿里领投，腾讯、HSG跟投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3378708" y="3474720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3616452" y="3602736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Humanlaya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3616452" y="3840480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数亿元人民币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4242816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Pre-A（2026年9月）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16452" y="4480560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鼎晖领投，红杉中国、今日资本、BAI参投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6208776" y="3474720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6446520" y="3602736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Applied Compute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446520" y="3840480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4242816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种子轮投后 → 14个月后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446520" y="4480560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</a:t>
            </a:r>
          </a:p>
        </p:txBody>
      </p:sp>
      <p:sp>
        <p:nvSpPr>
          <p:cNvPr id="5036" name="SimReal 5036"/>
          <p:cNvSpPr/>
          <p:nvPr/>
        </p:nvSpPr>
        <p:spPr>
          <a:xfrm>
            <a:off x="9038844" y="3474720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9276588" y="3602736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AfterQuery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276588" y="3840480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4242816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 → 5个月后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9276588" y="4480560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A轮时年化收入1亿美元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548640" y="504748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国内同赛道已获阿里、腾讯、红杉中国、鼎晖、今日资本、BAI投资：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赛道已被验证</a:t>
            </a: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57784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估值均为投后；来源见A2。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481328"/>
            <a:ext cx="5408676" cy="39319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投入2,000万元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付费交付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今天就赚钱：环境一次搭建，卖给多家实验室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41248" y="2907792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1,100万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75564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944368" y="2907792"/>
            <a:ext cx="27203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按行业批量搭建训练环境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841248" y="3236976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75564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44368" y="3236976"/>
            <a:ext cx="27203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每个环境授权给多家实验室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841248" y="356616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175564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944368" y="3566160"/>
            <a:ext cx="27203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前沿实验室与企业客户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841248" y="4041648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单价区间2万–30万美元（Epoch AI）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841248" y="47365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841248" y="4791456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841248" y="4992624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首批付费试点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449068" y="4791456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449068" y="4992624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环境授权与复购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4056888" y="4791456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056888" y="4992624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持续更新合同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6231636" y="1481328"/>
            <a:ext cx="5408676" cy="39319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投入2,000万元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6524244" y="2907792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743864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627364" y="2907792"/>
            <a:ext cx="27203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524244" y="3236976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43864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8627364" y="3236976"/>
            <a:ext cx="27203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6524244" y="356616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743864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8627364" y="3566160"/>
            <a:ext cx="27203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6524244" y="4041648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  ·  预测事件RSI  ·  10个行业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每个行业，同步开发自我进化环境</a:t>
            </a:r>
          </a:p>
        </p:txBody>
      </p:sp>
      <p:sp>
        <p:nvSpPr>
          <p:cNvPr id="5047" name="SimReal 5047"/>
          <p:cNvSpPr/>
          <p:nvPr/>
        </p:nvSpPr>
        <p:spPr>
          <a:xfrm>
            <a:off x="6524244" y="47365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8" name="SimReal 5048"/>
          <p:cNvSpPr txBox="1"/>
          <p:nvPr/>
        </p:nvSpPr>
        <p:spPr>
          <a:xfrm>
            <a:off x="6524244" y="4791456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6524244" y="4992624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8132064" y="4791456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8132064" y="4992624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9739884" y="4791456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3" name="SimReal 5053"/>
          <p:cNvSpPr txBox="1"/>
          <p:nvPr/>
        </p:nvSpPr>
        <p:spPr>
          <a:xfrm>
            <a:off x="9739884" y="4992624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拓展至10个行业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548640" y="554126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548640" y="59893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里程碑为拟定目标，执行进度以试点验收、采购与训练结果为准。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31520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三个世界已上线：交易、AI研究、事件预测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AI经济的数据与自我进化引擎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554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5544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Trading授权数据，每笔交易由市场结算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121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121408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121408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6883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688336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测试数据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688336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2552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255264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255264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交易表现较基础模型最高提升12%，多次独立复现（受控实验）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8221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822192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公开基准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822192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389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3891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尽调材料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3891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9560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Mercor年化收入：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Surge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18个月，估值32亿美元）；Business Wire（2026年4月，A轮估值3亿美元，年化收入1亿美元）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彭博，2026年9月10日（阿里领投3亿美元，估值25亿美元，腾讯、HSG跟投；阿里、字节、DeepSeek等向UniPat与Humanlaya采购）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2025年10月成立；2026年9月9日完成数亿元人民币Pre-A，鼎晖领投，红杉中国、今日资本、BAI参投（界面新闻、东方财富）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市场与研究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今天的训练数据采购：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Menlo Ventures（2026年7月）：50余家供应商合计约85亿美元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2030年AI经济推算：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us》（2025年11月）：美国约2.9万亿美元；IMF（2026年4月）：美国GDP 32.4万亿、全球126.3万亿美元；美国以外按一半渗透率推算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训练市场推算：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10%；10%参照大型科技公司研发占收入约10–15%，取下限，为推算假设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Research（2025年79.2亿美元；年复合增长45.82%），2028、2032年按此路径推算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RL环境定价：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公开文本存量：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data?》（2024）：预计2026–2032年间用尽（80%置信区间）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融资与估值：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Compute：Upstarts（2025年6月，种子轮2,000万美元，投后1亿美元）、The Information（2026年8月，约30亿美元洽谈）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348386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3483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34838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让AI反复做真实工作、并从结果中学习的系统，常称RL环境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4352544" y="1645920"/>
            <a:ext cx="348386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4352544" y="1773936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4352544" y="2029968"/>
            <a:ext cx="3483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4352544" y="2505456"/>
            <a:ext cx="34838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世界对AI动作的反应：盈亏、账目、代码能否运行、事件是否发生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8156448" y="1645920"/>
            <a:ext cx="348386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8156448" y="1773936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8156448" y="2029968"/>
            <a:ext cx="3483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156448" y="2505456"/>
            <a:ext cx="34838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337560"/>
            <a:ext cx="348386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465576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548640" y="3721608"/>
            <a:ext cx="3483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留出集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4197096"/>
            <a:ext cx="34838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只用于检验、从不参与训练的任务，防止模型背答案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52544" y="3337560"/>
            <a:ext cx="348386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52544" y="3465576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52544" y="3721608"/>
            <a:ext cx="3483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352544" y="4197096"/>
            <a:ext cx="34838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156448" y="3337560"/>
            <a:ext cx="348386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156448" y="3465576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156448" y="3721608"/>
            <a:ext cx="3483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8156448" y="4197096"/>
            <a:ext cx="34838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