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59" r:id="rId5"/>
    <p:sldId id="269" r:id="rId15"/>
    <p:sldId id="270" r:id="rId16"/>
    <p:sldId id="271" r:id="rId17"/>
    <p:sldId id="266" r:id="rId12"/>
    <p:sldId id="267" r:id="rId13"/>
    <p:sldId id="268" r:id="rId14"/>
    <p:sldId id="272" r:id="rId18"/>
    <p:sldId id="278" r:id="rId45"/>
    <p:sldId id="273" r:id="rId19"/>
    <p:sldId id="274" r:id="rId20"/>
    <p:sldId id="276" r:id="rId22"/>
    <p:sldId id="277" r:id="rId23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554480"/>
            <a:ext cx="7498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搭建真实工作环境，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训练真正会工作的AI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520440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面向AI实验室与企业的训练环境、专业数据与评测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人民币4,000万元（等值美元）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61188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61188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人民币5亿元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577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5778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项目概述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给AI真实的工作环境，让它反复犯错、学习、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48132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60934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186537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训练环境与专业数据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468880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面向AI实验室与企业，提供训练环境、专业数据与评测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独家环境让AI自我进化（RSI）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52544" y="148132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352544" y="160934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已做到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86537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468880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交易、事件预测、AI研究、数学、推理、财务、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软件工程；5个公开仓库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8156448" y="148132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156448" y="160934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核心成果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86537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468880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Qwen3.8-27B在Xitadel训练后，在未见过的真实行情上交易表现最高提升12%，多次独立复现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31012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548640" y="343814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69417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05后量化创始团队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297680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剑桥、LSE、杜克本科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Street、Citadel、Optiver、Millennium经历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4352544" y="331012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4352544" y="343814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69417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85亿 </a:t>
            </a:r>
            <a:r>
              <a:rPr lang="zh-CN" sz="24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7,000亿美元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297680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今天实验室每年采购85亿美元训练数据与RL环境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2030年训练市场约7,000亿美元，82倍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8156448" y="331012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8156448" y="343814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69417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297680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人民币，等值美元投资；投后估值5亿元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商业交付与RSI研发各2,000万元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5358384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谁有一个行业最好的训练世界，谁就有这个行业最好的AI；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从交易出发，让AI自我进化，走向整个世界。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团队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奥赛与名校 → 华尔街最残酷的交易台：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我们最懂做题与做事的差距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2286000"/>
            <a:ext cx="3514344" cy="3154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822960" y="24688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822960" y="3072384"/>
            <a:ext cx="2965704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United Stables首位员工：U稳定币从0做到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14亿美元，一个月上线Binance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汇丰港元稳定币发行项目唯一实习生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Citadel对冲基金实习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822960" y="47731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822960" y="4864608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LSE数学本科 · 深国交 · USAMO入围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37304" y="2286000"/>
            <a:ext cx="3514344" cy="3154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611624" y="24688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611624" y="3072384"/>
            <a:ext cx="2965704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剑桥机器学习暑研，师从统计学教授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Po-Ling Loh（国际数理统计学会会士）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剑桥研究中心AI最年轻本科研究员之一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设计五大Benchmark与强化学习环境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611624" y="47731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4864608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剑桥数学一等荣誉（奖学金）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25968" y="2286000"/>
            <a:ext cx="3514344" cy="3154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400288" y="24688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400288" y="3072384"/>
            <a:ext cx="2965704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Millennium另类数据团队史上首位应届招聘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17岁成为出版作家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400288" y="47731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4864608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杜克数学与统计本科 · 上海包玉刚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AI、Mercor、AfterQuery创始人都在20岁左右起步；早期投资人回报：</a:t>
            </a: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17,000倍、40倍、1,800倍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为什么是现在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18个月内收入涨27倍、估值涨10倍：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赛道才刚开始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48132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60934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收入增长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1847088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27倍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615184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Mercor年化毛营收：16个月，7,500万→20亿美元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52544" y="148132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352544" y="160934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估值增长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847088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10倍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615184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Mercor估值：17个月，20亿→200亿美元（洽谈中）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8156448" y="148132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156448" y="160934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需求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847088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14倍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615184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AI智能体市场：7年，79亿→约1,110亿美元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42900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548640" y="3429000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18倍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011680" y="3429000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AI年化收入一年增至3.75亿美元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323076" y="342900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323076" y="3429000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290亿美元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86116" y="3429000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AI估值，Meta以143亿美元入股49%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94106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3941064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14个月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11680" y="3941064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AfterQuery年化收入突破1亿美元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6323076" y="394106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6323076" y="3941064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近一半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786116" y="3941064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AI新训练项目已涉及RL环境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453128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453128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5个月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011680" y="4453128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AfterQuery估值：3亿→32亿美元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6323076" y="4453128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6323076" y="4453128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2032年前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786116" y="4453128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公开的人类文本预计被用尽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548640" y="496519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/>
          <p:nvPr/>
        </p:nvSpPr>
        <p:spPr>
          <a:xfrm>
            <a:off x="6323076" y="496519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5230368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来源：Mercor（TechCrunch、Sacra、Dealroom、彭博）；AfterQuery（Business Wire、福布斯）；Snorkel AI（公司公告）；Scale AI（路透社、公司博客）；AI智能体（Precedence Research）；文本存量（Epoch AI）。详见A2。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问题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通过表面检查，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不等于完成真实工作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261872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同样的问题出现在每个行业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773936"/>
            <a:ext cx="4919472" cy="288950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81051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81051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10312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10312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210312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210312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21031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进入未见过的真实行情就亏钱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7432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7432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74320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74320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74320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3832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38328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38328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38328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38328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0233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02336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402336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402336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402336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事件揭晓后落空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66344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AI要学会做事，需要一个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会对它每个动作做出真实反应的世界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核心洞察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AI的每一次跃迁，都来自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反馈信号的升级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261872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真实工作没有标准答案：考满分的AI，未必能放心交付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783080"/>
            <a:ext cx="2601468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96596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第一代 · 互联网数据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222199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模仿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84378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模型学会抄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77240" y="3483864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3593592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会说话的AI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78708" y="1783080"/>
            <a:ext cx="2601468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7308" y="196596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第二代 · 人类偏好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07308" y="222199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对齐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607308" y="284378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人来打分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607308" y="3483864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607308" y="3593592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好用的AI助手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6208776" y="1783080"/>
            <a:ext cx="2601468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437376" y="196596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第三代 · 标准答案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437376" y="222199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验证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437376" y="284378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规则下解题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6437376" y="3483864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437376" y="3593592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推理模型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9038844" y="1783080"/>
            <a:ext cx="2601468" cy="27432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267444" y="196596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第四代 · 真实世界的反馈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9267444" y="222199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实践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9267444" y="284378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AI进入现实经济，世界对每个动作做出反应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9267444" y="3483864"/>
            <a:ext cx="214426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9267444" y="3593592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自主运行与自我进化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267444" y="4032504"/>
            <a:ext cx="21442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刚刚起步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9377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下一代反馈信号，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来自现实世界</a:t>
            </a: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解决方案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训练环境、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结果评分</a:t>
            </a: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与专家反馈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261872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AI完成任务，结果成为下一轮训练信号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78308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8308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234440" y="178308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834640" y="178308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还原真实工作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60604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60604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234440" y="26060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结果评分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834640" y="260604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按真实结果打分，不靠另一个AI的主观判断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42900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42900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234440" y="342900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专家反馈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834640" y="342900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提供专业判断与评分标准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251960"/>
            <a:ext cx="6035040" cy="5943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425196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834640" y="425196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同一套环境，连接评测与训练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086600" y="178308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360920" y="178308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AI行动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237744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086600" y="260604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360920" y="260604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世界给出反馈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320040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086600" y="342900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360920" y="342900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按真实结果评分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402336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7086600" y="4251960"/>
            <a:ext cx="4553712" cy="5943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360920" y="425196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下一轮训练：自我进化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每一轮都从上一轮出发：这就是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自我进化（RSI）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旗舰实证 · Xitadel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两周，我们跑通了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全球首个做市交易的自我进化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517904"/>
            <a:ext cx="58521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上真实战场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828800" y="151790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回放真实交易日与订单簿，采用IMC Trading授权数据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1975104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548640" y="1975104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市场当裁判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828800" y="197510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每笔交易由市场结算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2432304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548640" y="2432304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从结果中进化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1828800" y="243230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每天复盘盈亏与订单，一轮比一轮强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889504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072384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743200" y="310896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开源模型Qwen3.8-27B训练后，</a:t>
            </a:r>
            <a:br>
              <a:rPr lang="zh-CN" sz="1250"/>
            </a:b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在未见过的真实行情上交易表现最高提升12%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3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受控实验，多次独立复现；运行记录尽调时提供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411480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548640" y="4224528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已证明：AI能在真实金融市场里自己变强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4572000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下一步：多策略、多市场、多行业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812280" y="1517904"/>
            <a:ext cx="4828032" cy="336499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086600" y="1719072"/>
            <a:ext cx="42793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Xitadel公开预览版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086600" y="1956816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尚无模型越过人类水平线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10588752" y="2660904"/>
            <a:ext cx="13716" cy="17739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9857232" y="2441448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人类基准 80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086600" y="2843784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321040" y="2889504"/>
            <a:ext cx="2190610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9908146" y="2843784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77.28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086600" y="326440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321040" y="3310128"/>
            <a:ext cx="853794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9229698" y="3264408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7086600" y="368503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321040" y="3730752"/>
            <a:ext cx="784628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160532" y="368503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27.68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086600" y="4105656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8321040" y="4151376"/>
            <a:ext cx="696755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9072659" y="4105656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24.58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产品矩阵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14天上线7款产品，已有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5个公开仓库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产品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46120" y="1517904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领域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4434840" y="1517904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9509760" y="1517904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状态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7922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1792224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Xitadel-QuantBench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246120" y="1792224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434840" y="1792224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回放真实交易日与订单簿，按盈亏结算；已跑通自我进化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9509760" y="1792224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27685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276856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Simreal-MLBench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246120" y="2276856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AI研究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434840" y="2276856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60个研究任务、7类数据，参照OpenAI的MLE-bench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509760" y="2276856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178星标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27614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2761488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 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future-prediction-bench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3246120" y="2761488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事件预测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434840" y="2761488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预测真实事件，揭晓后按结果训练；数据实时接入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509760" y="2761488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1星标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2461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24612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MathmoBench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246120" y="324612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数学证明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4434840" y="324612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让AI证明答案，而不是猜答案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9509760" y="324612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373075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373075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hard-puzzle-benchmark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246120" y="373075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逻辑推理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4434840" y="373075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749道人工编写的推理谜题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509760" y="373075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17星标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548640" y="42153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548640" y="4215384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3246120" y="4215384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财务结账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4434840" y="4215384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让AI零差错完成月结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509760" y="4215384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548640" y="47000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548640" y="4700016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3246120" y="4700016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软件工程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4434840" y="4700016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检验AI写的代码能否挺过下一个版本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9509760" y="4700016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4" name="SimReal 5044"/>
          <p:cNvSpPr/>
          <p:nvPr/>
        </p:nvSpPr>
        <p:spPr>
          <a:xfrm>
            <a:off x="548640" y="51846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5" name="SimReal 5045"/>
          <p:cNvSpPr txBox="1"/>
          <p:nvPr/>
        </p:nvSpPr>
        <p:spPr>
          <a:xfrm>
            <a:off x="548640" y="5358384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以上全部在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零外部融资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下完成。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6035040" y="5358384"/>
            <a:ext cx="56052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合计400星标  ·  2026年9月29日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商业模式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每一轮都有新交付：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合作越深，收入越高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463040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四类产品   </a:t>
            </a: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  ·  专业数据  ·  评测  ·  RSI自我进化服务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589520" y="1463040"/>
            <a:ext cx="4050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同一模式：AfterQuery 14个月做到年化1亿美元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99339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2048256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合作阶段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926080" y="2048256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客户买什么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80760" y="204825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收费依据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595360" y="2048256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为什么继续买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3408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2340864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143000" y="2340864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926080" y="2340864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一个能力目标的环境与评测包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080760" y="2340864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固定范围、固定验收标准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595360" y="2340864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验证接入与训练价值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29077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31520" y="2907792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143000" y="2907792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正式授权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926080" y="290779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环境、任务集、验证器、约定使用权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080760" y="290779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期限、范围、独占性、交付量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595360" y="290779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扩大领域与任务覆盖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4747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31520" y="3474720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143000" y="347472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926080" y="347472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新场景、新任务、私有留出集、验证器维护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080760" y="347472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年度合同或分批订单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595360" y="347472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旧任务会被做饱和，新能力需要新任务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0416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/>
          <p:nvPr/>
        </p:nvSpPr>
        <p:spPr>
          <a:xfrm>
            <a:off x="548640" y="4041648"/>
            <a:ext cx="11091672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31520" y="40416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143000" y="404164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联合训练（RSI）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2926080" y="404164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训练实验、消融分析、迁移验证、托管运行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080760" y="404164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595360" y="404164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解决客户下一阶段的能力缺口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548640" y="4864608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786384" y="5010912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开源 vs 付费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86384" y="5358384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开源基准：公开，用来建立信任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付费产品：私有任务、留出集与验证器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4322064" y="4864608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4559808" y="5010912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非独家 vs 独家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4559808" y="5358384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非独家：同一环境可授权给多家实验室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独家：按领域与期限锁定，溢价较大（Epoch AI）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8095488" y="4864608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8333232" y="5010912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交付之后，仍由我们提供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8333232" y="5358384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验证器维护、难度升级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新任务更新、托管运行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4954622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500591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4849927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4995012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当前进展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产品已公开，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商业采购正在推进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48132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627632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2家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395728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3390138" y="148132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3390138" y="1627632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390138" y="2395728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专家候补名单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6231636" y="148132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6231636" y="1627632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400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31636" y="2395728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仓库星标合计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688336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2026年9月29日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9073134" y="148132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9073134" y="1627632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5位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073134" y="2395728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天使投资人主动联系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29184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前沿实验室采购进度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22960" y="3835908"/>
            <a:ext cx="1054303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/>
          <p:nvPr/>
        </p:nvSpPr>
        <p:spPr>
          <a:xfrm>
            <a:off x="822960" y="3826764"/>
            <a:ext cx="3514344" cy="274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/>
          <p:nvPr/>
        </p:nvSpPr>
        <p:spPr>
          <a:xfrm>
            <a:off x="740664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1440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接触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255008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3605784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洽谈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3605784" y="341985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当前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7769352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120128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付费试点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11283696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10634472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采购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交易机构从业者支持研发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616745" y="49377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Polymarket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57784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标识仅表示支持者任职机构，不代表机构背书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交付能力 · 专家网络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20万</a:t>
            </a:r>
            <a:r>
              <a:rPr lang="zh-CN" sz="28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可触达、可验证的专家，来自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21所顶尖大学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55448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20万</a:t>
            </a:r>
            <a:r>
              <a:rPr lang="zh-CN" sz="34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2286000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可触达、可验证的专家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2606040" y="155448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21所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606040" y="2286000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顶尖大学网络覆盖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743200"/>
            <a:ext cx="393192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852928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入门岗位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600200" y="2852928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每个行业，AI最先接手的工作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325526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顶尖科研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1600200" y="3255264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最难的问题，最难的判断标准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48640" y="365760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向上延伸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600200" y="36576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成员逐年晋升，网络延伸到资深与高层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网络覆盖的部分高校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每做一个领域，资产都会留下来：</a:t>
            </a:r>
            <a:r>
              <a:rPr lang="zh-CN" sz="130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专家网络 → 任务与判断标准 → 环境与验证器 → 失败案例库 → </a:t>
            </a: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复用到下一个领域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网络覆盖不等于已注册或参与交付；高校标识不代表学校背书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市场规模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2030年：训练市场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7,000亿美元</a:t>
            </a: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，是今天的82倍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3941064" y="1847088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790688" y="1847088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481328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609344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今天 · 实验室在买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1865376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85亿美元/年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487168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训练数据与RL环境，50余家供应商合计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2852928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头部三家收入（Surge为2024年，其余为年化）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3145536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1600200" y="3172968"/>
            <a:ext cx="1371600" cy="2194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3044952" y="3145536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20亿美元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48640" y="354787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Surge AI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1600200" y="3575304"/>
            <a:ext cx="822960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2496312" y="354787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12亿美元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95020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Snorkel AI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1600200" y="3977640"/>
            <a:ext cx="257175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1930527" y="395020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3.75亿美元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4398264" y="1481328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4398264" y="1609344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2030年 · AI经济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398264" y="1865376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约7万亿美元/年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98264" y="2505456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美国（麦肯锡）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601968" y="250545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2.9万亿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98264" y="2871216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98264" y="2871216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÷ 美国占全球GDP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601968" y="287121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25.7%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4398264" y="3236976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4398264" y="3236976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全球，同等渗透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601968" y="323697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11.3万亿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4398264" y="3602736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4398264" y="3602736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美国以外渗透减半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601968" y="360273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7.1万亿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8247888" y="1481328"/>
            <a:ext cx="3392424" cy="3383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8485632" y="1609344"/>
            <a:ext cx="29169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2030年 · 我们的市场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485632" y="1865376"/>
            <a:ext cx="2916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7,000亿美元/年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8485632" y="2505456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AI经济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213848" y="250545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7万亿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85632" y="2871216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85632" y="2871216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 训练占比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213848" y="287121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10%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8485632" y="3236976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8485632" y="3236976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训练市场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213848" y="323697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7,000亿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485632" y="3694176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今天的82倍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8485632" y="4224528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训练是AI经济的研发预算。大型科技公司研发约占收入10–15%，取下限。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今天卖给实验室，2030年卖给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整个AI经济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来源：Menlo Ventures（2026.7）；Mercor年化毛营收（2026.6）、Surge收入（2024）、Snorkel年化收入（2026.9）；麦肯锡（2025.11）；IMF（2026.4）；科技公司年报。训练占比、美国以外渗透率为假设，详见A2。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竞争格局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别人做一环，我们做让AI持续进步的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完整闭环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481328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777240" y="1554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专家数据平台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777240" y="190195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Mercor、Surge、AfterQuery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1481328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专家示范与判断，按人工意见打分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249424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777240" y="232257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中国同行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777240" y="267004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UniPat、Humanlaya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291840" y="2249424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主要服务国内实验室：专家数据与评测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3017520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77240" y="317296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AI评测公司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291840" y="3017520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测今天的水平，分数就是产品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785616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77240" y="3941064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291840" y="3785616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只做自己熟悉的领域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553712"/>
            <a:ext cx="6400800" cy="6766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77240" y="4626864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 衍真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777240" y="497433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数据、训练环境、结果反馈、自我进化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3291840" y="4553712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不只测出AI的水平，还让它越练越强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每次结果都变成下一轮训练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315200" y="1481328"/>
            <a:ext cx="4325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为什么我们能赢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315200" y="1773936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315200" y="1865376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自有资产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315200" y="2231136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环境构建工具、验证器、专业任务库和失败案例积累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315200" y="2670048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315200" y="2761488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客户粘性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315200" y="3127248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每轮模型升级，都需要新任务、新留出集和验证器维护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7315200" y="3566160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315200" y="3657600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交付速度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7315200" y="4023360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AI每一次变化，我们第一个抓住、第一个交付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7315200" y="4462272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7315200" y="4553712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独立中立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315200" y="4919472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不属于任何一家实验室：中美实验室都能放心采购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548640" y="5541264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国内现状  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据彭博报道，UniPat获阿里领投3亿美元（估值25亿美元）；Humanlaya完成鼎晖领投的数亿元Pre-A；阿里、字节、DeepSeek都已向两家采购。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对标公司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赛道突围者都起步年轻、跑得快；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我们更快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353312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AI数据与后训练热点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91056"/>
            <a:ext cx="2633472" cy="4389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86384" y="1591056"/>
            <a:ext cx="22677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数据标注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182112" y="1591056"/>
            <a:ext cx="1828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3364992" y="1591056"/>
            <a:ext cx="2633472" cy="4389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3602736" y="1591056"/>
            <a:ext cx="22677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998464" y="1591056"/>
            <a:ext cx="1828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181344" y="1591056"/>
            <a:ext cx="2633472" cy="4389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419088" y="1591056"/>
            <a:ext cx="22677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RL环境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814816" y="1591056"/>
            <a:ext cx="1828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997696" y="1591056"/>
            <a:ext cx="2633472" cy="43891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9235440" y="1591056"/>
            <a:ext cx="22677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157984"/>
            <a:ext cx="2633472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86384" y="232257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86384" y="2670048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290亿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86384" y="3310128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美元估值，2025年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86384" y="376732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86384" y="3822192"/>
            <a:ext cx="215798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19岁的Alexandr Wang创立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786384" y="42793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86384" y="4334256"/>
            <a:ext cx="215798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MIT辍学，出自Y Combinator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86384" y="4791456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86384" y="4846320"/>
            <a:ext cx="215798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曾是最年轻的白手起家亿万富翁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3364992" y="2157984"/>
            <a:ext cx="2633472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3602736" y="232257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3602736" y="2670048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100亿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02736" y="3310128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美元估值，2025年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602736" y="376732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602736" y="3822192"/>
            <a:ext cx="215798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三位高中同学创立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3602736" y="42793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3602736" y="4334256"/>
            <a:ext cx="215798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22岁成最年轻白手起家亿万富翁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3602736" y="4791456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3602736" y="4846320"/>
            <a:ext cx="215798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13个月估值上涨约40倍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6181344" y="2157984"/>
            <a:ext cx="2633472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6419088" y="232257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AfterQuery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6419088" y="2670048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32亿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6419088" y="3310128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美元估值，加入YC 18个月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6419088" y="376732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6419088" y="3822192"/>
            <a:ext cx="215798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两位约21岁的在校大学生创立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6419088" y="42793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6419088" y="4334256"/>
            <a:ext cx="215798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创始人曾在Citadel Securities实习</a:t>
            </a:r>
          </a:p>
        </p:txBody>
      </p:sp>
      <p:sp>
        <p:nvSpPr>
          <p:cNvPr id="5044" name="SimReal 5044"/>
          <p:cNvSpPr/>
          <p:nvPr/>
        </p:nvSpPr>
        <p:spPr>
          <a:xfrm>
            <a:off x="6419088" y="4791456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5" name="SimReal 5045"/>
          <p:cNvSpPr txBox="1"/>
          <p:nvPr/>
        </p:nvSpPr>
        <p:spPr>
          <a:xfrm>
            <a:off x="6419088" y="4846320"/>
            <a:ext cx="215798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YC史上最快的独角兽</a:t>
            </a:r>
          </a:p>
        </p:txBody>
      </p:sp>
      <p:sp>
        <p:nvSpPr>
          <p:cNvPr id="5046" name="SimReal 5046"/>
          <p:cNvSpPr/>
          <p:nvPr/>
        </p:nvSpPr>
        <p:spPr>
          <a:xfrm>
            <a:off x="8997696" y="2157984"/>
            <a:ext cx="2633472" cy="32004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9235440" y="232257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 衍真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9235440" y="2670048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14天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9235440" y="3310128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7款产品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全球首个自我进化做市环境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9235440" y="3767328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9235440" y="3822192"/>
            <a:ext cx="215798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05后量化创始团队</a:t>
            </a:r>
          </a:p>
        </p:txBody>
      </p:sp>
      <p:sp>
        <p:nvSpPr>
          <p:cNvPr id="5052" name="SimReal 5052"/>
          <p:cNvSpPr/>
          <p:nvPr/>
        </p:nvSpPr>
        <p:spPr>
          <a:xfrm>
            <a:off x="9235440" y="4279392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3" name="SimReal 5053"/>
          <p:cNvSpPr txBox="1"/>
          <p:nvPr/>
        </p:nvSpPr>
        <p:spPr>
          <a:xfrm>
            <a:off x="9235440" y="4334256"/>
            <a:ext cx="215798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剑桥、LSE、杜克最后一年在读</a:t>
            </a:r>
          </a:p>
        </p:txBody>
      </p:sp>
      <p:sp>
        <p:nvSpPr>
          <p:cNvPr id="5054" name="SimReal 5054"/>
          <p:cNvSpPr/>
          <p:nvPr/>
        </p:nvSpPr>
        <p:spPr>
          <a:xfrm>
            <a:off x="9235440" y="4791456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5" name="SimReal 5055"/>
          <p:cNvSpPr txBox="1"/>
          <p:nvPr/>
        </p:nvSpPr>
        <p:spPr>
          <a:xfrm>
            <a:off x="9235440" y="4846320"/>
            <a:ext cx="215798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量化经历：Jane Street、Citadel、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Optiver、Millennium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548640" y="55778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热点变得越快，我们越有利。押注我们，就是押注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AI每一次范式变化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中的机会。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融资计划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本轮融资人民币4,000万元，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投后估值5亿元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481328"/>
            <a:ext cx="2601468" cy="10241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786384" y="160934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786384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86384" y="22494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人民币，等值美元投资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3378708" y="1481328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3616452" y="160934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616452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8%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08776" y="1481328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446520" y="160934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投前估值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446520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4.6亿元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46520" y="22494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38844" y="1481328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276588" y="160934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276588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276588" y="22494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267004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本轮目标  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从付费试点推进到环境授权、复购与持续更新合同；实盘交易与事件预测的RSI上线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218688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估值参照：同赛道公司已由头部机构定价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474720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86384" y="3602736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国内 · UniPat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86384" y="3840480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86384" y="4242816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据报道估值（2026年9月）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86384" y="4480560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阿里领投，腾讯、红杉中国跟投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3378708" y="3474720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3616452" y="3602736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国内 · Humanlaya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3616452" y="3840480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数亿元人民币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16452" y="4242816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Pre-A融资额（2026年9月）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616452" y="4480560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鼎晖领投，红杉中国等参投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6208776" y="3474720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6446520" y="3602736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Applied Compute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446520" y="3840480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1亿 → 约30亿美元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446520" y="4242816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种子轮投后 → 14个月后（洽谈中）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446520" y="4480560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种子轮2,000万美元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9038844" y="3474720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9276588" y="3602736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AfterQuery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276588" y="3840480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3亿 → 32亿美元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276588" y="4242816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 → 5个月后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9276588" y="4480560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A轮时年化收入1亿美元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04748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国内同赛道已获红杉中国、鼎晖、今日资本、BAI投资，阿里、腾讯也已入局：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赛道已被验证</a:t>
            </a: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57784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UniPat为据报道估值，Applied Compute约30亿美元为洽谈中估值，Humanlaya为融资额；其余为投后估值。来源见A2。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资金用途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两台引擎：收入引擎赚今天的钱，</a:t>
            </a: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RSI引擎拿下每个行业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481328"/>
            <a:ext cx="5408676" cy="39319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841248" y="1700784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收入引擎  ·  投入2,000万元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841248" y="1938528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付费交付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505456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环境一次搭建，授权给多家实验室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41248" y="2907792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07792"/>
            <a:ext cx="868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1,100万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755648" y="2907792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环境生产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944368" y="2907792"/>
            <a:ext cx="27203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按行业批量搭建训练环境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841248" y="3236976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41248" y="3236976"/>
            <a:ext cx="868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600万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755648" y="3236976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944368" y="3236976"/>
            <a:ext cx="27203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每个环境授权给多家实验室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841248" y="3566160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841248" y="3566160"/>
            <a:ext cx="868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300万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755648" y="3566160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销售与运营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944368" y="3566160"/>
            <a:ext cx="27203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前沿实验室与企业客户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841248" y="3895344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841248" y="4041648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年化收入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环境数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卖出次数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单价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单价区间2万–30万美元（Epoch AI）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841248" y="4736592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841248" y="4791456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248" y="4992624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首个付费试点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449068" y="4791456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449068" y="4992624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环境授权与复购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4056888" y="4791456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056888" y="4992624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持续更新合同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6231636" y="1481328"/>
            <a:ext cx="5408676" cy="39319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6524244" y="1700784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RSI引擎  ·  投入2,000万元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6524244" y="1938528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524244" y="2505456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瞄准整个AI经济：每个行业，一个自己变强的AI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524244" y="2907792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524244" y="2907792"/>
            <a:ext cx="868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900万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7438644" y="2907792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算力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627364" y="2907792"/>
            <a:ext cx="27203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模型自己训练自己，一轮比一轮强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524244" y="3236976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524244" y="3236976"/>
            <a:ext cx="868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700万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7438644" y="3236976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研究团队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627364" y="3236976"/>
            <a:ext cx="27203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从交易走向10个行业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6524244" y="3566160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6524244" y="3566160"/>
            <a:ext cx="868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400万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438644" y="3566160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实盘与合规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8627364" y="3566160"/>
            <a:ext cx="27203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真实资金、真实市场、真实结算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6524244" y="3895344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6524244" y="4041648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实盘交易RSI  ·  预测事件RSI  ·  10个行业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每个行业，同步开发自我进化环境</a:t>
            </a:r>
          </a:p>
        </p:txBody>
      </p:sp>
      <p:sp>
        <p:nvSpPr>
          <p:cNvPr id="5047" name="SimReal 5047"/>
          <p:cNvSpPr/>
          <p:nvPr/>
        </p:nvSpPr>
        <p:spPr>
          <a:xfrm>
            <a:off x="6524244" y="4736592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8" name="SimReal 5048"/>
          <p:cNvSpPr txBox="1"/>
          <p:nvPr/>
        </p:nvSpPr>
        <p:spPr>
          <a:xfrm>
            <a:off x="6524244" y="4791456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6524244" y="4992624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实盘交易RSI上线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8132064" y="4791456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8132064" y="4992624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预测事件RSI上线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9739884" y="4791456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9739884" y="4992624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拓展至10个行业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548640" y="5577840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里程碑为本轮目标。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73736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0" descr="orb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914400"/>
            <a:ext cx="4325112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0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572768"/>
            <a:ext cx="365760" cy="45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0" descr="SimRea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2194560"/>
            <a:ext cx="73152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每个行业最强的AI，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都出自我们的世界。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402336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三个世界已上线：交易、AI研究、事件预测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4425696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 衍真  ·  AI经济的数据与自我进化引擎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50749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52120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  ·  simreal.co  ·  x.com/simrealhq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2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Xitadel：测试了什么，怎么测的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5544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5544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103120" y="15544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回放真实交易日与订单簿，采用IMC Trading授权数据，每笔交易由市场结算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1214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21408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103120" y="2121408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开源模型Qwen3.8-27B，比较训练前后表现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6883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688336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测试数据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03120" y="2688336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模型未见过的真实交易日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32552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548640" y="3255264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结果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103120" y="3255264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交易表现较基础模型最高提升12%，多次独立复现（受控实验）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8221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3822192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公开基准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103120" y="3822192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Xitadel公开预览版：人类参考分80，前沿模型最高77.28（GPT 6），尚无模型越过人类线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3891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438912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尽调材料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03120" y="438912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运行记录、指标定义与脚本，尽调时提供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9560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2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数据来源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公司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Mercor年化收入：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TechCrunch（2025年2月，7,500万美元）；Mercor CEO（2025年9月，5亿美元）；Sacra（2025年12月，7.6亿美元）；Mercor（2026年初，10亿美元）；Dealroom（2026年6月，20亿美元）。均为毛营收，专家拿走60–70%（彭博）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Mercor估值：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A轮2.5亿美元（2024年9月）、B轮20亿美元（2025年2月）到C轮100亿美元（2025年10月）；200亿美元估值轮次处于早期洽谈（彭博，2026年7月9日）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Surge AI：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2024年收入12亿美元（TechCrunch、福布斯）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公司公告及TechCrunch，2026年9月22日（以35亿美元估值融资3.5亿美元；年化收入3.75亿美元，一年增长18倍）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2025年2月成立；福布斯，2026年9月1日（加入YC 18个月，估值32亿美元）；Business Wire（2026年4月，A轮估值3亿美元，年化收入1亿美元）；YC公司页（联合创始人曾在Citadel Securities实习）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2016年由19岁的Alexandr Wang创立（福布斯）；Meta以143亿美元取得49%股份，估值约290亿美元（路透社，2025年6月）；近一半新训练项目涉及RL环境（Scale AI博客，2026年2月）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彭博，2026年9月10日（阿里领投3亿美元，据报道估值25亿美元，腾讯、红杉中国跟投；条款可能变化；阿里、字节、DeepSeek等向UniPat与Humanlaya采购）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Humanlaya：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2025年10月成立；2026年9月9日完成数亿元人民币Pre-A，鼎晖领投，红杉中国、今日资本、BAI参投（界面新闻、东方财富）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635508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市场与研究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35508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35508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今天的训练数据采购：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Menlo Ventures（2026年7月）：50余家供应商合计约85亿美元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2030年AI经济推算：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麦肯锡《Agents, robots, and us》（2025年11月）：美国约2.9万亿美元；IMF（2026年4月）：美国GDP 32.4万亿、全球126.3万亿美元；美国以外按一半渗透率推算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训练市场推算：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2030年AI经济 × 10%；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10%参照大型科技公司研发占收入约10–15%，取下限，为推算假设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AI智能体市场：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Precedence Research（2025年79.2亿美元；年复合增长45.82%），2028、2032年按此路径推算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RL环境定价：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AI《An FAQ on RL environments》（2026年1月）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公开文本存量：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AI《Will we run out of data?》（2024）：预计2026–2032年间用尽（80%置信区间）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融资与估值：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Applied Compute：Upstarts（2025年6月，种子轮2,000万美元，投后1亿美元）、The Information（2026年8月，约30亿美元洽谈）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2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术语表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6459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77393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2029968"/>
            <a:ext cx="348386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505456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让AI反复做真实工作、从结果中学习的系统，即RL环境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4352544" y="16459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4352544" y="177393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2029968"/>
            <a:ext cx="348386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真实反馈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352544" y="2505456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世界对AI动作的反应：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盈亏、账目、代码能否运行、事件是否发生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156448" y="16459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156448" y="177393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156448" y="2029968"/>
            <a:ext cx="348386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自我进化（RSI）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156448" y="2505456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AI用自己在真实环境中的结果训练自己，一轮比一轮强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33756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346557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721608"/>
            <a:ext cx="348386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留出集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4197096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只用于检验、从不参与训练的任务，防止模型背答案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4352544" y="333756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4352544" y="346557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352544" y="3721608"/>
            <a:ext cx="348386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受控实验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352544" y="4197096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只改一个条件（是否在Xitadel训练），比较前后表现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156448" y="333756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156448" y="346557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156448" y="3721608"/>
            <a:ext cx="348386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年化毛营收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156448" y="4197096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按当前收入推算的全年收入，含付给专家的部分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