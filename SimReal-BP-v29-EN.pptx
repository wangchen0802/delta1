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75" r:id="rId21"/>
    <p:sldId id="259" r:id="rId5"/>
    <p:sldId id="269" r:id="rId15"/>
    <p:sldId id="270" r:id="rId16"/>
    <p:sldId id="271" r:id="rId17"/>
    <p:sldId id="266" r:id="rId12"/>
    <p:sldId id="267" r:id="rId13"/>
    <p:sldId id="268" r:id="rId14"/>
    <p:sldId id="272" r:id="rId18"/>
    <p:sldId id="278" r:id="rId45"/>
    <p:sldId id="273" r:id="rId19"/>
    <p:sldId id="274" r:id="rId20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123444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that improves itself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47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in the real world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3127248"/>
            <a:ext cx="804672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Before a personal agent is trusted, it practices here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3749040"/>
            <a:ext cx="85953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situations rebuilt from real data, for AI labs, enterprises and personal agents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This round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$6M seed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42062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 plan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2062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September 2026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Overview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Give AI and personal agents a real world to fail, learn and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improve themselves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we do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 &amp; AI data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AI labs and enterprises: agent trajectories,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 and eval data; exclusive environments for RSI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Next: practice worlds for personal agents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Done so far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 products in 14 days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Three worlds live: trading, AI research,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event prediction; 5 public repos; no outside funding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Key result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Trained in Xitadel, Qwen3.8-27B traded up to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12% better on unseen trading days; replicated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Team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Quant founders, born 2005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Math at Cambridge, LSE and Duke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Street, Citadel, Optiver, Millennium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Market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 </a:t>
            </a:r>
            <a:r>
              <a:rPr lang="en-US" sz="24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$700B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 and RL-environment vendors earn ~$8.5B a year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2030 training market: ~$700B, 82x today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This round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$6M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At a $75M post-money valuation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$3M each for the revenue and RSI engines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Own an industry’s best training world, own its best AI.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From trading to every industry: AI that improves itself.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Team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From olympiads to Wall Street’s toughest desks: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know the gap between tests and real work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First employee at United Stables: helped take its U stablecoin from 0 to $1.4B in a year; listed on Binance in a month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Ran institutional relations; worked on partnerships with SIG, DRW and others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Sole intern on HSBC’s HKD stablecoin issuance; supported HKMA compliance end to end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 (Twitter) writer with millions of views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Hedge fund intern at Citadel, London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LSE, Math · SCIE (Shenzhen)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 qualifier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Summer ML research at Cambridge with renowned statistician Po-Ling Loh (IMS Fellow)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Youngest undergraduate AI researcher at a Cambridge research center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Quant roles at Jane Street, Citadel, Optiver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Designed five benchmarks and RL environments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Cambridge Math, First-Class (Scholar)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Top 30 worldwide, Cambridge math contest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UK Physics Olympiad Super Gold · SCIE (Shenzhen)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 scientist at Millennium Hong Kong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alt-data team’s first-ever graduate hire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Helped launch Plug and Play’s first Hong Kong event (with HK Science Park); hosted J&amp;J MedTech’s tech summit (200+ attendees each)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Published author at 17; 100K+ engagements online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Duke, Math &amp; Statistics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YK Pao School (Shanghai)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AI, Mercor and AfterQuery were founded by people aged about 20. Early investors made </a:t>
            </a: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17,000x, 40x, 1,800x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Why now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 grew revenue 27x in 16 months and is in talks at $20B: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market is just starting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Revenue growth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27x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gross run-rate: $75M → $2B in 16 months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Valuation growth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10x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valuation: $2B → $20B in 17 months (in talks)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Agents spending for people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$3–5T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Global consumer commerce AI agents could handle by 2030 (McKinsey)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56432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18x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057400" y="3456432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 run-rate revenue in a year, now $375M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323076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6323076" y="3456432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831836" y="3456432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 valuation; Meta bought 49% for $14.3B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548640" y="3968496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 months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057400" y="3968496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AfterQuery: from founding to $100M run-rate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6323076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6323076" y="3968496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$1.5B+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831836" y="3968496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Google’s reported deal with RL-environment startup Mechanize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480560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 months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057400" y="4480560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 valuation: $300M → $3.2B (reported)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323076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323076" y="4480560"/>
            <a:ext cx="146304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2026–2032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831836" y="4480560"/>
            <a:ext cx="380847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Public human text is projected to run out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/>
          <p:nvPr/>
        </p:nvSpPr>
        <p:spPr>
          <a:xfrm>
            <a:off x="6323076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548640" y="5266944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Mercor (TechCrunch, Sacra, Dealroom, Bloomberg, The Information); AfterQuery (Business Wire, Forbes); Snorkel AI (Reuters); Scale AI (Reuters); Mechanize (Business Insider); agentic commerce (McKinsey, via CNBC); text stock (Epoch AI). See A2.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Problem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can reason,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but it still can’t do real work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work has no answer key, only the world’s reaction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6720840" y="1847088"/>
            <a:ext cx="4919472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219456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Surface check: passed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94944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Real world: failed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7627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76272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Trading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94560" y="2176272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backtest only goes up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6217920" y="2176272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949440" y="2176272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Loses money on unseen live markets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Software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194560" y="2779776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All tests pass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217920" y="2779776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949440" y="2779776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Breaks in production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3832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383280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Finance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94560" y="3383280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books look finished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217920" y="3383280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949440" y="3383280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won’t reconcile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9867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Prediction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194560" y="3986784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analysis sounds convincing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217920" y="3986784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949440" y="3986784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Bets placed on it lose money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5902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To learn real work, AI needs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 world where real outcomes settle every move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Core insight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Every leap in AI came from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 better feedback signal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1 · Internet data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Imitation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77240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Models learn to copy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777240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that can talk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3378708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3607308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2 · Human preference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3607308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Alignment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3607308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People rate the output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3607308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3607308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Useful assistants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6208776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6437376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3 · Answer keys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6437376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Verification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6437376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Checked against answers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437376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6437376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Reasoning models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9038844" y="1600200"/>
            <a:ext cx="2601468" cy="2834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267444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Gen 4 · Real-world feedback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9267444" y="2057400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Practice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9267444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acts in real situations; real outcomes settle every move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9267444" y="3337560"/>
            <a:ext cx="2144268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9267444" y="3447288"/>
            <a:ext cx="21442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settled by real outcomes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267444" y="3995928"/>
            <a:ext cx="214426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Just beginning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84632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 perfect test score doesn’t earn trust. AI’s next leap </a:t>
            </a:r>
            <a:r>
              <a:rPr lang="en-US" sz="21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comes from the real world’s reaction</a:t>
            </a: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Solution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does the task;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real outcomes become the next training signal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4592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64592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234440" y="164592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291840" y="164592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situations, rebuilt from real data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46888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46888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234440" y="246888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Outcome grading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91840" y="246888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Scored by real results, not another AI’s opinion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29184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9184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234440" y="329184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feedback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291840" y="329184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Professional judgment and grading standards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14800"/>
            <a:ext cx="6035040" cy="5943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11480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3291840" y="4114800"/>
            <a:ext cx="31089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One environment for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evals, data and training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086600" y="164592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360920" y="164592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acts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224028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086600" y="246888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60920" y="246888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world responds with what actually happened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306324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086600" y="329184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60920" y="329184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Settled by outcome; trajectory saved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88620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086600" y="4114800"/>
            <a:ext cx="4553712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60920" y="411480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Next round of training: self-improvement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Each round starts where the last one ended: that is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 (RSI)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Flagship proof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In two weeks we ran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world’s first self-improving market-making loop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battlefield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057400" y="1554480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Replays real trading days and order books, with data licensed through IMC Trading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0116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01168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 as judge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2057400" y="2011680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market settles every trade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4688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46888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Learns from results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2057400" y="2468880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Reviews each day’s P&amp;L and orders; each round beats the last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9260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310896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743200" y="3145536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Open-source Qwen3.8-27B, after training,</a:t>
            </a:r>
            <a:br>
              <a:rPr lang="en-US" sz="1200"/>
            </a:br>
            <a:r>
              <a:rPr lang="en-US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traded up to 12% better on unseen trading days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Controlled experiment, replicated across independent runs; logs available in diligence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513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4261104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Trading is the first world that works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4608576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Next: more strategies, more markets, more industries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812280" y="1554480"/>
            <a:ext cx="4828032" cy="336499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086600" y="1755648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public preview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1993392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No model has passed the human baseline yet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10588752" y="2697480"/>
            <a:ext cx="13716" cy="177393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857232" y="2478024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Human baseline 80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2880360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GPT-6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8321040" y="2926080"/>
            <a:ext cx="2190610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9908146" y="28803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300984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8321040" y="3346704"/>
            <a:ext cx="853794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9229698" y="330098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7086600" y="372160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8321040" y="3767328"/>
            <a:ext cx="784628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9160532" y="37216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086600" y="4142232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321040" y="4187952"/>
            <a:ext cx="696755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072659" y="41422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Products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 products shipped in 14 days,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 of them in public repos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Product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Domain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it does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Status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28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2880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2880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Trading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2880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Replays real markets and settles on P&amp;L; self-improvement proven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2880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 stars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31343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31343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31343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research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31343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 research tasks across 7 data types, modeled on OpenAI’s 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31343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 stars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7980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79806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79806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Prediction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79806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Predicts real events and trains on the outcome; live data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79806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Partly open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2826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28269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328269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Math proofs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328269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Makes AI prove its answers instead of guessing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328269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 stars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767328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767328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Logic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767328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 hand-written reasoning puzzles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767328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source</a:t>
            </a: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 stars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251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425196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425196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Finance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425196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Trains AI to close the books with zero errors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425196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Live  ·  private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7365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73659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73659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Software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73659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Tests whether AI-written code survives the next release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73659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Live  ·  private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52212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All built with </a:t>
            </a:r>
            <a:r>
              <a:rPr lang="en-US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zero outside funding</a:t>
            </a: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6035040" y="5394960"/>
            <a:ext cx="56052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400 stars in total  ·  September 29, 2026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Data business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 and experts produce three kinds of AI data: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trajectories, expert data, evals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 trajectories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487168"/>
            <a:ext cx="296570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full record of AI doing a multi-step task: every action, the world’s response, the result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22960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22960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Pass or fail set by real outcomes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22960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fine-tuning and RL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37304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611624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611624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data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611624" y="2487168"/>
            <a:ext cx="296570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From our network of students and alumni at 21 top universities: demonstrations, judgments and grading standards from real work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611624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611624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Entry-level roles to top research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611624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alignment, reward models and grading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125968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8400288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400288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Eval data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8400288" y="2487168"/>
            <a:ext cx="296570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Private eval and held-out sets, used only for testing, never for training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8400288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8400288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Red-teamed before launch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400288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model acceptance and ongoing evals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548640" y="413308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Unlike human-only data vendors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4443984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Same source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920240" y="4443984"/>
            <a:ext cx="214274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Data, grading and training</a:t>
            </a:r>
            <a:br>
              <a:rPr lang="en-US" sz="1000"/>
            </a:b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share one environment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4337304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4337304" y="4443984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Verifiable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708904" y="4443984"/>
            <a:ext cx="214274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outcomes decide pass or fail, not human opinion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8125968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8125968" y="4443984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Compounding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497568" y="4443984"/>
            <a:ext cx="214274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Where the model fails, the next batch of data goes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Training data and RL environments are already a ~$8.5B-a-year business: </a:t>
            </a:r>
            <a:r>
              <a:rPr lang="en-US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sell both</a:t>
            </a: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Business model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Every cycle brings a new delivery: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deeper the partnership, the more we earn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Three lines   </a:t>
            </a: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  ·  AI data (trajectories, experts, evals)  ·  RSI service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229600" y="1499616"/>
            <a:ext cx="341071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Same model: AfterQuery hit $100M run-rate in 14 months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731520" y="2066544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Stage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2926080" y="2066544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they buy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6080760" y="2066544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How we charge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595360" y="2066544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Why they buy again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23591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731520" y="235915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143000" y="235915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Paid pilot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926080" y="235915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Environment, data and eval pack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one capability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080760" y="235915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Fixed scope and acceptance criteria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595360" y="235915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Proves integration and training value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29260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731520" y="292608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143000" y="292608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License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926080" y="292608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Environments, task sets, verifiers,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agreed usage rights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080760" y="292608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Term, scope, exclusivity;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 by volume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595360" y="292608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Wider domains and task coverage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4930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" y="349300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143000" y="349300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Updates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926080" y="349300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New scenarios, tasks, trajectories,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private held-out sets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49300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Annual contract or batch orders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595360" y="349300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Old tasks saturate; new skills need new data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0599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/>
          <p:nvPr/>
        </p:nvSpPr>
        <p:spPr>
          <a:xfrm>
            <a:off x="548640" y="4059936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" y="4059936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143000" y="4059936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Joint RSI training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926080" y="4059936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runs, ablations,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transfer tests, hosted runs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080760" y="4059936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Project or ongoing service contract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595360" y="405993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Closes the customer’s next capability gap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548640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786384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Open source vs. paid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786384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 benchmarks: public, to build trust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Paid: private tasks, data, held-out sets, verifiers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4322064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4559808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Non-exclusive vs. exclusive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4559808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Non-exclusive: one environment, many labs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Exclusive: by domain and term, premium (Epoch AI)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095488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333232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Next · Personal agents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333232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One world, two customers: labs and agents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Agents pay to practice, private by default,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or share de-identified runs for credits and a cut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4954622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005917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4849927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4995012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Traction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Products are public;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talks with frontier labs are under way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Frontier labs in talks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90138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390138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Experts on the waitlist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400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GitHub stars in total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September 29, 2026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Angels reached out to us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9184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Frontier lab purchasing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59536" y="3835908"/>
            <a:ext cx="10424160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/>
          <p:nvPr/>
        </p:nvSpPr>
        <p:spPr>
          <a:xfrm>
            <a:off x="859536" y="3826764"/>
            <a:ext cx="3474720" cy="274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/>
          <p:nvPr/>
        </p:nvSpPr>
        <p:spPr>
          <a:xfrm>
            <a:off x="777240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12801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Contact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4251960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60273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Talks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602736" y="3419856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Now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726680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07745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Paid pilot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11201400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10552176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Purchase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57200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Traders who support our R&amp;D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9616745" y="4937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48640" y="5577840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Logos show where supporters work; they do not imply endorsement by these firms.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network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200,000+ reachable, verified experts drawn from students and alumni of 21 top universities: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our expert data source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200K+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Reachable, verified experts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Top universities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Entry roles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91640" y="2852928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work AI takes over first, in every industry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Top research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91640" y="3255264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hardest problems and judgment calls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Moving up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91640" y="3657600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Members get promoted; the network climbs to senior levels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Selected universities in the network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Each domain leaves assets behind: </a:t>
            </a:r>
            <a:r>
              <a:rPr lang="en-US" sz="12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experts → data and standards → environments and verifiers → failure library → </a:t>
            </a:r>
            <a:r>
              <a:rPr lang="en-US" sz="1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reuse in the next domain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Network coverage does not mean registration or delivery; university logos do not imply endorsement.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Market size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By 2030 the training market reaches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$700B a year</a:t>
            </a: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, 82x today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Today · vendor revenue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 / year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50+ training-data and RL-environment vendors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889504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Leading vendors (Surge: 2024; others gross run-rate)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18211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1600200" y="3209544"/>
            <a:ext cx="137160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3044952" y="318211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548640" y="35844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1600200" y="3611880"/>
            <a:ext cx="822960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2496312" y="35844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98678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Handshake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1600200" y="4014216"/>
            <a:ext cx="685800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2359152" y="398678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~$1.0B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 · AI economy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~$7T / year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98264" y="254203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 (McKinsey)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6784848" y="254203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$2.9T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4398264" y="290779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4398264" y="290779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US share of world GDP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784848" y="290779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25.7%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4398264" y="327355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4398264" y="327355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world, same penetration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6784848" y="327355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$11.3T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4398264" y="363931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4398264" y="3639312"/>
            <a:ext cx="23865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half penetration outside US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784848" y="363931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$7.1T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247888" y="1517904"/>
            <a:ext cx="339242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 · Our market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$700B / year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8485632" y="2542032"/>
            <a:ext cx="191109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economy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396728" y="254203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$7T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8485632" y="290779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8485632" y="2907792"/>
            <a:ext cx="191109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training share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10396728" y="290779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485632" y="327355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485632" y="3273552"/>
            <a:ext cx="191109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training market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0396728" y="327355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$700B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8485632" y="3730752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82x today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8485632" y="4261104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is the AI economy’s R&amp;D budget. Big tech spends 10–15% of revenue on R&amp;D; we use 10%.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Today we sell to labs. By 2030, to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whole AI economy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Deedy Das, Menlo Ventures (Jul 2026); Mercor gross run-rate (Jun 2026), Handshake AI training (Apr 2026), Surge revenue (2024); McKinsey (Nov 2025); IMF (Apr 2026); company filings.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share and non-US penetration are assumptions; see A2.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Competition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Others do one piece. We run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whole loop that keeps AI improving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data platforms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Mercor, Surge, Handshake, 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383280" y="1517904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 demos and judgments, human-graded</a:t>
            </a:r>
          </a:p>
          <a:p>
            <a:pPr marL="0" marR="0" lvl="0" indent="0" algn="l" rtl="0">
              <a:lnSpc>
                <a:spcPct val="110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bought RL-environment maker Deeptune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China peers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UniPat, Humanlaya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383280" y="2286000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 data, eval environments and benchmarks;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mainly for Chinese labs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73552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eval companies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3383280" y="3054096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Measure today’s level; the score is the product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777240" y="4041648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Labs in-house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3383280" y="3822192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Build only for work they already know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777240" y="4663440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777240" y="5010912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Environments, data, grading, RSI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383280" y="4590288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One environment for data, grading and training</a:t>
            </a:r>
          </a:p>
          <a:p>
            <a:pPr marL="0" marR="0" lvl="0" indent="0" algn="l" rtl="0">
              <a:lnSpc>
                <a:spcPct val="110000"/>
              </a:lnSpc>
              <a:spcBef>
                <a:spcPts val="384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result feeds the next round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Our edge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Own assets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315200" y="226771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 tooling, verifiers, a professional task library, accumulated failure cases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Stickiness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7315200" y="3163824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model upgrade needs new tasks, new data, new held-out sets and verifier upkeep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Speed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315200" y="40599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 products in 14 days; self-improving market making in 2 weeks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Neutral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9560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Owned by no lab: US and Chinese labs can both buy with confidence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522976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China today  </a:t>
            </a: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Per Bloomberg, Alibaba is set to lead a $300M round in UniPat at a $2.5B valuation; Humanlaya closed a CDH-led pre-Series A reported at $30M+;</a:t>
            </a:r>
            <a:br>
              <a:rPr lang="en-US" sz="1000"/>
            </a:b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Alibaba, ByteDance, DeepSeek and others have bought data or services from both.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Why us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faster the frontier shifts,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better for us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0058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Every wave was won by the fastest young team; in personal agents, Instinct’s founder is 23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786384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Data labeling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182112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64992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02736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data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998464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181344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19088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 environments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814816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997696" y="1737360"/>
            <a:ext cx="2633472" cy="42062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235440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86384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786384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786384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Valuation, 2025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786384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786384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by Alexandr Wang at 19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86384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86384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 dropout, Y Combinator alum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86384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86384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Once the youngest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self-made billionaire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64992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02736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02736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02736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Valuation, 2025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3602736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3602736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by three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high-school friends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3602736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3602736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Youngest self-made billionaires at 22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3602736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3602736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Valuation up ~40x in 13 months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181344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419088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419088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6419088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Reported valuation,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18 months after YC</a:t>
            </a:r>
          </a:p>
        </p:txBody>
      </p:sp>
      <p:sp>
        <p:nvSpPr>
          <p:cNvPr id="5041" name="SimReal 5041"/>
          <p:cNvSpPr/>
          <p:nvPr/>
        </p:nvSpPr>
        <p:spPr>
          <a:xfrm>
            <a:off x="6419088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2" name="SimReal 5042"/>
          <p:cNvSpPr txBox="1"/>
          <p:nvPr/>
        </p:nvSpPr>
        <p:spPr>
          <a:xfrm>
            <a:off x="6419088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by two high-school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friends, now 22 and 23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6419088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6419088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founder interned at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 Securities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6419088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6419088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Fastest unicorn in YC history</a:t>
            </a:r>
          </a:p>
        </p:txBody>
      </p:sp>
      <p:sp>
        <p:nvSpPr>
          <p:cNvPr id="5047" name="SimReal 5047"/>
          <p:cNvSpPr/>
          <p:nvPr/>
        </p:nvSpPr>
        <p:spPr>
          <a:xfrm>
            <a:off x="8997696" y="2267712"/>
            <a:ext cx="2633472" cy="31089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8" name="SimReal 5048"/>
          <p:cNvSpPr txBox="1"/>
          <p:nvPr/>
        </p:nvSpPr>
        <p:spPr>
          <a:xfrm>
            <a:off x="9235440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9235440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 days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9235440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 products shipped</a:t>
            </a:r>
          </a:p>
        </p:txBody>
      </p:sp>
      <p:sp>
        <p:nvSpPr>
          <p:cNvPr id="5051" name="SimReal 5051"/>
          <p:cNvSpPr/>
          <p:nvPr/>
        </p:nvSpPr>
        <p:spPr>
          <a:xfrm>
            <a:off x="9235440" y="3822192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2" name="SimReal 5052"/>
          <p:cNvSpPr txBox="1"/>
          <p:nvPr/>
        </p:nvSpPr>
        <p:spPr>
          <a:xfrm>
            <a:off x="9235440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Quant founders, born 2005</a:t>
            </a:r>
          </a:p>
        </p:txBody>
      </p:sp>
      <p:sp>
        <p:nvSpPr>
          <p:cNvPr id="5053" name="SimReal 5053"/>
          <p:cNvSpPr/>
          <p:nvPr/>
        </p:nvSpPr>
        <p:spPr>
          <a:xfrm>
            <a:off x="9235440" y="4315968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4" name="SimReal 5054"/>
          <p:cNvSpPr txBox="1"/>
          <p:nvPr/>
        </p:nvSpPr>
        <p:spPr>
          <a:xfrm>
            <a:off x="9235440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Final year at Cambridge, LSE, Duke</a:t>
            </a:r>
          </a:p>
        </p:txBody>
      </p:sp>
      <p:sp>
        <p:nvSpPr>
          <p:cNvPr id="5055" name="SimReal 5055"/>
          <p:cNvSpPr/>
          <p:nvPr/>
        </p:nvSpPr>
        <p:spPr>
          <a:xfrm>
            <a:off x="9235440" y="4809744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6" name="SimReal 5056"/>
          <p:cNvSpPr txBox="1"/>
          <p:nvPr/>
        </p:nvSpPr>
        <p:spPr>
          <a:xfrm>
            <a:off x="9235440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Turned down return offers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from top quant firms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548640" y="554126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Bet on us, and you bet on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every paradigm shift in AI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round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Raising $6M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at a $75M post-money valuation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601468" cy="10241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86384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Raising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86384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$6M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86384" y="228600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Seed round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78708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16452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Dilution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616452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08776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46520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Pre-money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446520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$69M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38844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276588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Post-money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276588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$75M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268833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This round   </a:t>
            </a:r>
            <a:r>
              <a:rPr lang="en-US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Environments: pilot → license → renewals; AI data at scale; RSI live in trading and prediction; worlds open to personal agents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23697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Valuation references: top investors have already priced this space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86384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China · UniPat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86384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$2.5B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86384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Reported valuation (Sep 2026)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86384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Alibaba to lead; Tencent, HSG in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3378708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3616452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China · Apex Intelligence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616452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~$60M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3616452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RSI angel rounds (Sep 2026)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16452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Led by IDG Capital and others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6208776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6446520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Global · Applied Compute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6446520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$100M → $3.25B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6446520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Seed → 15 months later (raising)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446520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$20M seed round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9038844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276588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Global · AfterQuery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9276588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$300M → $3.2B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9276588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Series A → 5 months later (reported)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276588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Series A at $100M run-rate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548640" y="5065776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In China, HSG, CDH, Capital Today, BAI and IDG are in; Alibaba and Tencent are moving in: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category is validated</a:t>
            </a: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548640" y="5596128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 and AfterQuery $3.2B: reported valuations; Applied Compute $3.25B: round in progress; Apex: round size; others post-money. Sources in A2.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Use of funds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Two engines: revenue earns today’s money;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 wins every industry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41148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41248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Revenue engine  ·  $3M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41248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Environments &amp; data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41248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Build once, license to many labs; data billed by volume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41248" y="294436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41248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$1.05M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755648" y="2944368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127248" y="2944368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Batch-build environments by industry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41248" y="325526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41248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$600K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755648" y="3255264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Data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127248" y="3255264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 trajectories, expert and eval data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41248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$900K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755648" y="3566160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Delivery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3127248" y="3566160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Integration, acceptance, updates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41248" y="387705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41248" y="387705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$450K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755648" y="3877056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Sales &amp; ops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3127248" y="3877056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Labs, enterprises, agent developers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41248" y="418795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41248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 revenue </a:t>
            </a: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environments </a:t>
            </a: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licenses </a:t>
            </a: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price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 price $20K–$300K (Epoch AI)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841248" y="495604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84124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 months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4124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First paid pilot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44906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 months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44906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Licenses, renewals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405688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months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05688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Update contracts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6231636" y="1517904"/>
            <a:ext cx="5408676" cy="41148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524244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 engine  ·  $3M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524244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6524244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whole AI economy: in every industry, AI that improves itself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6524244" y="294436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6524244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$1.35M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438644" y="2944368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Compute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8810244" y="2944368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Models train themselves, each round stronger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6524244" y="325526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6524244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$1.05M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438644" y="3255264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Research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810244" y="3255264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From trading to 10 industries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6524244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$600K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438644" y="3566160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Live trading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8810244" y="3566160"/>
            <a:ext cx="25374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money and settlement; compliance</a:t>
            </a:r>
          </a:p>
        </p:txBody>
      </p:sp>
      <p:sp>
        <p:nvSpPr>
          <p:cNvPr id="5050" name="SimReal 5050"/>
          <p:cNvSpPr/>
          <p:nvPr/>
        </p:nvSpPr>
        <p:spPr>
          <a:xfrm>
            <a:off x="6524244" y="387705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6524244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Trading RSI  ·  Prediction RSI  ·  10 industries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self-improving environment for every industry, in parallel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524244" y="495604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52424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 months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52424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Trading RSI live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813206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 months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813206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Prediction RSI live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73988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months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973988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Across 10 industries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Milestones are this round’s targets.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3716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68096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Every industry’s best AI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will come from our worlds.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Three worlds live: trading, AI research, event prediction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 that improves itself in the real world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en-US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Appendix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Xitadel: what we tested and how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554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5544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Environment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2103120" y="15544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Replays real trading days and order books with data licensed through IMC Trading; the market settles every trade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21214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2121408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Model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103120" y="2121408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Open-source Qwen3.8-27B, before vs. after training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6883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688336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Test data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03120" y="2688336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trading days the model had never seen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2552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548640" y="3255264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Result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103120" y="3255264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Up to 12% better trading than the base model, replicated across independent runs (controlled experiment)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8221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822192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Public benchmark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103120" y="3822192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 public preview: human baseline 80; best frontier model 77.28 (GPT-6); no model has passed the human baseline yet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3891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38912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Diligence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03120" y="438912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Run logs, metric definitions and scripts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49560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Personal agents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Before an agent acts for someone,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it should practice somewhere real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0058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September 2026: personal agents arrive; in China, Qwen and Manus follow the same month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Muse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Meta, launched Sep 8;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No. 1 on the US App Store in 10 days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90138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390138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Dots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OpenAI, unveiled Sep 29;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always-on in the cloud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31636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231636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Instinct’s valuation, up 4x in 33 days;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Sequoia, Benchmark, Coatue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755648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883664"/>
            <a:ext cx="2567178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16.1%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596896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Yet the best model completes 16.1%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of real freelance projects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5295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So they practice in our worlds first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67328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Practice</a:t>
            </a:r>
            <a:r>
              <a:rPr lang="en-US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en-US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Real outcomes settle</a:t>
            </a:r>
            <a:r>
              <a:rPr lang="en-US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en-US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Agents improve</a:t>
            </a:r>
            <a:r>
              <a:rPr lang="en-US" sz="16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→   </a:t>
            </a:r>
            <a:r>
              <a:rPr lang="en-US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Data goes to labs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29768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Our trading world already runs this loop: Qwen3.8-27B traded up to 12% better. This round we open trading and event prediction to personal agents.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Sandboxes keep agents out of trouble. </a:t>
            </a:r>
            <a:r>
              <a:rPr lang="en-US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teach them to get it right</a:t>
            </a: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5980176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Meta, OpenAI, Qwen and Manus launches (Sep 2026); TechCrunch (Sep 25, 2026); Instinct (Reuters, Sep 28, 2026); Remote Labor Index (Scale AI and CAIS, Jul 2026). See A2.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en-US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Appendix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Sources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Companies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run-rate: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 (Feb 2025, $75M); Sacra (Dec 2025, $760M); Dealroom and Forbes (Jun 2026, $2B). All gross; experts take 60–70% (Bloomberg)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valuation and M&amp;A: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Series C $10B (Oct 2025); a $20B round still in talks (Bloomberg, Jul 9, 2026; The Information, Aug 2026); bought RL-environment startup Deeptune on Jul 9, 2026 (Forbes)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Surge AI: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 revenue $1.2B (TechCrunch, Forbes)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Handshake: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AI-training business at nearly $1B gross run-rate (The Information, Apr 2026)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Reuters and TechCrunch, Sep 22, 2026 ($350M raised at a $3.5B valuation; $375M run-rate, up ~18x in a year)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Feb 2025; Business Wire (Apr 2026, Series A at $300M, $100M run-rate); Forbes and TechCrunch (Sep 1, 2026, reported $3.2B valuation; founders are high-school friends, now 22 and 23); YC profile (co-founder interned at Citadel Securities)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in 2016 by Alexandr Wang, then 19 (Forbes); Meta bought 49% for $14.3B, ~$29B valuation (Reuters, Jun 2025)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Mechanize: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 Insider (Aug and Sep 2026): Google talent and licensing deal, reportedly over $1.5B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Bloomberg, Sep 10, 2026 (Alibaba set to lead a $300M round at a reported $2.5B valuation, with Tencent and HSG; talks ongoing; Alibaba, ByteDance, DeepSeek and others have bought data or services from UniPat and Humanlaya); 36Kr (Sep 24, 2026)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Humanlaya: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Founded 2025; pre-Series A reported at several hundred million RMB ($30M+) in Sep 2026, led by CDH with HSG, Capital Today and BAI (Jiemian, Eastmoney)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Apex Intelligence (超衍智能):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36Kr (Sep 16, 2026): self-improving (RSI) model company; angel and angel+ rounds of nearly RMB 400M (~$60M), led by IDG Capital, Xinglian Capital and XtalPi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635508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 and research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635508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635508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Training-data vendor revenue: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Deedy Das, Menlo Ventures partner, AI training-data market map (Jul 2026): 50+ companies, ~$8.5B combined revenue (partly gross)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 AI economy: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McKinsey, Agents, robots, and us (Nov 2025): US ~$2.9T of unlockable value; IMF WEO (Apr 2026): US GDP $32.4T, world $126.3T; half the US penetration assumed elsewhere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market: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 AI economy × 10% (an assumption; big tech spends 10–15% of revenue on R&amp;D)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Agentic commerce: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McKinsey (Oct 2025): AI agents could handle $3–5T of global consumer commerce by 2030; cited by Ant International, Mastercard and Visa (CNBC, Sep 10, 2026)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 environment pricing: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AI, An FAQ on RL environments (2026)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Public text stock: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AI, Will we run out of data? (2024): exhausted 2026–2032 (80% CI)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Rounds and valuations: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Compute: Upstarts (Jun 2025, seed at $100M post); Forbes (Sep 1, 2026, raising $350M at $3.25B)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Personal agents: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 Muse (launched Sep 8, 2026; No. 1 on the US App Store Sep 18; TechCrunch, Business Insider); OpenAI Dots (DevDay, Sep 29, 2026; The Verge, CNBC); Qwen Personal Agent (Apsara, Sep 22, 2026); Manus Cue (Sep 28, 2026; Bloomberg)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Reuters and TechCrunch, Sep 28, 2026: $1B at a $10B valuation from Sequoia, Benchmark and Coatue; valued at $2.5B on Aug 26, 2026; founder Noah Shinn is 23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Remote Labor Index: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 and CAIS, Jul 2026: the best model completes 16.1% of real freelance projects to a paying client’s standard</a:t>
            </a:r>
          </a:p>
          <a:p>
            <a:pPr marL="0" marR="0" lvl="0" indent="0" algn="l" rtl="0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Event prediction: </a:t>
            </a:r>
            <a:r>
              <a:rPr lang="en-US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PolyBench (arXiv 2604.14199, Apr 2026): 7 frontier models simulated trading on 38,666 Polymarket markets; only 2 made money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en-US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Appendix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Glossary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Training environment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system where AI does real work again and again and learns from the results; an RL environment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3390138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3390138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3390138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 trajectory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full record of AI doing a task: every action, the world’s response, the result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Real feedback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outcomes settle each AI action: P&amp;L, the books, whether code runs, whether an event happens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Self-improvement (RSI)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50545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Recursive self-improvement: AI helps build the next, better AI; we turn each round’s real outcomes into the next round’s training data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Held-out set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Test-only tasks, never used in training, so models can’t memorize answers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3390138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390138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390138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Red-teaming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3390138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Simulated cheating and attacks before launch, to find and fix grading loopholes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231636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231636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6231636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Controlled experiment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231636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Change one thing (training in Xitadel or not) and compare before and after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9073134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073134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73134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Gross run-rate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073134" y="4425696"/>
            <a:ext cx="256717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Current revenue annualized, including payouts to experts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