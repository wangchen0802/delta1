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Newsreader" pitchFamily="18" charset="0"/>
      <p:regular r:id="rIdSimRealFont1"/>
      <p:italic r:id="rIdSimRealFont2"/>
    </p:embeddedFont>
    <p:embeddedFont>
      <p:font typeface="Instrument Sans" pitchFamily="34" charset="0"/>
      <p:regular r:id="rIdSimRealFont3"/>
    </p:embeddedFont>
    <p:embeddedFont>
      <p:font typeface="Instrument Sans SemiBold" pitchFamily="34" charset="0"/>
      <p:regular r:id="rIdSimRealFont4"/>
    </p:embeddedFont>
    <p:embeddedFont>
      <p:font typeface="IBM Plex Mono" pitchFamily="49" charset="0"/>
      <p:regular r:id="rIdSimRealFont5"/>
    </p:embeddedFont>
    <p:embeddedFont>
      <p:font typeface="Noto Serif CJK SC" pitchFamily="18" charset="-122"/>
      <p:regular r:id="rIdSimRealFont6"/>
    </p:embeddedFont>
    <p:embeddedFont>
      <p:font typeface="Noto Sans CJK SC" pitchFamily="34" charset="-122"/>
      <p:regular r:id="rIdSimRealFont7"/>
    </p:embeddedFont>
    <p:embeddedFont>
      <p:font typeface="Noto Sans CJK SC Medium" pitchFamily="34" charset="-122"/>
      <p:regular r:id="rIdSimRealFont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SimRealFont1" Type="http://schemas.openxmlformats.org/officeDocument/2006/relationships/font" Target="fonts/font1.fntdata"/><Relationship Id="rIdSimRealFont2" Type="http://schemas.openxmlformats.org/officeDocument/2006/relationships/font" Target="fonts/font2.fntdata"/><Relationship Id="rIdSimRealFont3" Type="http://schemas.openxmlformats.org/officeDocument/2006/relationships/font" Target="fonts/font3.fntdata"/><Relationship Id="rIdSimRealFont4" Type="http://schemas.openxmlformats.org/officeDocument/2006/relationships/font" Target="fonts/font4.fntdata"/><Relationship Id="rIdSimRealFont5" Type="http://schemas.openxmlformats.org/officeDocument/2006/relationships/font" Target="fonts/font5.fntdata"/><Relationship Id="rIdSimRealFont6" Type="http://schemas.openxmlformats.org/officeDocument/2006/relationships/font" Target="fonts/font6.fntdata"/><Relationship Id="rIdSimRealFont7" Type="http://schemas.openxmlformats.org/officeDocument/2006/relationships/font" Target="fonts/font7.fntdata"/><Relationship Id="rIdSimRealFont8" Type="http://schemas.openxmlformats.org/officeDocument/2006/relationships/font" Target="fonts/font8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30952380952380953"/>
          <c:y val="0"/>
          <c:w val="0.6904761904761905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头部AI训练数据公司收入（十亿美元）</c:v>
                </c:pt>
              </c:strCache>
            </c:strRef>
          </c:tx>
          <c:spPr>
            <a:solidFill>
              <a:srgbClr val="11111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111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$2.0B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$1.2B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$0.375B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$0.1B</a:t>
                    </a:r>
                    <a:r>
                      <a:rPr lang="en-US" b="0" i="0" strike="noStrike" sz="1300" u="none">
                        <a:solidFill>
                          <a:srgbClr val="111110"/>
                        </a:solidFill>
                        <a:latin typeface="Instrument Sans"/>
                        <a:ea typeface="Noto Sans CJK SC"/>
                        <a:cs typeface="Instrument Sans"/>
                      </a:rPr>
                      <a:t>+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Mercor</c:v>
                  </c:pt>
                  <c:pt idx="1">
                    <c:v>Surge AI</c:v>
                  </c:pt>
                  <c:pt idx="2">
                    <c:v>Snorkel AI</c:v>
                  </c:pt>
                  <c:pt idx="3">
                    <c:v>AfterQuery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1.2</c:v>
                </c:pt>
                <c:pt idx="2">
                  <c:v>0.375</c:v>
                </c:pt>
                <c:pt idx="3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9525" cap="flat">
            <a:solidFill>
              <a:srgbClr val="C4C0B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C66"/>
                </a:solidFill>
                <a:latin typeface="IBM Plex Mono"/>
                <a:ea typeface="Noto Sans CJK SC"/>
                <a:cs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5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6"/>
          <c:w val="1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AI智能体市场（十亿美元）</c:v>
                </c:pt>
              </c:strCache>
            </c:strRef>
          </c:tx>
          <c:spPr>
            <a:solidFill>
              <a:srgbClr val="C4C0B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C0B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D6C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0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0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$7.9B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10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0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~$25B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tx>
                <c:rich>
                  <a:bodyPr/>
                  <a:lstStyle/>
                  <a:p>
                    <a:pPr>
                      <a:defRPr b="0" i="0" strike="noStrike" sz="10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0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~$111B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2025</c:v>
                  </c:pt>
                  <c:pt idx="1">
                    <c:v>26</c:v>
                  </c:pt>
                  <c:pt idx="2">
                    <c:v>27</c:v>
                  </c:pt>
                  <c:pt idx="3">
                    <c:v>2028E</c:v>
                  </c:pt>
                  <c:pt idx="4">
                    <c:v>29</c:v>
                  </c:pt>
                  <c:pt idx="5">
                    <c:v>30</c:v>
                  </c:pt>
                  <c:pt idx="6">
                    <c:v>31</c:v>
                  </c:pt>
                  <c:pt idx="7">
                    <c:v>2032E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7.92</c:v>
                </c:pt>
                <c:pt idx="1">
                  <c:v>11.55</c:v>
                </c:pt>
                <c:pt idx="2">
                  <c:v>16.84</c:v>
                </c:pt>
                <c:pt idx="3">
                  <c:v>24.56</c:v>
                </c:pt>
                <c:pt idx="4">
                  <c:v>35.81</c:v>
                </c:pt>
                <c:pt idx="5">
                  <c:v>52.22</c:v>
                </c:pt>
                <c:pt idx="6">
                  <c:v>76.14</c:v>
                </c:pt>
                <c:pt idx="7">
                  <c:v>111.03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4C0B7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C66"/>
                </a:solidFill>
                <a:latin typeface="IBM Plex Mono"/>
                <a:ea typeface="Noto Sans CJK SC"/>
                <a:cs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2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33042558815754686"/>
          <c:y val="0"/>
          <c:w val="0.669574411842453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Xitadel公开预览版得分</c:v>
                </c:pt>
              </c:strCache>
            </c:strRef>
          </c:tx>
          <c:spPr>
            <a:solidFill>
              <a:srgbClr val="11111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111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80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defRPr>
                    </a:pPr>
                    <a:r>
                      <a:rPr lang="en-US" b="0" i="0" strike="noStrike" sz="1800" u="none">
                        <a:solidFill>
                          <a:srgbClr val="111110"/>
                        </a:solidFill>
                        <a:latin typeface="Newsreader"/>
                        <a:ea typeface="Noto Serif CJK SC"/>
                        <a:cs typeface="Newsreader"/>
                      </a:rPr>
                      <a:t>77.28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11110"/>
                    </a:solidFill>
                    <a:latin typeface="Newsreader"/>
                    <a:ea typeface="Noto Serif CJK SC"/>
                    <a:cs typeface="Newsread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人类参考分</c:v>
                  </c:pt>
                  <c:pt idx="1">
                    <c:v>前沿模型最高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77.28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111110"/>
                  </a:solidFill>
                  <a:latin typeface="Newsreader"/>
                  <a:ea typeface="Noto Serif CJK SC"/>
                  <a:cs typeface="Newsread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9525" cap="flat">
            <a:solidFill>
              <a:srgbClr val="C4C0B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C66"/>
                </a:solidFill>
                <a:latin typeface="IBM Plex Mono"/>
                <a:ea typeface="Noto Sans CJK SC"/>
                <a:cs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strument Sans"/>
                <a:ea typeface="Noto Sans CJK SC"/>
                <a:cs typeface="Instrument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0"/>
            <a:ext cx="4507992" cy="4114800"/>
          </a:xfrm>
          <a:prstGeom prst="rect">
            <a:avLst/>
          </a:prstGeom>
        </p:spPr>
      </p:pic>
      <p:pic>
        <p:nvPicPr>
          <p:cNvPr id="3" name="Image 1" descr="SimR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850392" cy="228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89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C2410C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AI经济的数据与自我进化引擎</a:t>
            </a:r>
            <a:endParaRPr lang="zh-CN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810512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0"/>
              </a:lnSpc>
              <a:buNone/>
            </a:pPr>
            <a:r>
              <a:rPr lang="zh-CN" altLang="en-US" sz="5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每个行业最强的AI</a:t>
            </a:r>
            <a:endParaRPr lang="zh-CN" sz="5400" dirty="0"/>
          </a:p>
          <a:p>
            <a:pPr indent="0" marL="0">
              <a:lnSpc>
                <a:spcPts val="6600"/>
              </a:lnSpc>
              <a:buNone/>
            </a:pPr>
            <a:r>
              <a:rPr lang="zh-CN" altLang="en-US" sz="5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都出自我们的世界</a:t>
            </a:r>
            <a:endParaRPr lang="zh-CN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6758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  ·  商业计划书  ·  种子轮</a:t>
            </a:r>
            <a:endParaRPr lang="zh-CN" sz="2000" dirty="0"/>
          </a:p>
        </p:txBody>
      </p:sp>
      <p:sp>
        <p:nvSpPr>
          <p:cNvPr id="7" name="Shape 3"/>
          <p:cNvSpPr/>
          <p:nvPr/>
        </p:nvSpPr>
        <p:spPr>
          <a:xfrm>
            <a:off x="548640" y="4681728"/>
            <a:ext cx="11094415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828032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成立</a:t>
            </a:r>
            <a:endParaRPr lang="zh-CN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84064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2026年9月10日</a:t>
            </a:r>
            <a:endParaRPr lang="zh-CN" sz="1500" dirty="0"/>
          </a:p>
        </p:txBody>
      </p:sp>
      <p:sp>
        <p:nvSpPr>
          <p:cNvPr id="10" name="Shape 6"/>
          <p:cNvSpPr/>
          <p:nvPr/>
        </p:nvSpPr>
        <p:spPr>
          <a:xfrm>
            <a:off x="4246778" y="4681728"/>
            <a:ext cx="0" cy="786384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29658" y="4828032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本轮融资</a:t>
            </a:r>
            <a:endParaRPr lang="zh-CN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429658" y="5084064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2,000万美元（约1.5亿元人民币）</a:t>
            </a:r>
            <a:endParaRPr lang="zh-CN" sz="1500" dirty="0"/>
          </a:p>
        </p:txBody>
      </p:sp>
      <p:sp>
        <p:nvSpPr>
          <p:cNvPr id="13" name="Shape 9"/>
          <p:cNvSpPr/>
          <p:nvPr/>
        </p:nvSpPr>
        <p:spPr>
          <a:xfrm>
            <a:off x="7944917" y="4681728"/>
            <a:ext cx="0" cy="786384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127797" y="4828032"/>
            <a:ext cx="34238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联系</a:t>
            </a:r>
            <a:endParaRPr lang="zh-CN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127797" y="5084064"/>
            <a:ext cx="34238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business@simreal.co</a:t>
            </a:r>
            <a:endParaRPr lang="zh-CN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5468112"/>
            <a:ext cx="110944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6382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一页讲完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短期做AI Infra数据，长期覆盖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整个AI经济</a:t>
            </a:r>
            <a:endParaRPr lang="zh-CN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45738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9970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短期  ·  切入点</a:t>
            </a:r>
            <a:endParaRPr lang="zh-CN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84832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Infra数据</a:t>
            </a:r>
            <a:endParaRPr lang="zh-CN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给前沿实验室做RL训练环境、评测和专家数据。赛道已被验证：头部玩家收入已达数十亿美元。</a:t>
            </a:r>
            <a:endParaRPr lang="zh-CN" sz="1300" dirty="0"/>
          </a:p>
        </p:txBody>
      </p:sp>
      <p:sp>
        <p:nvSpPr>
          <p:cNvPr id="8" name="Shape 6"/>
          <p:cNvSpPr/>
          <p:nvPr/>
        </p:nvSpPr>
        <p:spPr>
          <a:xfrm>
            <a:off x="4322978" y="1572768"/>
            <a:ext cx="3545738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7298" y="1810512"/>
            <a:ext cx="29970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长期  ·  终局</a:t>
            </a:r>
            <a:endParaRPr lang="zh-CN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97298" y="2084832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全阶段、全行业</a:t>
            </a:r>
            <a:endParaRPr lang="zh-CN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97298" y="2651760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Agent进入经济活动的每个环节、每个行业，都需要一个用真实结果打分的训练世界。我们来搭。</a:t>
            </a:r>
            <a:endParaRPr lang="zh-CN" sz="1300" dirty="0"/>
          </a:p>
        </p:txBody>
      </p:sp>
      <p:sp>
        <p:nvSpPr>
          <p:cNvPr id="12" name="Shape 10"/>
          <p:cNvSpPr/>
          <p:nvPr/>
        </p:nvSpPr>
        <p:spPr>
          <a:xfrm>
            <a:off x="8097317" y="1572768"/>
            <a:ext cx="3545738" cy="2249424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1637" y="1810512"/>
            <a:ext cx="29970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内核  ·  壁垒</a:t>
            </a:r>
            <a:endParaRPr lang="zh-CN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2084832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全时段，越来越强</a:t>
            </a:r>
            <a:endParaRPr lang="zh-CN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651760"/>
            <a:ext cx="29970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模型会换代，行业会轮动。训练世界、评分体系、结果数据、专家网络和搭建引擎都沉淀在我们手里，只增不减。</a:t>
            </a:r>
            <a:endParaRPr lang="zh-CN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2545004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24528"/>
            <a:ext cx="25450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14天</a:t>
            </a:r>
            <a:endParaRPr lang="zh-CN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54880"/>
            <a:ext cx="2499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做出7款产品，零外部融资</a:t>
            </a:r>
            <a:endParaRPr lang="zh-CN" sz="1100" dirty="0"/>
          </a:p>
        </p:txBody>
      </p:sp>
      <p:sp>
        <p:nvSpPr>
          <p:cNvPr id="19" name="Shape 17"/>
          <p:cNvSpPr/>
          <p:nvPr/>
        </p:nvSpPr>
        <p:spPr>
          <a:xfrm>
            <a:off x="3322244" y="4114800"/>
            <a:ext cx="2545004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22244" y="4224528"/>
            <a:ext cx="25450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zh-CN" altLang="en-US" sz="3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12%</a:t>
            </a:r>
            <a:endParaRPr lang="zh-CN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22244" y="4754880"/>
            <a:ext cx="2499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Xitadel实测：开源模型在真实市场里自我进化</a:t>
            </a:r>
            <a:endParaRPr lang="zh-CN" sz="1100" dirty="0"/>
          </a:p>
        </p:txBody>
      </p:sp>
      <p:sp>
        <p:nvSpPr>
          <p:cNvPr id="22" name="Shape 20"/>
          <p:cNvSpPr/>
          <p:nvPr/>
        </p:nvSpPr>
        <p:spPr>
          <a:xfrm>
            <a:off x="6095848" y="4114800"/>
            <a:ext cx="2545004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95848" y="4224528"/>
            <a:ext cx="25450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20万</a:t>
            </a:r>
            <a:r>
              <a:rPr lang="zh-CN" altLang="en-US" sz="3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endParaRPr lang="zh-CN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4754880"/>
            <a:ext cx="2499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可触达、可验证的专家</a:t>
            </a:r>
            <a:endParaRPr lang="zh-CN" sz="1100" dirty="0"/>
          </a:p>
        </p:txBody>
      </p:sp>
      <p:sp>
        <p:nvSpPr>
          <p:cNvPr id="25" name="Shape 23"/>
          <p:cNvSpPr/>
          <p:nvPr/>
        </p:nvSpPr>
        <p:spPr>
          <a:xfrm>
            <a:off x="8869451" y="4114800"/>
            <a:ext cx="2545004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451" y="4224528"/>
            <a:ext cx="25450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$20M</a:t>
            </a:r>
            <a:endParaRPr lang="zh-CN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869451" y="4754880"/>
            <a:ext cx="2499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种子轮，支撑24个月</a:t>
            </a:r>
            <a:endParaRPr lang="zh-CN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40680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谁拥有最好的</a:t>
            </a:r>
            <a:r>
              <a:rPr lang="zh-CN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训练世界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，谁就拥有该行业最好的AI。</a:t>
            </a:r>
            <a:endParaRPr lang="zh-CN" sz="2000" dirty="0"/>
          </a:p>
        </p:txBody>
      </p:sp>
      <p:pic>
        <p:nvPicPr>
          <p:cNvPr id="29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zh-C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团队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四个平均21岁的量化人，放弃顶级量化offer，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全职做SimReal</a:t>
            </a:r>
            <a:endParaRPr lang="zh-CN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从奥赛和名校，到华尔街最残酷的交易台：我们知道做题和做事差多远。</a:t>
            </a:r>
            <a:endParaRPr lang="zh-CN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1109441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pic>
        <p:nvPicPr>
          <p:cNvPr id="6" name="Image 0" descr="jane-street-col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340" y="2036436"/>
            <a:ext cx="757668" cy="297959"/>
          </a:xfrm>
          <a:prstGeom prst="rect">
            <a:avLst/>
          </a:prstGeom>
        </p:spPr>
      </p:pic>
      <p:pic>
        <p:nvPicPr>
          <p:cNvPr id="7" name="Image 1" descr="citadel-col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145" y="2094693"/>
            <a:ext cx="1244199" cy="181446"/>
          </a:xfrm>
          <a:prstGeom prst="rect">
            <a:avLst/>
          </a:prstGeom>
        </p:spPr>
      </p:pic>
      <p:pic>
        <p:nvPicPr>
          <p:cNvPr id="8" name="Image 2" descr="de-shaw-col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61" y="2058183"/>
            <a:ext cx="978104" cy="254466"/>
          </a:xfrm>
          <a:prstGeom prst="rect">
            <a:avLst/>
          </a:prstGeom>
        </p:spPr>
      </p:pic>
      <p:pic>
        <p:nvPicPr>
          <p:cNvPr id="9" name="Image 3" descr="millennium-col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127" y="2089960"/>
            <a:ext cx="1182510" cy="190911"/>
          </a:xfrm>
          <a:prstGeom prst="rect">
            <a:avLst/>
          </a:prstGeom>
        </p:spPr>
      </p:pic>
      <p:pic>
        <p:nvPicPr>
          <p:cNvPr id="10" name="Image 4" descr="optiver-col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400" y="2068820"/>
            <a:ext cx="968103" cy="233193"/>
          </a:xfrm>
          <a:prstGeom prst="rect">
            <a:avLst/>
          </a:prstGeom>
        </p:spPr>
      </p:pic>
      <p:pic>
        <p:nvPicPr>
          <p:cNvPr id="11" name="Image 5" descr="cambridge-i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3547" y="1905439"/>
            <a:ext cx="629948" cy="559953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548640" y="2761488"/>
            <a:ext cx="2636444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3" name="Text 5"/>
          <p:cNvSpPr txBox="1"/>
          <p:nvPr/>
        </p:nvSpPr>
        <p:spPr>
          <a:xfrm>
            <a:off x="786384" y="2907792"/>
            <a:ext cx="2160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i="1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Charles</a:t>
            </a:r>
            <a:r>
              <a:rPr lang="zh-CN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CEO</a:t>
            </a:r>
            <a:endParaRPr lang="zh-CN" sz="1300" dirty="0"/>
          </a:p>
        </p:txBody>
      </p:sp>
      <p:sp>
        <p:nvSpPr>
          <p:cNvPr id="14" name="Text 6"/>
          <p:cNvSpPr txBox="1"/>
          <p:nvPr/>
        </p:nvSpPr>
        <p:spPr>
          <a:xfrm>
            <a:off x="786384" y="3547872"/>
            <a:ext cx="2160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稳定币公司United Stables首位员工：U稳定币流通约14亿美元，已上线Binance</a:t>
            </a:r>
            <a:endParaRPr lang="zh-CN" sz="11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汇丰港元稳定币发行项目唯一实习生</a:t>
            </a:r>
            <a:endParaRPr lang="zh-CN" sz="11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Citadel量化经历</a:t>
            </a:r>
            <a:endParaRPr lang="zh-CN" sz="1100" dirty="0"/>
          </a:p>
        </p:txBody>
      </p:sp>
      <p:sp>
        <p:nvSpPr>
          <p:cNvPr id="15" name="Shape 7"/>
          <p:cNvSpPr/>
          <p:nvPr/>
        </p:nvSpPr>
        <p:spPr>
          <a:xfrm>
            <a:off x="786384" y="4992624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786384" y="5065776"/>
            <a:ext cx="216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LSE数学  ·  USAMO入围</a:t>
            </a:r>
            <a:endParaRPr lang="zh-CN" sz="1100" dirty="0"/>
          </a:p>
        </p:txBody>
      </p:sp>
      <p:sp>
        <p:nvSpPr>
          <p:cNvPr id="17" name="Shape 9"/>
          <p:cNvSpPr/>
          <p:nvPr/>
        </p:nvSpPr>
        <p:spPr>
          <a:xfrm>
            <a:off x="3367964" y="2761488"/>
            <a:ext cx="2636444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3605708" y="2907792"/>
            <a:ext cx="2160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i="1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Henry</a:t>
            </a:r>
            <a:r>
              <a:rPr lang="zh-CN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CTO</a:t>
            </a:r>
            <a:endParaRPr lang="zh-CN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3605708" y="3547872"/>
            <a:ext cx="2160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师从剑桥统计学教授Po-Ling Loh做机器学习研究（国际数理统计学会会士，2025年Ethel Newbold奖）</a:t>
            </a:r>
            <a:endParaRPr lang="zh-CN" sz="11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Jane Street、D. E. Shaw、Citadel量化经历</a:t>
            </a:r>
            <a:endParaRPr lang="zh-CN" sz="1100" dirty="0"/>
          </a:p>
        </p:txBody>
      </p:sp>
      <p:sp>
        <p:nvSpPr>
          <p:cNvPr id="20" name="Shape 12"/>
          <p:cNvSpPr/>
          <p:nvPr/>
        </p:nvSpPr>
        <p:spPr>
          <a:xfrm>
            <a:off x="3605708" y="4992624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3605708" y="5065776"/>
            <a:ext cx="216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剑桥数学（圣约翰学院）  ·  STEP全球前30</a:t>
            </a:r>
            <a:endParaRPr lang="zh-CN" sz="1100" dirty="0"/>
          </a:p>
        </p:txBody>
      </p:sp>
      <p:sp>
        <p:nvSpPr>
          <p:cNvPr id="22" name="Shape 14"/>
          <p:cNvSpPr/>
          <p:nvPr/>
        </p:nvSpPr>
        <p:spPr>
          <a:xfrm>
            <a:off x="6187288" y="2761488"/>
            <a:ext cx="2636444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6425032" y="2907792"/>
            <a:ext cx="2160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i="1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Amaris</a:t>
            </a:r>
            <a:r>
              <a:rPr lang="zh-CN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COO</a:t>
            </a:r>
            <a:endParaRPr lang="zh-CN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6425032" y="3547872"/>
            <a:ext cx="2160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Millennium香港数据科学家</a:t>
            </a:r>
            <a:endParaRPr lang="zh-CN" sz="11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另类数据团队史上第一位应届招聘</a:t>
            </a:r>
            <a:endParaRPr lang="zh-CN" sz="1100" dirty="0"/>
          </a:p>
        </p:txBody>
      </p:sp>
      <p:sp>
        <p:nvSpPr>
          <p:cNvPr id="25" name="Shape 17"/>
          <p:cNvSpPr/>
          <p:nvPr/>
        </p:nvSpPr>
        <p:spPr>
          <a:xfrm>
            <a:off x="6425032" y="4992624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425032" y="5065776"/>
            <a:ext cx="216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杜克数学与统计</a:t>
            </a:r>
            <a:endParaRPr lang="zh-CN" sz="1100" dirty="0"/>
          </a:p>
        </p:txBody>
      </p:sp>
      <p:sp>
        <p:nvSpPr>
          <p:cNvPr id="27" name="Shape 19"/>
          <p:cNvSpPr/>
          <p:nvPr/>
        </p:nvSpPr>
        <p:spPr>
          <a:xfrm>
            <a:off x="9006611" y="2761488"/>
            <a:ext cx="2636444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9244355" y="2907792"/>
            <a:ext cx="2160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i="1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James</a:t>
            </a:r>
            <a:r>
              <a:rPr lang="zh-CN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 CPO</a:t>
            </a:r>
            <a:endParaRPr lang="zh-CN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9244355" y="3547872"/>
            <a:ext cx="2160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Optiver量化经历</a:t>
            </a:r>
            <a:endParaRPr lang="zh-CN" sz="11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富达股票研究</a:t>
            </a:r>
            <a:endParaRPr lang="zh-CN" sz="1100" dirty="0"/>
          </a:p>
        </p:txBody>
      </p:sp>
      <p:sp>
        <p:nvSpPr>
          <p:cNvPr id="30" name="Shape 22"/>
          <p:cNvSpPr/>
          <p:nvPr/>
        </p:nvSpPr>
        <p:spPr>
          <a:xfrm>
            <a:off x="9244355" y="4992624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9244355" y="5065776"/>
            <a:ext cx="216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LSE数学</a:t>
            </a:r>
            <a:endParaRPr lang="zh-CN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687568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Scale AI、Mercor、AfterQuery的创始人，都在20岁上下起步。</a:t>
            </a:r>
            <a:r>
              <a:rPr lang="zh-CN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我们也是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。</a:t>
            </a:r>
            <a:endParaRPr lang="zh-CN" sz="2000" dirty="0"/>
          </a:p>
        </p:txBody>
      </p:sp>
      <p:pic>
        <p:nvPicPr>
          <p:cNvPr id="33" name="Image 6" descr="SimRe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35" name="Text 26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核心洞察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AI的每一次跃迁，都来自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反馈信号</a:t>
            </a: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的升级</a:t>
            </a:r>
            <a:endParaRPr lang="zh-CN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考满分的AI，还不能被放心交付真活：训练题有标准答案，真实工作没有。</a:t>
            </a:r>
            <a:endParaRPr lang="zh-CN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263644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29968"/>
            <a:ext cx="216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第一代  ·  互联网数据</a:t>
            </a:r>
            <a:endParaRPr lang="zh-CN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8600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模仿</a:t>
            </a:r>
            <a:endParaRPr lang="zh-CN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907792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人写，模型抄。</a:t>
            </a:r>
            <a:endParaRPr lang="zh-CN" sz="1300" dirty="0"/>
          </a:p>
        </p:txBody>
      </p:sp>
      <p:sp>
        <p:nvSpPr>
          <p:cNvPr id="9" name="Shape 7"/>
          <p:cNvSpPr/>
          <p:nvPr/>
        </p:nvSpPr>
        <p:spPr>
          <a:xfrm>
            <a:off x="786384" y="3328416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456432"/>
            <a:ext cx="216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带来的跃迁</a:t>
            </a:r>
            <a:endParaRPr lang="zh-CN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694176"/>
            <a:ext cx="2160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会说话的AI</a:t>
            </a:r>
            <a:endParaRPr lang="zh-CN" sz="1800" dirty="0"/>
          </a:p>
        </p:txBody>
      </p:sp>
      <p:sp>
        <p:nvSpPr>
          <p:cNvPr id="12" name="Shape 10"/>
          <p:cNvSpPr/>
          <p:nvPr/>
        </p:nvSpPr>
        <p:spPr>
          <a:xfrm>
            <a:off x="786384" y="4187952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187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边际收益递减</a:t>
            </a:r>
            <a:endParaRPr lang="zh-CN" sz="1000" dirty="0"/>
          </a:p>
        </p:txBody>
      </p:sp>
      <p:sp>
        <p:nvSpPr>
          <p:cNvPr id="14" name="Shape 12"/>
          <p:cNvSpPr/>
          <p:nvPr/>
        </p:nvSpPr>
        <p:spPr>
          <a:xfrm>
            <a:off x="3367964" y="1810512"/>
            <a:ext cx="263644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5708" y="2029968"/>
            <a:ext cx="216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第二代  ·  人类偏好</a:t>
            </a:r>
            <a:endParaRPr lang="zh-CN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05708" y="228600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对齐</a:t>
            </a:r>
            <a:endParaRPr lang="zh-CN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3605708" y="2907792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人打分，模型迎合。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3605708" y="3328416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05708" y="3456432"/>
            <a:ext cx="216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带来的跃迁</a:t>
            </a:r>
            <a:endParaRPr lang="zh-CN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05708" y="3694176"/>
            <a:ext cx="2160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好用的AI助手</a:t>
            </a:r>
            <a:endParaRPr lang="zh-CN" sz="1800" dirty="0"/>
          </a:p>
        </p:txBody>
      </p:sp>
      <p:sp>
        <p:nvSpPr>
          <p:cNvPr id="21" name="Shape 19"/>
          <p:cNvSpPr/>
          <p:nvPr/>
        </p:nvSpPr>
        <p:spPr>
          <a:xfrm>
            <a:off x="3605708" y="4187952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05708" y="4187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边际收益递减</a:t>
            </a:r>
            <a:endParaRPr lang="zh-CN" sz="1000" dirty="0"/>
          </a:p>
        </p:txBody>
      </p:sp>
      <p:sp>
        <p:nvSpPr>
          <p:cNvPr id="23" name="Shape 21"/>
          <p:cNvSpPr/>
          <p:nvPr/>
        </p:nvSpPr>
        <p:spPr>
          <a:xfrm>
            <a:off x="6187288" y="1810512"/>
            <a:ext cx="263644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25032" y="2029968"/>
            <a:ext cx="216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第三代  ·  可检验的答案</a:t>
            </a:r>
            <a:endParaRPr lang="zh-CN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25032" y="228600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验证</a:t>
            </a:r>
            <a:endParaRPr lang="zh-CN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6425032" y="2907792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规则判定，模型解题。</a:t>
            </a:r>
            <a:endParaRPr lang="zh-CN" sz="1300" dirty="0"/>
          </a:p>
        </p:txBody>
      </p:sp>
      <p:sp>
        <p:nvSpPr>
          <p:cNvPr id="27" name="Shape 25"/>
          <p:cNvSpPr/>
          <p:nvPr/>
        </p:nvSpPr>
        <p:spPr>
          <a:xfrm>
            <a:off x="6425032" y="3328416"/>
            <a:ext cx="216095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25032" y="3456432"/>
            <a:ext cx="216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带来的跃迁</a:t>
            </a:r>
            <a:endParaRPr lang="zh-CN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25032" y="3694176"/>
            <a:ext cx="2160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推理模型</a:t>
            </a:r>
            <a:endParaRPr lang="zh-CN" sz="1800" dirty="0"/>
          </a:p>
        </p:txBody>
      </p:sp>
      <p:sp>
        <p:nvSpPr>
          <p:cNvPr id="30" name="Shape 28"/>
          <p:cNvSpPr/>
          <p:nvPr/>
        </p:nvSpPr>
        <p:spPr>
          <a:xfrm>
            <a:off x="6425032" y="4187952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5032" y="4187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趋于成熟</a:t>
            </a:r>
            <a:endParaRPr lang="zh-CN" sz="1000" dirty="0"/>
          </a:p>
        </p:txBody>
      </p:sp>
      <p:sp>
        <p:nvSpPr>
          <p:cNvPr id="32" name="Shape 30"/>
          <p:cNvSpPr/>
          <p:nvPr/>
        </p:nvSpPr>
        <p:spPr>
          <a:xfrm>
            <a:off x="9006611" y="1810512"/>
            <a:ext cx="2636444" cy="283464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44355" y="2029968"/>
            <a:ext cx="216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第四代  ·  真实世界的结果</a:t>
            </a:r>
            <a:endParaRPr lang="zh-CN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244355" y="228600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后果</a:t>
            </a:r>
            <a:endParaRPr lang="zh-CN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9244355" y="2907792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世界结算，模型承担。</a:t>
            </a:r>
            <a:endParaRPr lang="zh-CN" sz="1300" dirty="0"/>
          </a:p>
        </p:txBody>
      </p:sp>
      <p:sp>
        <p:nvSpPr>
          <p:cNvPr id="36" name="Shape 34"/>
          <p:cNvSpPr/>
          <p:nvPr/>
        </p:nvSpPr>
        <p:spPr>
          <a:xfrm>
            <a:off x="9244355" y="3328416"/>
            <a:ext cx="2160956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44355" y="3456432"/>
            <a:ext cx="2160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4C0B7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带来的跃迁</a:t>
            </a:r>
            <a:endParaRPr lang="zh-CN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244355" y="3694176"/>
            <a:ext cx="2160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自主运行与自我进化</a:t>
            </a:r>
            <a:endParaRPr lang="zh-CN" sz="1800" dirty="0"/>
          </a:p>
        </p:txBody>
      </p:sp>
      <p:sp>
        <p:nvSpPr>
          <p:cNvPr id="39" name="Shape 37"/>
          <p:cNvSpPr/>
          <p:nvPr/>
        </p:nvSpPr>
        <p:spPr>
          <a:xfrm>
            <a:off x="9244355" y="4187952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44355" y="418795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刚刚起步</a:t>
            </a:r>
            <a:endParaRPr lang="zh-CN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95604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前三代信号来自人，</a:t>
            </a:r>
            <a:r>
              <a:rPr lang="zh-CN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第四代来自世界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。</a:t>
            </a:r>
            <a:endParaRPr lang="zh-CN" sz="2000" dirty="0"/>
          </a:p>
        </p:txBody>
      </p:sp>
      <p:sp>
        <p:nvSpPr>
          <p:cNvPr id="42" name="Shape 40"/>
          <p:cNvSpPr/>
          <p:nvPr/>
        </p:nvSpPr>
        <p:spPr>
          <a:xfrm>
            <a:off x="7452360" y="4901184"/>
            <a:ext cx="0" cy="896112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26680" y="48828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2026–2032年</a:t>
            </a:r>
            <a:endParaRPr lang="zh-CN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7726680" y="530352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公开的人类文本预计在此期间被用尽（Epoch AI）。文本不够用了，下一步要靠真实世界的反馈。</a:t>
            </a:r>
            <a:endParaRPr lang="zh-CN" sz="1100" dirty="0"/>
          </a:p>
        </p:txBody>
      </p:sp>
      <p:pic>
        <p:nvPicPr>
          <p:cNvPr id="45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我们在做什么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模型在进化，世界在进化，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造世界的引擎</a:t>
            </a: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也在进化</a:t>
            </a:r>
            <a:endParaRPr lang="zh-CN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3840480" cy="3840480"/>
          </a:xfrm>
          <a:prstGeom prst="ellipse">
            <a:avLst/>
          </a:prstGeom>
          <a:solidFill>
            <a:srgbClr val="F2F1EC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240280"/>
            <a:ext cx="2743200" cy="2743200"/>
          </a:xfrm>
          <a:prstGeom prst="ellipse">
            <a:avLst/>
          </a:prstGeom>
          <a:solidFill>
            <a:srgbClr val="E2E0DA"/>
          </a:solidFill>
          <a:ln w="9525">
            <a:solidFill>
              <a:srgbClr val="C4C0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2788920"/>
            <a:ext cx="1645920" cy="1645920"/>
          </a:xfrm>
          <a:prstGeom prst="ellipse">
            <a:avLst/>
          </a:prstGeom>
          <a:solidFill>
            <a:srgbClr val="111110"/>
          </a:solidFill>
          <a:ln w="9525">
            <a:solidFill>
              <a:srgbClr val="11111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3227832"/>
            <a:ext cx="1463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</a:t>
            </a:r>
            <a:endParaRPr lang="zh-CN" sz="1300" dirty="0"/>
          </a:p>
          <a:p>
            <a:pPr algn="ctr" indent="0" marL="0">
              <a:buNone/>
            </a:pPr>
            <a:r>
              <a:rPr lang="zh-CN" altLang="en-US" sz="22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模型</a:t>
            </a:r>
            <a:endParaRPr lang="zh-CN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2951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  </a:t>
            </a: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世界</a:t>
            </a:r>
            <a:endParaRPr lang="zh-CN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746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  </a:t>
            </a: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造世界的引擎</a:t>
            </a:r>
            <a:endParaRPr lang="zh-CN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627632"/>
            <a:ext cx="6065215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  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模型</a:t>
            </a:r>
            <a:endParaRPr lang="zh-CN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1762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AI在世界里行动，按真实结果训练自己，每一轮都从上一轮出发。</a:t>
            </a:r>
            <a:endParaRPr lang="zh-CN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1719072"/>
            <a:ext cx="2544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zh-CN" altLang="en-US" sz="3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12%</a:t>
            </a:r>
            <a:endParaRPr lang="zh-CN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249424"/>
            <a:ext cx="2544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Xitadel：开源模型在从未见过的真实市场数据上，交易表现提升12%，多次独立运行均复现</a:t>
            </a:r>
            <a:endParaRPr lang="zh-CN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944368"/>
            <a:ext cx="60652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30723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  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世界</a:t>
            </a:r>
            <a:endParaRPr lang="zh-CN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49300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每个环境上线前先经受攻击，漏洞越修越少，分数越来越可信。</a:t>
            </a:r>
            <a:endParaRPr lang="zh-CN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3035808"/>
            <a:ext cx="2544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6 → 0</a:t>
            </a:r>
            <a:endParaRPr lang="zh-CN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566160"/>
            <a:ext cx="2544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评分漏洞，两轮受控对比；另有400次作弊攻击、0次成功</a:t>
            </a:r>
            <a:endParaRPr lang="zh-CN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4261104"/>
            <a:ext cx="60652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7784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  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造世界的引擎</a:t>
            </a:r>
            <a:endParaRPr lang="zh-CN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480974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搭环境、找专家、切行业，全部做成系统。搭得越多，搭得越快。</a:t>
            </a:r>
            <a:endParaRPr lang="zh-CN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4352544"/>
            <a:ext cx="2544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14天</a:t>
            </a:r>
            <a:endParaRPr lang="zh-CN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4882896"/>
            <a:ext cx="2544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做出7款产品；20万+可触达、可验证的专家</a:t>
            </a:r>
            <a:endParaRPr lang="zh-CN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42432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RSI for RSI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：让自我进化本身，也自我进化。</a:t>
            </a:r>
            <a:endParaRPr lang="zh-CN" sz="2000" dirty="0"/>
          </a:p>
        </p:txBody>
      </p:sp>
      <p:pic>
        <p:nvPicPr>
          <p:cNvPr id="26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06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为什么越来越强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不管AI怎么变，我们的能力和资产只会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越来越强</a:t>
            </a:r>
            <a:endParaRPr lang="zh-CN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六个引擎</a:t>
            </a:r>
            <a:endParaRPr lang="zh-CN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01752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56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  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模型引擎</a:t>
            </a:r>
            <a:endParaRPr lang="zh-CN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95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每一轮都从上一轮出发</a:t>
            </a:r>
            <a:endParaRPr lang="zh-CN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828800"/>
            <a:ext cx="301752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956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  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客户引擎</a:t>
            </a:r>
            <a:endParaRPr lang="zh-CN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395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模型每升级一次，就回来再训一次</a:t>
            </a:r>
            <a:endParaRPr lang="zh-CN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01752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455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  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数据引擎</a:t>
            </a:r>
            <a:endParaRPr lang="zh-CN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84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每次运行的结果数据，都归我们</a:t>
            </a:r>
            <a:endParaRPr lang="zh-CN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3017520"/>
            <a:ext cx="301752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31455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  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专家引擎</a:t>
            </a:r>
            <a:endParaRPr lang="zh-CN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584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专家定评分标准，世界越来越真</a:t>
            </a:r>
            <a:endParaRPr lang="zh-CN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301752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3342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  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行业引擎</a:t>
            </a:r>
            <a:endParaRPr lang="zh-CN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73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每进一个行业，多一条实验室收入</a:t>
            </a:r>
            <a:endParaRPr lang="zh-CN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4206240"/>
            <a:ext cx="3017520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43342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06  </a:t>
            </a:r>
            <a:r>
              <a:rPr lang="zh-CN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搭建引擎</a:t>
            </a:r>
            <a:endParaRPr lang="zh-CN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4773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搭得越多，搭得越快</a:t>
            </a:r>
            <a:endParaRPr lang="zh-CN" sz="1300" dirty="0"/>
          </a:p>
        </p:txBody>
      </p:sp>
      <p:sp>
        <p:nvSpPr>
          <p:cNvPr id="23" name="Shape 21"/>
          <p:cNvSpPr/>
          <p:nvPr/>
        </p:nvSpPr>
        <p:spPr>
          <a:xfrm>
            <a:off x="7269480" y="1572768"/>
            <a:ext cx="2095348" cy="3931920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47708" y="1572768"/>
            <a:ext cx="2095348" cy="39319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88936" y="1792224"/>
            <a:ext cx="1729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表象  ·  会变</a:t>
            </a:r>
            <a:endParaRPr lang="zh-CN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767164" y="1792224"/>
            <a:ext cx="1729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内核  ·  只增不减</a:t>
            </a:r>
            <a:endParaRPr lang="zh-CN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88936" y="2194560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模型换代</a:t>
            </a:r>
            <a:endParaRPr lang="zh-CN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488936" y="2816352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行业轮动</a:t>
            </a:r>
            <a:endParaRPr lang="zh-CN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488936" y="3438144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产品形态</a:t>
            </a:r>
            <a:endParaRPr lang="zh-CN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88936" y="4059936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每一份合同</a:t>
            </a:r>
            <a:endParaRPr lang="zh-CN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67164" y="2194560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训练世界库</a:t>
            </a:r>
            <a:endParaRPr lang="zh-CN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767164" y="2816352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评分体系</a:t>
            </a:r>
            <a:endParaRPr lang="zh-CN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767164" y="3438144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结果数据</a:t>
            </a:r>
            <a:endParaRPr lang="zh-CN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767164" y="4059936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专家网络</a:t>
            </a:r>
            <a:endParaRPr lang="zh-CN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767164" y="4681728"/>
            <a:ext cx="1729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搭建引擎</a:t>
            </a:r>
            <a:endParaRPr lang="zh-CN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669280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对外都是表象，</a:t>
            </a:r>
            <a:r>
              <a:rPr lang="zh-CN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内核自有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：每一次交付，都在加厚内核。</a:t>
            </a:r>
            <a:endParaRPr lang="zh-CN" sz="2000" dirty="0"/>
          </a:p>
        </p:txBody>
      </p:sp>
      <p:pic>
        <p:nvPicPr>
          <p:cNvPr id="37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06</a:t>
            </a:r>
            <a:endParaRPr lang="zh-CN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07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短期  ·  切入点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先切入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 Infra数据</a:t>
            </a: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：头部玩家收入已达数十亿美元</a:t>
            </a:r>
            <a:endParaRPr lang="zh-CN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头部AI训练数据公司收入</a:t>
            </a: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十亿美元，最新报道</a:t>
            </a:r>
            <a:endParaRPr lang="zh-CN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01952"/>
          <a:ext cx="5760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19248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Mercor</a:t>
            </a:r>
            <a:endParaRPr lang="zh-CN" sz="1300" dirty="0"/>
          </a:p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年化毛营收，2026年7月</a:t>
            </a:r>
            <a:endParaRPr lang="zh-CN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77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Surge AI</a:t>
            </a:r>
            <a:endParaRPr lang="zh-CN" sz="1300" dirty="0"/>
          </a:p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2024年收入</a:t>
            </a:r>
            <a:endParaRPr lang="zh-CN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306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Snorkel AI</a:t>
            </a:r>
            <a:endParaRPr lang="zh-CN" sz="1300" dirty="0"/>
          </a:p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年化收入，2026年9月</a:t>
            </a:r>
            <a:endParaRPr lang="zh-CN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335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AfterQuery</a:t>
            </a:r>
            <a:endParaRPr lang="zh-CN" sz="1300" dirty="0"/>
          </a:p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年化收入，2026年4月</a:t>
            </a:r>
            <a:endParaRPr lang="zh-CN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133088"/>
            <a:ext cx="17373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224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27倍</a:t>
            </a:r>
            <a:endParaRPr lang="zh-CN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6634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Mercor年化毛营收，16个月从7,500万到20亿美元</a:t>
            </a:r>
            <a:endParaRPr lang="zh-CN" sz="1000" dirty="0"/>
          </a:p>
        </p:txBody>
      </p:sp>
      <p:sp>
        <p:nvSpPr>
          <p:cNvPr id="13" name="Shape 10"/>
          <p:cNvSpPr/>
          <p:nvPr/>
        </p:nvSpPr>
        <p:spPr>
          <a:xfrm>
            <a:off x="2468880" y="4133088"/>
            <a:ext cx="17373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68880" y="4224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&gt;10亿美元</a:t>
            </a:r>
            <a:endParaRPr lang="zh-CN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46634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Anthropic曾讨论一年内投在训练环境上</a:t>
            </a:r>
            <a:endParaRPr lang="zh-CN" sz="1000" dirty="0"/>
          </a:p>
        </p:txBody>
      </p:sp>
      <p:sp>
        <p:nvSpPr>
          <p:cNvPr id="16" name="Shape 13"/>
          <p:cNvSpPr/>
          <p:nvPr/>
        </p:nvSpPr>
        <p:spPr>
          <a:xfrm>
            <a:off x="4389120" y="4133088"/>
            <a:ext cx="17373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89120" y="4224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$29B</a:t>
            </a:r>
            <a:endParaRPr lang="zh-CN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389120" y="46634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Scale AI估值；Mercor $10B，AfterQuery $3.2B</a:t>
            </a:r>
            <a:endParaRPr lang="zh-CN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怎么赚钱</a:t>
            </a:r>
            <a:endParaRPr lang="zh-CN" sz="1000" dirty="0"/>
          </a:p>
        </p:txBody>
      </p:sp>
      <p:sp>
        <p:nvSpPr>
          <p:cNvPr id="20" name="Shape 17"/>
          <p:cNvSpPr/>
          <p:nvPr/>
        </p:nvSpPr>
        <p:spPr>
          <a:xfrm>
            <a:off x="6675120" y="2322576"/>
            <a:ext cx="1187120" cy="384048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66560" y="2377440"/>
            <a:ext cx="107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免费基准</a:t>
            </a:r>
            <a:endParaRPr lang="zh-CN" sz="1100" dirty="0"/>
          </a:p>
        </p:txBody>
      </p:sp>
      <p:sp>
        <p:nvSpPr>
          <p:cNvPr id="22" name="Shape 19"/>
          <p:cNvSpPr/>
          <p:nvPr/>
        </p:nvSpPr>
        <p:spPr>
          <a:xfrm>
            <a:off x="7935392" y="2176272"/>
            <a:ext cx="1187120" cy="530352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26832" y="2231136"/>
            <a:ext cx="107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私有评测</a:t>
            </a:r>
            <a:endParaRPr lang="zh-CN" sz="1100" dirty="0"/>
          </a:p>
        </p:txBody>
      </p:sp>
      <p:sp>
        <p:nvSpPr>
          <p:cNvPr id="24" name="Shape 21"/>
          <p:cNvSpPr/>
          <p:nvPr/>
        </p:nvSpPr>
        <p:spPr>
          <a:xfrm>
            <a:off x="9195664" y="2029968"/>
            <a:ext cx="1187120" cy="676656"/>
          </a:xfrm>
          <a:prstGeom prst="rect">
            <a:avLst/>
          </a:prstGeom>
          <a:solidFill>
            <a:srgbClr val="C4C0B7"/>
          </a:solidFill>
          <a:ln w="12700">
            <a:solidFill>
              <a:srgbClr val="C4C0B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87104" y="2084832"/>
            <a:ext cx="107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环境授权</a:t>
            </a:r>
            <a:endParaRPr lang="zh-CN" sz="1100" dirty="0"/>
          </a:p>
        </p:txBody>
      </p:sp>
      <p:sp>
        <p:nvSpPr>
          <p:cNvPr id="26" name="Shape 23"/>
          <p:cNvSpPr/>
          <p:nvPr/>
        </p:nvSpPr>
        <p:spPr>
          <a:xfrm>
            <a:off x="10455935" y="1883664"/>
            <a:ext cx="1187120" cy="8229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547375" y="1938528"/>
            <a:ext cx="1077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FAF9F6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持续训练</a:t>
            </a:r>
            <a:endParaRPr lang="zh-CN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675120" y="2816352"/>
            <a:ext cx="4967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六到七位数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美元 / 每份实验室合同 / 每季度</a:t>
            </a:r>
            <a:endParaRPr lang="zh-CN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3236976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环境搭一次，模型每升级一次，就再收一次。独家授权4–5倍（行业参考，Epoch AI）。</a:t>
            </a:r>
            <a:endParaRPr lang="zh-CN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3858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为什么是我们</a:t>
            </a:r>
            <a:endParaRPr lang="zh-CN" sz="1000" dirty="0"/>
          </a:p>
        </p:txBody>
      </p:sp>
      <p:sp>
        <p:nvSpPr>
          <p:cNvPr id="31" name="Shape 28"/>
          <p:cNvSpPr/>
          <p:nvPr/>
        </p:nvSpPr>
        <p:spPr>
          <a:xfrm>
            <a:off x="6675120" y="4517136"/>
            <a:ext cx="496793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5120" y="41148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专家数据平台</a:t>
            </a: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Mercor、Surge、AfterQuery</a:t>
            </a:r>
            <a:endParaRPr lang="zh-CN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464040" y="4114800"/>
            <a:ext cx="20875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按人工意见打分</a:t>
            </a:r>
            <a:endParaRPr lang="zh-CN" sz="1100" dirty="0"/>
          </a:p>
        </p:txBody>
      </p:sp>
      <p:sp>
        <p:nvSpPr>
          <p:cNvPr id="34" name="Shape 31"/>
          <p:cNvSpPr/>
          <p:nvPr/>
        </p:nvSpPr>
        <p:spPr>
          <a:xfrm>
            <a:off x="6675120" y="4919472"/>
            <a:ext cx="496793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75120" y="451713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AI评测公司</a:t>
            </a: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UniPat等</a:t>
            </a:r>
            <a:endParaRPr lang="zh-CN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9464040" y="4517136"/>
            <a:ext cx="20875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只测不练</a:t>
            </a:r>
            <a:endParaRPr lang="zh-CN" sz="1100" dirty="0"/>
          </a:p>
        </p:txBody>
      </p:sp>
      <p:sp>
        <p:nvSpPr>
          <p:cNvPr id="37" name="Shape 34"/>
          <p:cNvSpPr/>
          <p:nvPr/>
        </p:nvSpPr>
        <p:spPr>
          <a:xfrm>
            <a:off x="6675120" y="5321808"/>
            <a:ext cx="496793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75120" y="4919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实验室自建</a:t>
            </a: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各前沿实验室</a:t>
            </a:r>
            <a:endParaRPr lang="zh-CN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9464040" y="4919472"/>
            <a:ext cx="20875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只做自己熟悉的领域</a:t>
            </a:r>
            <a:endParaRPr lang="zh-CN" sz="1100" dirty="0"/>
          </a:p>
        </p:txBody>
      </p:sp>
      <p:sp>
        <p:nvSpPr>
          <p:cNvPr id="40" name="Shape 37"/>
          <p:cNvSpPr/>
          <p:nvPr/>
        </p:nvSpPr>
        <p:spPr>
          <a:xfrm>
            <a:off x="6675120" y="5321808"/>
            <a:ext cx="4967935" cy="402336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03136" y="53218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FAF9F6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SimReal</a:t>
            </a:r>
            <a:r>
              <a:rPr lang="zh-CN" altLang="en-US" sz="900" dirty="0">
                <a:solidFill>
                  <a:srgbClr val="E27A3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</a:t>
            </a:r>
            <a:endParaRPr lang="zh-CN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7863840" y="5321808"/>
            <a:ext cx="36511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数据、环境、评分、自我进化，一整套</a:t>
            </a:r>
            <a:endParaRPr lang="zh-CN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5797296"/>
            <a:ext cx="4967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独立中立：不接受模型公司入股，每家实验室都能放心采购。</a:t>
            </a:r>
            <a:endParaRPr lang="zh-CN" sz="1000" dirty="0"/>
          </a:p>
        </p:txBody>
      </p:sp>
      <p:pic>
        <p:nvPicPr>
          <p:cNvPr id="44" name="Image 0" descr="SimR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46" name="Text 42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07</a:t>
            </a:r>
            <a:endParaRPr 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08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长期  ·  终局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长期：AI经济的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每一个阶段、每一个行业</a:t>
            </a:r>
            <a:endParaRPr lang="zh-CN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7款产品已经覆盖的环节</a:t>
            </a:r>
            <a:endParaRPr lang="zh-CN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26716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2526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研究分析</a:t>
            </a:r>
            <a:endParaRPr lang="zh-CN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2671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" y="2377440"/>
            <a:ext cx="234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SimReal-MLBench</a:t>
            </a: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AI研究</a:t>
            </a:r>
            <a:endParaRPr lang="zh-CN" sz="1300" dirty="0"/>
          </a:p>
        </p:txBody>
      </p:sp>
      <p:sp>
        <p:nvSpPr>
          <p:cNvPr id="9" name="Shape 7"/>
          <p:cNvSpPr/>
          <p:nvPr/>
        </p:nvSpPr>
        <p:spPr>
          <a:xfrm>
            <a:off x="3139364" y="2112264"/>
            <a:ext cx="201168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4540" y="1828800"/>
            <a:ext cx="2526716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4540" y="1920240"/>
            <a:ext cx="2526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判断预测</a:t>
            </a:r>
            <a:endParaRPr lang="zh-CN" sz="1800" dirty="0"/>
          </a:p>
        </p:txBody>
      </p:sp>
      <p:sp>
        <p:nvSpPr>
          <p:cNvPr id="12" name="Shape 10"/>
          <p:cNvSpPr/>
          <p:nvPr/>
        </p:nvSpPr>
        <p:spPr>
          <a:xfrm>
            <a:off x="3404540" y="2377440"/>
            <a:ext cx="252671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2556" y="2377440"/>
            <a:ext cx="234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Future Prediction Bench</a:t>
            </a: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预测</a:t>
            </a:r>
            <a:endParaRPr lang="zh-CN" sz="1300" dirty="0"/>
          </a:p>
        </p:txBody>
      </p:sp>
      <p:sp>
        <p:nvSpPr>
          <p:cNvPr id="14" name="Shape 12"/>
          <p:cNvSpPr/>
          <p:nvPr/>
        </p:nvSpPr>
        <p:spPr>
          <a:xfrm>
            <a:off x="5995264" y="2112264"/>
            <a:ext cx="201168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60440" y="1828800"/>
            <a:ext cx="2526716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0440" y="1920240"/>
            <a:ext cx="2526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决策执行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6260440" y="2377440"/>
            <a:ext cx="252671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8456" y="2377440"/>
            <a:ext cx="234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Xitadel</a:t>
            </a: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交易</a:t>
            </a:r>
            <a:endParaRPr lang="zh-CN" sz="1300" dirty="0"/>
          </a:p>
        </p:txBody>
      </p:sp>
      <p:sp>
        <p:nvSpPr>
          <p:cNvPr id="19" name="Shape 17"/>
          <p:cNvSpPr/>
          <p:nvPr/>
        </p:nvSpPr>
        <p:spPr>
          <a:xfrm>
            <a:off x="6260440" y="2834640"/>
            <a:ext cx="252671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8456" y="2834640"/>
            <a:ext cx="234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SWE-Forward</a:t>
            </a: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软件工程</a:t>
            </a:r>
            <a:endParaRPr lang="zh-CN" sz="1300" dirty="0"/>
          </a:p>
        </p:txBody>
      </p:sp>
      <p:sp>
        <p:nvSpPr>
          <p:cNvPr id="21" name="Shape 19"/>
          <p:cNvSpPr/>
          <p:nvPr/>
        </p:nvSpPr>
        <p:spPr>
          <a:xfrm>
            <a:off x="8851163" y="2112264"/>
            <a:ext cx="201168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16339" y="1828800"/>
            <a:ext cx="2526716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16339" y="1920240"/>
            <a:ext cx="2526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结算核对</a:t>
            </a:r>
            <a:endParaRPr lang="zh-CN" sz="1800" dirty="0"/>
          </a:p>
        </p:txBody>
      </p:sp>
      <p:sp>
        <p:nvSpPr>
          <p:cNvPr id="24" name="Shape 22"/>
          <p:cNvSpPr/>
          <p:nvPr/>
        </p:nvSpPr>
        <p:spPr>
          <a:xfrm>
            <a:off x="9116339" y="2377440"/>
            <a:ext cx="252671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44355" y="2377440"/>
            <a:ext cx="234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Month-End Close</a:t>
            </a: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财务</a:t>
            </a:r>
            <a:endParaRPr lang="zh-CN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11094415" cy="38404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" y="329184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底层推理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MathmoBench  数学证明    ·    Puzzle Benchmark  逻辑推理</a:t>
            </a:r>
            <a:endParaRPr lang="zh-CN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913632"/>
            <a:ext cx="576072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0050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AI智能体市场</a:t>
            </a: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2025年79亿美元 → 2032年约1,110亿美元</a:t>
            </a:r>
            <a:endParaRPr lang="zh-CN" sz="12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48640" y="4279392"/>
          <a:ext cx="576072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6720840" y="3913632"/>
            <a:ext cx="492221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20840" y="4041648"/>
            <a:ext cx="4922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更远处：自主经济</a:t>
            </a:r>
            <a:endParaRPr lang="zh-CN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720840" y="4315968"/>
            <a:ext cx="4922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2.6–4.4万亿美元</a:t>
            </a:r>
            <a:endParaRPr lang="zh-CN" sz="3400" dirty="0"/>
          </a:p>
        </p:txBody>
      </p:sp>
      <p:sp>
        <p:nvSpPr>
          <p:cNvPr id="34" name="Text 31"/>
          <p:cNvSpPr txBox="1"/>
          <p:nvPr/>
        </p:nvSpPr>
        <p:spPr>
          <a:xfrm>
            <a:off x="6720840" y="4937760"/>
            <a:ext cx="4922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生成式AI每年可创造的经济价值（麦肯锡；经济价值，非支出）。Agent接管的每一个环节，都需要先在训练世界里练过。</a:t>
            </a:r>
            <a:endParaRPr lang="zh-CN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742432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实验室训练是切入点，</a:t>
            </a:r>
            <a:r>
              <a:rPr lang="zh-CN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自主经济是终局</a:t>
            </a: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。</a:t>
            </a:r>
            <a:endParaRPr lang="zh-CN" sz="2000" dirty="0"/>
          </a:p>
        </p:txBody>
      </p:sp>
      <p:pic>
        <p:nvPicPr>
          <p:cNvPr id="36" name="Image 0" descr="SimR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08</a:t>
            </a:r>
            <a:endParaRPr 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09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进展与融资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成立两周，第一个闭环已跑通；本轮融资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2,000万美元</a:t>
            </a:r>
            <a:endParaRPr lang="zh-CN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257800" cy="4261104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92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已经做到</a:t>
            </a:r>
            <a:endParaRPr lang="zh-CN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2174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6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</a:t>
            </a:r>
            <a:endParaRPr lang="zh-CN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88336"/>
            <a:ext cx="2217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家前沿AI实验室在谈，目标第3个月签下首个付费客户</a:t>
            </a:r>
            <a:endParaRPr lang="zh-CN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314700" y="2103120"/>
            <a:ext cx="22174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6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7,000</a:t>
            </a:r>
            <a:r>
              <a:rPr lang="zh-CN" altLang="en-US" sz="3600" dirty="0">
                <a:solidFill>
                  <a:srgbClr val="E27A3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endParaRPr lang="zh-CN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14700" y="2688336"/>
            <a:ext cx="2217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名专家在候补名单上</a:t>
            </a:r>
            <a:endParaRPr lang="zh-CN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10128"/>
            <a:ext cx="22174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6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500</a:t>
            </a:r>
            <a:r>
              <a:rPr lang="zh-CN" altLang="en-US" sz="3600" dirty="0">
                <a:solidFill>
                  <a:srgbClr val="E27A3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endParaRPr lang="zh-CN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95344"/>
            <a:ext cx="2217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首周GitHub星标</a:t>
            </a:r>
            <a:endParaRPr lang="zh-CN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14700" y="3310128"/>
            <a:ext cx="22174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6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</a:t>
            </a:r>
            <a:endParaRPr lang="zh-CN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14700" y="3895344"/>
            <a:ext cx="2217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位硅谷顶级天使主动接洽</a:t>
            </a:r>
            <a:endParaRPr lang="zh-CN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544568"/>
            <a:ext cx="4709160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62686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顶级交易公司的从业者，已经在支持我们</a:t>
            </a:r>
            <a:endParaRPr lang="zh-CN" sz="1100" dirty="0"/>
          </a:p>
        </p:txBody>
      </p:sp>
      <p:pic>
        <p:nvPicPr>
          <p:cNvPr id="16" name="Image 0" descr="jane-street-pa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165" y="5109424"/>
            <a:ext cx="529421" cy="205312"/>
          </a:xfrm>
          <a:prstGeom prst="rect">
            <a:avLst/>
          </a:prstGeom>
        </p:spPr>
      </p:pic>
      <p:pic>
        <p:nvPicPr>
          <p:cNvPr id="17" name="Image 1" descr="imc-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41" y="5141142"/>
            <a:ext cx="766134" cy="141877"/>
          </a:xfrm>
          <a:prstGeom prst="rect">
            <a:avLst/>
          </a:prstGeom>
        </p:spPr>
      </p:pic>
      <p:pic>
        <p:nvPicPr>
          <p:cNvPr id="18" name="Image 2" descr="citadel-securities-pa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153" y="5096635"/>
            <a:ext cx="470774" cy="230889"/>
          </a:xfrm>
          <a:prstGeom prst="rect">
            <a:avLst/>
          </a:prstGeom>
        </p:spPr>
      </p:pic>
      <p:pic>
        <p:nvPicPr>
          <p:cNvPr id="19" name="Image 3" descr="optiver-pap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556" y="5134399"/>
            <a:ext cx="699632" cy="15536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90288" y="5065776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FAF9F6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Polymarket</a:t>
            </a:r>
            <a:endParaRPr lang="zh-CN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6172200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接下来24个月</a:t>
            </a:r>
            <a:endParaRPr lang="zh-CN" sz="1000" dirty="0"/>
          </a:p>
        </p:txBody>
      </p:sp>
      <p:sp>
        <p:nvSpPr>
          <p:cNvPr id="22" name="Shape 16"/>
          <p:cNvSpPr/>
          <p:nvPr/>
        </p:nvSpPr>
        <p:spPr>
          <a:xfrm>
            <a:off x="6172200" y="1847088"/>
            <a:ext cx="5470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172200" y="184708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3个月</a:t>
            </a:r>
            <a:endParaRPr lang="zh-CN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7132320" y="1847088"/>
            <a:ext cx="45107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首个付费前沿实验室客户</a:t>
            </a:r>
            <a:endParaRPr lang="zh-CN" sz="1600" dirty="0"/>
          </a:p>
        </p:txBody>
      </p:sp>
      <p:sp>
        <p:nvSpPr>
          <p:cNvPr id="25" name="Shape 19"/>
          <p:cNvSpPr/>
          <p:nvPr/>
        </p:nvSpPr>
        <p:spPr>
          <a:xfrm>
            <a:off x="6172200" y="2322576"/>
            <a:ext cx="5470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172200" y="23225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12个月</a:t>
            </a:r>
            <a:endParaRPr lang="zh-CN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132320" y="2322576"/>
            <a:ext cx="45107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50</a:t>
            </a:r>
            <a:r>
              <a:rPr lang="zh-CN" altLang="en-US" sz="16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个训练环境，交付可复制</a:t>
            </a:r>
            <a:endParaRPr lang="zh-CN" sz="1600" dirty="0"/>
          </a:p>
        </p:txBody>
      </p:sp>
      <p:sp>
        <p:nvSpPr>
          <p:cNvPr id="28" name="Shape 22"/>
          <p:cNvSpPr/>
          <p:nvPr/>
        </p:nvSpPr>
        <p:spPr>
          <a:xfrm>
            <a:off x="6172200" y="2798064"/>
            <a:ext cx="5470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172200" y="2798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24个月</a:t>
            </a:r>
            <a:endParaRPr lang="zh-CN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132320" y="2798064"/>
            <a:ext cx="45107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200</a:t>
            </a:r>
            <a:r>
              <a:rPr lang="zh-CN" altLang="en-US" sz="16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个环境，覆盖30</a:t>
            </a:r>
            <a:r>
              <a:rPr lang="zh-CN" altLang="en-US" sz="16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+</a:t>
            </a: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行业，进入企业市场</a:t>
            </a:r>
            <a:endParaRPr lang="zh-CN" sz="1600" dirty="0"/>
          </a:p>
        </p:txBody>
      </p:sp>
      <p:sp>
        <p:nvSpPr>
          <p:cNvPr id="31" name="Shape 25"/>
          <p:cNvSpPr/>
          <p:nvPr/>
        </p:nvSpPr>
        <p:spPr>
          <a:xfrm>
            <a:off x="6172200" y="3273552"/>
            <a:ext cx="5470855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172200" y="3474720"/>
            <a:ext cx="5470855" cy="2359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446520" y="360273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4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$20M</a:t>
            </a:r>
            <a:endParaRPr lang="zh-CN" sz="4800" dirty="0"/>
          </a:p>
        </p:txBody>
      </p:sp>
      <p:sp>
        <p:nvSpPr>
          <p:cNvPr id="34" name="Text 28"/>
          <p:cNvSpPr txBox="1"/>
          <p:nvPr/>
        </p:nvSpPr>
        <p:spPr>
          <a:xfrm>
            <a:off x="8823960" y="3712464"/>
            <a:ext cx="2636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种子轮</a:t>
            </a:r>
            <a:endParaRPr lang="zh-CN" sz="1100" dirty="0"/>
          </a:p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约1.5亿元人民币  ·  支撑24个月</a:t>
            </a:r>
            <a:endParaRPr lang="zh-CN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44652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资金用途</a:t>
            </a:r>
            <a:endParaRPr lang="zh-CN" sz="1000" dirty="0"/>
          </a:p>
        </p:txBody>
      </p:sp>
      <p:sp>
        <p:nvSpPr>
          <p:cNvPr id="36" name="Shape 30"/>
          <p:cNvSpPr/>
          <p:nvPr/>
        </p:nvSpPr>
        <p:spPr>
          <a:xfrm>
            <a:off x="6446520" y="4718304"/>
            <a:ext cx="116197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446520" y="4718304"/>
            <a:ext cx="11619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训练环境</a:t>
            </a:r>
            <a:endParaRPr lang="zh-CN" sz="1100" dirty="0"/>
          </a:p>
        </p:txBody>
      </p:sp>
      <p:sp>
        <p:nvSpPr>
          <p:cNvPr id="38" name="Shape 32"/>
          <p:cNvSpPr/>
          <p:nvPr/>
        </p:nvSpPr>
        <p:spPr>
          <a:xfrm>
            <a:off x="7699934" y="4718304"/>
            <a:ext cx="116197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699934" y="4718304"/>
            <a:ext cx="11619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专家与数据</a:t>
            </a:r>
            <a:endParaRPr lang="zh-CN" sz="1100" dirty="0"/>
          </a:p>
        </p:txBody>
      </p:sp>
      <p:sp>
        <p:nvSpPr>
          <p:cNvPr id="40" name="Shape 34"/>
          <p:cNvSpPr/>
          <p:nvPr/>
        </p:nvSpPr>
        <p:spPr>
          <a:xfrm>
            <a:off x="8953348" y="4718304"/>
            <a:ext cx="116197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953348" y="4718304"/>
            <a:ext cx="11619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算力</a:t>
            </a:r>
            <a:endParaRPr lang="zh-CN" sz="1100" dirty="0"/>
          </a:p>
        </p:txBody>
      </p:sp>
      <p:sp>
        <p:nvSpPr>
          <p:cNvPr id="42" name="Shape 36"/>
          <p:cNvSpPr/>
          <p:nvPr/>
        </p:nvSpPr>
        <p:spPr>
          <a:xfrm>
            <a:off x="10206761" y="4718304"/>
            <a:ext cx="116197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10206761" y="4718304"/>
            <a:ext cx="11619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防作弊与安全</a:t>
            </a:r>
            <a:endParaRPr lang="zh-CN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6446520" y="530352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估值与条款面议。</a:t>
            </a:r>
            <a:endParaRPr lang="zh-CN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594360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标识代表支持者任职的机构，不代表这些机构的背书。</a:t>
            </a:r>
            <a:endParaRPr lang="zh-CN" sz="900" dirty="0"/>
          </a:p>
        </p:txBody>
      </p:sp>
      <p:pic>
        <p:nvPicPr>
          <p:cNvPr id="46" name="Image 4" descr="SimRe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09</a:t>
            </a:r>
            <a:endParaRPr lang="zh-CN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7360" cy="1645920"/>
          </a:xfrm>
          <a:prstGeom prst="rect">
            <a:avLst/>
          </a:prstGeom>
        </p:spPr>
      </p:pic>
      <p:pic>
        <p:nvPicPr>
          <p:cNvPr id="3" name="Image 1" descr="or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14400"/>
            <a:ext cx="4325112" cy="5852160"/>
          </a:xfrm>
          <a:prstGeom prst="rect">
            <a:avLst/>
          </a:prstGeom>
        </p:spPr>
      </p:pic>
      <p:pic>
        <p:nvPicPr>
          <p:cNvPr id="4" name="Image 2" descr="SimRe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365760" cy="4526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48640" y="22860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zh-CN" altLang="en-US" sz="4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每个行业最强的AI，</a:t>
            </a:r>
            <a:endParaRPr lang="zh-CN" sz="4400" dirty="0"/>
          </a:p>
          <a:p>
            <a:pPr indent="0" marL="0">
              <a:lnSpc>
                <a:spcPts val="5600"/>
              </a:lnSpc>
              <a:buNone/>
            </a:pPr>
            <a:r>
              <a:rPr lang="zh-CN" altLang="en-US" sz="4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都出自我们的世界。</a:t>
            </a:r>
            <a:endParaRPr lang="zh-CN" sz="44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39136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今天切入AI Infra数据，明天覆盖整个AI经济。</a:t>
            </a:r>
            <a:endParaRPr lang="zh-CN" sz="15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43159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  ·  AI经济的数据与自我进化引擎</a:t>
            </a:r>
            <a:endParaRPr lang="zh-CN" sz="1800" dirty="0"/>
          </a:p>
        </p:txBody>
      </p:sp>
      <p:sp>
        <p:nvSpPr>
          <p:cNvPr id="8" name="Shape 3"/>
          <p:cNvSpPr/>
          <p:nvPr/>
        </p:nvSpPr>
        <p:spPr>
          <a:xfrm>
            <a:off x="548640" y="4956048"/>
            <a:ext cx="51206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48640" y="50840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business@simreal.co  ·  simreal.co  ·  x.com/simrealhq</a:t>
            </a:r>
            <a:endParaRPr lang="zh-CN" sz="1100" dirty="0"/>
          </a:p>
        </p:txBody>
      </p:sp>
      <p:pic>
        <p:nvPicPr>
          <p:cNvPr id="10" name="Image 3" descr="SimRe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A1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附录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Xitadel：测试了什么，怎么测的</a:t>
            </a:r>
            <a:endParaRPr lang="zh-CN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环境</a:t>
            </a:r>
            <a:endParaRPr lang="zh-CN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0020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回放真实交易日，包含真实订单簿；每一笔交易由市场结算。</a:t>
            </a:r>
            <a:endParaRPr lang="zh-CN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58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模型</a:t>
            </a:r>
            <a:endParaRPr lang="zh-CN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25856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开源模型Qwen3.8-27B，对比其在Xitadel训练前后的表现。</a:t>
            </a:r>
            <a:endParaRPr lang="zh-CN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169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测试数据</a:t>
            </a:r>
            <a:endParaRPr lang="zh-CN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91693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模型从未见过的真实交易日。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753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结果</a:t>
            </a:r>
            <a:endParaRPr lang="zh-CN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57530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交易表现较基础模型</a:t>
            </a:r>
            <a:r>
              <a:rPr lang="zh-CN" altLang="en-US" sz="1300" dirty="0">
                <a:solidFill>
                  <a:srgbClr val="C2410C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提升12%</a:t>
            </a: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，多次独立运行均复现（受控实验）。</a:t>
            </a:r>
            <a:endParaRPr lang="zh-CN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336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公开基准</a:t>
            </a:r>
            <a:endParaRPr lang="zh-CN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23367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Xitadel公开预览版：人类参考分80；前沿模型最高77.28（GPT 6），尚无模型越过人类水平线。</a:t>
            </a:r>
            <a:endParaRPr lang="zh-CN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8920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尽调材料</a:t>
            </a:r>
            <a:endParaRPr lang="zh-CN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89204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完整运行记录、指标定义与脚本，可在尽调中提供。</a:t>
            </a:r>
            <a:endParaRPr lang="zh-CN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50408"/>
            <a:ext cx="672084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600200"/>
            <a:ext cx="4007815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1783080"/>
            <a:ext cx="34591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Xitadel公开预览版</a:t>
            </a:r>
            <a:endParaRPr lang="zh-CN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2029968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尚无模型越过人类水平线</a:t>
            </a:r>
            <a:endParaRPr lang="zh-CN" sz="18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909560" y="2606040"/>
          <a:ext cx="3459175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7909560" y="288036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人类参考分</a:t>
            </a:r>
            <a:endParaRPr lang="zh-CN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909560" y="388620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前沿模型最高</a:t>
            </a:r>
            <a:endParaRPr lang="zh-CN" sz="1300" dirty="0"/>
          </a:p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GPT 6</a:t>
            </a:r>
            <a:endParaRPr lang="zh-CN" sz="1300" dirty="0"/>
          </a:p>
        </p:txBody>
      </p:sp>
      <p:pic>
        <p:nvPicPr>
          <p:cNvPr id="29" name="Image 0" descr="SimR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11</a:t>
            </a:r>
            <a:endParaRPr lang="zh-CN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A2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附录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产品清单</a:t>
            </a:r>
            <a:endParaRPr lang="zh-CN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097280"/>
                <a:gridCol w="4846320"/>
                <a:gridCol w="281909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产品</a:t>
                      </a:r>
                      <a:endParaRPr lang="en-US" sz="1000" dirty="0">
                        <a:latin typeface="IBM Plex Mono" charset="0"/>
                        <a:ea typeface="Noto Sans CJK SC" charset="0"/>
                        <a:cs typeface="IBM Plex Mono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领域</a:t>
                      </a:r>
                      <a:endParaRPr lang="en-US" sz="1000" dirty="0">
                        <a:latin typeface="IBM Plex Mono" charset="0"/>
                        <a:ea typeface="Noto Sans CJK SC" charset="0"/>
                        <a:cs typeface="IBM Plex Mono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说明</a:t>
                      </a:r>
                      <a:endParaRPr lang="en-US" sz="1000" dirty="0">
                        <a:latin typeface="IBM Plex Mono" charset="0"/>
                        <a:ea typeface="Noto Sans CJK SC" charset="0"/>
                        <a:cs typeface="IBM Plex Mono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状态</a:t>
                      </a:r>
                      <a:endParaRPr lang="en-US" sz="1000" dirty="0">
                        <a:latin typeface="IBM Plex Mono" charset="0"/>
                        <a:ea typeface="Noto Sans CJK SC" charset="0"/>
                        <a:cs typeface="IBM Plex Mono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Xitadel</a:t>
                      </a:r>
                      <a:endParaRPr lang="en-US" sz="1200" dirty="0">
                        <a:latin typeface="Instrument Sans SemiBold" charset="0"/>
                        <a:ea typeface="Noto Sans CJK SC Medium" charset="0"/>
                        <a:cs typeface="Instrument Sans SemiBold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111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交易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111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AI在真实行情中交易，按盈亏评分；已跑通自我进化（+12%）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111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410C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开源</a:t>
                      </a:r>
                      <a:r>
                        <a:rPr lang="en-US" sz="9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  Xitadel-QuantBench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111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SimReal-MLBench</a:t>
                      </a:r>
                      <a:endParaRPr lang="en-US" sz="1200" dirty="0">
                        <a:latin typeface="Instrument Sans SemiBold" charset="0"/>
                        <a:ea typeface="Noto Sans CJK SC Medium" charset="0"/>
                        <a:cs typeface="Instrument Sans SemiBold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AI研究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60个研究任务、7类数据，参照OpenAI的MLE-bench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410C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开源</a:t>
                      </a:r>
                      <a:r>
                        <a:rPr lang="en-US" sz="9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  Simreal-MLBench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Future Prediction Bench</a:t>
                      </a:r>
                      <a:endParaRPr lang="en-US" sz="1200" dirty="0">
                        <a:latin typeface="Instrument Sans SemiBold" charset="0"/>
                        <a:ea typeface="Noto Sans CJK SC Medium" charset="0"/>
                        <a:cs typeface="Instrument Sans SemiBold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预测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预测真实事件，揭晓后按结果打分；数据实时接入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上线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Month-End Close</a:t>
                      </a:r>
                      <a:endParaRPr lang="en-US" sz="1200" dirty="0">
                        <a:latin typeface="Instrument Sans SemiBold" charset="0"/>
                        <a:ea typeface="Noto Sans CJK SC Medium" charset="0"/>
                        <a:cs typeface="Instrument Sans SemiBold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财务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让AI零差错完成月结；评分漏洞6 → 0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上线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SWE-Forward</a:t>
                      </a:r>
                      <a:endParaRPr lang="en-US" sz="1200" dirty="0">
                        <a:latin typeface="Instrument Sans SemiBold" charset="0"/>
                        <a:ea typeface="Noto Sans CJK SC Medium" charset="0"/>
                        <a:cs typeface="Instrument Sans SemiBold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软件工程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检验AI写的代码能否挺过下一个版本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上线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MathmoBench</a:t>
                      </a:r>
                      <a:endParaRPr lang="en-US" sz="1200" dirty="0">
                        <a:latin typeface="Instrument Sans SemiBold" charset="0"/>
                        <a:ea typeface="Noto Sans CJK SC Medium" charset="0"/>
                        <a:cs typeface="Instrument Sans SemiBold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数学证明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让AI证明答案，而不是猜答案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410C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开源</a:t>
                      </a:r>
                      <a:r>
                        <a:rPr lang="en-US" sz="9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  MathmoBench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0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Puzzle Benchmark</a:t>
                      </a:r>
                      <a:endParaRPr lang="en-US" sz="1200" dirty="0">
                        <a:latin typeface="Instrument Sans SemiBold" charset="0"/>
                        <a:ea typeface="Noto Sans CJK SC Medium" charset="0"/>
                        <a:cs typeface="Instrument Sans SemiBold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逻辑推理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22F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709道无法作弊的谜题；400次作弊攻击0次成功</a:t>
                      </a:r>
                      <a:endParaRPr lang="en-US" sz="12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2410C"/>
                          </a:solidFill>
                          <a:latin typeface="Instrument Sans SemiBold" pitchFamily="34" charset="0"/>
                          <a:ea typeface="Noto Sans CJK SC Medium" pitchFamily="34" charset="-122"/>
                          <a:cs typeface="Instrument Sans SemiBold" pitchFamily="34" charset="-120"/>
                        </a:rPr>
                        <a:t>开源</a:t>
                      </a:r>
                      <a:r>
                        <a:rPr lang="en-US" sz="900" dirty="0">
                          <a:solidFill>
                            <a:srgbClr val="6E6C66"/>
                          </a:solidFill>
                          <a:latin typeface="IBM Plex Mono" pitchFamily="34" charset="0"/>
                          <a:ea typeface="Noto Sans CJK SC" pitchFamily="34" charset="-122"/>
                          <a:cs typeface="IBM Plex Mono" pitchFamily="34" charset="-120"/>
                        </a:rPr>
                        <a:t>  hard-puzzle-benchmark</a:t>
                      </a:r>
                      <a:endParaRPr lang="en-US" sz="110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7" name="Text 3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12</a:t>
            </a:r>
            <a:endParaRPr lang="zh-CN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A3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附录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数据来源</a:t>
            </a:r>
            <a:endParaRPr lang="zh-CN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公司</a:t>
            </a:r>
            <a:endParaRPr lang="zh-CN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5349240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38528"/>
            <a:ext cx="5349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Mercor年化收入：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TechCrunch（2025年2月，7,500万美元）；Mercor CEO（2025年9月，5亿美元）；Sacra（2025年12月，7.6亿美元）；Mercor（2026年初，10亿美元）；Dealroom（2026年6月，20亿美元）。均为毛营收，专家拿走60–70%（彭博）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Mercor估值：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A轮2.5亿美元（2024年9月）到C轮100亿美元（2025年10月）；200亿美元估值轮次处于早期洽谈（彭博，2026年7月9日）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Surge AI：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2024年收入12亿美元（TechCrunch、福布斯）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Snorkel AI：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公司公告及TechCrunch，2026年9月22日（以35亿美元估值融资3.5亿美元；年化收入3.75亿美元，一年增长18倍）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AfterQuery：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福布斯，2026年9月1日（加入YC 18个月，估值32亿美元；2025年2月成立）；YC公司页（联合创始人曾在Citadel Securities实习）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Scale AI：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2016年由19岁的Alexandr Wang创立（福布斯）；Meta以143亿美元取得49%股份，估值约290亿美元（路透社，2025年6月）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UniPat：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彭博，2026年9月10日（阿里领投3亿美元，据报道估值25亿美元；条款可能变化）</a:t>
            </a:r>
            <a:endParaRPr lang="zh-CN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536192"/>
            <a:ext cx="5351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市场与研究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6291072" y="1792224"/>
            <a:ext cx="5351983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91072" y="1938528"/>
            <a:ext cx="5351983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Anthropic：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The Information经TechCrunch报道，2025年9月（讨论在此后一年投入逾10亿美元用于RL环境）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AI智能体市场：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Precedence Research（2025年79.2亿美元；年复合增长45.82%，2034年达2,360亿美元）。2026–2032年数值按此路径推算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麦肯锡《生成式AI的经济潜力》：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每年2.6–4.4万亿美元经济价值（创造的价值，非支出）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RL环境定价与单任务算力成本：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Epoch AI《An FAQ on RL environments》（2026年1月）</a:t>
            </a:r>
            <a:endParaRPr lang="zh-CN" sz="1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zh-CN" altLang="en-US" sz="1000" dirty="0">
                <a:solidFill>
                  <a:srgbClr val="111110"/>
                </a:solidFill>
                <a:latin typeface="Instrument Sans SemiBold" pitchFamily="34" charset="0"/>
                <a:ea typeface="Noto Sans CJK SC Medium" pitchFamily="34" charset="-122"/>
                <a:cs typeface="Instrument Sans SemiBold" pitchFamily="34" charset="-120"/>
              </a:rPr>
              <a:t>公开文本存量：</a:t>
            </a:r>
            <a:r>
              <a:rPr lang="zh-CN" altLang="en-US" sz="10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Epoch AI《Will we run out of data?》（2024）：约300T有效token，预计于2026–2032年间用尽（80%置信区间）</a:t>
            </a:r>
            <a:endParaRPr lang="zh-CN" sz="1000" dirty="0"/>
          </a:p>
        </p:txBody>
      </p:sp>
      <p:pic>
        <p:nvPicPr>
          <p:cNvPr id="10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13</a:t>
            </a:r>
            <a:endParaRPr lang="zh-CN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A4</a:t>
            </a: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附录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术语表</a:t>
            </a:r>
            <a:endParaRPr lang="zh-CN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</a:t>
            </a:r>
            <a:endParaRPr lang="zh-CN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825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训练环境</a:t>
            </a:r>
            <a:endParaRPr lang="zh-CN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让AI反复做真实工作、并按结果打分的系统。行业里常称“RL环境”。</a:t>
            </a:r>
            <a:endParaRPr lang="zh-CN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164592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zh-CN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204825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结果评分</a:t>
            </a:r>
            <a:endParaRPr lang="zh-CN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256032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用真实结果（盈亏、账目是否对平、代码能否运行）打分，不靠另一个AI的主观判断。</a:t>
            </a:r>
            <a:endParaRPr lang="zh-CN" sz="1300" dirty="0"/>
          </a:p>
        </p:txBody>
      </p:sp>
      <p:sp>
        <p:nvSpPr>
          <p:cNvPr id="12" name="Shape 10"/>
          <p:cNvSpPr/>
          <p:nvPr/>
        </p:nvSpPr>
        <p:spPr>
          <a:xfrm>
            <a:off x="8188757" y="164592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8757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zh-CN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88757" y="204825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自我进化（RSI）</a:t>
            </a:r>
            <a:endParaRPr lang="zh-CN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88757" y="256032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AI用自己在真实环境中的结果训练自己，每一轮都比上一轮更强。</a:t>
            </a:r>
            <a:endParaRPr lang="zh-CN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</a:t>
            </a:r>
            <a:endParaRPr lang="zh-CN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5993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攻防测试</a:t>
            </a:r>
            <a:endParaRPr lang="zh-CN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上线前模拟各种作弊和攻击，找出评分漏洞并修复。</a:t>
            </a:r>
            <a:endParaRPr lang="zh-CN" sz="1300" dirty="0"/>
          </a:p>
        </p:txBody>
      </p:sp>
      <p:sp>
        <p:nvSpPr>
          <p:cNvPr id="20" name="Shape 18"/>
          <p:cNvSpPr/>
          <p:nvPr/>
        </p:nvSpPr>
        <p:spPr>
          <a:xfrm>
            <a:off x="4368698" y="365760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68698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endParaRPr lang="zh-CN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368698" y="405993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受控实验</a:t>
            </a:r>
            <a:endParaRPr lang="zh-CN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368698" y="457200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只改变一个条件（是否在Xitadel训练），比较前后表现的实验。</a:t>
            </a:r>
            <a:endParaRPr lang="zh-CN" sz="1300" dirty="0"/>
          </a:p>
        </p:txBody>
      </p:sp>
      <p:sp>
        <p:nvSpPr>
          <p:cNvPr id="24" name="Shape 22"/>
          <p:cNvSpPr/>
          <p:nvPr/>
        </p:nvSpPr>
        <p:spPr>
          <a:xfrm>
            <a:off x="8188757" y="3657600"/>
            <a:ext cx="3454298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757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06</a:t>
            </a:r>
            <a:endParaRPr lang="zh-CN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88757" y="4059936"/>
            <a:ext cx="34542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年化毛营收</a:t>
            </a:r>
            <a:endParaRPr lang="zh-CN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188757" y="4572000"/>
            <a:ext cx="345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按当前收入推算的全年收入，含支付给专家的部分。</a:t>
            </a:r>
            <a:endParaRPr lang="zh-CN" sz="1300" dirty="0"/>
          </a:p>
        </p:txBody>
      </p:sp>
      <p:pic>
        <p:nvPicPr>
          <p:cNvPr id="28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14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Noto Serif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SimReal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SimReal 商业计划书 · 种子轮</dc:title>
  <dc:subject>PptxGenJS Presentation</dc:subject>
  <dc:creator>SimReal</dc:creator>
  <cp:lastModifiedBy>SimReal</cp:lastModifiedBy>
  <cp:revision>1</cp:revision>
  <dcterms:created xsi:type="dcterms:W3CDTF">2026-09-25T17:10:30Z</dcterms:created>
  <dcterms:modified xsi:type="dcterms:W3CDTF">2026-09-25T17:10:30Z</dcterms:modified>
</cp:coreProperties>
</file>