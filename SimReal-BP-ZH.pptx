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6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7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embeddedFontLst>
    <p:embeddedFont>
      <p:font typeface="Newsreader" pitchFamily="18" charset="0"/>
      <p:regular r:id="rIdSimRealFont1"/>
      <p:italic r:id="rIdSimRealFont2"/>
    </p:embeddedFont>
    <p:embeddedFont>
      <p:font typeface="Instrument Sans" pitchFamily="34" charset="0"/>
      <p:regular r:id="rIdSimRealFont3"/>
    </p:embeddedFont>
    <p:embeddedFont>
      <p:font typeface="Instrument Sans SemiBold" pitchFamily="34" charset="0"/>
      <p:regular r:id="rIdSimRealFont4"/>
    </p:embeddedFont>
    <p:embeddedFont>
      <p:font typeface="IBM Plex Mono" pitchFamily="49" charset="0"/>
      <p:regular r:id="rIdSimRealFont5"/>
    </p:embeddedFont>
    <p:embeddedFont>
      <p:font typeface="Noto Serif CJK SC" pitchFamily="18" charset="-122"/>
      <p:regular r:id="rIdSimRealFont6"/>
    </p:embeddedFont>
    <p:embeddedFont>
      <p:font typeface="Noto Sans CJK SC" pitchFamily="34" charset="-122"/>
      <p:regular r:id="rIdSimRealFont7"/>
    </p:embeddedFont>
    <p:embeddedFont>
      <p:font typeface="Noto Sans CJK SC Medium" pitchFamily="34" charset="-122"/>
      <p:regular r:id="rIdSimRealFont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SimRealFont1" Type="http://schemas.openxmlformats.org/officeDocument/2006/relationships/font" Target="fonts/font1.fntdata"/><Relationship Id="rIdSimRealFont2" Type="http://schemas.openxmlformats.org/officeDocument/2006/relationships/font" Target="fonts/font2.fntdata"/><Relationship Id="rIdSimRealFont3" Type="http://schemas.openxmlformats.org/officeDocument/2006/relationships/font" Target="fonts/font3.fntdata"/><Relationship Id="rIdSimRealFont4" Type="http://schemas.openxmlformats.org/officeDocument/2006/relationships/font" Target="fonts/font4.fntdata"/><Relationship Id="rIdSimRealFont5" Type="http://schemas.openxmlformats.org/officeDocument/2006/relationships/font" Target="fonts/font5.fntdata"/><Relationship Id="rIdSimRealFont6" Type="http://schemas.openxmlformats.org/officeDocument/2006/relationships/font" Target="fonts/font6.fntdata"/><Relationship Id="rIdSimRealFont7" Type="http://schemas.openxmlformats.org/officeDocument/2006/relationships/font" Target="fonts/font7.fntdata"/><Relationship Id="rIdSimRealFont8" Type="http://schemas.openxmlformats.org/officeDocument/2006/relationships/font" Target="fonts/font8.fntdata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"/>
          <c:y val="0.02"/>
          <c:w val="1"/>
          <c:h val="0.8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Mercor年化毛营收（百万美元）</c:v>
                </c:pt>
              </c:strCache>
            </c:strRef>
          </c:tx>
          <c:spPr>
            <a:solidFill>
              <a:srgbClr val="C4C0B7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4C0B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C0B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C0B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C0B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2410C"/>
              </a:solidFill>
              <a:effectLst/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b="0" i="0" strike="noStrike" sz="12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defRPr>
                    </a:pPr>
                    <a:r>
                      <a:rPr lang="en-US" b="0" i="0" strike="noStrike" sz="12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rPr>
                      <a:t>$75M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b="0" i="0" strike="noStrike" sz="12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defRPr>
                    </a:pPr>
                    <a:r>
                      <a:rPr lang="en-US" b="0" i="0" strike="noStrike" sz="12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rPr>
                      <a:t>$500M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 b="0" i="0" strike="noStrike" sz="12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defRPr>
                    </a:pPr>
                    <a:r>
                      <a:rPr lang="en-US" b="0" i="0" strike="noStrike" sz="12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rPr>
                      <a:t>$760M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pPr>
                      <a:defRPr b="0" i="0" strike="noStrike" sz="12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defRPr>
                    </a:pPr>
                    <a:r>
                      <a:rPr lang="en-US" b="0" i="0" strike="noStrike" sz="12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rPr>
                      <a:t>$1B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pPr>
                      <a:defRPr b="0" i="0" strike="noStrike" sz="12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defRPr>
                    </a:pPr>
                    <a:r>
                      <a:rPr lang="en-US" b="0" i="0" strike="noStrike" sz="12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rPr>
                      <a:t>$2B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11110"/>
                    </a:solidFill>
                    <a:latin typeface="Newsreader"/>
                    <a:ea typeface="Noto Serif CJK SC"/>
                    <a:cs typeface="Newsread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25年2月</c:v>
                  </c:pt>
                  <c:pt idx="1">
                    <c:v>25年9月</c:v>
                  </c:pt>
                  <c:pt idx="2">
                    <c:v>25年12月</c:v>
                  </c:pt>
                  <c:pt idx="3">
                    <c:v>26年初</c:v>
                  </c:pt>
                  <c:pt idx="4">
                    <c:v>26年6月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75</c:v>
                </c:pt>
                <c:pt idx="1">
                  <c:v>500</c:v>
                </c:pt>
                <c:pt idx="2">
                  <c:v>760</c:v>
                </c:pt>
                <c:pt idx="3">
                  <c:v>1000</c:v>
                </c:pt>
                <c:pt idx="4">
                  <c:v>2000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11110"/>
                  </a:solidFill>
                  <a:latin typeface="Newsreader"/>
                  <a:ea typeface="Noto Serif CJK SC"/>
                  <a:cs typeface="Newsread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9525" cap="flat">
            <a:solidFill>
              <a:srgbClr val="C4C0B7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C66"/>
                </a:solidFill>
                <a:latin typeface="IBM Plex Mono"/>
                <a:ea typeface="Noto Sans CJK SC"/>
                <a:cs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00"/>
          <c:min val="0"/>
        </c:scaling>
        <c:delete val="1"/>
        <c:axPos val="l"/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Instrument Sans"/>
                <a:ea typeface="Noto Sans CJK SC"/>
                <a:cs typeface="Instrument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31538088306647255"/>
          <c:y val="0"/>
          <c:w val="0.6846191169335274"/>
          <c:h val="1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规模对比（十亿美元）</c:v>
                </c:pt>
              </c:strCache>
            </c:strRef>
          </c:tx>
          <c:spPr>
            <a:solidFill>
              <a:srgbClr val="111110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1111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C0B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C0B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2410C"/>
              </a:solidFill>
              <a:effectLst/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b="0" i="0" strike="noStrike" sz="12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defRPr>
                    </a:pPr>
                    <a:r>
                      <a:rPr lang="en-US" b="0" i="0" strike="noStrike" sz="12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rPr>
                      <a:t>$2B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b="0" i="0" strike="noStrike" sz="12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defRPr>
                    </a:pPr>
                    <a:r>
                      <a:rPr lang="en-US" b="0" i="0" strike="noStrike" sz="12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rPr>
                      <a:t>$7.9B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 b="0" i="0" strike="noStrike" sz="12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defRPr>
                    </a:pPr>
                    <a:r>
                      <a:rPr lang="en-US" b="0" i="0" strike="noStrike" sz="12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rPr>
                      <a:t>~$25B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pPr>
                      <a:defRPr b="0" i="0" strike="noStrike" sz="12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defRPr>
                    </a:pPr>
                    <a:r>
                      <a:rPr lang="en-US" b="0" i="0" strike="noStrike" sz="12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rPr>
                      <a:t>~$111B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11110"/>
                    </a:solidFill>
                    <a:latin typeface="Newsreader"/>
                    <a:ea typeface="Noto Serif CJK SC"/>
                    <a:cs typeface="Newsread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Mercor</c:v>
                  </c:pt>
                  <c:pt idx="1">
                    <c:v>2025</c:v>
                  </c:pt>
                  <c:pt idx="2">
                    <c:v>2028E</c:v>
                  </c:pt>
                  <c:pt idx="3">
                    <c:v>2032E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7.92</c:v>
                </c:pt>
                <c:pt idx="2">
                  <c:v>24.56</c:v>
                </c:pt>
                <c:pt idx="3">
                  <c:v>111.03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11110"/>
                  </a:solidFill>
                  <a:latin typeface="Newsreader"/>
                  <a:ea typeface="Noto Serif CJK SC"/>
                  <a:cs typeface="Newsread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spPr>
          <a:ln w="9525" cap="flat">
            <a:solidFill>
              <a:srgbClr val="C4C0B7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C66"/>
                </a:solidFill>
                <a:latin typeface="IBM Plex Mono"/>
                <a:ea typeface="Noto Sans CJK SC"/>
                <a:cs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2"/>
          <c:min val="0"/>
        </c:scaling>
        <c:delete val="1"/>
        <c:axPos val="b"/>
        <c:numFmt formatCode="General" sourceLinked="0"/>
        <c:majorTickMark val="none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Instrument Sans"/>
                <a:ea typeface="Noto Sans CJK SC"/>
                <a:cs typeface="Instrument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27759982916933584"/>
          <c:y val="0"/>
          <c:w val="0.7224001708306642"/>
          <c:h val="1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交易表现指数（基础模型=100）</c:v>
                </c:pt>
              </c:strCache>
            </c:strRef>
          </c:tx>
          <c:spPr>
            <a:solidFill>
              <a:srgbClr val="C4C0B7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4C0B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2410C"/>
              </a:solidFill>
              <a:effectLst/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b="0" i="0" strike="noStrike" sz="13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defRPr>
                    </a:pPr>
                    <a:r>
                      <a:rPr lang="en-US" b="0" i="0" strike="noStrike" sz="13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rPr>
                      <a:t>100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b="0" i="0" strike="noStrike" sz="13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defRPr>
                    </a:pPr>
                    <a:r>
                      <a:rPr lang="en-US" b="0" i="0" strike="noStrike" sz="13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rPr>
                      <a:t>112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11110"/>
                    </a:solidFill>
                    <a:latin typeface="Newsreader"/>
                    <a:ea typeface="Noto Serif CJK SC"/>
                    <a:cs typeface="Newsread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基础模型</c:v>
                  </c:pt>
                  <c:pt idx="1">
                    <c:v>Xitadel训练后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112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11110"/>
                  </a:solidFill>
                  <a:latin typeface="Newsreader"/>
                  <a:ea typeface="Noto Serif CJK SC"/>
                  <a:cs typeface="Newsread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spPr>
          <a:ln w="9525" cap="flat">
            <a:solidFill>
              <a:srgbClr val="C4C0B7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C66"/>
                </a:solidFill>
                <a:latin typeface="IBM Plex Mono"/>
                <a:ea typeface="Noto Sans CJK SC"/>
                <a:cs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5"/>
          <c:min val="0"/>
        </c:scaling>
        <c:delete val="1"/>
        <c:axPos val="b"/>
        <c:numFmt formatCode="General" sourceLinked="0"/>
        <c:majorTickMark val="none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Instrument Sans"/>
                <a:ea typeface="Noto Sans CJK SC"/>
                <a:cs typeface="Instrument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30952380952380953"/>
          <c:y val="0"/>
          <c:w val="0.6904761904761905"/>
          <c:h val="1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头部AI训练数据公司收入（十亿美元）</c:v>
                </c:pt>
              </c:strCache>
            </c:strRef>
          </c:tx>
          <c:spPr>
            <a:solidFill>
              <a:srgbClr val="111110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1111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C0B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C0B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C0B7"/>
              </a:solidFill>
              <a:effectLst/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b="0" i="0" strike="noStrike" sz="14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defRPr>
                    </a:pPr>
                    <a:r>
                      <a:rPr lang="en-US" b="0" i="0" strike="noStrike" sz="14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rPr>
                      <a:t>$2.0B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b="0" i="0" strike="noStrike" sz="14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defRPr>
                    </a:pPr>
                    <a:r>
                      <a:rPr lang="en-US" b="0" i="0" strike="noStrike" sz="14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rPr>
                      <a:t>$1.2B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 b="0" i="0" strike="noStrike" sz="14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defRPr>
                    </a:pPr>
                    <a:r>
                      <a:rPr lang="en-US" b="0" i="0" strike="noStrike" sz="14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rPr>
                      <a:t>$0.375B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pPr>
                      <a:defRPr b="0" i="0" strike="noStrike" sz="14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defRPr>
                    </a:pPr>
                    <a:r>
                      <a:rPr lang="en-US" b="0" i="0" strike="noStrike" sz="14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rPr>
                      <a:t>$0.1B</a:t>
                    </a:r>
                    <a:r>
                      <a:rPr lang="en-US" b="0" i="0" strike="noStrike" sz="1400" u="none">
                        <a:solidFill>
                          <a:srgbClr val="111110"/>
                        </a:solidFill>
                        <a:latin typeface="Instrument Sans"/>
                        <a:ea typeface="Noto Sans CJK SC"/>
                        <a:cs typeface="Instrument Sans"/>
                      </a:rPr>
                      <a:t>+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11110"/>
                    </a:solidFill>
                    <a:latin typeface="Newsreader"/>
                    <a:ea typeface="Noto Serif CJK SC"/>
                    <a:cs typeface="Newsread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Mercor</c:v>
                  </c:pt>
                  <c:pt idx="1">
                    <c:v>Surge AI</c:v>
                  </c:pt>
                  <c:pt idx="2">
                    <c:v>Snorkel AI</c:v>
                  </c:pt>
                  <c:pt idx="3">
                    <c:v>AfterQuery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1.2</c:v>
                </c:pt>
                <c:pt idx="2">
                  <c:v>0.375</c:v>
                </c:pt>
                <c:pt idx="3">
                  <c:v>0.1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11110"/>
                  </a:solidFill>
                  <a:latin typeface="Newsreader"/>
                  <a:ea typeface="Noto Serif CJK SC"/>
                  <a:cs typeface="Newsread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spPr>
          <a:ln w="9525" cap="flat">
            <a:solidFill>
              <a:srgbClr val="C4C0B7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C66"/>
                </a:solidFill>
                <a:latin typeface="IBM Plex Mono"/>
                <a:ea typeface="Noto Sans CJK SC"/>
                <a:cs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.45"/>
          <c:min val="0"/>
        </c:scaling>
        <c:delete val="1"/>
        <c:axPos val="b"/>
        <c:numFmt formatCode="General" sourceLinked="0"/>
        <c:majorTickMark val="none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Instrument Sans"/>
                <a:ea typeface="Noto Sans CJK SC"/>
                <a:cs typeface="Instrument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"/>
          <c:y val="0.04"/>
          <c:w val="1"/>
          <c:h val="0.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AI智能体市场（十亿美元）</c:v>
                </c:pt>
              </c:strCache>
            </c:strRef>
          </c:tx>
          <c:spPr>
            <a:solidFill>
              <a:srgbClr val="C4C0B7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4C0B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D6C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D6C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C0B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9D6C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9D6CE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9D6CE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C2410C"/>
              </a:solidFill>
              <a:effectLst/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b="0" i="0" strike="noStrike" sz="11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defRPr>
                    </a:pPr>
                    <a:r>
                      <a:rPr lang="en-US" b="0" i="0" strike="noStrike" sz="11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rPr>
                      <a:t>$7.9B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tx>
                <c:rich>
                  <a:bodyPr/>
                  <a:lstStyle/>
                  <a:p>
                    <a:pPr>
                      <a:defRPr b="0" i="0" strike="noStrike" sz="11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defRPr>
                    </a:pPr>
                    <a:r>
                      <a:rPr lang="en-US" b="0" i="0" strike="noStrike" sz="11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rPr>
                      <a:t>~$25B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tx>
                <c:rich>
                  <a:bodyPr/>
                  <a:lstStyle/>
                  <a:p>
                    <a:pPr>
                      <a:defRPr b="0" i="0" strike="noStrike" sz="11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defRPr>
                    </a:pPr>
                    <a:r>
                      <a:rPr lang="en-US" b="0" i="0" strike="noStrike" sz="11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rPr>
                      <a:t>~$111B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11110"/>
                    </a:solidFill>
                    <a:latin typeface="Newsreader"/>
                    <a:ea typeface="Noto Serif CJK SC"/>
                    <a:cs typeface="Newsread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26</c:v>
                  </c:pt>
                  <c:pt idx="2">
                    <c:v>27</c:v>
                  </c:pt>
                  <c:pt idx="3">
                    <c:v>2028E</c:v>
                  </c:pt>
                  <c:pt idx="4">
                    <c:v>29</c:v>
                  </c:pt>
                  <c:pt idx="5">
                    <c:v>30</c:v>
                  </c:pt>
                  <c:pt idx="6">
                    <c:v>31</c:v>
                  </c:pt>
                  <c:pt idx="7">
                    <c:v>2032E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7.92</c:v>
                </c:pt>
                <c:pt idx="1">
                  <c:v>11.55</c:v>
                </c:pt>
                <c:pt idx="2">
                  <c:v>16.84</c:v>
                </c:pt>
                <c:pt idx="3">
                  <c:v>24.56</c:v>
                </c:pt>
                <c:pt idx="4">
                  <c:v>35.81</c:v>
                </c:pt>
                <c:pt idx="5">
                  <c:v>52.22</c:v>
                </c:pt>
                <c:pt idx="6">
                  <c:v>76.14</c:v>
                </c:pt>
                <c:pt idx="7">
                  <c:v>111.03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11110"/>
                  </a:solidFill>
                  <a:latin typeface="Newsreader"/>
                  <a:ea typeface="Noto Serif CJK SC"/>
                  <a:cs typeface="Newsread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9525" cap="flat">
            <a:solidFill>
              <a:srgbClr val="C4C0B7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E6C66"/>
                </a:solidFill>
                <a:latin typeface="IBM Plex Mono"/>
                <a:ea typeface="Noto Sans CJK SC"/>
                <a:cs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0"/>
          <c:min val="0"/>
        </c:scaling>
        <c:delete val="1"/>
        <c:axPos val="l"/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Instrument Sans"/>
                <a:ea typeface="Noto Sans CJK SC"/>
                <a:cs typeface="Instrument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产品与训练环境数量</c:v>
                </c:pt>
              </c:strCache>
            </c:strRef>
          </c:tx>
          <c:spPr>
            <a:solidFill>
              <a:srgbClr val="111110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1111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D6C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C0B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2410C"/>
              </a:solidFill>
              <a:effectLst/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b="0" i="0" strike="noStrike" sz="18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defRPr>
                    </a:pPr>
                    <a:r>
                      <a:rPr lang="en-US" b="0" i="0" strike="noStrike" sz="18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rPr>
                      <a:t>7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delete val="1"/>
            </c:dLbl>
            <c:dLbl>
              <c:idx val="2"/>
              <c:tx>
                <c:rich>
                  <a:bodyPr/>
                  <a:lstStyle/>
                  <a:p>
                    <a:pPr>
                      <a:defRPr b="0" i="0" strike="noStrike" sz="18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defRPr>
                    </a:pPr>
                    <a:r>
                      <a:rPr lang="en-US" b="0" i="0" strike="noStrike" sz="18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rPr>
                      <a:t>50</a:t>
                    </a:r>
                    <a:r>
                      <a:rPr lang="en-US" b="0" i="0" strike="noStrike" sz="1800" u="none">
                        <a:solidFill>
                          <a:srgbClr val="111110"/>
                        </a:solidFill>
                        <a:latin typeface="Instrument Sans"/>
                        <a:ea typeface="Noto Sans CJK SC"/>
                        <a:cs typeface="Instrument Sans"/>
                      </a:rPr>
                      <a:t>+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pPr>
                      <a:defRPr b="0" i="0" strike="noStrike" sz="18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defRPr>
                    </a:pPr>
                    <a:r>
                      <a:rPr lang="en-US" b="0" i="0" strike="noStrike" sz="18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rPr>
                      <a:t>200</a:t>
                    </a:r>
                    <a:r>
                      <a:rPr lang="en-US" b="0" i="0" strike="noStrike" sz="1800" u="none">
                        <a:solidFill>
                          <a:srgbClr val="111110"/>
                        </a:solidFill>
                        <a:latin typeface="Instrument Sans"/>
                        <a:ea typeface="Noto Sans CJK SC"/>
                        <a:cs typeface="Instrument Sans"/>
                      </a:rPr>
                      <a:t>+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" sourceLinked="0"/>
            <c:txPr>
              <a:bodyPr/>
              <a:lstStyle/>
              <a:p>
                <a:pPr>
                  <a:defRPr b="0" i="0" strike="noStrike" sz="1800" u="none">
                    <a:solidFill>
                      <a:srgbClr val="111110"/>
                    </a:solidFill>
                    <a:latin typeface="Newsreader"/>
                    <a:ea typeface="Noto Serif CJK SC"/>
                    <a:cs typeface="Newsread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今天</c:v>
                  </c:pt>
                  <c:pt idx="1">
                    <c:v>3个月</c:v>
                  </c:pt>
                  <c:pt idx="2">
                    <c:v>12个月</c:v>
                  </c:pt>
                  <c:pt idx="3">
                    <c:v>24个月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</c:v>
                </c:pt>
                <c:pt idx="1">
                  <c:v>0</c:v>
                </c:pt>
                <c:pt idx="2">
                  <c:v>50</c:v>
                </c:pt>
                <c:pt idx="3">
                  <c:v>200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800" u="none">
                  <a:solidFill>
                    <a:srgbClr val="111110"/>
                  </a:solidFill>
                  <a:latin typeface="Newsreader"/>
                  <a:ea typeface="Noto Serif CJK SC"/>
                  <a:cs typeface="Newsread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9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low"/>
        <c:spPr>
          <a:ln w="9525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C66"/>
                </a:solidFill>
                <a:latin typeface="IBM Plex Mono"/>
                <a:ea typeface="Noto Sans CJK SC"/>
                <a:cs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5"/>
          <c:min val="0"/>
        </c:scaling>
        <c:delete val="1"/>
        <c:axPos val="l"/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Instrument Sans"/>
                <a:ea typeface="Noto Sans CJK SC"/>
                <a:cs typeface="Instrument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33042558815754686"/>
          <c:y val="0"/>
          <c:w val="0.6695744118424531"/>
          <c:h val="1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Xitadel公开预览版得分</c:v>
                </c:pt>
              </c:strCache>
            </c:strRef>
          </c:tx>
          <c:spPr>
            <a:solidFill>
              <a:srgbClr val="111110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1111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2410C"/>
              </a:solidFill>
              <a:effectLst/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b="0" i="0" strike="noStrike" sz="18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defRPr>
                    </a:pPr>
                    <a:r>
                      <a:rPr lang="en-US" b="0" i="0" strike="noStrike" sz="18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rPr>
                      <a:t>80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b="0" i="0" strike="noStrike" sz="18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defRPr>
                    </a:pPr>
                    <a:r>
                      <a:rPr lang="en-US" b="0" i="0" strike="noStrike" sz="18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rPr>
                      <a:t>77.28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" sourceLinked="0"/>
            <c:txPr>
              <a:bodyPr/>
              <a:lstStyle/>
              <a:p>
                <a:pPr>
                  <a:defRPr b="0" i="0" strike="noStrike" sz="1800" u="none">
                    <a:solidFill>
                      <a:srgbClr val="111110"/>
                    </a:solidFill>
                    <a:latin typeface="Newsreader"/>
                    <a:ea typeface="Noto Serif CJK SC"/>
                    <a:cs typeface="Newsread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人类参考分</c:v>
                  </c:pt>
                  <c:pt idx="1">
                    <c:v>前沿模型最高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80</c:v>
                </c:pt>
                <c:pt idx="1">
                  <c:v>77.28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800" u="none">
                  <a:solidFill>
                    <a:srgbClr val="111110"/>
                  </a:solidFill>
                  <a:latin typeface="Newsreader"/>
                  <a:ea typeface="Noto Serif CJK SC"/>
                  <a:cs typeface="Newsread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spPr>
          <a:ln w="9525" cap="flat">
            <a:solidFill>
              <a:srgbClr val="C4C0B7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C66"/>
                </a:solidFill>
                <a:latin typeface="IBM Plex Mono"/>
                <a:ea typeface="Noto Sans CJK SC"/>
                <a:cs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none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Instrument Sans"/>
                <a:ea typeface="Noto Sans CJK SC"/>
                <a:cs typeface="Instrument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image" Target="../media/image-13-13.png"/><Relationship Id="rId14" Type="http://schemas.openxmlformats.org/officeDocument/2006/relationships/image" Target="../media/image-13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image" Target="../media/image-1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image" Target="../media/image-1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image" Target="../media/image-2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r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0"/>
            <a:ext cx="4507992" cy="4114800"/>
          </a:xfrm>
          <a:prstGeom prst="rect">
            <a:avLst/>
          </a:prstGeom>
        </p:spPr>
      </p:pic>
      <p:pic>
        <p:nvPicPr>
          <p:cNvPr id="3" name="Image 1" descr="SimRe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850392" cy="2286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38988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C2410C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AI经济的数据与自我进化引擎</a:t>
            </a:r>
            <a:endParaRPr lang="zh-CN" sz="15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1810512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600"/>
              </a:lnSpc>
              <a:buNone/>
            </a:pPr>
            <a:r>
              <a:rPr lang="zh-CN" altLang="en-US" sz="54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每个行业最强的AI</a:t>
            </a:r>
            <a:endParaRPr lang="zh-CN" sz="5400" dirty="0"/>
          </a:p>
          <a:p>
            <a:pPr indent="0" marL="0">
              <a:lnSpc>
                <a:spcPts val="6600"/>
              </a:lnSpc>
              <a:buNone/>
            </a:pPr>
            <a:r>
              <a:rPr lang="zh-CN" altLang="en-US" sz="54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都出自我们的世界</a:t>
            </a:r>
            <a:endParaRPr lang="zh-CN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367588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000" dirty="0">
                <a:solidFill>
                  <a:srgbClr val="6E6C6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SimReal  ·  商业计划书  ·  种子轮</a:t>
            </a:r>
            <a:endParaRPr lang="zh-CN" sz="2000" dirty="0"/>
          </a:p>
        </p:txBody>
      </p:sp>
      <p:sp>
        <p:nvSpPr>
          <p:cNvPr id="7" name="Shape 3"/>
          <p:cNvSpPr/>
          <p:nvPr/>
        </p:nvSpPr>
        <p:spPr>
          <a:xfrm>
            <a:off x="548640" y="4681728"/>
            <a:ext cx="11094415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48640" y="4828032"/>
            <a:ext cx="34238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成立</a:t>
            </a:r>
            <a:endParaRPr lang="zh-CN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084064"/>
            <a:ext cx="34238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2026年9月10日</a:t>
            </a:r>
            <a:endParaRPr lang="zh-CN" sz="1500" dirty="0"/>
          </a:p>
        </p:txBody>
      </p:sp>
      <p:sp>
        <p:nvSpPr>
          <p:cNvPr id="10" name="Shape 6"/>
          <p:cNvSpPr/>
          <p:nvPr/>
        </p:nvSpPr>
        <p:spPr>
          <a:xfrm>
            <a:off x="4246778" y="4681728"/>
            <a:ext cx="0" cy="786384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4429658" y="4828032"/>
            <a:ext cx="34238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本轮融资</a:t>
            </a:r>
            <a:endParaRPr lang="zh-CN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4429658" y="5084064"/>
            <a:ext cx="34238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2,000万美元（约1.5亿元人民币）</a:t>
            </a:r>
            <a:endParaRPr lang="zh-CN" sz="1500" dirty="0"/>
          </a:p>
        </p:txBody>
      </p:sp>
      <p:sp>
        <p:nvSpPr>
          <p:cNvPr id="13" name="Shape 9"/>
          <p:cNvSpPr/>
          <p:nvPr/>
        </p:nvSpPr>
        <p:spPr>
          <a:xfrm>
            <a:off x="7944917" y="4681728"/>
            <a:ext cx="0" cy="786384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127797" y="4828032"/>
            <a:ext cx="34238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联系</a:t>
            </a:r>
            <a:endParaRPr lang="zh-CN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8127797" y="5084064"/>
            <a:ext cx="34238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business@simreal.co</a:t>
            </a:r>
            <a:endParaRPr lang="zh-CN" sz="1500" dirty="0"/>
          </a:p>
        </p:txBody>
      </p:sp>
      <p:sp>
        <p:nvSpPr>
          <p:cNvPr id="16" name="Shape 12"/>
          <p:cNvSpPr/>
          <p:nvPr/>
        </p:nvSpPr>
        <p:spPr>
          <a:xfrm>
            <a:off x="548640" y="5468112"/>
            <a:ext cx="1109441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638251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02</a:t>
            </a: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项目概述</a:t>
            </a:r>
            <a:endParaRPr lang="zh-CN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我们为AI搭建真实工作的训练世界，让它按真实结果学习、自我进化</a:t>
            </a:r>
            <a:endParaRPr lang="zh-CN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3454298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00784"/>
            <a:ext cx="34542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做什么</a:t>
            </a:r>
            <a:endParaRPr lang="zh-CN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56816"/>
            <a:ext cx="345429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3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训练环境</a:t>
            </a:r>
            <a:endParaRPr lang="zh-CN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560320"/>
            <a:ext cx="34542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为AI实验室和企业搭建训练环境：AI在其中做真实工作，由真实结果打分，再用结果训练自己。</a:t>
            </a:r>
            <a:endParaRPr lang="zh-CN" sz="1200" dirty="0"/>
          </a:p>
        </p:txBody>
      </p:sp>
      <p:sp>
        <p:nvSpPr>
          <p:cNvPr id="8" name="Shape 6"/>
          <p:cNvSpPr/>
          <p:nvPr/>
        </p:nvSpPr>
        <p:spPr>
          <a:xfrm>
            <a:off x="4368698" y="1572768"/>
            <a:ext cx="3454298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68698" y="1700784"/>
            <a:ext cx="34542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已做到</a:t>
            </a:r>
            <a:endParaRPr lang="zh-CN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368698" y="1956816"/>
            <a:ext cx="345429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3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14天做出7款</a:t>
            </a:r>
            <a:endParaRPr lang="zh-CN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368698" y="2560320"/>
            <a:ext cx="34542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成立14天，零外部融资，做出7款产品；旗舰产品Xitadel已在交易上跑通自我进化。</a:t>
            </a:r>
            <a:endParaRPr lang="zh-CN" sz="1200" dirty="0"/>
          </a:p>
        </p:txBody>
      </p:sp>
      <p:sp>
        <p:nvSpPr>
          <p:cNvPr id="12" name="Shape 10"/>
          <p:cNvSpPr/>
          <p:nvPr/>
        </p:nvSpPr>
        <p:spPr>
          <a:xfrm>
            <a:off x="8188757" y="1572768"/>
            <a:ext cx="3454298" cy="0"/>
          </a:xfrm>
          <a:prstGeom prst="line">
            <a:avLst/>
          </a:prstGeom>
          <a:noFill/>
          <a:ln w="19050">
            <a:solidFill>
              <a:srgbClr val="C2410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188757" y="1700784"/>
            <a:ext cx="34542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核心证据</a:t>
            </a:r>
            <a:endParaRPr lang="zh-CN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188757" y="1956816"/>
            <a:ext cx="345429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3000" dirty="0">
                <a:solidFill>
                  <a:srgbClr val="C2410C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r>
              <a:rPr lang="zh-CN" altLang="en-US" sz="30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12%</a:t>
            </a:r>
            <a:endParaRPr lang="zh-CN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188757" y="2560320"/>
            <a:ext cx="34542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开源模型Qwen3.8-27B在Xitadel训练后，在从未见过的真实市场数据上交易表现提升12%，多次独立运行均复现（受控实验）。</a:t>
            </a:r>
            <a:endParaRPr lang="zh-CN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493008"/>
            <a:ext cx="3454298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621024"/>
            <a:ext cx="34542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团队</a:t>
            </a:r>
            <a:endParaRPr lang="zh-CN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877056"/>
            <a:ext cx="345429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3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平均21岁</a:t>
            </a:r>
            <a:endParaRPr lang="zh-CN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480560"/>
            <a:ext cx="34542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四位平均21岁的量化人，来自剑桥、LSE、杜克，有Jane Street、Citadel、D. E. Shaw、Millennium、Optiver经历。</a:t>
            </a:r>
            <a:endParaRPr lang="zh-CN" sz="1200" dirty="0"/>
          </a:p>
        </p:txBody>
      </p:sp>
      <p:sp>
        <p:nvSpPr>
          <p:cNvPr id="20" name="Shape 18"/>
          <p:cNvSpPr/>
          <p:nvPr/>
        </p:nvSpPr>
        <p:spPr>
          <a:xfrm>
            <a:off x="4368698" y="3493008"/>
            <a:ext cx="3454298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368698" y="3621024"/>
            <a:ext cx="34542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市场</a:t>
            </a:r>
            <a:endParaRPr lang="zh-CN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368698" y="3877056"/>
            <a:ext cx="345429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3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~$111B</a:t>
            </a:r>
            <a:endParaRPr lang="zh-CN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368698" y="4480560"/>
            <a:ext cx="34542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头部AI训练数据公司已有数十亿美元收入；AI智能体市场预计从2025年79亿美元增长到2032年约1,110亿美元。</a:t>
            </a:r>
            <a:endParaRPr lang="zh-CN" sz="1200" dirty="0"/>
          </a:p>
        </p:txBody>
      </p:sp>
      <p:sp>
        <p:nvSpPr>
          <p:cNvPr id="24" name="Shape 22"/>
          <p:cNvSpPr/>
          <p:nvPr/>
        </p:nvSpPr>
        <p:spPr>
          <a:xfrm>
            <a:off x="8188757" y="3493008"/>
            <a:ext cx="3454298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188757" y="3621024"/>
            <a:ext cx="34542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本轮融资</a:t>
            </a:r>
            <a:endParaRPr lang="zh-CN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8188757" y="3877056"/>
            <a:ext cx="345429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3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$20M</a:t>
            </a:r>
            <a:endParaRPr lang="zh-CN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188757" y="4480560"/>
            <a:ext cx="34542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种子轮2,000万美元（约1.5亿元人民币），24个月内建成200+个训练环境、覆盖30+行业。</a:t>
            </a:r>
            <a:endParaRPr lang="zh-CN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486400"/>
            <a:ext cx="110944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谁拥有最好的</a:t>
            </a:r>
            <a:r>
              <a:rPr lang="zh-CN" altLang="en-US" sz="20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训练世界</a:t>
            </a: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，谁就拥有该行业最好的AI。我们已经建成了一个。</a:t>
            </a:r>
            <a:endParaRPr lang="zh-CN" sz="2000" dirty="0"/>
          </a:p>
        </p:txBody>
      </p:sp>
      <p:pic>
        <p:nvPicPr>
          <p:cNvPr id="29" name="Image 0" descr="Sim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02</a:t>
            </a:r>
            <a:endParaRPr lang="zh-CN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03</a:t>
            </a: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团队</a:t>
            </a:r>
            <a:endParaRPr lang="zh-CN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四位平均21岁的量化人，放弃顶级量化机构offer，来做这件事</a:t>
            </a:r>
            <a:endParaRPr lang="zh-CN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奥赛和世界名校  </a:t>
            </a:r>
            <a:r>
              <a:rPr lang="zh-CN" altLang="en-US" sz="1500" dirty="0">
                <a:solidFill>
                  <a:srgbClr val="C2410C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→</a:t>
            </a:r>
            <a:r>
              <a:rPr lang="zh-CN" altLang="en-US" sz="15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华尔街最残酷的交易台  </a:t>
            </a:r>
            <a:r>
              <a:rPr lang="zh-CN" altLang="en-US" sz="1500" dirty="0">
                <a:solidFill>
                  <a:srgbClr val="C2410C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→</a:t>
            </a:r>
            <a:r>
              <a:rPr lang="zh-CN" altLang="en-US" sz="15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所以我们知道做题和做事差多远</a:t>
            </a:r>
            <a:endParaRPr lang="zh-CN" sz="1500" dirty="0"/>
          </a:p>
        </p:txBody>
      </p:sp>
      <p:pic>
        <p:nvPicPr>
          <p:cNvPr id="5" name="Image 0" descr="jane-street-i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8816" y="1823272"/>
            <a:ext cx="688717" cy="267088"/>
          </a:xfrm>
          <a:prstGeom prst="rect">
            <a:avLst/>
          </a:prstGeom>
        </p:spPr>
      </p:pic>
      <p:pic>
        <p:nvPicPr>
          <p:cNvPr id="6" name="Image 1" descr="citadel-i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6859" y="1882087"/>
            <a:ext cx="1230769" cy="149458"/>
          </a:xfrm>
          <a:prstGeom prst="rect">
            <a:avLst/>
          </a:prstGeom>
        </p:spPr>
      </p:pic>
      <p:pic>
        <p:nvPicPr>
          <p:cNvPr id="7" name="Image 2" descr="de-shaw-in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6574" y="1855688"/>
            <a:ext cx="909477" cy="202257"/>
          </a:xfrm>
          <a:prstGeom prst="rect">
            <a:avLst/>
          </a:prstGeom>
        </p:spPr>
      </p:pic>
      <p:pic>
        <p:nvPicPr>
          <p:cNvPr id="8" name="Image 3" descr="millennium-in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5069" y="1876882"/>
            <a:ext cx="1150627" cy="159868"/>
          </a:xfrm>
          <a:prstGeom prst="rect">
            <a:avLst/>
          </a:prstGeom>
        </p:spPr>
      </p:pic>
      <p:pic>
        <p:nvPicPr>
          <p:cNvPr id="9" name="Image 4" descr="optiver-in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4380" y="1855761"/>
            <a:ext cx="910143" cy="202109"/>
          </a:xfrm>
          <a:prstGeom prst="rect">
            <a:avLst/>
          </a:prstGeom>
        </p:spPr>
      </p:pic>
      <p:pic>
        <p:nvPicPr>
          <p:cNvPr id="10" name="Image 5" descr="cambridge-in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37686" y="1707185"/>
            <a:ext cx="561670" cy="499262"/>
          </a:xfrm>
          <a:prstGeom prst="rect">
            <a:avLst/>
          </a:prstGeom>
        </p:spPr>
      </p:pic>
      <p:sp>
        <p:nvSpPr>
          <p:cNvPr id="11" name="Shape 3"/>
          <p:cNvSpPr/>
          <p:nvPr/>
        </p:nvSpPr>
        <p:spPr>
          <a:xfrm>
            <a:off x="548640" y="2286000"/>
            <a:ext cx="2636444" cy="3072384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12" name="Text 4"/>
          <p:cNvSpPr txBox="1"/>
          <p:nvPr/>
        </p:nvSpPr>
        <p:spPr>
          <a:xfrm>
            <a:off x="768096" y="2468880"/>
            <a:ext cx="21975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600" i="1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Charles</a:t>
            </a:r>
            <a:endParaRPr lang="zh-CN" sz="2600" dirty="0"/>
          </a:p>
        </p:txBody>
      </p:sp>
      <p:sp>
        <p:nvSpPr>
          <p:cNvPr id="13" name="Text 5"/>
          <p:cNvSpPr txBox="1"/>
          <p:nvPr/>
        </p:nvSpPr>
        <p:spPr>
          <a:xfrm>
            <a:off x="768096" y="2962656"/>
            <a:ext cx="21975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CEO</a:t>
            </a:r>
            <a:endParaRPr lang="zh-CN" sz="1000" dirty="0"/>
          </a:p>
        </p:txBody>
      </p:sp>
      <p:sp>
        <p:nvSpPr>
          <p:cNvPr id="14" name="Text 6"/>
          <p:cNvSpPr txBox="1"/>
          <p:nvPr/>
        </p:nvSpPr>
        <p:spPr>
          <a:xfrm>
            <a:off x="768096" y="3273552"/>
            <a:ext cx="219753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zh-CN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稳定币公司United Stables首位员工：U稳定币流通约14亿美元，已上线Binance</a:t>
            </a:r>
            <a:endParaRPr lang="zh-CN" sz="1100" dirty="0"/>
          </a:p>
          <a:p>
            <a:pPr indent="0" marL="0">
              <a:spcAft>
                <a:spcPts val="500"/>
              </a:spcAft>
              <a:buNone/>
            </a:pPr>
            <a:r>
              <a:rPr lang="zh-CN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汇丰港元稳定币发行项目唯一实习生</a:t>
            </a:r>
            <a:endParaRPr lang="zh-CN" sz="1100" dirty="0"/>
          </a:p>
          <a:p>
            <a:pPr indent="0" marL="0">
              <a:spcAft>
                <a:spcPts val="500"/>
              </a:spcAft>
              <a:buNone/>
            </a:pPr>
            <a:r>
              <a:rPr lang="zh-CN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Citadel（全球顶级对冲基金）量化经历</a:t>
            </a:r>
            <a:endParaRPr lang="zh-CN" sz="1100" dirty="0"/>
          </a:p>
        </p:txBody>
      </p:sp>
      <p:sp>
        <p:nvSpPr>
          <p:cNvPr id="15" name="Shape 7"/>
          <p:cNvSpPr/>
          <p:nvPr/>
        </p:nvSpPr>
        <p:spPr>
          <a:xfrm>
            <a:off x="768096" y="4754880"/>
            <a:ext cx="2197532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6" name="Text 8"/>
          <p:cNvSpPr txBox="1"/>
          <p:nvPr/>
        </p:nvSpPr>
        <p:spPr>
          <a:xfrm>
            <a:off x="768096" y="4828032"/>
            <a:ext cx="21975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LSE数学  ·  入围USAMO（美国最高级别数学竞赛）</a:t>
            </a:r>
            <a:endParaRPr lang="zh-CN" sz="1000" dirty="0"/>
          </a:p>
        </p:txBody>
      </p:sp>
      <p:sp>
        <p:nvSpPr>
          <p:cNvPr id="17" name="Shape 9"/>
          <p:cNvSpPr/>
          <p:nvPr/>
        </p:nvSpPr>
        <p:spPr>
          <a:xfrm>
            <a:off x="3367964" y="2286000"/>
            <a:ext cx="2636444" cy="3072384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18" name="Text 10"/>
          <p:cNvSpPr txBox="1"/>
          <p:nvPr/>
        </p:nvSpPr>
        <p:spPr>
          <a:xfrm>
            <a:off x="3587420" y="2468880"/>
            <a:ext cx="21975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600" i="1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Henry</a:t>
            </a:r>
            <a:endParaRPr lang="zh-CN" sz="2600" dirty="0"/>
          </a:p>
        </p:txBody>
      </p:sp>
      <p:sp>
        <p:nvSpPr>
          <p:cNvPr id="19" name="Text 11"/>
          <p:cNvSpPr txBox="1"/>
          <p:nvPr/>
        </p:nvSpPr>
        <p:spPr>
          <a:xfrm>
            <a:off x="3587420" y="2962656"/>
            <a:ext cx="21975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CTO</a:t>
            </a:r>
            <a:endParaRPr lang="zh-CN" sz="1000" dirty="0"/>
          </a:p>
        </p:txBody>
      </p:sp>
      <p:sp>
        <p:nvSpPr>
          <p:cNvPr id="20" name="Text 12"/>
          <p:cNvSpPr txBox="1"/>
          <p:nvPr/>
        </p:nvSpPr>
        <p:spPr>
          <a:xfrm>
            <a:off x="3587420" y="3273552"/>
            <a:ext cx="219753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zh-CN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师从剑桥统计学教授Po-Ling Loh做机器学习研究（国际数理统计学会会士，2025年Ethel Newbold奖）</a:t>
            </a:r>
            <a:endParaRPr lang="zh-CN" sz="1100" dirty="0"/>
          </a:p>
          <a:p>
            <a:pPr indent="0" marL="0">
              <a:spcAft>
                <a:spcPts val="500"/>
              </a:spcAft>
              <a:buNone/>
            </a:pPr>
            <a:r>
              <a:rPr lang="zh-CN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Jane Street、D. E. Shaw、Citadel量化经历（均为全球顶级量化交易公司）</a:t>
            </a:r>
            <a:endParaRPr lang="zh-CN" sz="1100" dirty="0"/>
          </a:p>
        </p:txBody>
      </p:sp>
      <p:sp>
        <p:nvSpPr>
          <p:cNvPr id="21" name="Shape 13"/>
          <p:cNvSpPr/>
          <p:nvPr/>
        </p:nvSpPr>
        <p:spPr>
          <a:xfrm>
            <a:off x="3587420" y="4754880"/>
            <a:ext cx="2197532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22" name="Text 14"/>
          <p:cNvSpPr txBox="1"/>
          <p:nvPr/>
        </p:nvSpPr>
        <p:spPr>
          <a:xfrm>
            <a:off x="3587420" y="4828032"/>
            <a:ext cx="21975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剑桥数学（圣约翰学院）  ·  STEP全球前30（剑桥、帝国理工、华威数学系招生选拔考试）</a:t>
            </a:r>
            <a:endParaRPr lang="zh-CN" sz="1000" dirty="0"/>
          </a:p>
        </p:txBody>
      </p:sp>
      <p:sp>
        <p:nvSpPr>
          <p:cNvPr id="23" name="Shape 15"/>
          <p:cNvSpPr/>
          <p:nvPr/>
        </p:nvSpPr>
        <p:spPr>
          <a:xfrm>
            <a:off x="6187288" y="2286000"/>
            <a:ext cx="2636444" cy="3072384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24" name="Text 16"/>
          <p:cNvSpPr txBox="1"/>
          <p:nvPr/>
        </p:nvSpPr>
        <p:spPr>
          <a:xfrm>
            <a:off x="6406744" y="2468880"/>
            <a:ext cx="21975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600" i="1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Amaris</a:t>
            </a:r>
            <a:endParaRPr lang="zh-CN" sz="2600" dirty="0"/>
          </a:p>
        </p:txBody>
      </p:sp>
      <p:sp>
        <p:nvSpPr>
          <p:cNvPr id="25" name="Text 17"/>
          <p:cNvSpPr txBox="1"/>
          <p:nvPr/>
        </p:nvSpPr>
        <p:spPr>
          <a:xfrm>
            <a:off x="6406744" y="2962656"/>
            <a:ext cx="21975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COO</a:t>
            </a:r>
            <a:endParaRPr lang="zh-CN" sz="1000" dirty="0"/>
          </a:p>
        </p:txBody>
      </p:sp>
      <p:sp>
        <p:nvSpPr>
          <p:cNvPr id="26" name="Text 18"/>
          <p:cNvSpPr txBox="1"/>
          <p:nvPr/>
        </p:nvSpPr>
        <p:spPr>
          <a:xfrm>
            <a:off x="6406744" y="3273552"/>
            <a:ext cx="219753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zh-CN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Millennium（全球头部多策略对冲基金）香港数据科学家</a:t>
            </a:r>
            <a:endParaRPr lang="zh-CN" sz="1100" dirty="0"/>
          </a:p>
          <a:p>
            <a:pPr indent="0" marL="0">
              <a:spcAft>
                <a:spcPts val="500"/>
              </a:spcAft>
              <a:buNone/>
            </a:pPr>
            <a:r>
              <a:rPr lang="zh-CN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另类数据团队历史上第一位应届招聘</a:t>
            </a:r>
            <a:endParaRPr lang="zh-CN" sz="1100" dirty="0"/>
          </a:p>
        </p:txBody>
      </p:sp>
      <p:sp>
        <p:nvSpPr>
          <p:cNvPr id="27" name="Shape 19"/>
          <p:cNvSpPr/>
          <p:nvPr/>
        </p:nvSpPr>
        <p:spPr>
          <a:xfrm>
            <a:off x="6406744" y="4754880"/>
            <a:ext cx="2197532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6406744" y="4828032"/>
            <a:ext cx="21975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杜克数学与统计</a:t>
            </a:r>
            <a:endParaRPr lang="zh-CN" sz="1000" dirty="0"/>
          </a:p>
        </p:txBody>
      </p:sp>
      <p:sp>
        <p:nvSpPr>
          <p:cNvPr id="29" name="Shape 21"/>
          <p:cNvSpPr/>
          <p:nvPr/>
        </p:nvSpPr>
        <p:spPr>
          <a:xfrm>
            <a:off x="9006611" y="2286000"/>
            <a:ext cx="2636444" cy="3072384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9226067" y="2468880"/>
            <a:ext cx="21975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600" i="1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James</a:t>
            </a:r>
            <a:endParaRPr lang="zh-CN" sz="2600" dirty="0"/>
          </a:p>
        </p:txBody>
      </p:sp>
      <p:sp>
        <p:nvSpPr>
          <p:cNvPr id="31" name="Text 23"/>
          <p:cNvSpPr txBox="1"/>
          <p:nvPr/>
        </p:nvSpPr>
        <p:spPr>
          <a:xfrm>
            <a:off x="9226067" y="2962656"/>
            <a:ext cx="21975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CPO</a:t>
            </a:r>
            <a:endParaRPr lang="zh-CN" sz="1000" dirty="0"/>
          </a:p>
        </p:txBody>
      </p:sp>
      <p:sp>
        <p:nvSpPr>
          <p:cNvPr id="32" name="Text 24"/>
          <p:cNvSpPr txBox="1"/>
          <p:nvPr/>
        </p:nvSpPr>
        <p:spPr>
          <a:xfrm>
            <a:off x="9226067" y="3273552"/>
            <a:ext cx="219753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zh-CN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Optiver（全球头部做市商）量化经历</a:t>
            </a:r>
            <a:endParaRPr lang="zh-CN" sz="1100" dirty="0"/>
          </a:p>
          <a:p>
            <a:pPr indent="0" marL="0">
              <a:spcAft>
                <a:spcPts val="500"/>
              </a:spcAft>
              <a:buNone/>
            </a:pPr>
            <a:r>
              <a:rPr lang="zh-CN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富达股票研究</a:t>
            </a:r>
            <a:endParaRPr lang="zh-CN" sz="1100" dirty="0"/>
          </a:p>
        </p:txBody>
      </p:sp>
      <p:sp>
        <p:nvSpPr>
          <p:cNvPr id="33" name="Shape 25"/>
          <p:cNvSpPr/>
          <p:nvPr/>
        </p:nvSpPr>
        <p:spPr>
          <a:xfrm>
            <a:off x="9226067" y="4754880"/>
            <a:ext cx="2197532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9226067" y="4828032"/>
            <a:ext cx="21975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LSE数学</a:t>
            </a:r>
            <a:endParaRPr lang="zh-CN" sz="1000" dirty="0"/>
          </a:p>
        </p:txBody>
      </p:sp>
      <p:sp>
        <p:nvSpPr>
          <p:cNvPr id="35" name="Text 27"/>
          <p:cNvSpPr txBox="1"/>
          <p:nvPr/>
        </p:nvSpPr>
        <p:spPr>
          <a:xfrm>
            <a:off x="548640" y="5559552"/>
            <a:ext cx="110944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四人都拿到了顶级量化机构的return offer。</a:t>
            </a:r>
            <a:r>
              <a:rPr lang="zh-CN" altLang="en-US" sz="20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我们选择放弃</a:t>
            </a: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，来做这件事。平均21岁。</a:t>
            </a:r>
            <a:endParaRPr lang="zh-CN" sz="2000" dirty="0"/>
          </a:p>
        </p:txBody>
      </p:sp>
      <p:pic>
        <p:nvPicPr>
          <p:cNvPr id="36" name="Image 6" descr="SimRea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  <p:sp>
        <p:nvSpPr>
          <p:cNvPr id="38" name="Text 29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03</a:t>
            </a:r>
            <a:endParaRPr lang="zh-CN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04</a:t>
            </a: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为什么是现在</a:t>
            </a:r>
            <a:endParaRPr lang="zh-CN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AI的下一次进步，要靠</a:t>
            </a:r>
            <a:r>
              <a:rPr lang="zh-CN" altLang="en-US" sz="28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真实工作的反馈</a:t>
            </a: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，而不是更多文本</a:t>
            </a:r>
            <a:endParaRPr lang="zh-CN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484632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00784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3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2026–2032年</a:t>
            </a:r>
            <a:endParaRPr lang="zh-CN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67712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公开的人类文本预计在此期间被用尽（Epoch AI估算，80%置信区间）。</a:t>
            </a:r>
            <a:endParaRPr lang="zh-CN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962656"/>
            <a:ext cx="484632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3090672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3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&gt;10亿美元</a:t>
            </a:r>
            <a:endParaRPr lang="zh-CN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5760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Anthropic曾讨论一年内在训练环境上的投入（2025年9月报道）。</a:t>
            </a:r>
            <a:endParaRPr lang="zh-CN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4352544"/>
            <a:ext cx="4846320" cy="0"/>
          </a:xfrm>
          <a:prstGeom prst="line">
            <a:avLst/>
          </a:prstGeom>
          <a:noFill/>
          <a:ln w="19050">
            <a:solidFill>
              <a:srgbClr val="C2410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4480560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30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27倍</a:t>
            </a:r>
            <a:endParaRPr lang="zh-CN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04748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赛道公司Mercor的年化毛营收，16个月从7,500万美元增至20亿美元（含支付给专家的部分）。</a:t>
            </a:r>
            <a:endParaRPr lang="zh-CN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89320" y="1572768"/>
            <a:ext cx="5653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Mercor年化毛营收</a:t>
            </a:r>
            <a:r>
              <a:rPr lang="zh-CN" altLang="en-US" sz="1200" dirty="0">
                <a:solidFill>
                  <a:srgbClr val="C2410C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   16个月，27倍</a:t>
            </a:r>
            <a:endParaRPr lang="zh-CN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5989320" y="1847088"/>
          <a:ext cx="5653735" cy="162763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Shape 12"/>
          <p:cNvSpPr/>
          <p:nvPr/>
        </p:nvSpPr>
        <p:spPr>
          <a:xfrm>
            <a:off x="5989320" y="3703320"/>
            <a:ext cx="565373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989320" y="3803904"/>
            <a:ext cx="5653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今天增长最快的数据公司，只是它所服务市场的一小部分。</a:t>
            </a:r>
            <a:endParaRPr lang="zh-CN" sz="1500" dirty="0"/>
          </a:p>
        </p:txBody>
      </p:sp>
      <p:graphicFrame>
        <p:nvGraphicFramePr>
          <p:cNvPr id="17" name="Chart 1" descr=""/>
          <p:cNvGraphicFramePr/>
          <p:nvPr/>
        </p:nvGraphicFramePr>
        <p:xfrm>
          <a:off x="5989320" y="4169664"/>
          <a:ext cx="5653735" cy="170078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5989320" y="4181094"/>
            <a:ext cx="1673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1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Mercor</a:t>
            </a:r>
            <a:endParaRPr lang="zh-CN" sz="1300" dirty="0"/>
          </a:p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年化毛营收 · 26年6月</a:t>
            </a:r>
            <a:endParaRPr lang="zh-CN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5989320" y="4606290"/>
            <a:ext cx="1673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1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AI智能体市场</a:t>
            </a:r>
            <a:endParaRPr lang="zh-CN" sz="1300" dirty="0"/>
          </a:p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2025</a:t>
            </a:r>
            <a:endParaRPr lang="zh-CN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5989320" y="5031486"/>
            <a:ext cx="1673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1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AI智能体市场</a:t>
            </a:r>
            <a:endParaRPr lang="zh-CN" sz="1300" dirty="0"/>
          </a:p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2028E</a:t>
            </a:r>
            <a:endParaRPr lang="zh-CN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5989320" y="5456682"/>
            <a:ext cx="1673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1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AI智能体市场</a:t>
            </a:r>
            <a:endParaRPr lang="zh-CN" sz="1300" dirty="0"/>
          </a:p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2032E</a:t>
            </a:r>
            <a:endParaRPr lang="zh-CN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548640" y="59436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Epoch AI（2024）；The Information经TechCrunch（2025年9月）；Mercor：TechCrunch、Sacra、Dealroom（毛营收）；AI智能体：Precedence Research，2025年79亿美元，年复合增长45.8%。</a:t>
            </a:r>
            <a:endParaRPr lang="zh-CN" sz="900" dirty="0"/>
          </a:p>
        </p:txBody>
      </p:sp>
      <p:pic>
        <p:nvPicPr>
          <p:cNvPr id="23" name="Image 0" descr="SimRe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  <p:sp>
        <p:nvSpPr>
          <p:cNvPr id="25" name="Text 20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04</a:t>
            </a:r>
            <a:endParaRPr lang="zh-CN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05</a:t>
            </a: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问题</a:t>
            </a:r>
            <a:endParaRPr lang="zh-CN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考满分的AI，还不能被放心交付真活</a:t>
            </a:r>
            <a:endParaRPr lang="zh-CN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训练题有标准答案，真实工作没有。所以企业还不敢把真活交给AI。</a:t>
            </a:r>
            <a:endParaRPr lang="zh-CN" sz="1500" dirty="0"/>
          </a:p>
        </p:txBody>
      </p:sp>
      <p:sp>
        <p:nvSpPr>
          <p:cNvPr id="5" name="Shape 3"/>
          <p:cNvSpPr/>
          <p:nvPr/>
        </p:nvSpPr>
        <p:spPr>
          <a:xfrm>
            <a:off x="6309360" y="1874520"/>
            <a:ext cx="5333695" cy="3154680"/>
          </a:xfrm>
          <a:prstGeom prst="rect">
            <a:avLst/>
          </a:prstGeom>
          <a:solidFill>
            <a:srgbClr val="F2F1EC"/>
          </a:solidFill>
          <a:ln w="12700">
            <a:solidFill>
              <a:srgbClr val="F2F1E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417320" y="201168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考试过关</a:t>
            </a:r>
            <a:endParaRPr lang="zh-CN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583680" y="201168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实战失手</a:t>
            </a:r>
            <a:endParaRPr lang="zh-CN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331720"/>
            <a:ext cx="557784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2331720"/>
            <a:ext cx="5333695" cy="0"/>
          </a:xfrm>
          <a:prstGeom prst="line">
            <a:avLst/>
          </a:prstGeom>
          <a:noFill/>
          <a:ln w="9525">
            <a:solidFill>
              <a:srgbClr val="D9D6C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51460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9A978F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01</a:t>
            </a:r>
            <a:endParaRPr lang="zh-CN" sz="1300" dirty="0"/>
          </a:p>
          <a:p>
            <a:pPr indent="0" marL="0">
              <a:buNone/>
            </a:pPr>
            <a:r>
              <a:rPr lang="zh-CN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交易</a:t>
            </a:r>
            <a:endParaRPr lang="zh-CN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2331720"/>
            <a:ext cx="42976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写出的策略看起来很专业</a:t>
            </a:r>
            <a:endParaRPr lang="zh-CN" sz="1700" dirty="0"/>
          </a:p>
        </p:txBody>
      </p:sp>
      <p:sp>
        <p:nvSpPr>
          <p:cNvPr id="12" name="Shape 10"/>
          <p:cNvSpPr/>
          <p:nvPr/>
        </p:nvSpPr>
        <p:spPr>
          <a:xfrm>
            <a:off x="5669280" y="2779776"/>
            <a:ext cx="411480" cy="0"/>
          </a:xfrm>
          <a:prstGeom prst="line">
            <a:avLst/>
          </a:prstGeom>
          <a:noFill/>
          <a:ln w="12700">
            <a:solidFill>
              <a:srgbClr val="6E6C66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6583680" y="2331720"/>
            <a:ext cx="487649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1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真实交易日一上场就亏钱</a:t>
            </a:r>
            <a:endParaRPr lang="zh-CN" sz="2100" dirty="0"/>
          </a:p>
        </p:txBody>
      </p:sp>
      <p:sp>
        <p:nvSpPr>
          <p:cNvPr id="14" name="Shape 12"/>
          <p:cNvSpPr/>
          <p:nvPr/>
        </p:nvSpPr>
        <p:spPr>
          <a:xfrm>
            <a:off x="548640" y="3227832"/>
            <a:ext cx="557784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09360" y="3227832"/>
            <a:ext cx="5333695" cy="0"/>
          </a:xfrm>
          <a:prstGeom prst="line">
            <a:avLst/>
          </a:prstGeom>
          <a:noFill/>
          <a:ln w="9525">
            <a:solidFill>
              <a:srgbClr val="D9D6C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410712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9A978F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02</a:t>
            </a:r>
            <a:endParaRPr lang="zh-CN" sz="1300" dirty="0"/>
          </a:p>
          <a:p>
            <a:pPr indent="0" marL="0">
              <a:buNone/>
            </a:pPr>
            <a:r>
              <a:rPr lang="zh-CN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财务</a:t>
            </a:r>
            <a:endParaRPr lang="zh-CN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3227832"/>
            <a:ext cx="42976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做出的账看起来已经完成</a:t>
            </a:r>
            <a:endParaRPr lang="zh-CN" sz="1700" dirty="0"/>
          </a:p>
        </p:txBody>
      </p:sp>
      <p:sp>
        <p:nvSpPr>
          <p:cNvPr id="18" name="Shape 16"/>
          <p:cNvSpPr/>
          <p:nvPr/>
        </p:nvSpPr>
        <p:spPr>
          <a:xfrm>
            <a:off x="5669280" y="3675888"/>
            <a:ext cx="411480" cy="0"/>
          </a:xfrm>
          <a:prstGeom prst="line">
            <a:avLst/>
          </a:prstGeom>
          <a:noFill/>
          <a:ln w="12700">
            <a:solidFill>
              <a:srgbClr val="6E6C66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6583680" y="3227832"/>
            <a:ext cx="487649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1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账却对不平</a:t>
            </a:r>
            <a:endParaRPr lang="zh-CN" sz="2100" dirty="0"/>
          </a:p>
        </p:txBody>
      </p:sp>
      <p:sp>
        <p:nvSpPr>
          <p:cNvPr id="20" name="Shape 18"/>
          <p:cNvSpPr/>
          <p:nvPr/>
        </p:nvSpPr>
        <p:spPr>
          <a:xfrm>
            <a:off x="548640" y="4123944"/>
            <a:ext cx="557784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09360" y="4123944"/>
            <a:ext cx="5333695" cy="0"/>
          </a:xfrm>
          <a:prstGeom prst="line">
            <a:avLst/>
          </a:prstGeom>
          <a:noFill/>
          <a:ln w="9525">
            <a:solidFill>
              <a:srgbClr val="D9D6C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306824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9A978F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03</a:t>
            </a:r>
            <a:endParaRPr lang="zh-CN" sz="1300" dirty="0"/>
          </a:p>
          <a:p>
            <a:pPr indent="0" marL="0">
              <a:buNone/>
            </a:pPr>
            <a:r>
              <a:rPr lang="zh-CN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软件工程</a:t>
            </a:r>
            <a:endParaRPr lang="zh-CN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417320" y="4123944"/>
            <a:ext cx="42976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提交的代码通过了今天的测试</a:t>
            </a:r>
            <a:endParaRPr lang="zh-CN" sz="1700" dirty="0"/>
          </a:p>
        </p:txBody>
      </p:sp>
      <p:sp>
        <p:nvSpPr>
          <p:cNvPr id="24" name="Shape 22"/>
          <p:cNvSpPr/>
          <p:nvPr/>
        </p:nvSpPr>
        <p:spPr>
          <a:xfrm>
            <a:off x="5669280" y="4572000"/>
            <a:ext cx="411480" cy="0"/>
          </a:xfrm>
          <a:prstGeom prst="line">
            <a:avLst/>
          </a:prstGeom>
          <a:noFill/>
          <a:ln w="12700">
            <a:solidFill>
              <a:srgbClr val="6E6C66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583680" y="4123944"/>
            <a:ext cx="487649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1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下一个版本就出问题</a:t>
            </a:r>
            <a:endParaRPr lang="zh-CN" sz="21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349240"/>
            <a:ext cx="110944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智能体越</a:t>
            </a:r>
            <a:r>
              <a:rPr lang="zh-CN" altLang="en-US" sz="20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自主</a:t>
            </a: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，评分标准出错的代价越大：企业不敢用，实验室白白浪费算力。</a:t>
            </a:r>
            <a:endParaRPr lang="zh-CN" sz="2000" dirty="0"/>
          </a:p>
        </p:txBody>
      </p:sp>
      <p:pic>
        <p:nvPicPr>
          <p:cNvPr id="27" name="Image 0" descr="Sim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05</a:t>
            </a:r>
            <a:endParaRPr lang="zh-CN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06</a:t>
            </a: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核心洞察</a:t>
            </a:r>
            <a:endParaRPr lang="zh-CN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AI的每一次能力跃迁，都来自一次</a:t>
            </a:r>
            <a:r>
              <a:rPr lang="zh-CN" altLang="en-US" sz="28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反馈信号</a:t>
            </a: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的升级</a:t>
            </a:r>
            <a:endParaRPr lang="zh-CN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636444" cy="34015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819656"/>
            <a:ext cx="21609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第一代 · 互联网数据</a:t>
            </a:r>
            <a:endParaRPr lang="zh-CN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86384" y="2075688"/>
            <a:ext cx="21609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3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模仿</a:t>
            </a:r>
            <a:endParaRPr lang="zh-CN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715768"/>
            <a:ext cx="21609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人写，模型抄。</a:t>
            </a:r>
            <a:endParaRPr lang="zh-CN" sz="1300" dirty="0"/>
          </a:p>
        </p:txBody>
      </p:sp>
      <p:sp>
        <p:nvSpPr>
          <p:cNvPr id="8" name="Shape 6"/>
          <p:cNvSpPr/>
          <p:nvPr/>
        </p:nvSpPr>
        <p:spPr>
          <a:xfrm>
            <a:off x="786384" y="3374136"/>
            <a:ext cx="2160956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3502152"/>
            <a:ext cx="21609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带来的跃迁</a:t>
            </a:r>
            <a:endParaRPr lang="zh-CN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86384" y="3758184"/>
            <a:ext cx="21609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会说话的AI</a:t>
            </a:r>
            <a:endParaRPr lang="zh-CN" sz="1800" dirty="0"/>
          </a:p>
        </p:txBody>
      </p:sp>
      <p:sp>
        <p:nvSpPr>
          <p:cNvPr id="11" name="Shape 9"/>
          <p:cNvSpPr/>
          <p:nvPr/>
        </p:nvSpPr>
        <p:spPr>
          <a:xfrm>
            <a:off x="786384" y="4416552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F2F1EC"/>
          </a:solidFill>
          <a:ln w="12700">
            <a:solidFill>
              <a:srgbClr val="F2F1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86384" y="4416552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边际收益递减</a:t>
            </a:r>
            <a:endParaRPr lang="zh-CN" sz="1000" dirty="0"/>
          </a:p>
        </p:txBody>
      </p:sp>
      <p:sp>
        <p:nvSpPr>
          <p:cNvPr id="13" name="Shape 11"/>
          <p:cNvSpPr/>
          <p:nvPr/>
        </p:nvSpPr>
        <p:spPr>
          <a:xfrm>
            <a:off x="3367964" y="1600200"/>
            <a:ext cx="2636444" cy="34015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605708" y="1819656"/>
            <a:ext cx="21609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第二代 · 人类偏好</a:t>
            </a:r>
            <a:endParaRPr lang="zh-CN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605708" y="2075688"/>
            <a:ext cx="21609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3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对齐</a:t>
            </a:r>
            <a:endParaRPr lang="zh-CN" sz="3200" dirty="0"/>
          </a:p>
        </p:txBody>
      </p:sp>
      <p:sp>
        <p:nvSpPr>
          <p:cNvPr id="16" name="Text 14"/>
          <p:cNvSpPr txBox="1"/>
          <p:nvPr/>
        </p:nvSpPr>
        <p:spPr>
          <a:xfrm>
            <a:off x="3605708" y="2715768"/>
            <a:ext cx="21609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人打分，模型迎合。</a:t>
            </a:r>
            <a:endParaRPr lang="zh-CN" sz="1300" dirty="0"/>
          </a:p>
        </p:txBody>
      </p:sp>
      <p:sp>
        <p:nvSpPr>
          <p:cNvPr id="17" name="Shape 15"/>
          <p:cNvSpPr/>
          <p:nvPr/>
        </p:nvSpPr>
        <p:spPr>
          <a:xfrm>
            <a:off x="3605708" y="3374136"/>
            <a:ext cx="2160956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605708" y="3502152"/>
            <a:ext cx="21609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带来的跃迁</a:t>
            </a:r>
            <a:endParaRPr lang="zh-CN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605708" y="3758184"/>
            <a:ext cx="21609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好用的AI助手</a:t>
            </a:r>
            <a:endParaRPr lang="zh-CN" sz="1800" dirty="0"/>
          </a:p>
        </p:txBody>
      </p:sp>
      <p:sp>
        <p:nvSpPr>
          <p:cNvPr id="20" name="Shape 18"/>
          <p:cNvSpPr/>
          <p:nvPr/>
        </p:nvSpPr>
        <p:spPr>
          <a:xfrm>
            <a:off x="3605708" y="4416552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F2F1EC"/>
          </a:solidFill>
          <a:ln w="12700">
            <a:solidFill>
              <a:srgbClr val="F2F1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605708" y="4416552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边际收益递减</a:t>
            </a:r>
            <a:endParaRPr lang="zh-CN" sz="1000" dirty="0"/>
          </a:p>
        </p:txBody>
      </p:sp>
      <p:sp>
        <p:nvSpPr>
          <p:cNvPr id="22" name="Shape 20"/>
          <p:cNvSpPr/>
          <p:nvPr/>
        </p:nvSpPr>
        <p:spPr>
          <a:xfrm>
            <a:off x="6187288" y="1600200"/>
            <a:ext cx="2636444" cy="34015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25032" y="1819656"/>
            <a:ext cx="21609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第三代 · 可检验的答案</a:t>
            </a:r>
            <a:endParaRPr lang="zh-CN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425032" y="2075688"/>
            <a:ext cx="21609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3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验证</a:t>
            </a:r>
            <a:endParaRPr lang="zh-CN" sz="3200" dirty="0"/>
          </a:p>
        </p:txBody>
      </p:sp>
      <p:sp>
        <p:nvSpPr>
          <p:cNvPr id="25" name="Text 23"/>
          <p:cNvSpPr txBox="1"/>
          <p:nvPr/>
        </p:nvSpPr>
        <p:spPr>
          <a:xfrm>
            <a:off x="6425032" y="2715768"/>
            <a:ext cx="21609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规则判定，模型解题。数学与代码。</a:t>
            </a:r>
            <a:endParaRPr lang="zh-CN" sz="1300" dirty="0"/>
          </a:p>
        </p:txBody>
      </p:sp>
      <p:sp>
        <p:nvSpPr>
          <p:cNvPr id="26" name="Shape 24"/>
          <p:cNvSpPr/>
          <p:nvPr/>
        </p:nvSpPr>
        <p:spPr>
          <a:xfrm>
            <a:off x="6425032" y="3374136"/>
            <a:ext cx="2160956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25032" y="3502152"/>
            <a:ext cx="21609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带来的跃迁</a:t>
            </a:r>
            <a:endParaRPr lang="zh-CN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425032" y="3758184"/>
            <a:ext cx="21609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推理模型</a:t>
            </a:r>
            <a:endParaRPr lang="zh-CN" sz="1800" dirty="0"/>
          </a:p>
        </p:txBody>
      </p:sp>
      <p:sp>
        <p:nvSpPr>
          <p:cNvPr id="29" name="Shape 27"/>
          <p:cNvSpPr/>
          <p:nvPr/>
        </p:nvSpPr>
        <p:spPr>
          <a:xfrm>
            <a:off x="6425032" y="4416552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F2F1EC"/>
          </a:solidFill>
          <a:ln w="12700">
            <a:solidFill>
              <a:srgbClr val="F2F1E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25032" y="4416552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趋于成熟</a:t>
            </a:r>
            <a:endParaRPr lang="zh-CN" sz="1000" dirty="0"/>
          </a:p>
        </p:txBody>
      </p:sp>
      <p:sp>
        <p:nvSpPr>
          <p:cNvPr id="31" name="Shape 29"/>
          <p:cNvSpPr/>
          <p:nvPr/>
        </p:nvSpPr>
        <p:spPr>
          <a:xfrm>
            <a:off x="9006611" y="1600200"/>
            <a:ext cx="2636444" cy="3401568"/>
          </a:xfrm>
          <a:prstGeom prst="rect">
            <a:avLst/>
          </a:prstGeom>
          <a:solidFill>
            <a:srgbClr val="111110"/>
          </a:solidFill>
          <a:ln w="12700">
            <a:solidFill>
              <a:srgbClr val="11111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244355" y="1819656"/>
            <a:ext cx="21609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E27A3F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第四代 · 真实世界的结果</a:t>
            </a:r>
            <a:endParaRPr lang="zh-CN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9244355" y="2075688"/>
            <a:ext cx="21609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32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后果</a:t>
            </a:r>
            <a:endParaRPr lang="zh-CN" sz="3200" dirty="0"/>
          </a:p>
        </p:txBody>
      </p:sp>
      <p:sp>
        <p:nvSpPr>
          <p:cNvPr id="34" name="Text 32"/>
          <p:cNvSpPr txBox="1"/>
          <p:nvPr/>
        </p:nvSpPr>
        <p:spPr>
          <a:xfrm>
            <a:off x="9244355" y="2715768"/>
            <a:ext cx="21609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C4C0B7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世界结算，模型承担。</a:t>
            </a:r>
            <a:endParaRPr lang="zh-CN" sz="1300" dirty="0"/>
          </a:p>
        </p:txBody>
      </p:sp>
      <p:sp>
        <p:nvSpPr>
          <p:cNvPr id="35" name="Shape 33"/>
          <p:cNvSpPr/>
          <p:nvPr/>
        </p:nvSpPr>
        <p:spPr>
          <a:xfrm>
            <a:off x="9244355" y="3374136"/>
            <a:ext cx="2160956" cy="0"/>
          </a:xfrm>
          <a:prstGeom prst="line">
            <a:avLst/>
          </a:prstGeom>
          <a:noFill/>
          <a:ln w="9525">
            <a:solidFill>
              <a:srgbClr val="3A3935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244355" y="3502152"/>
            <a:ext cx="21609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4C0B7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带来的跃迁</a:t>
            </a:r>
            <a:endParaRPr lang="zh-CN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9244355" y="3758184"/>
            <a:ext cx="21609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E27A3F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自主运行与自我进化</a:t>
            </a:r>
            <a:endParaRPr lang="zh-CN" sz="1800" dirty="0"/>
          </a:p>
        </p:txBody>
      </p:sp>
      <p:sp>
        <p:nvSpPr>
          <p:cNvPr id="38" name="Shape 36"/>
          <p:cNvSpPr/>
          <p:nvPr/>
        </p:nvSpPr>
        <p:spPr>
          <a:xfrm>
            <a:off x="9244355" y="4416552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244355" y="4416552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000" dirty="0">
                <a:solidFill>
                  <a:srgbClr val="FAF9F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刚刚起步</a:t>
            </a:r>
            <a:endParaRPr lang="zh-CN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5349240"/>
            <a:ext cx="110944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前三代信号来自人。</a:t>
            </a:r>
            <a:r>
              <a:rPr lang="zh-CN" altLang="en-US" sz="20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第四代来自世界</a:t>
            </a: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，让AI能够自我进化。</a:t>
            </a:r>
            <a:endParaRPr lang="zh-CN" sz="2000" dirty="0"/>
          </a:p>
        </p:txBody>
      </p:sp>
      <p:pic>
        <p:nvPicPr>
          <p:cNvPr id="41" name="Image 0" descr="Sim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42" name="Text 39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  <p:sp>
        <p:nvSpPr>
          <p:cNvPr id="43" name="Text 40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06</a:t>
            </a:r>
            <a:endParaRPr lang="zh-CN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07</a:t>
            </a: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我们做什么</a:t>
            </a:r>
            <a:endParaRPr lang="zh-CN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每个动作都有</a:t>
            </a:r>
            <a:r>
              <a:rPr lang="zh-CN" altLang="en-US" sz="28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真实后果</a:t>
            </a: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，AI从中持续进步</a:t>
            </a:r>
            <a:endParaRPr lang="zh-CN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训练环境、结果评分、专家判断合为一体：AI练习真实工作，从每次结果中学习。</a:t>
            </a:r>
            <a:endParaRPr lang="zh-CN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847088"/>
            <a:ext cx="3393338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2996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01</a:t>
            </a:r>
            <a:endParaRPr lang="zh-CN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9424"/>
            <a:ext cx="284469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训练环境</a:t>
            </a:r>
            <a:endParaRPr lang="zh-CN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70048"/>
            <a:ext cx="28446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还原真实工作，供AI练习</a:t>
            </a:r>
            <a:endParaRPr lang="zh-CN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941978" y="1847088"/>
            <a:ext cx="4572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2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endParaRPr lang="zh-CN" sz="2200" dirty="0"/>
          </a:p>
        </p:txBody>
      </p:sp>
      <p:sp>
        <p:nvSpPr>
          <p:cNvPr id="10" name="Shape 8"/>
          <p:cNvSpPr/>
          <p:nvPr/>
        </p:nvSpPr>
        <p:spPr>
          <a:xfrm>
            <a:off x="4399178" y="1847088"/>
            <a:ext cx="3393338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73498" y="202996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02</a:t>
            </a:r>
            <a:endParaRPr lang="zh-CN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673498" y="2249424"/>
            <a:ext cx="284469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结果评分</a:t>
            </a:r>
            <a:endParaRPr lang="zh-CN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673498" y="2670048"/>
            <a:ext cx="28446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按真实结果打分</a:t>
            </a:r>
            <a:endParaRPr lang="zh-CN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792517" y="1847088"/>
            <a:ext cx="4572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2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endParaRPr lang="zh-CN" sz="2200" dirty="0"/>
          </a:p>
        </p:txBody>
      </p:sp>
      <p:sp>
        <p:nvSpPr>
          <p:cNvPr id="15" name="Shape 13"/>
          <p:cNvSpPr/>
          <p:nvPr/>
        </p:nvSpPr>
        <p:spPr>
          <a:xfrm>
            <a:off x="8249717" y="1847088"/>
            <a:ext cx="3393338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524037" y="202996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03</a:t>
            </a:r>
            <a:endParaRPr lang="zh-CN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8524037" y="2249424"/>
            <a:ext cx="284469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专家反馈</a:t>
            </a:r>
            <a:endParaRPr lang="zh-CN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8524037" y="2670048"/>
            <a:ext cx="28446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真实工作背后的判断</a:t>
            </a:r>
            <a:endParaRPr lang="zh-CN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821528" y="301752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2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=</a:t>
            </a:r>
            <a:endParaRPr lang="zh-CN" sz="2200" dirty="0"/>
          </a:p>
        </p:txBody>
      </p:sp>
      <p:sp>
        <p:nvSpPr>
          <p:cNvPr id="20" name="Shape 18"/>
          <p:cNvSpPr/>
          <p:nvPr/>
        </p:nvSpPr>
        <p:spPr>
          <a:xfrm>
            <a:off x="548640" y="3364992"/>
            <a:ext cx="11094415" cy="914400"/>
          </a:xfrm>
          <a:prstGeom prst="rect">
            <a:avLst/>
          </a:prstGeom>
          <a:solidFill>
            <a:srgbClr val="111110"/>
          </a:solidFill>
          <a:ln w="12700">
            <a:solidFill>
              <a:srgbClr val="11111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336499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E27A3F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SimReal</a:t>
            </a:r>
            <a:endParaRPr lang="zh-CN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2011680" y="3364992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6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一个给出真实反馈的世界</a:t>
            </a:r>
            <a:endParaRPr lang="zh-CN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7680960" y="3364992"/>
            <a:ext cx="3687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300" dirty="0">
                <a:solidFill>
                  <a:srgbClr val="C4C0B7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让AI从每次结果中学习</a:t>
            </a:r>
            <a:endParaRPr lang="zh-CN" sz="1300" dirty="0"/>
          </a:p>
        </p:txBody>
      </p:sp>
      <p:sp>
        <p:nvSpPr>
          <p:cNvPr id="24" name="Shape 22"/>
          <p:cNvSpPr/>
          <p:nvPr/>
        </p:nvSpPr>
        <p:spPr>
          <a:xfrm>
            <a:off x="658368" y="4937760"/>
            <a:ext cx="8320811" cy="0"/>
          </a:xfrm>
          <a:prstGeom prst="line">
            <a:avLst/>
          </a:prstGeom>
          <a:noFill/>
          <a:ln w="12700">
            <a:solidFill>
              <a:srgbClr val="11111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4828032"/>
            <a:ext cx="219456" cy="219456"/>
          </a:xfrm>
          <a:prstGeom prst="ellipse">
            <a:avLst/>
          </a:prstGeom>
          <a:solidFill>
            <a:srgbClr val="111110"/>
          </a:solidFill>
          <a:ln w="15875">
            <a:solidFill>
              <a:srgbClr val="11111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8640" y="5212080"/>
            <a:ext cx="25907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AI行动</a:t>
            </a:r>
            <a:endParaRPr lang="zh-CN" sz="2000" dirty="0"/>
          </a:p>
        </p:txBody>
      </p:sp>
      <p:sp>
        <p:nvSpPr>
          <p:cNvPr id="27" name="Shape 25"/>
          <p:cNvSpPr/>
          <p:nvPr/>
        </p:nvSpPr>
        <p:spPr>
          <a:xfrm>
            <a:off x="3322244" y="4828032"/>
            <a:ext cx="219456" cy="219456"/>
          </a:xfrm>
          <a:prstGeom prst="ellipse">
            <a:avLst/>
          </a:prstGeom>
          <a:solidFill>
            <a:srgbClr val="FAF9F6"/>
          </a:solidFill>
          <a:ln w="15875">
            <a:solidFill>
              <a:srgbClr val="11111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322244" y="5212080"/>
            <a:ext cx="25907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世界给出结果</a:t>
            </a:r>
            <a:endParaRPr lang="zh-CN" sz="2000" dirty="0"/>
          </a:p>
        </p:txBody>
      </p:sp>
      <p:sp>
        <p:nvSpPr>
          <p:cNvPr id="29" name="Shape 27"/>
          <p:cNvSpPr/>
          <p:nvPr/>
        </p:nvSpPr>
        <p:spPr>
          <a:xfrm>
            <a:off x="6095848" y="4828032"/>
            <a:ext cx="219456" cy="219456"/>
          </a:xfrm>
          <a:prstGeom prst="ellipse">
            <a:avLst/>
          </a:prstGeom>
          <a:solidFill>
            <a:srgbClr val="FAF9F6"/>
          </a:solidFill>
          <a:ln w="15875">
            <a:solidFill>
              <a:srgbClr val="11111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095848" y="5212080"/>
            <a:ext cx="25907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AI从结果中训练</a:t>
            </a:r>
            <a:endParaRPr lang="zh-CN" sz="2000" dirty="0"/>
          </a:p>
        </p:txBody>
      </p:sp>
      <p:sp>
        <p:nvSpPr>
          <p:cNvPr id="31" name="Shape 29"/>
          <p:cNvSpPr/>
          <p:nvPr/>
        </p:nvSpPr>
        <p:spPr>
          <a:xfrm>
            <a:off x="8869451" y="4828032"/>
            <a:ext cx="219456" cy="219456"/>
          </a:xfrm>
          <a:prstGeom prst="ellipse">
            <a:avLst/>
          </a:prstGeom>
          <a:solidFill>
            <a:srgbClr val="C2410C"/>
          </a:solidFill>
          <a:ln w="15875">
            <a:solidFill>
              <a:srgbClr val="C2410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869451" y="5212080"/>
            <a:ext cx="25907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0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自我进化</a:t>
            </a:r>
            <a:endParaRPr lang="zh-CN" sz="2000" dirty="0"/>
          </a:p>
        </p:txBody>
      </p:sp>
      <p:pic>
        <p:nvPicPr>
          <p:cNvPr id="33" name="Image 0" descr="Sim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  <p:sp>
        <p:nvSpPr>
          <p:cNvPr id="35" name="Text 32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07</a:t>
            </a:r>
            <a:endParaRPr lang="zh-CN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08</a:t>
            </a: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旗舰产品  ·  自我进化（RSI）</a:t>
            </a:r>
            <a:endParaRPr lang="zh-CN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6035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6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Xitadel</a:t>
            </a:r>
            <a:endParaRPr lang="zh-CN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1790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000" dirty="0">
                <a:solidFill>
                  <a:srgbClr val="6E6C6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AI自己学会交易</a:t>
            </a:r>
            <a:endParaRPr lang="zh-CN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029968"/>
            <a:ext cx="589788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029968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上真实战场</a:t>
            </a:r>
            <a:endParaRPr lang="zh-CN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965960" y="202996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AI进入真实市场，和顶尖交易员同场比赛。</a:t>
            </a:r>
            <a:endParaRPr lang="zh-CN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505456"/>
            <a:ext cx="589788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505456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市场当裁判</a:t>
            </a:r>
            <a:endParaRPr lang="zh-CN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965960" y="2505456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每一笔交易由市场结算。</a:t>
            </a:r>
            <a:endParaRPr lang="zh-CN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980944"/>
            <a:ext cx="589788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980944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从结果中进化</a:t>
            </a:r>
            <a:endParaRPr lang="zh-CN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965960" y="2980944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AI从每天的盈亏中复盘，每一轮都让下一轮更强。</a:t>
            </a:r>
            <a:endParaRPr lang="zh-CN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456432"/>
            <a:ext cx="589788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602736"/>
            <a:ext cx="5897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我们把开源模型Qwen3.8-27B放进Xitadel训练。在从未见过的真实市场数据上，它的交易表现提升12%，并在多次独立运行中得到复现。</a:t>
            </a:r>
            <a:endParaRPr lang="zh-CN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25696"/>
            <a:ext cx="5897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7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我们已经证明，AI可以在真实市场里自己变强。</a:t>
            </a:r>
            <a:endParaRPr lang="zh-CN" sz="1700" dirty="0"/>
          </a:p>
          <a:p>
            <a:pPr indent="0" marL="0">
              <a:buNone/>
            </a:pPr>
            <a:r>
              <a:rPr lang="zh-CN" altLang="en-US" sz="17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下一步：扩展到多策略、多市场。</a:t>
            </a:r>
            <a:endParaRPr lang="zh-CN" sz="1700" dirty="0"/>
          </a:p>
        </p:txBody>
      </p:sp>
      <p:sp>
        <p:nvSpPr>
          <p:cNvPr id="17" name="Shape 15"/>
          <p:cNvSpPr/>
          <p:nvPr/>
        </p:nvSpPr>
        <p:spPr>
          <a:xfrm>
            <a:off x="6812280" y="868680"/>
            <a:ext cx="4830775" cy="434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086600" y="1088136"/>
            <a:ext cx="3550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每一轮，都从上一轮出发</a:t>
            </a:r>
            <a:endParaRPr lang="zh-CN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637215" y="112471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CN" altLang="en-US" sz="1000" spc="50" kern="0" dirty="0">
                <a:solidFill>
                  <a:srgbClr val="9A978F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示意</a:t>
            </a:r>
            <a:endParaRPr lang="zh-CN" sz="1000" dirty="0"/>
          </a:p>
        </p:txBody>
      </p:sp>
      <p:sp>
        <p:nvSpPr>
          <p:cNvPr id="20" name="Shape 18"/>
          <p:cNvSpPr/>
          <p:nvPr/>
        </p:nvSpPr>
        <p:spPr>
          <a:xfrm>
            <a:off x="7086600" y="1508760"/>
            <a:ext cx="739384" cy="329184"/>
          </a:xfrm>
          <a:prstGeom prst="roundRect">
            <a:avLst>
              <a:gd name="adj" fmla="val 16667"/>
            </a:avLst>
          </a:prstGeom>
          <a:solidFill>
            <a:srgbClr val="E2E0DA"/>
          </a:solidFill>
          <a:ln w="12700">
            <a:solidFill>
              <a:srgbClr val="E2E0D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086600" y="1508760"/>
            <a:ext cx="739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0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基础模型</a:t>
            </a:r>
            <a:endParaRPr lang="zh-CN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7825984" y="1508760"/>
            <a:ext cx="146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›</a:t>
            </a:r>
            <a:endParaRPr lang="zh-CN" sz="1200" dirty="0"/>
          </a:p>
        </p:txBody>
      </p:sp>
      <p:sp>
        <p:nvSpPr>
          <p:cNvPr id="23" name="Shape 21"/>
          <p:cNvSpPr/>
          <p:nvPr/>
        </p:nvSpPr>
        <p:spPr>
          <a:xfrm>
            <a:off x="7972288" y="1508760"/>
            <a:ext cx="739384" cy="329184"/>
          </a:xfrm>
          <a:prstGeom prst="roundRect">
            <a:avLst>
              <a:gd name="adj" fmla="val 16667"/>
            </a:avLst>
          </a:prstGeom>
          <a:solidFill>
            <a:srgbClr val="C4C0B7"/>
          </a:solidFill>
          <a:ln w="12700">
            <a:solidFill>
              <a:srgbClr val="C4C0B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972288" y="1508760"/>
            <a:ext cx="739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0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第1轮</a:t>
            </a:r>
            <a:endParaRPr lang="zh-CN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8711672" y="1508760"/>
            <a:ext cx="146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›</a:t>
            </a:r>
            <a:endParaRPr lang="zh-CN" sz="1200" dirty="0"/>
          </a:p>
        </p:txBody>
      </p:sp>
      <p:sp>
        <p:nvSpPr>
          <p:cNvPr id="26" name="Shape 24"/>
          <p:cNvSpPr/>
          <p:nvPr/>
        </p:nvSpPr>
        <p:spPr>
          <a:xfrm>
            <a:off x="8857976" y="1508760"/>
            <a:ext cx="739384" cy="329184"/>
          </a:xfrm>
          <a:prstGeom prst="roundRect">
            <a:avLst>
              <a:gd name="adj" fmla="val 16667"/>
            </a:avLst>
          </a:prstGeom>
          <a:solidFill>
            <a:srgbClr val="E9B089"/>
          </a:solidFill>
          <a:ln w="12700">
            <a:solidFill>
              <a:srgbClr val="E9B08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857976" y="1508760"/>
            <a:ext cx="739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0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第2轮</a:t>
            </a:r>
            <a:endParaRPr lang="zh-CN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9597360" y="1508760"/>
            <a:ext cx="146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›</a:t>
            </a:r>
            <a:endParaRPr lang="zh-CN" sz="1200" dirty="0"/>
          </a:p>
        </p:txBody>
      </p:sp>
      <p:sp>
        <p:nvSpPr>
          <p:cNvPr id="29" name="Shape 27"/>
          <p:cNvSpPr/>
          <p:nvPr/>
        </p:nvSpPr>
        <p:spPr>
          <a:xfrm>
            <a:off x="9743664" y="1508760"/>
            <a:ext cx="739384" cy="329184"/>
          </a:xfrm>
          <a:prstGeom prst="roundRect">
            <a:avLst>
              <a:gd name="adj" fmla="val 16667"/>
            </a:avLst>
          </a:prstGeom>
          <a:solidFill>
            <a:srgbClr val="E27A3F"/>
          </a:solidFill>
          <a:ln w="12700">
            <a:solidFill>
              <a:srgbClr val="E27A3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43664" y="1508760"/>
            <a:ext cx="739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000" dirty="0">
                <a:solidFill>
                  <a:srgbClr val="FAF9F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第3轮</a:t>
            </a:r>
            <a:endParaRPr lang="zh-CN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0483047" y="1508760"/>
            <a:ext cx="146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›</a:t>
            </a:r>
            <a:endParaRPr lang="zh-CN" sz="1200" dirty="0"/>
          </a:p>
        </p:txBody>
      </p:sp>
      <p:sp>
        <p:nvSpPr>
          <p:cNvPr id="32" name="Shape 30"/>
          <p:cNvSpPr/>
          <p:nvPr/>
        </p:nvSpPr>
        <p:spPr>
          <a:xfrm>
            <a:off x="10629351" y="1508760"/>
            <a:ext cx="739384" cy="329184"/>
          </a:xfrm>
          <a:prstGeom prst="roundRect">
            <a:avLst>
              <a:gd name="adj" fmla="val 16667"/>
            </a:avLst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629351" y="1508760"/>
            <a:ext cx="739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000" dirty="0">
                <a:solidFill>
                  <a:srgbClr val="FAF9F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第4轮</a:t>
            </a:r>
            <a:endParaRPr lang="zh-CN" sz="1000" dirty="0"/>
          </a:p>
        </p:txBody>
      </p:sp>
      <p:sp>
        <p:nvSpPr>
          <p:cNvPr id="34" name="Shape 32"/>
          <p:cNvSpPr/>
          <p:nvPr/>
        </p:nvSpPr>
        <p:spPr>
          <a:xfrm>
            <a:off x="7086600" y="2093976"/>
            <a:ext cx="428213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086600" y="2240280"/>
            <a:ext cx="42821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实测结果</a:t>
            </a:r>
            <a:endParaRPr lang="zh-CN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7086600" y="2459736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4400" dirty="0">
                <a:solidFill>
                  <a:srgbClr val="C2410C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r>
              <a:rPr lang="zh-CN" altLang="en-US" sz="44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12%</a:t>
            </a:r>
            <a:endParaRPr lang="zh-CN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9006840" y="2569464"/>
            <a:ext cx="2361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交易表现，在从未见过的真实市场数据上</a:t>
            </a:r>
            <a:endParaRPr lang="zh-CN" sz="1100" dirty="0"/>
          </a:p>
        </p:txBody>
      </p:sp>
      <p:graphicFrame>
        <p:nvGraphicFramePr>
          <p:cNvPr id="38" name="Chart 0" descr=""/>
          <p:cNvGraphicFramePr/>
          <p:nvPr/>
        </p:nvGraphicFramePr>
        <p:xfrm>
          <a:off x="7086600" y="3209544"/>
          <a:ext cx="4282135" cy="1188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9" name="Text 36"/>
          <p:cNvSpPr txBox="1"/>
          <p:nvPr/>
        </p:nvSpPr>
        <p:spPr>
          <a:xfrm>
            <a:off x="7086600" y="3378708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1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基础模型</a:t>
            </a:r>
            <a:endParaRPr lang="zh-CN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7086600" y="3973068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1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Xitadel训练后</a:t>
            </a:r>
            <a:endParaRPr lang="zh-CN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086600" y="4645152"/>
            <a:ext cx="42821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交易表现以基础模型=100计；多次独立运行均复现（受控实验，Qwen3.8-27B）。</a:t>
            </a:r>
            <a:endParaRPr lang="zh-CN" sz="900" dirty="0"/>
          </a:p>
        </p:txBody>
      </p:sp>
      <p:sp>
        <p:nvSpPr>
          <p:cNvPr id="42" name="Text 39"/>
          <p:cNvSpPr txBox="1"/>
          <p:nvPr/>
        </p:nvSpPr>
        <p:spPr>
          <a:xfrm>
            <a:off x="548640" y="5468112"/>
            <a:ext cx="110944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谁拥有最好的</a:t>
            </a:r>
            <a:r>
              <a:rPr lang="zh-CN" altLang="en-US" sz="20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训练世界</a:t>
            </a: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，谁就拥有每个领域最好的AI。我们已经建成，而且跑通了。</a:t>
            </a:r>
            <a:endParaRPr lang="zh-CN" sz="2000" dirty="0"/>
          </a:p>
        </p:txBody>
      </p:sp>
      <p:pic>
        <p:nvPicPr>
          <p:cNvPr id="43" name="Image 0" descr="SimRe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44" name="Text 40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  <p:sp>
        <p:nvSpPr>
          <p:cNvPr id="45" name="Text 41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08</a:t>
            </a:r>
            <a:endParaRPr lang="zh-CN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09</a:t>
            </a: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产品线</a:t>
            </a:r>
            <a:endParaRPr lang="zh-CN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同样的方法，已经在AI研究和预测上运转</a:t>
            </a:r>
            <a:endParaRPr lang="zh-CN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每个领域，都需要自己的训练世界。我们做得快，而且公开可查。</a:t>
            </a:r>
            <a:endParaRPr lang="zh-CN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387188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pic>
        <p:nvPicPr>
          <p:cNvPr id="6" name="Image 0" descr="SimReal-MLBe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4914" y="1975104"/>
            <a:ext cx="2834640" cy="1417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68680" y="3529584"/>
            <a:ext cx="4747108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3639312"/>
            <a:ext cx="47471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SimReal-MLBench</a:t>
            </a:r>
            <a:r>
              <a:rPr lang="zh-CN" altLang="en-US" sz="100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   AI研究员</a:t>
            </a:r>
            <a:endParaRPr lang="zh-CN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096512"/>
            <a:ext cx="47471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让AI独立完成整个研究项目，从读数据、做实验到交结果：60个真实任务，覆盖7类数据。</a:t>
            </a:r>
            <a:endParaRPr lang="zh-CN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4645152"/>
            <a:ext cx="47471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C2410C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目标：AI改进AI，进化越来越快。</a:t>
            </a:r>
            <a:endParaRPr lang="zh-CN" sz="1200" dirty="0"/>
          </a:p>
        </p:txBody>
      </p:sp>
      <p:sp>
        <p:nvSpPr>
          <p:cNvPr id="11" name="Shape 8"/>
          <p:cNvSpPr/>
          <p:nvPr/>
        </p:nvSpPr>
        <p:spPr>
          <a:xfrm>
            <a:off x="6255868" y="1828800"/>
            <a:ext cx="5387188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pic>
        <p:nvPicPr>
          <p:cNvPr id="12" name="Image 1" descr="Future Prediction Ben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2141" y="1975104"/>
            <a:ext cx="2834640" cy="141732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575908" y="3529584"/>
            <a:ext cx="4747108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575908" y="3639312"/>
            <a:ext cx="47471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Future Prediction Bench</a:t>
            </a:r>
            <a:r>
              <a:rPr lang="zh-CN" altLang="en-US" sz="100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   AI预测</a:t>
            </a:r>
            <a:endParaRPr lang="zh-CN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575908" y="4096512"/>
            <a:ext cx="47471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让AI对真实世界的事件提前下判断，从体育赛事到地震活动，事件揭晓后按结果打分。</a:t>
            </a:r>
            <a:endParaRPr lang="zh-CN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6575908" y="4645152"/>
            <a:ext cx="47471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C2410C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目标：做出经得起现实检验的判断。</a:t>
            </a:r>
            <a:endParaRPr lang="zh-CN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528523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14天做出7款产品，零外部融资。</a:t>
            </a:r>
            <a:endParaRPr lang="zh-CN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566928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公开预览：github.com/Simreal-AI</a:t>
            </a:r>
            <a:endParaRPr lang="zh-CN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4526280" y="531266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另有</a:t>
            </a:r>
            <a:endParaRPr lang="zh-CN" sz="1000" dirty="0"/>
          </a:p>
        </p:txBody>
      </p:sp>
      <p:sp>
        <p:nvSpPr>
          <p:cNvPr id="20" name="Shape 16"/>
          <p:cNvSpPr/>
          <p:nvPr/>
        </p:nvSpPr>
        <p:spPr>
          <a:xfrm>
            <a:off x="5029200" y="5266944"/>
            <a:ext cx="1557452" cy="585216"/>
          </a:xfrm>
          <a:prstGeom prst="rect">
            <a:avLst/>
          </a:prstGeom>
          <a:solidFill>
            <a:srgbClr val="F2F1EC"/>
          </a:solidFill>
          <a:ln w="12700">
            <a:solidFill>
              <a:srgbClr val="F2F1EC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157216" y="5321808"/>
            <a:ext cx="13745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Month-End Close</a:t>
            </a:r>
            <a:endParaRPr lang="zh-CN" sz="1300" dirty="0"/>
          </a:p>
          <a:p>
            <a:pPr indent="0" marL="0">
              <a:buNone/>
            </a:pPr>
            <a:r>
              <a:rPr lang="zh-CN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财务结账</a:t>
            </a:r>
            <a:endParaRPr lang="zh-CN" sz="1300" dirty="0"/>
          </a:p>
        </p:txBody>
      </p:sp>
      <p:sp>
        <p:nvSpPr>
          <p:cNvPr id="22" name="Shape 18"/>
          <p:cNvSpPr/>
          <p:nvPr/>
        </p:nvSpPr>
        <p:spPr>
          <a:xfrm>
            <a:off x="6714668" y="5266944"/>
            <a:ext cx="1557452" cy="585216"/>
          </a:xfrm>
          <a:prstGeom prst="rect">
            <a:avLst/>
          </a:prstGeom>
          <a:solidFill>
            <a:srgbClr val="F2F1EC"/>
          </a:solidFill>
          <a:ln w="12700">
            <a:solidFill>
              <a:srgbClr val="F2F1EC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842684" y="5321808"/>
            <a:ext cx="13745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SWE-Forward</a:t>
            </a:r>
            <a:endParaRPr lang="zh-CN" sz="1300" dirty="0"/>
          </a:p>
          <a:p>
            <a:pPr indent="0" marL="0">
              <a:buNone/>
            </a:pPr>
            <a:r>
              <a:rPr lang="zh-CN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软件工程</a:t>
            </a:r>
            <a:endParaRPr lang="zh-CN" sz="1300" dirty="0"/>
          </a:p>
        </p:txBody>
      </p:sp>
      <p:sp>
        <p:nvSpPr>
          <p:cNvPr id="24" name="Shape 20"/>
          <p:cNvSpPr/>
          <p:nvPr/>
        </p:nvSpPr>
        <p:spPr>
          <a:xfrm>
            <a:off x="8400136" y="5266944"/>
            <a:ext cx="1557452" cy="585216"/>
          </a:xfrm>
          <a:prstGeom prst="rect">
            <a:avLst/>
          </a:prstGeom>
          <a:solidFill>
            <a:srgbClr val="F2F1EC"/>
          </a:solidFill>
          <a:ln w="12700">
            <a:solidFill>
              <a:srgbClr val="F2F1E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528152" y="5321808"/>
            <a:ext cx="13745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MathmoBench</a:t>
            </a:r>
            <a:endParaRPr lang="zh-CN" sz="1300" dirty="0"/>
          </a:p>
          <a:p>
            <a:pPr indent="0" marL="0">
              <a:buNone/>
            </a:pPr>
            <a:r>
              <a:rPr lang="zh-CN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数学证明</a:t>
            </a:r>
            <a:endParaRPr lang="zh-CN" sz="1300" dirty="0"/>
          </a:p>
        </p:txBody>
      </p:sp>
      <p:sp>
        <p:nvSpPr>
          <p:cNvPr id="26" name="Shape 22"/>
          <p:cNvSpPr/>
          <p:nvPr/>
        </p:nvSpPr>
        <p:spPr>
          <a:xfrm>
            <a:off x="10085603" y="5266944"/>
            <a:ext cx="1557452" cy="585216"/>
          </a:xfrm>
          <a:prstGeom prst="rect">
            <a:avLst/>
          </a:prstGeom>
          <a:solidFill>
            <a:srgbClr val="F2F1EC"/>
          </a:solidFill>
          <a:ln w="12700">
            <a:solidFill>
              <a:srgbClr val="F2F1EC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0213619" y="5321808"/>
            <a:ext cx="13745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Puzzle Benchmark</a:t>
            </a:r>
            <a:endParaRPr lang="zh-CN" sz="1300" dirty="0"/>
          </a:p>
          <a:p>
            <a:pPr indent="0" marL="0">
              <a:buNone/>
            </a:pPr>
            <a:r>
              <a:rPr lang="zh-CN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逻辑推理</a:t>
            </a:r>
            <a:endParaRPr lang="zh-CN" sz="1300" dirty="0"/>
          </a:p>
        </p:txBody>
      </p:sp>
      <p:pic>
        <p:nvPicPr>
          <p:cNvPr id="28" name="Image 2" descr="SimRe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  <p:sp>
        <p:nvSpPr>
          <p:cNvPr id="30" name="Text 25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09</a:t>
            </a:r>
            <a:endParaRPr lang="zh-CN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10</a:t>
            </a: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质量与防作弊</a:t>
            </a:r>
            <a:endParaRPr lang="zh-CN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400次作弊攻击，</a:t>
            </a:r>
            <a:r>
              <a:rPr lang="zh-CN" altLang="en-US" sz="28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0次成功</a:t>
            </a:r>
            <a:endParaRPr lang="zh-CN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5669280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92224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01  为什么重要</a:t>
            </a:r>
            <a:endParaRPr lang="zh-CN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66544"/>
            <a:ext cx="5486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评分一旦有漏洞，模型就会钻空子；每个能被钻空子的任务，都在浪费实验室的训练算力。</a:t>
            </a:r>
            <a:endParaRPr lang="zh-CN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871216"/>
            <a:ext cx="5669280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3035808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02  我们怎么做</a:t>
            </a:r>
            <a:endParaRPr lang="zh-CN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310128"/>
            <a:ext cx="5486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每个测试上线前先经受攻击；评分只看真实结果，不靠另一个AI打分。</a:t>
            </a:r>
            <a:endParaRPr lang="zh-CN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114800"/>
            <a:ext cx="5669280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427939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03  客户得到什么</a:t>
            </a:r>
            <a:endParaRPr lang="zh-CN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553712"/>
            <a:ext cx="5486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信得过的分数，以及花在真正学习上的算力。</a:t>
            </a:r>
            <a:endParaRPr lang="zh-CN" sz="1500" dirty="0"/>
          </a:p>
        </p:txBody>
      </p:sp>
      <p:sp>
        <p:nvSpPr>
          <p:cNvPr id="13" name="Shape 11"/>
          <p:cNvSpPr/>
          <p:nvPr/>
        </p:nvSpPr>
        <p:spPr>
          <a:xfrm>
            <a:off x="6629400" y="1627632"/>
            <a:ext cx="2415388" cy="1828800"/>
          </a:xfrm>
          <a:prstGeom prst="rect">
            <a:avLst/>
          </a:prstGeom>
          <a:solidFill>
            <a:srgbClr val="111110"/>
          </a:solidFill>
          <a:ln w="12700">
            <a:solidFill>
              <a:srgbClr val="11111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67144" y="1828800"/>
            <a:ext cx="20496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4000" dirty="0">
                <a:solidFill>
                  <a:srgbClr val="E27A3F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0 / 400</a:t>
            </a:r>
            <a:endParaRPr lang="zh-CN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6867144" y="2542032"/>
            <a:ext cx="20039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FAF9F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次作弊攻击成功</a:t>
            </a:r>
            <a:endParaRPr lang="zh-CN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867144" y="3108960"/>
            <a:ext cx="20039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900" spc="50" kern="0" dirty="0">
                <a:solidFill>
                  <a:srgbClr val="C4C0B7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Puzzle Benchmark</a:t>
            </a:r>
            <a:endParaRPr lang="zh-CN" sz="900" dirty="0"/>
          </a:p>
        </p:txBody>
      </p:sp>
      <p:sp>
        <p:nvSpPr>
          <p:cNvPr id="17" name="Shape 15"/>
          <p:cNvSpPr/>
          <p:nvPr/>
        </p:nvSpPr>
        <p:spPr>
          <a:xfrm>
            <a:off x="9227668" y="1627632"/>
            <a:ext cx="2415388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465412" y="1828800"/>
            <a:ext cx="20496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4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6 → 0</a:t>
            </a:r>
            <a:endParaRPr lang="zh-CN" sz="4000" dirty="0"/>
          </a:p>
        </p:txBody>
      </p:sp>
      <p:sp>
        <p:nvSpPr>
          <p:cNvPr id="19" name="Text 17"/>
          <p:cNvSpPr txBox="1"/>
          <p:nvPr/>
        </p:nvSpPr>
        <p:spPr>
          <a:xfrm>
            <a:off x="9465412" y="2542032"/>
            <a:ext cx="20039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个评分漏洞，两轮受控对比</a:t>
            </a:r>
            <a:endParaRPr lang="zh-CN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465412" y="3108960"/>
            <a:ext cx="20039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900" spc="50" kern="0" dirty="0">
                <a:solidFill>
                  <a:srgbClr val="9A978F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Month-End Close</a:t>
            </a:r>
            <a:endParaRPr lang="zh-CN" sz="900" dirty="0"/>
          </a:p>
        </p:txBody>
      </p:sp>
      <p:sp>
        <p:nvSpPr>
          <p:cNvPr id="21" name="Shape 19"/>
          <p:cNvSpPr/>
          <p:nvPr/>
        </p:nvSpPr>
        <p:spPr>
          <a:xfrm>
            <a:off x="6629400" y="3639312"/>
            <a:ext cx="2415388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67144" y="3840480"/>
            <a:ext cx="20496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4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709</a:t>
            </a:r>
            <a:endParaRPr lang="zh-CN" sz="4000" dirty="0"/>
          </a:p>
        </p:txBody>
      </p:sp>
      <p:sp>
        <p:nvSpPr>
          <p:cNvPr id="23" name="Text 21"/>
          <p:cNvSpPr txBox="1"/>
          <p:nvPr/>
        </p:nvSpPr>
        <p:spPr>
          <a:xfrm>
            <a:off x="6867144" y="4553712"/>
            <a:ext cx="20039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道AI无法作弊通过的谜题</a:t>
            </a:r>
            <a:endParaRPr lang="zh-CN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67144" y="5120640"/>
            <a:ext cx="20039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900" spc="50" kern="0" dirty="0">
                <a:solidFill>
                  <a:srgbClr val="9A978F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Puzzle Benchmark</a:t>
            </a:r>
            <a:endParaRPr lang="zh-CN" sz="900" dirty="0"/>
          </a:p>
        </p:txBody>
      </p:sp>
      <p:sp>
        <p:nvSpPr>
          <p:cNvPr id="25" name="Shape 23"/>
          <p:cNvSpPr/>
          <p:nvPr/>
        </p:nvSpPr>
        <p:spPr>
          <a:xfrm>
            <a:off x="9227668" y="3639312"/>
            <a:ext cx="2415388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465412" y="3840480"/>
            <a:ext cx="20496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4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~$2,400</a:t>
            </a:r>
            <a:endParaRPr lang="zh-CN" sz="4000" dirty="0"/>
          </a:p>
        </p:txBody>
      </p:sp>
      <p:sp>
        <p:nvSpPr>
          <p:cNvPr id="27" name="Text 25"/>
          <p:cNvSpPr txBox="1"/>
          <p:nvPr/>
        </p:nvSpPr>
        <p:spPr>
          <a:xfrm>
            <a:off x="9465412" y="4553712"/>
            <a:ext cx="20039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前沿实验室每个强化学习任务的算力成本，单位美元</a:t>
            </a:r>
            <a:endParaRPr lang="zh-CN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9465412" y="5120640"/>
            <a:ext cx="20039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900" spc="50" kern="0" dirty="0">
                <a:solidFill>
                  <a:srgbClr val="9A978F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Mechanize估算</a:t>
            </a:r>
            <a:endParaRPr lang="zh-CN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436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红队测试记录可在尽调中提供。算力估算：Mechanize，引自Epoch AI《An FAQ on RL environments》（2026年1月）。</a:t>
            </a:r>
            <a:endParaRPr lang="zh-CN" sz="900" dirty="0"/>
          </a:p>
        </p:txBody>
      </p:sp>
      <p:pic>
        <p:nvPicPr>
          <p:cNvPr id="30" name="Image 0" descr="Sim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  <p:sp>
        <p:nvSpPr>
          <p:cNvPr id="32" name="Text 29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10</a:t>
            </a:r>
            <a:endParaRPr lang="zh-CN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11</a:t>
            </a: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商业模式</a:t>
            </a:r>
            <a:endParaRPr lang="zh-CN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训练环境只需搭建一次，模型每升级一次，就</a:t>
            </a:r>
            <a:r>
              <a:rPr lang="zh-CN" altLang="en-US" sz="28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再收一次费</a:t>
            </a:r>
            <a:endParaRPr lang="zh-CN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361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基础业务</a:t>
            </a:r>
            <a:endParaRPr lang="zh-CN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810512"/>
            <a:ext cx="2567864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901952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专家数据</a:t>
            </a:r>
            <a:endParaRPr lang="zh-CN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286000"/>
            <a:ext cx="256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专业人士的示范与判断</a:t>
            </a:r>
            <a:endParaRPr lang="zh-CN" sz="1100" dirty="0"/>
          </a:p>
        </p:txBody>
      </p:sp>
      <p:sp>
        <p:nvSpPr>
          <p:cNvPr id="8" name="Shape 6"/>
          <p:cNvSpPr/>
          <p:nvPr/>
        </p:nvSpPr>
        <p:spPr>
          <a:xfrm>
            <a:off x="3390824" y="1810512"/>
            <a:ext cx="2567864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90824" y="1901952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RL训练环境</a:t>
            </a:r>
            <a:endParaRPr lang="zh-CN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390824" y="2286000"/>
            <a:ext cx="256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还原真实工作，供智能体练习</a:t>
            </a:r>
            <a:endParaRPr lang="zh-CN" sz="1100" dirty="0"/>
          </a:p>
        </p:txBody>
      </p:sp>
      <p:sp>
        <p:nvSpPr>
          <p:cNvPr id="11" name="Shape 9"/>
          <p:cNvSpPr/>
          <p:nvPr/>
        </p:nvSpPr>
        <p:spPr>
          <a:xfrm>
            <a:off x="6233008" y="1810512"/>
            <a:ext cx="2567864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33008" y="1901952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评测与攻防测试</a:t>
            </a:r>
            <a:endParaRPr lang="zh-CN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233008" y="2286000"/>
            <a:ext cx="256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私有评测、公开基准、对抗测试</a:t>
            </a:r>
            <a:endParaRPr lang="zh-CN" sz="1100" dirty="0"/>
          </a:p>
        </p:txBody>
      </p:sp>
      <p:sp>
        <p:nvSpPr>
          <p:cNvPr id="14" name="Shape 12"/>
          <p:cNvSpPr/>
          <p:nvPr/>
        </p:nvSpPr>
        <p:spPr>
          <a:xfrm>
            <a:off x="9075191" y="1810512"/>
            <a:ext cx="2567864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075191" y="1901952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企业定制</a:t>
            </a:r>
            <a:endParaRPr lang="zh-CN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9075191" y="2286000"/>
            <a:ext cx="256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围绕企业自身工作流搭建环境</a:t>
            </a:r>
            <a:endParaRPr lang="zh-CN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2816352"/>
            <a:ext cx="11094415" cy="914400"/>
          </a:xfrm>
          <a:prstGeom prst="rect">
            <a:avLst/>
          </a:prstGeom>
          <a:solidFill>
            <a:srgbClr val="111110"/>
          </a:solidFill>
          <a:ln w="12700">
            <a:solidFill>
              <a:srgbClr val="11111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2816352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E27A3F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独有业务</a:t>
            </a:r>
            <a:endParaRPr lang="zh-CN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011680" y="2816352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2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RSI自我进化服务</a:t>
            </a:r>
            <a:endParaRPr lang="zh-CN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0" y="2816352"/>
            <a:ext cx="49679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C4C0B7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模型每次升级，都回到我们的环境继续训练，形成持续收入。</a:t>
            </a:r>
            <a:endParaRPr lang="zh-CN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04164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收费路径</a:t>
            </a:r>
            <a:endParaRPr lang="zh-CN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2793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实验室每训练一个新模型，都会回来再买一轮。</a:t>
            </a:r>
            <a:endParaRPr lang="zh-CN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5422392"/>
            <a:ext cx="1531620" cy="475488"/>
          </a:xfrm>
          <a:prstGeom prst="rect">
            <a:avLst/>
          </a:prstGeom>
          <a:solidFill>
            <a:srgbClr val="E2E0DA"/>
          </a:solidFill>
          <a:ln w="12700">
            <a:solidFill>
              <a:srgbClr val="E2E0D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6656" y="5513832"/>
            <a:ext cx="13487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01  </a:t>
            </a:r>
            <a:r>
              <a:rPr lang="zh-CN" altLang="en-US" sz="12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免费基准</a:t>
            </a:r>
            <a:endParaRPr lang="zh-CN" sz="1300" dirty="0"/>
          </a:p>
        </p:txBody>
      </p:sp>
      <p:sp>
        <p:nvSpPr>
          <p:cNvPr id="25" name="Shape 23"/>
          <p:cNvSpPr/>
          <p:nvPr/>
        </p:nvSpPr>
        <p:spPr>
          <a:xfrm>
            <a:off x="2171700" y="5148072"/>
            <a:ext cx="1531620" cy="749808"/>
          </a:xfrm>
          <a:prstGeom prst="rect">
            <a:avLst/>
          </a:prstGeom>
          <a:solidFill>
            <a:srgbClr val="D9D6CE"/>
          </a:solidFill>
          <a:ln w="12700">
            <a:solidFill>
              <a:srgbClr val="D9D6C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299716" y="5239512"/>
            <a:ext cx="13487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02  </a:t>
            </a:r>
            <a:r>
              <a:rPr lang="zh-CN" altLang="en-US" sz="12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私有评测</a:t>
            </a:r>
            <a:endParaRPr lang="zh-CN" sz="1300" dirty="0"/>
          </a:p>
        </p:txBody>
      </p:sp>
      <p:sp>
        <p:nvSpPr>
          <p:cNvPr id="27" name="Shape 25"/>
          <p:cNvSpPr/>
          <p:nvPr/>
        </p:nvSpPr>
        <p:spPr>
          <a:xfrm>
            <a:off x="3794760" y="4873752"/>
            <a:ext cx="1531620" cy="1024128"/>
          </a:xfrm>
          <a:prstGeom prst="rect">
            <a:avLst/>
          </a:prstGeom>
          <a:solidFill>
            <a:srgbClr val="C4C0B7"/>
          </a:solidFill>
          <a:ln w="12700">
            <a:solidFill>
              <a:srgbClr val="C4C0B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922776" y="4965192"/>
            <a:ext cx="13487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03  </a:t>
            </a:r>
            <a:r>
              <a:rPr lang="zh-CN" altLang="en-US" sz="12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环境授权</a:t>
            </a:r>
            <a:endParaRPr lang="zh-CN" sz="1300" dirty="0"/>
          </a:p>
        </p:txBody>
      </p:sp>
      <p:sp>
        <p:nvSpPr>
          <p:cNvPr id="29" name="Shape 27"/>
          <p:cNvSpPr/>
          <p:nvPr/>
        </p:nvSpPr>
        <p:spPr>
          <a:xfrm>
            <a:off x="5417820" y="4599432"/>
            <a:ext cx="1531620" cy="129844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545836" y="4690872"/>
            <a:ext cx="13487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900" dirty="0">
                <a:solidFill>
                  <a:srgbClr val="FAF9F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04  </a:t>
            </a:r>
            <a:r>
              <a:rPr lang="zh-CN" altLang="en-US" sz="1200" dirty="0">
                <a:solidFill>
                  <a:srgbClr val="FAF9F6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持续训练</a:t>
            </a:r>
            <a:endParaRPr lang="zh-CN" sz="1300" dirty="0"/>
          </a:p>
        </p:txBody>
      </p:sp>
      <p:sp>
        <p:nvSpPr>
          <p:cNvPr id="31" name="Shape 29"/>
          <p:cNvSpPr/>
          <p:nvPr/>
        </p:nvSpPr>
        <p:spPr>
          <a:xfrm>
            <a:off x="7269480" y="4041648"/>
            <a:ext cx="0" cy="1856232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589520" y="411480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4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六到七位数</a:t>
            </a:r>
            <a:endParaRPr lang="zh-CN" sz="4000" dirty="0"/>
          </a:p>
        </p:txBody>
      </p:sp>
      <p:sp>
        <p:nvSpPr>
          <p:cNvPr id="33" name="Text 31"/>
          <p:cNvSpPr txBox="1"/>
          <p:nvPr/>
        </p:nvSpPr>
        <p:spPr>
          <a:xfrm>
            <a:off x="7589520" y="48463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zh-CN" altLang="en-US" sz="12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美元 / 每份实验室合同 / 每季度</a:t>
            </a:r>
            <a:endParaRPr lang="zh-CN" sz="1200" dirty="0"/>
          </a:p>
          <a:p>
            <a:pPr indent="0" marL="0">
              <a:spcAft>
                <a:spcPts val="300"/>
              </a:spcAft>
              <a:buNone/>
            </a:pPr>
            <a:r>
              <a:rPr lang="zh-CN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独家4–5倍（行业参考，Epoch AI）</a:t>
            </a:r>
            <a:endParaRPr lang="zh-CN" sz="1200" dirty="0"/>
          </a:p>
        </p:txBody>
      </p:sp>
      <p:pic>
        <p:nvPicPr>
          <p:cNvPr id="34" name="Image 0" descr="Sim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35" name="Text 32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  <p:sp>
        <p:nvSpPr>
          <p:cNvPr id="36" name="Text 33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11</a:t>
            </a:r>
            <a:endParaRPr lang="zh-CN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tar ch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100" kern="0" dirty="0">
                <a:solidFill>
                  <a:srgbClr val="E27A3F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12</a:t>
            </a:r>
            <a:r>
              <a:rPr lang="zh-CN" altLang="en-US" sz="1100" dirty="0">
                <a:solidFill>
                  <a:srgbClr val="C4C0B7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进展</a:t>
            </a:r>
            <a:endParaRPr lang="zh-CN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8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成立两周，合作方已在排队</a:t>
            </a:r>
            <a:endParaRPr lang="zh-CN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783080"/>
            <a:ext cx="2567864" cy="0"/>
          </a:xfrm>
          <a:prstGeom prst="line">
            <a:avLst/>
          </a:prstGeom>
          <a:noFill/>
          <a:ln w="9525">
            <a:solidFill>
              <a:srgbClr val="3A393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901952"/>
            <a:ext cx="25678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44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2</a:t>
            </a:r>
            <a:endParaRPr lang="zh-CN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670048"/>
            <a:ext cx="2430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C4C0B7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家前沿AI实验室正在洽谈，目标第3个月签下首个付费客户</a:t>
            </a:r>
            <a:endParaRPr lang="zh-CN" sz="1200" dirty="0"/>
          </a:p>
        </p:txBody>
      </p:sp>
      <p:sp>
        <p:nvSpPr>
          <p:cNvPr id="8" name="Shape 5"/>
          <p:cNvSpPr/>
          <p:nvPr/>
        </p:nvSpPr>
        <p:spPr>
          <a:xfrm>
            <a:off x="3390824" y="1783080"/>
            <a:ext cx="2567864" cy="0"/>
          </a:xfrm>
          <a:prstGeom prst="line">
            <a:avLst/>
          </a:prstGeom>
          <a:noFill/>
          <a:ln w="9525">
            <a:solidFill>
              <a:srgbClr val="3A393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390824" y="1901952"/>
            <a:ext cx="25678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44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7,000</a:t>
            </a:r>
            <a:r>
              <a:rPr lang="zh-CN" altLang="en-US" sz="4400" dirty="0">
                <a:solidFill>
                  <a:srgbClr val="E27A3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endParaRPr lang="zh-CN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3390824" y="2670048"/>
            <a:ext cx="2430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C4C0B7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名专家在候补名单上</a:t>
            </a:r>
            <a:endParaRPr lang="zh-CN" sz="1200" dirty="0"/>
          </a:p>
        </p:txBody>
      </p:sp>
      <p:sp>
        <p:nvSpPr>
          <p:cNvPr id="11" name="Shape 8"/>
          <p:cNvSpPr/>
          <p:nvPr/>
        </p:nvSpPr>
        <p:spPr>
          <a:xfrm>
            <a:off x="6233008" y="1783080"/>
            <a:ext cx="2567864" cy="0"/>
          </a:xfrm>
          <a:prstGeom prst="line">
            <a:avLst/>
          </a:prstGeom>
          <a:noFill/>
          <a:ln w="9525">
            <a:solidFill>
              <a:srgbClr val="3A393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33008" y="1901952"/>
            <a:ext cx="25678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44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500</a:t>
            </a:r>
            <a:r>
              <a:rPr lang="zh-CN" altLang="en-US" sz="4400" dirty="0">
                <a:solidFill>
                  <a:srgbClr val="E27A3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endParaRPr lang="zh-CN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233008" y="2670048"/>
            <a:ext cx="2430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C4C0B7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首周GitHub星标</a:t>
            </a:r>
            <a:endParaRPr lang="zh-CN" sz="1200" dirty="0"/>
          </a:p>
        </p:txBody>
      </p:sp>
      <p:sp>
        <p:nvSpPr>
          <p:cNvPr id="14" name="Shape 11"/>
          <p:cNvSpPr/>
          <p:nvPr/>
        </p:nvSpPr>
        <p:spPr>
          <a:xfrm>
            <a:off x="9075191" y="1783080"/>
            <a:ext cx="2567864" cy="0"/>
          </a:xfrm>
          <a:prstGeom prst="line">
            <a:avLst/>
          </a:prstGeom>
          <a:noFill/>
          <a:ln w="9525">
            <a:solidFill>
              <a:srgbClr val="3A393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075191" y="1901952"/>
            <a:ext cx="25678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44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5</a:t>
            </a:r>
            <a:endParaRPr lang="zh-CN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9075191" y="2670048"/>
            <a:ext cx="2430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C4C0B7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位硅谷顶级天使主动接洽</a:t>
            </a:r>
            <a:endParaRPr lang="zh-CN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3703320"/>
            <a:ext cx="11094415" cy="0"/>
          </a:xfrm>
          <a:prstGeom prst="line">
            <a:avLst/>
          </a:prstGeom>
          <a:noFill/>
          <a:ln w="9525">
            <a:solidFill>
              <a:srgbClr val="3A393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2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全球顶级交易公司的从业者，已经在支持我们。</a:t>
            </a:r>
            <a:endParaRPr lang="zh-CN" sz="2200" dirty="0"/>
          </a:p>
        </p:txBody>
      </p:sp>
      <p:pic>
        <p:nvPicPr>
          <p:cNvPr id="19" name="Image 1" descr="jane-street-pap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9988" y="4753455"/>
            <a:ext cx="856188" cy="332034"/>
          </a:xfrm>
          <a:prstGeom prst="rect">
            <a:avLst/>
          </a:prstGeom>
        </p:spPr>
      </p:pic>
      <p:pic>
        <p:nvPicPr>
          <p:cNvPr id="20" name="Image 2" descr="imc-pap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7463" y="4804749"/>
            <a:ext cx="1239004" cy="229445"/>
          </a:xfrm>
          <a:prstGeom prst="rect">
            <a:avLst/>
          </a:prstGeom>
        </p:spPr>
      </p:pic>
      <p:pic>
        <p:nvPicPr>
          <p:cNvPr id="21" name="Image 3" descr="citadel-securities-pap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176" y="4732773"/>
            <a:ext cx="761343" cy="373397"/>
          </a:xfrm>
          <a:prstGeom prst="rect">
            <a:avLst/>
          </a:prstGeom>
        </p:spPr>
      </p:pic>
      <p:pic>
        <p:nvPicPr>
          <p:cNvPr id="22" name="Image 4" descr="optiver-pap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49003" y="4793845"/>
            <a:ext cx="1131456" cy="25125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424172" y="4736592"/>
            <a:ext cx="22188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dirty="0">
                <a:solidFill>
                  <a:srgbClr val="FAF9F6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Polymarket</a:t>
            </a:r>
            <a:endParaRPr lang="zh-CN" sz="1700" dirty="0"/>
          </a:p>
        </p:txBody>
      </p:sp>
      <p:sp>
        <p:nvSpPr>
          <p:cNvPr id="24" name="Text 17"/>
          <p:cNvSpPr txBox="1"/>
          <p:nvPr/>
        </p:nvSpPr>
        <p:spPr>
          <a:xfrm>
            <a:off x="548640" y="5852160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900" dirty="0">
                <a:solidFill>
                  <a:srgbClr val="C4C0B7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标识代表支持者任职的机构，不代表这些机构的背书。</a:t>
            </a:r>
            <a:endParaRPr lang="zh-CN" sz="900" dirty="0"/>
          </a:p>
        </p:txBody>
      </p:sp>
      <p:pic>
        <p:nvPicPr>
          <p:cNvPr id="25" name="Image 5" descr="SimRea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C4C0B7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  <p:sp>
        <p:nvSpPr>
          <p:cNvPr id="27" name="Text 19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900" dirty="0">
                <a:solidFill>
                  <a:srgbClr val="C4C0B7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12</a:t>
            </a:r>
            <a:endParaRPr lang="zh-CN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r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0"/>
            <a:ext cx="3136392" cy="24688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13</a:t>
            </a: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专家网络</a:t>
            </a:r>
            <a:endParaRPr lang="zh-CN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20万</a:t>
            </a:r>
            <a:r>
              <a:rPr lang="zh-CN" altLang="en-US" sz="28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可触达、可验证的专家，覆盖21所顶尖大学</a:t>
            </a:r>
            <a:endParaRPr lang="zh-CN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每个训练世界的评分标准，都由真正懂行的人把关。</a:t>
            </a:r>
            <a:endParaRPr lang="zh-CN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92024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6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200,000</a:t>
            </a:r>
            <a:r>
              <a:rPr lang="zh-CN" altLang="en-US" sz="6000" dirty="0">
                <a:solidFill>
                  <a:srgbClr val="C2410C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endParaRPr lang="zh-CN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8346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可触达、可验证的专家</a:t>
            </a:r>
            <a:endParaRPr lang="zh-CN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3401568"/>
            <a:ext cx="356616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529584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44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21</a:t>
            </a:r>
            <a:endParaRPr lang="zh-CN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2793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所顶尖大学</a:t>
            </a:r>
            <a:endParaRPr lang="zh-CN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663440" y="192024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网络覆盖的部分高校</a:t>
            </a:r>
            <a:endParaRPr lang="zh-CN" sz="1000" dirty="0"/>
          </a:p>
        </p:txBody>
      </p:sp>
      <p:sp>
        <p:nvSpPr>
          <p:cNvPr id="12" name="Shape 9"/>
          <p:cNvSpPr/>
          <p:nvPr/>
        </p:nvSpPr>
        <p:spPr>
          <a:xfrm>
            <a:off x="4663440" y="2212848"/>
            <a:ext cx="697961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663440" y="3291840"/>
            <a:ext cx="697961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663440" y="4370832"/>
            <a:ext cx="697961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663440" y="5449824"/>
            <a:ext cx="697961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pic>
        <p:nvPicPr>
          <p:cNvPr id="16" name="Image 1" descr="harvard-i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8059" y="2529597"/>
            <a:ext cx="675667" cy="445495"/>
          </a:xfrm>
          <a:prstGeom prst="rect">
            <a:avLst/>
          </a:prstGeom>
        </p:spPr>
      </p:pic>
      <p:pic>
        <p:nvPicPr>
          <p:cNvPr id="17" name="Image 2" descr="stanford-in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476" y="2478024"/>
            <a:ext cx="548640" cy="548640"/>
          </a:xfrm>
          <a:prstGeom prst="rect">
            <a:avLst/>
          </a:prstGeom>
        </p:spPr>
      </p:pic>
      <p:pic>
        <p:nvPicPr>
          <p:cNvPr id="18" name="Image 3" descr="mit-in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3425" y="2550204"/>
            <a:ext cx="744548" cy="404280"/>
          </a:xfrm>
          <a:prstGeom prst="rect">
            <a:avLst/>
          </a:prstGeom>
        </p:spPr>
      </p:pic>
      <p:pic>
        <p:nvPicPr>
          <p:cNvPr id="19" name="Image 4" descr="oxford-in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66406" y="2603094"/>
            <a:ext cx="1008395" cy="298500"/>
          </a:xfrm>
          <a:prstGeom prst="rect">
            <a:avLst/>
          </a:prstGeom>
        </p:spPr>
      </p:pic>
      <p:pic>
        <p:nvPicPr>
          <p:cNvPr id="20" name="Image 5" descr="cambridge-in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44932" y="3572705"/>
            <a:ext cx="581921" cy="517263"/>
          </a:xfrm>
          <a:prstGeom prst="rect">
            <a:avLst/>
          </a:prstGeom>
        </p:spPr>
      </p:pic>
      <p:pic>
        <p:nvPicPr>
          <p:cNvPr id="21" name="Image 6" descr="princeton-in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55513" y="3688077"/>
            <a:ext cx="1050566" cy="286518"/>
          </a:xfrm>
          <a:prstGeom prst="rect">
            <a:avLst/>
          </a:prstGeom>
        </p:spPr>
      </p:pic>
      <p:pic>
        <p:nvPicPr>
          <p:cNvPr id="22" name="Image 7" descr="yale-in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11926" y="3591509"/>
            <a:ext cx="627548" cy="479654"/>
          </a:xfrm>
          <a:prstGeom prst="rect">
            <a:avLst/>
          </a:prstGeom>
        </p:spPr>
      </p:pic>
      <p:pic>
        <p:nvPicPr>
          <p:cNvPr id="23" name="Image 8" descr="berkeley-ink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77336" y="3678779"/>
            <a:ext cx="986535" cy="305114"/>
          </a:xfrm>
          <a:prstGeom prst="rect">
            <a:avLst/>
          </a:prstGeom>
        </p:spPr>
      </p:pic>
      <p:pic>
        <p:nvPicPr>
          <p:cNvPr id="24" name="Image 9" descr="tsinghua-ink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54853" y="4753893"/>
            <a:ext cx="962077" cy="312871"/>
          </a:xfrm>
          <a:prstGeom prst="rect">
            <a:avLst/>
          </a:prstGeom>
        </p:spPr>
      </p:pic>
      <p:pic>
        <p:nvPicPr>
          <p:cNvPr id="25" name="Image 10" descr="columbia-ink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49523" y="4683169"/>
            <a:ext cx="662546" cy="454317"/>
          </a:xfrm>
          <a:prstGeom prst="rect">
            <a:avLst/>
          </a:prstGeom>
        </p:spPr>
      </p:pic>
      <p:pic>
        <p:nvPicPr>
          <p:cNvPr id="26" name="Image 11" descr="uchicago-ink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471940" y="4774436"/>
            <a:ext cx="1107519" cy="271784"/>
          </a:xfrm>
          <a:prstGeom prst="rect">
            <a:avLst/>
          </a:prstGeom>
        </p:spPr>
      </p:pic>
      <p:pic>
        <p:nvPicPr>
          <p:cNvPr id="27" name="Image 12" descr="duke-ink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353823" y="4729774"/>
            <a:ext cx="833560" cy="361109"/>
          </a:xfrm>
          <a:prstGeom prst="rect">
            <a:avLst/>
          </a:prstGeom>
        </p:spPr>
      </p:pic>
      <p:sp>
        <p:nvSpPr>
          <p:cNvPr id="28" name="Text 13"/>
          <p:cNvSpPr txBox="1"/>
          <p:nvPr/>
        </p:nvSpPr>
        <p:spPr>
          <a:xfrm>
            <a:off x="548640" y="5852160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标识代表网络成员就读或任职的机构，不代表背书。</a:t>
            </a:r>
            <a:endParaRPr lang="zh-CN" sz="900" dirty="0"/>
          </a:p>
        </p:txBody>
      </p:sp>
      <p:pic>
        <p:nvPicPr>
          <p:cNvPr id="29" name="Image 13" descr="SimReal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30" name="Text 14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  <p:sp>
        <p:nvSpPr>
          <p:cNvPr id="31" name="Text 15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13</a:t>
            </a:r>
            <a:endParaRPr lang="zh-CN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14</a:t>
            </a: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市场</a:t>
            </a:r>
            <a:endParaRPr lang="zh-CN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今天是AI实验室，明天是每一家部署AI的公司</a:t>
            </a:r>
            <a:endParaRPr lang="zh-CN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头部AI训练数据公司收入</a:t>
            </a:r>
            <a:r>
              <a:rPr lang="zh-CN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十亿美元，最新报道</a:t>
            </a:r>
            <a:endParaRPr lang="zh-CN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901952"/>
          <a:ext cx="576072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1940814"/>
            <a:ext cx="1645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5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Mercor</a:t>
            </a:r>
            <a:endParaRPr lang="zh-CN" sz="1300" dirty="0"/>
          </a:p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年化毛营收，2026年7月</a:t>
            </a:r>
            <a:endParaRPr lang="zh-CN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512314"/>
            <a:ext cx="1645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5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Surge AI</a:t>
            </a:r>
            <a:endParaRPr lang="zh-CN" sz="1300" dirty="0"/>
          </a:p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2024年收入</a:t>
            </a:r>
            <a:endParaRPr lang="zh-CN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083814"/>
            <a:ext cx="1645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5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Snorkel AI</a:t>
            </a:r>
            <a:endParaRPr lang="zh-CN" sz="1300" dirty="0"/>
          </a:p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年化收入，2026年9月</a:t>
            </a:r>
            <a:endParaRPr lang="zh-CN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655314"/>
            <a:ext cx="1645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5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AfterQuery</a:t>
            </a:r>
            <a:endParaRPr lang="zh-CN" sz="1300" dirty="0"/>
          </a:p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年化收入，2026年4月</a:t>
            </a:r>
            <a:endParaRPr lang="zh-CN" sz="1300" dirty="0"/>
          </a:p>
        </p:txBody>
      </p:sp>
      <p:sp>
        <p:nvSpPr>
          <p:cNvPr id="10" name="Shape 7"/>
          <p:cNvSpPr/>
          <p:nvPr/>
        </p:nvSpPr>
        <p:spPr>
          <a:xfrm>
            <a:off x="6720840" y="1554480"/>
            <a:ext cx="4922215" cy="2697480"/>
          </a:xfrm>
          <a:prstGeom prst="rect">
            <a:avLst/>
          </a:prstGeom>
          <a:solidFill>
            <a:srgbClr val="F2F1EC"/>
          </a:solidFill>
          <a:ln w="12700">
            <a:solidFill>
              <a:srgbClr val="F2F1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995160" y="170078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AI智能体市场</a:t>
            </a:r>
            <a:endParaRPr lang="zh-CN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6995160" y="1920240"/>
            <a:ext cx="43735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2025年79亿美元  </a:t>
            </a:r>
            <a:r>
              <a:rPr lang="zh-CN" altLang="en-US" sz="15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→</a:t>
            </a:r>
            <a:r>
              <a:rPr lang="zh-CN" altLang="en-US" sz="15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  2032年约1,110亿美元</a:t>
            </a:r>
            <a:endParaRPr lang="zh-CN" sz="1500" dirty="0"/>
          </a:p>
        </p:txBody>
      </p:sp>
      <p:graphicFrame>
        <p:nvGraphicFramePr>
          <p:cNvPr id="13" name="Chart 1" descr=""/>
          <p:cNvGraphicFramePr/>
          <p:nvPr/>
        </p:nvGraphicFramePr>
        <p:xfrm>
          <a:off x="6995160" y="2304288"/>
          <a:ext cx="4373575" cy="162763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 10"/>
          <p:cNvSpPr txBox="1"/>
          <p:nvPr/>
        </p:nvSpPr>
        <p:spPr>
          <a:xfrm>
            <a:off x="6995160" y="3950208"/>
            <a:ext cx="43735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Precedence Research；2028、2032年按其45.8%年复合增长推算</a:t>
            </a:r>
            <a:endParaRPr lang="zh-CN" sz="900" dirty="0"/>
          </a:p>
        </p:txBody>
      </p:sp>
      <p:sp>
        <p:nvSpPr>
          <p:cNvPr id="15" name="Shape 11"/>
          <p:cNvSpPr/>
          <p:nvPr/>
        </p:nvSpPr>
        <p:spPr>
          <a:xfrm>
            <a:off x="548640" y="4480560"/>
            <a:ext cx="576072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460857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潜在经济价值</a:t>
            </a:r>
            <a:endParaRPr lang="zh-CN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4846320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生成式AI每年可创造2.6–4.4万亿美元价值（经济价值，非支出）</a:t>
            </a:r>
            <a:endParaRPr lang="zh-CN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526694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900" spc="50" kern="0" dirty="0">
                <a:solidFill>
                  <a:srgbClr val="9A978F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麦肯锡</a:t>
            </a:r>
            <a:endParaRPr lang="zh-CN" sz="900" dirty="0"/>
          </a:p>
        </p:txBody>
      </p:sp>
      <p:sp>
        <p:nvSpPr>
          <p:cNvPr id="19" name="Shape 15"/>
          <p:cNvSpPr/>
          <p:nvPr/>
        </p:nvSpPr>
        <p:spPr>
          <a:xfrm>
            <a:off x="6720840" y="4480560"/>
            <a:ext cx="492221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720840" y="460857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赛道趋势</a:t>
            </a:r>
            <a:endParaRPr lang="zh-CN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6720840" y="4846320"/>
            <a:ext cx="4922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zh-CN" altLang="en-US" sz="12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Mercor、AfterQuery、Snorkel、UniPat各做闭环中的一环，估值都已达数十亿美元。</a:t>
            </a:r>
            <a:endParaRPr lang="zh-CN" sz="1200" dirty="0"/>
          </a:p>
          <a:p>
            <a:pPr indent="0" marL="0">
              <a:spcAft>
                <a:spcPts val="300"/>
              </a:spcAft>
              <a:buNone/>
            </a:pPr>
            <a:r>
              <a:rPr lang="zh-CN" altLang="en-US" sz="12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SimReal把这些环节，合成一个会自我进化的闭环。</a:t>
            </a:r>
            <a:endParaRPr lang="zh-CN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548640" y="5705856"/>
            <a:ext cx="110944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实验室训练是切入点，</a:t>
            </a:r>
            <a:r>
              <a:rPr lang="zh-CN" altLang="en-US" sz="20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自主经济</a:t>
            </a: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是我们的目标市场。</a:t>
            </a:r>
            <a:endParaRPr lang="zh-CN" sz="2000" dirty="0"/>
          </a:p>
        </p:txBody>
      </p:sp>
      <p:pic>
        <p:nvPicPr>
          <p:cNvPr id="23" name="Image 0" descr="SimRe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  <p:sp>
        <p:nvSpPr>
          <p:cNvPr id="25" name="Text 20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14</a:t>
            </a:r>
            <a:endParaRPr lang="zh-CN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15</a:t>
            </a: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竞争格局</a:t>
            </a:r>
            <a:endParaRPr lang="zh-CN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别人各做闭环中的一环，我们提供让AI持续进步的</a:t>
            </a:r>
            <a:r>
              <a:rPr lang="zh-CN" altLang="en-US" sz="28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完整闭环</a:t>
            </a:r>
            <a:endParaRPr lang="zh-CN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400800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746504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专家数据平台</a:t>
            </a:r>
            <a:endParaRPr lang="zh-CN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86384" y="213055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Mercor、Surge、AfterQuery</a:t>
            </a:r>
            <a:endParaRPr lang="zh-CN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200400" y="1600200"/>
            <a:ext cx="3520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提供专家示范与判断，按人工意见打分。</a:t>
            </a:r>
            <a:endParaRPr lang="zh-CN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642616"/>
            <a:ext cx="6400800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7889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AI评测公司</a:t>
            </a:r>
            <a:endParaRPr lang="zh-CN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86384" y="317296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UniPat等</a:t>
            </a:r>
            <a:endParaRPr lang="zh-CN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200400" y="2642616"/>
            <a:ext cx="3520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测出模型今天的水平，分数就是产品。</a:t>
            </a:r>
            <a:endParaRPr lang="zh-CN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685032"/>
            <a:ext cx="6400800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" y="383133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实验室自建</a:t>
            </a:r>
            <a:endParaRPr lang="zh-CN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86384" y="4215384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各前沿实验室</a:t>
            </a:r>
            <a:endParaRPr lang="zh-CN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200400" y="3685032"/>
            <a:ext cx="3520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只做自己熟悉的领域。</a:t>
            </a:r>
            <a:endParaRPr lang="zh-CN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727448"/>
            <a:ext cx="6400800" cy="932688"/>
          </a:xfrm>
          <a:prstGeom prst="rect">
            <a:avLst/>
          </a:prstGeom>
          <a:solidFill>
            <a:srgbClr val="111110"/>
          </a:solidFill>
          <a:ln w="12700">
            <a:solidFill>
              <a:srgbClr val="11111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48737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SimReal</a:t>
            </a:r>
            <a:endParaRPr lang="zh-CN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86384" y="525780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E27A3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数据、训练环境、结果评分、自我进化</a:t>
            </a:r>
            <a:endParaRPr lang="zh-CN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200400" y="4727448"/>
            <a:ext cx="3520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FAF9F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不只测出AI几分，还让它越练越强：每一次打分，都变成下一轮训练。</a:t>
            </a:r>
            <a:endParaRPr lang="zh-CN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0" y="1600200"/>
            <a:ext cx="43278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为什么我们能赢</a:t>
            </a:r>
            <a:endParaRPr lang="zh-CN" sz="1000" dirty="0"/>
          </a:p>
        </p:txBody>
      </p:sp>
      <p:sp>
        <p:nvSpPr>
          <p:cNvPr id="21" name="Shape 19"/>
          <p:cNvSpPr/>
          <p:nvPr/>
        </p:nvSpPr>
        <p:spPr>
          <a:xfrm>
            <a:off x="7315200" y="1920240"/>
            <a:ext cx="432785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0" y="2011680"/>
            <a:ext cx="4327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自有资产</a:t>
            </a:r>
            <a:endParaRPr lang="zh-CN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0" y="2377440"/>
            <a:ext cx="43278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训练环境、评分体系和每次运行产生的结果数据，都是我们自己的。</a:t>
            </a:r>
            <a:endParaRPr lang="zh-CN" sz="1100" dirty="0"/>
          </a:p>
        </p:txBody>
      </p:sp>
      <p:sp>
        <p:nvSpPr>
          <p:cNvPr id="24" name="Shape 22"/>
          <p:cNvSpPr/>
          <p:nvPr/>
        </p:nvSpPr>
        <p:spPr>
          <a:xfrm>
            <a:off x="7315200" y="2852928"/>
            <a:ext cx="432785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0" y="2944368"/>
            <a:ext cx="4327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客户粘性</a:t>
            </a:r>
            <a:endParaRPr lang="zh-CN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7315200" y="3310128"/>
            <a:ext cx="43278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模型每次升级，都要在同一套环境里对比和再训练。</a:t>
            </a:r>
            <a:endParaRPr lang="zh-CN" sz="1100" dirty="0"/>
          </a:p>
        </p:txBody>
      </p:sp>
      <p:sp>
        <p:nvSpPr>
          <p:cNvPr id="27" name="Shape 25"/>
          <p:cNvSpPr/>
          <p:nvPr/>
        </p:nvSpPr>
        <p:spPr>
          <a:xfrm>
            <a:off x="7315200" y="3785616"/>
            <a:ext cx="432785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315200" y="3877056"/>
            <a:ext cx="4327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交付速度</a:t>
            </a:r>
            <a:endParaRPr lang="zh-CN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7315200" y="4242816"/>
            <a:ext cx="43278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14天做出7款产品。AI变化越快，我们越有利。</a:t>
            </a:r>
            <a:endParaRPr lang="zh-CN" sz="1100" dirty="0"/>
          </a:p>
        </p:txBody>
      </p:sp>
      <p:sp>
        <p:nvSpPr>
          <p:cNvPr id="30" name="Shape 28"/>
          <p:cNvSpPr/>
          <p:nvPr/>
        </p:nvSpPr>
        <p:spPr>
          <a:xfrm>
            <a:off x="7315200" y="4718304"/>
            <a:ext cx="432785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315200" y="4809744"/>
            <a:ext cx="4327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独立中立</a:t>
            </a:r>
            <a:endParaRPr lang="zh-CN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7315200" y="5175504"/>
            <a:ext cx="43278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不接受模型公司入股，每家实验室都能放心采购。</a:t>
            </a:r>
            <a:endParaRPr lang="zh-CN" sz="1100" dirty="0"/>
          </a:p>
        </p:txBody>
      </p:sp>
      <p:sp>
        <p:nvSpPr>
          <p:cNvPr id="33" name="Shape 31"/>
          <p:cNvSpPr/>
          <p:nvPr/>
        </p:nvSpPr>
        <p:spPr>
          <a:xfrm>
            <a:off x="7315200" y="5650992"/>
            <a:ext cx="432785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pic>
        <p:nvPicPr>
          <p:cNvPr id="34" name="Image 0" descr="Sim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35" name="Text 32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  <p:sp>
        <p:nvSpPr>
          <p:cNvPr id="36" name="Text 33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15</a:t>
            </a:r>
            <a:endParaRPr lang="zh-CN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16</a:t>
            </a: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标杆</a:t>
            </a:r>
            <a:endParaRPr lang="zh-CN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这个赛道的突围者，都起步年轻、跑得很快。</a:t>
            </a:r>
            <a:r>
              <a:rPr lang="zh-CN" altLang="en-US" sz="28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我们也是</a:t>
            </a:r>
            <a:endParaRPr lang="zh-CN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636444" cy="36118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783080"/>
            <a:ext cx="21609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Scale AI</a:t>
            </a:r>
            <a:endParaRPr lang="zh-CN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86384" y="2130552"/>
            <a:ext cx="21609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4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$29B</a:t>
            </a:r>
            <a:endParaRPr lang="zh-CN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788920"/>
            <a:ext cx="21609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估值，2025年</a:t>
            </a:r>
            <a:endParaRPr lang="zh-CN" sz="1100" dirty="0"/>
          </a:p>
        </p:txBody>
      </p:sp>
      <p:sp>
        <p:nvSpPr>
          <p:cNvPr id="8" name="Shape 6"/>
          <p:cNvSpPr/>
          <p:nvPr/>
        </p:nvSpPr>
        <p:spPr>
          <a:xfrm>
            <a:off x="786384" y="3172968"/>
            <a:ext cx="2160956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3246120"/>
            <a:ext cx="21609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2016年由19岁的Alexandr Wang创立</a:t>
            </a:r>
            <a:endParaRPr lang="zh-CN" sz="1100" dirty="0"/>
          </a:p>
        </p:txBody>
      </p:sp>
      <p:sp>
        <p:nvSpPr>
          <p:cNvPr id="10" name="Shape 8"/>
          <p:cNvSpPr/>
          <p:nvPr/>
        </p:nvSpPr>
        <p:spPr>
          <a:xfrm>
            <a:off x="786384" y="3813048"/>
            <a:ext cx="2160956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3886200"/>
            <a:ext cx="21609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MIT辍学，出自Y Combinator</a:t>
            </a:r>
            <a:endParaRPr lang="zh-CN" sz="1100" dirty="0"/>
          </a:p>
        </p:txBody>
      </p:sp>
      <p:sp>
        <p:nvSpPr>
          <p:cNvPr id="12" name="Shape 10"/>
          <p:cNvSpPr/>
          <p:nvPr/>
        </p:nvSpPr>
        <p:spPr>
          <a:xfrm>
            <a:off x="786384" y="4453128"/>
            <a:ext cx="2160956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" y="4526280"/>
            <a:ext cx="21609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曾是最年轻的白手起家亿万富翁</a:t>
            </a:r>
            <a:endParaRPr lang="zh-CN" sz="1100" dirty="0"/>
          </a:p>
        </p:txBody>
      </p:sp>
      <p:sp>
        <p:nvSpPr>
          <p:cNvPr id="14" name="Shape 12"/>
          <p:cNvSpPr/>
          <p:nvPr/>
        </p:nvSpPr>
        <p:spPr>
          <a:xfrm>
            <a:off x="3367964" y="1600200"/>
            <a:ext cx="2636444" cy="36118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605708" y="1783080"/>
            <a:ext cx="21609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Mercor</a:t>
            </a:r>
            <a:endParaRPr lang="zh-CN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3605708" y="2130552"/>
            <a:ext cx="21609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4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$10B</a:t>
            </a:r>
            <a:endParaRPr lang="zh-CN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3605708" y="2788920"/>
            <a:ext cx="21609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估值，2025年</a:t>
            </a:r>
            <a:endParaRPr lang="zh-CN" sz="1100" dirty="0"/>
          </a:p>
        </p:txBody>
      </p:sp>
      <p:sp>
        <p:nvSpPr>
          <p:cNvPr id="18" name="Shape 16"/>
          <p:cNvSpPr/>
          <p:nvPr/>
        </p:nvSpPr>
        <p:spPr>
          <a:xfrm>
            <a:off x="3605708" y="3172968"/>
            <a:ext cx="2160956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605708" y="3246120"/>
            <a:ext cx="21609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三位高中同学创立</a:t>
            </a:r>
            <a:endParaRPr lang="zh-CN" sz="1100" dirty="0"/>
          </a:p>
        </p:txBody>
      </p:sp>
      <p:sp>
        <p:nvSpPr>
          <p:cNvPr id="20" name="Shape 18"/>
          <p:cNvSpPr/>
          <p:nvPr/>
        </p:nvSpPr>
        <p:spPr>
          <a:xfrm>
            <a:off x="3605708" y="3813048"/>
            <a:ext cx="2160956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605708" y="3886200"/>
            <a:ext cx="21609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22岁成为最年轻的白手起家亿万富翁</a:t>
            </a:r>
            <a:endParaRPr lang="zh-CN" sz="1100" dirty="0"/>
          </a:p>
        </p:txBody>
      </p:sp>
      <p:sp>
        <p:nvSpPr>
          <p:cNvPr id="22" name="Shape 20"/>
          <p:cNvSpPr/>
          <p:nvPr/>
        </p:nvSpPr>
        <p:spPr>
          <a:xfrm>
            <a:off x="3605708" y="4453128"/>
            <a:ext cx="2160956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605708" y="4526280"/>
            <a:ext cx="21609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13个月估值上涨约40倍</a:t>
            </a:r>
            <a:endParaRPr lang="zh-CN" sz="1100" dirty="0"/>
          </a:p>
        </p:txBody>
      </p:sp>
      <p:sp>
        <p:nvSpPr>
          <p:cNvPr id="24" name="Shape 22"/>
          <p:cNvSpPr/>
          <p:nvPr/>
        </p:nvSpPr>
        <p:spPr>
          <a:xfrm>
            <a:off x="6187288" y="1600200"/>
            <a:ext cx="2636444" cy="36118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25032" y="1783080"/>
            <a:ext cx="21609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AfterQuery</a:t>
            </a:r>
            <a:endParaRPr lang="zh-CN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425032" y="2130552"/>
            <a:ext cx="21609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4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$3.2B</a:t>
            </a:r>
            <a:endParaRPr lang="zh-CN" sz="4000" dirty="0"/>
          </a:p>
        </p:txBody>
      </p:sp>
      <p:sp>
        <p:nvSpPr>
          <p:cNvPr id="27" name="Text 25"/>
          <p:cNvSpPr txBox="1"/>
          <p:nvPr/>
        </p:nvSpPr>
        <p:spPr>
          <a:xfrm>
            <a:off x="6425032" y="2788920"/>
            <a:ext cx="21609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据报道，加入YC 18个月</a:t>
            </a:r>
            <a:endParaRPr lang="zh-CN" sz="1100" dirty="0"/>
          </a:p>
        </p:txBody>
      </p:sp>
      <p:sp>
        <p:nvSpPr>
          <p:cNvPr id="28" name="Shape 26"/>
          <p:cNvSpPr/>
          <p:nvPr/>
        </p:nvSpPr>
        <p:spPr>
          <a:xfrm>
            <a:off x="6425032" y="3172968"/>
            <a:ext cx="2160956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25032" y="3246120"/>
            <a:ext cx="21609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两位高中好友约21岁创立，当时仍在读大学</a:t>
            </a:r>
            <a:endParaRPr lang="zh-CN" sz="1100" dirty="0"/>
          </a:p>
        </p:txBody>
      </p:sp>
      <p:sp>
        <p:nvSpPr>
          <p:cNvPr id="30" name="Shape 28"/>
          <p:cNvSpPr/>
          <p:nvPr/>
        </p:nvSpPr>
        <p:spPr>
          <a:xfrm>
            <a:off x="6425032" y="3813048"/>
            <a:ext cx="2160956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25032" y="3886200"/>
            <a:ext cx="21609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联合创始人曾在Citadel Securities实习</a:t>
            </a:r>
            <a:endParaRPr lang="zh-CN" sz="1100" dirty="0"/>
          </a:p>
        </p:txBody>
      </p:sp>
      <p:sp>
        <p:nvSpPr>
          <p:cNvPr id="32" name="Shape 30"/>
          <p:cNvSpPr/>
          <p:nvPr/>
        </p:nvSpPr>
        <p:spPr>
          <a:xfrm>
            <a:off x="6425032" y="4453128"/>
            <a:ext cx="2160956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25032" y="4526280"/>
            <a:ext cx="21609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YC史上最快的独角兽</a:t>
            </a:r>
            <a:endParaRPr lang="zh-CN" sz="1100" dirty="0"/>
          </a:p>
        </p:txBody>
      </p:sp>
      <p:sp>
        <p:nvSpPr>
          <p:cNvPr id="34" name="Shape 32"/>
          <p:cNvSpPr/>
          <p:nvPr/>
        </p:nvSpPr>
        <p:spPr>
          <a:xfrm>
            <a:off x="9006611" y="1600200"/>
            <a:ext cx="2636444" cy="3611880"/>
          </a:xfrm>
          <a:prstGeom prst="rect">
            <a:avLst/>
          </a:prstGeom>
          <a:solidFill>
            <a:srgbClr val="111110"/>
          </a:solidFill>
          <a:ln w="12700">
            <a:solidFill>
              <a:srgbClr val="11111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244355" y="1783080"/>
            <a:ext cx="21609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SimReal</a:t>
            </a:r>
            <a:endParaRPr lang="zh-CN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9244355" y="2130552"/>
            <a:ext cx="21609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4000" dirty="0">
                <a:solidFill>
                  <a:srgbClr val="E27A3F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14天</a:t>
            </a:r>
            <a:endParaRPr lang="zh-CN" sz="4000" dirty="0"/>
          </a:p>
        </p:txBody>
      </p:sp>
      <p:sp>
        <p:nvSpPr>
          <p:cNvPr id="37" name="Text 35"/>
          <p:cNvSpPr txBox="1"/>
          <p:nvPr/>
        </p:nvSpPr>
        <p:spPr>
          <a:xfrm>
            <a:off x="9244355" y="2788920"/>
            <a:ext cx="21609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C4C0B7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做出7款产品</a:t>
            </a:r>
            <a:endParaRPr lang="zh-CN" sz="1100" dirty="0"/>
          </a:p>
        </p:txBody>
      </p:sp>
      <p:sp>
        <p:nvSpPr>
          <p:cNvPr id="38" name="Shape 36"/>
          <p:cNvSpPr/>
          <p:nvPr/>
        </p:nvSpPr>
        <p:spPr>
          <a:xfrm>
            <a:off x="9244355" y="3172968"/>
            <a:ext cx="2160956" cy="0"/>
          </a:xfrm>
          <a:prstGeom prst="line">
            <a:avLst/>
          </a:prstGeom>
          <a:noFill/>
          <a:ln w="9525">
            <a:solidFill>
              <a:srgbClr val="3A3935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244355" y="3246120"/>
            <a:ext cx="21609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FAF9F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四位量化人，平均21岁</a:t>
            </a:r>
            <a:endParaRPr lang="zh-CN" sz="1100" dirty="0"/>
          </a:p>
        </p:txBody>
      </p:sp>
      <p:sp>
        <p:nvSpPr>
          <p:cNvPr id="40" name="Shape 38"/>
          <p:cNvSpPr/>
          <p:nvPr/>
        </p:nvSpPr>
        <p:spPr>
          <a:xfrm>
            <a:off x="9244355" y="3813048"/>
            <a:ext cx="2160956" cy="0"/>
          </a:xfrm>
          <a:prstGeom prst="line">
            <a:avLst/>
          </a:prstGeom>
          <a:noFill/>
          <a:ln w="9525">
            <a:solidFill>
              <a:srgbClr val="3A3935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244355" y="3886200"/>
            <a:ext cx="21609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FAF9F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剑桥、LSE、杜克大四在读</a:t>
            </a:r>
            <a:endParaRPr lang="zh-CN" sz="1100" dirty="0"/>
          </a:p>
        </p:txBody>
      </p:sp>
      <p:sp>
        <p:nvSpPr>
          <p:cNvPr id="42" name="Shape 40"/>
          <p:cNvSpPr/>
          <p:nvPr/>
        </p:nvSpPr>
        <p:spPr>
          <a:xfrm>
            <a:off x="9244355" y="4453128"/>
            <a:ext cx="2160956" cy="0"/>
          </a:xfrm>
          <a:prstGeom prst="line">
            <a:avLst/>
          </a:prstGeom>
          <a:noFill/>
          <a:ln w="9525">
            <a:solidFill>
              <a:srgbClr val="3A3935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244355" y="4526280"/>
            <a:ext cx="21609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FAF9F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量化经历：Jane Street、Citadel、D. E. Shaw、Optiver</a:t>
            </a:r>
            <a:endParaRPr lang="zh-CN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5468112"/>
            <a:ext cx="110944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同样的起点，同一个赛道。</a:t>
            </a:r>
            <a:r>
              <a:rPr lang="zh-CN" altLang="en-US" sz="20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我们从第一天就在这里</a:t>
            </a: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。</a:t>
            </a:r>
            <a:endParaRPr lang="zh-CN" sz="2000" dirty="0"/>
          </a:p>
        </p:txBody>
      </p:sp>
      <p:pic>
        <p:nvPicPr>
          <p:cNvPr id="45" name="Image 0" descr="Sim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46" name="Text 43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  <p:sp>
        <p:nvSpPr>
          <p:cNvPr id="47" name="Text 44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16</a:t>
            </a:r>
            <a:endParaRPr lang="zh-CN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17</a:t>
            </a: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里程碑</a:t>
            </a:r>
            <a:endParaRPr lang="zh-CN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24个月：从7款产品，到覆盖30</a:t>
            </a:r>
            <a:r>
              <a:rPr lang="zh-CN" altLang="en-US" sz="28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行业的</a:t>
            </a:r>
            <a:r>
              <a:rPr lang="zh-CN" altLang="en-US" sz="28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200</a:t>
            </a:r>
            <a:r>
              <a:rPr lang="zh-CN" altLang="en-US" sz="2800" dirty="0">
                <a:solidFill>
                  <a:srgbClr val="C2410C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r>
              <a:rPr lang="zh-CN" altLang="en-US" sz="28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个训练环境</a:t>
            </a:r>
            <a:endParaRPr lang="zh-CN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3619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上线的产品 / 训练环境数量</a:t>
            </a:r>
            <a:endParaRPr lang="zh-CN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83080"/>
          <a:ext cx="11094415" cy="213055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3913632"/>
            <a:ext cx="11094415" cy="0"/>
          </a:xfrm>
          <a:prstGeom prst="line">
            <a:avLst/>
          </a:prstGeom>
          <a:noFill/>
          <a:ln w="15875">
            <a:solidFill>
              <a:srgbClr val="11111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935442" y="3913632"/>
            <a:ext cx="0" cy="146304"/>
          </a:xfrm>
          <a:prstGeom prst="line">
            <a:avLst/>
          </a:prstGeom>
          <a:noFill/>
          <a:ln w="15875">
            <a:solidFill>
              <a:srgbClr val="11111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187952"/>
            <a:ext cx="27736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1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今天</a:t>
            </a:r>
            <a:endParaRPr lang="zh-CN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4480560"/>
            <a:ext cx="25907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7款产品上线</a:t>
            </a:r>
            <a:endParaRPr lang="zh-CN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5175504"/>
            <a:ext cx="24992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2家前沿实验室洽谈中</a:t>
            </a:r>
            <a:endParaRPr lang="zh-CN" sz="1200" dirty="0"/>
          </a:p>
        </p:txBody>
      </p:sp>
      <p:sp>
        <p:nvSpPr>
          <p:cNvPr id="11" name="Shape 8"/>
          <p:cNvSpPr/>
          <p:nvPr/>
        </p:nvSpPr>
        <p:spPr>
          <a:xfrm>
            <a:off x="4709046" y="3913632"/>
            <a:ext cx="0" cy="146304"/>
          </a:xfrm>
          <a:prstGeom prst="line">
            <a:avLst/>
          </a:prstGeom>
          <a:noFill/>
          <a:ln w="15875">
            <a:solidFill>
              <a:srgbClr val="11111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322244" y="4187952"/>
            <a:ext cx="27736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1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3个月</a:t>
            </a:r>
            <a:endParaRPr lang="zh-CN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3413684" y="4480560"/>
            <a:ext cx="25907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首个付费前沿实验室客户</a:t>
            </a:r>
            <a:endParaRPr lang="zh-CN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3459404" y="5175504"/>
            <a:ext cx="24992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验证实验室付费意愿</a:t>
            </a:r>
            <a:endParaRPr lang="zh-CN" sz="1200" dirty="0"/>
          </a:p>
        </p:txBody>
      </p:sp>
      <p:sp>
        <p:nvSpPr>
          <p:cNvPr id="15" name="Shape 12"/>
          <p:cNvSpPr/>
          <p:nvPr/>
        </p:nvSpPr>
        <p:spPr>
          <a:xfrm>
            <a:off x="7482650" y="3913632"/>
            <a:ext cx="0" cy="146304"/>
          </a:xfrm>
          <a:prstGeom prst="line">
            <a:avLst/>
          </a:prstGeom>
          <a:noFill/>
          <a:ln w="15875">
            <a:solidFill>
              <a:srgbClr val="11111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095848" y="4187952"/>
            <a:ext cx="27736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1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12个月</a:t>
            </a:r>
            <a:endParaRPr lang="zh-CN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187288" y="4480560"/>
            <a:ext cx="25907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50</a:t>
            </a:r>
            <a:r>
              <a:rPr lang="zh-CN" altLang="en-US" sz="18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个训练环境</a:t>
            </a:r>
            <a:endParaRPr lang="zh-CN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233008" y="5175504"/>
            <a:ext cx="24992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形成可复制的交付能力</a:t>
            </a:r>
            <a:endParaRPr lang="zh-CN" sz="1200" dirty="0"/>
          </a:p>
        </p:txBody>
      </p:sp>
      <p:sp>
        <p:nvSpPr>
          <p:cNvPr id="19" name="Shape 16"/>
          <p:cNvSpPr/>
          <p:nvPr/>
        </p:nvSpPr>
        <p:spPr>
          <a:xfrm>
            <a:off x="10256253" y="3913632"/>
            <a:ext cx="0" cy="146304"/>
          </a:xfrm>
          <a:prstGeom prst="line">
            <a:avLst/>
          </a:prstGeom>
          <a:noFill/>
          <a:ln w="15875">
            <a:solidFill>
              <a:srgbClr val="C2410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869451" y="4187952"/>
            <a:ext cx="27736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10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24个月</a:t>
            </a:r>
            <a:endParaRPr lang="zh-CN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8960891" y="4480560"/>
            <a:ext cx="25907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200</a:t>
            </a:r>
            <a:r>
              <a:rPr lang="zh-CN" altLang="en-US" sz="18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个环境，覆盖30</a:t>
            </a:r>
            <a:r>
              <a:rPr lang="zh-CN" altLang="en-US" sz="18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行业</a:t>
            </a:r>
            <a:endParaRPr lang="zh-CN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9006611" y="5175504"/>
            <a:ext cx="24992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进入企业市场，支撑下一轮融资</a:t>
            </a:r>
            <a:endParaRPr lang="zh-CN" sz="1200" dirty="0"/>
          </a:p>
        </p:txBody>
      </p:sp>
      <p:pic>
        <p:nvPicPr>
          <p:cNvPr id="23" name="Image 0" descr="SimRe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  <p:sp>
        <p:nvSpPr>
          <p:cNvPr id="25" name="Text 21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17</a:t>
            </a:r>
            <a:endParaRPr lang="zh-CN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18</a:t>
            </a: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融资计划</a:t>
            </a:r>
            <a:endParaRPr lang="zh-CN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本轮融资2,000万美元（约1.5亿元人民币），支撑24个月发展</a:t>
            </a:r>
            <a:endParaRPr lang="zh-CN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66160" cy="2560320"/>
          </a:xfrm>
          <a:prstGeom prst="rect">
            <a:avLst/>
          </a:prstGeom>
          <a:solidFill>
            <a:srgbClr val="111110"/>
          </a:solidFill>
          <a:ln w="12700">
            <a:solidFill>
              <a:srgbClr val="11111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8105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E27A3F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种子轮</a:t>
            </a:r>
            <a:endParaRPr lang="zh-CN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084832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6400" dirty="0">
                <a:solidFill>
                  <a:srgbClr val="E27A3F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$20M</a:t>
            </a:r>
            <a:endParaRPr lang="zh-CN" sz="6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310128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FAF9F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约1.5亿元人民币  ·  24个月</a:t>
            </a:r>
            <a:endParaRPr lang="zh-CN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16002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资金用途</a:t>
            </a:r>
            <a:endParaRPr lang="zh-CN" sz="1000" dirty="0"/>
          </a:p>
        </p:txBody>
      </p:sp>
      <p:sp>
        <p:nvSpPr>
          <p:cNvPr id="9" name="Shape 7"/>
          <p:cNvSpPr/>
          <p:nvPr/>
        </p:nvSpPr>
        <p:spPr>
          <a:xfrm>
            <a:off x="4526280" y="1874520"/>
            <a:ext cx="711677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26280" y="187452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01</a:t>
            </a:r>
            <a:endParaRPr lang="zh-CN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0" y="187452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训练环境</a:t>
            </a:r>
            <a:endParaRPr lang="zh-CN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269480" y="1874520"/>
            <a:ext cx="4373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每进入一个行业，就多一条来自实验室的收入</a:t>
            </a:r>
            <a:endParaRPr lang="zh-CN" sz="1200" dirty="0"/>
          </a:p>
        </p:txBody>
      </p:sp>
      <p:sp>
        <p:nvSpPr>
          <p:cNvPr id="13" name="Shape 11"/>
          <p:cNvSpPr/>
          <p:nvPr/>
        </p:nvSpPr>
        <p:spPr>
          <a:xfrm>
            <a:off x="4526280" y="2441448"/>
            <a:ext cx="711677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26280" y="2441448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02</a:t>
            </a:r>
            <a:endParaRPr lang="zh-CN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0" y="2441448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专家与数据</a:t>
            </a:r>
            <a:endParaRPr lang="zh-CN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7269480" y="2441448"/>
            <a:ext cx="4373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来自7,000+人的候补名单，每个世界几周就能交付</a:t>
            </a:r>
            <a:endParaRPr lang="zh-CN" sz="1200" dirty="0"/>
          </a:p>
        </p:txBody>
      </p:sp>
      <p:sp>
        <p:nvSpPr>
          <p:cNvPr id="17" name="Shape 15"/>
          <p:cNvSpPr/>
          <p:nvPr/>
        </p:nvSpPr>
        <p:spPr>
          <a:xfrm>
            <a:off x="4526280" y="3008376"/>
            <a:ext cx="711677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26280" y="3008376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03</a:t>
            </a:r>
            <a:endParaRPr lang="zh-CN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0" y="300837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算力</a:t>
            </a:r>
            <a:endParaRPr lang="zh-CN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7269480" y="3008376"/>
            <a:ext cx="4373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训练实验与自我进化实验</a:t>
            </a:r>
            <a:endParaRPr lang="zh-CN" sz="1200" dirty="0"/>
          </a:p>
        </p:txBody>
      </p:sp>
      <p:sp>
        <p:nvSpPr>
          <p:cNvPr id="21" name="Shape 19"/>
          <p:cNvSpPr/>
          <p:nvPr/>
        </p:nvSpPr>
        <p:spPr>
          <a:xfrm>
            <a:off x="4526280" y="3575304"/>
            <a:ext cx="711677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26280" y="3575304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04</a:t>
            </a:r>
            <a:endParaRPr lang="zh-CN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0" y="3575304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防作弊与安全</a:t>
            </a:r>
            <a:endParaRPr lang="zh-CN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7269480" y="3575304"/>
            <a:ext cx="4373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每个测试先经受攻击，实验室才信得过每一个分数</a:t>
            </a:r>
            <a:endParaRPr lang="zh-CN" sz="1200" dirty="0"/>
          </a:p>
        </p:txBody>
      </p:sp>
      <p:sp>
        <p:nvSpPr>
          <p:cNvPr id="25" name="Shape 23"/>
          <p:cNvSpPr/>
          <p:nvPr/>
        </p:nvSpPr>
        <p:spPr>
          <a:xfrm>
            <a:off x="4526280" y="4142232"/>
            <a:ext cx="711677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8640" y="449884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资金对应的里程碑</a:t>
            </a:r>
            <a:endParaRPr lang="zh-CN" sz="1000" dirty="0"/>
          </a:p>
        </p:txBody>
      </p:sp>
      <p:sp>
        <p:nvSpPr>
          <p:cNvPr id="27" name="Shape 25"/>
          <p:cNvSpPr/>
          <p:nvPr/>
        </p:nvSpPr>
        <p:spPr>
          <a:xfrm>
            <a:off x="548640" y="4754880"/>
            <a:ext cx="3423818" cy="868680"/>
          </a:xfrm>
          <a:prstGeom prst="rect">
            <a:avLst/>
          </a:prstGeom>
          <a:solidFill>
            <a:srgbClr val="F2F1EC"/>
          </a:solidFill>
          <a:ln w="12700">
            <a:solidFill>
              <a:srgbClr val="F2F1E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86384" y="488289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3个月</a:t>
            </a:r>
            <a:endParaRPr lang="zh-CN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86384" y="5120640"/>
            <a:ext cx="30580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首个付费实验室</a:t>
            </a:r>
            <a:endParaRPr lang="zh-CN" sz="1800" dirty="0"/>
          </a:p>
        </p:txBody>
      </p:sp>
      <p:sp>
        <p:nvSpPr>
          <p:cNvPr id="30" name="Shape 28"/>
          <p:cNvSpPr/>
          <p:nvPr/>
        </p:nvSpPr>
        <p:spPr>
          <a:xfrm>
            <a:off x="4063898" y="5189220"/>
            <a:ext cx="228600" cy="0"/>
          </a:xfrm>
          <a:prstGeom prst="line">
            <a:avLst/>
          </a:prstGeom>
          <a:noFill/>
          <a:ln w="12700">
            <a:solidFill>
              <a:srgbClr val="6E6C66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4383938" y="4754880"/>
            <a:ext cx="3423818" cy="868680"/>
          </a:xfrm>
          <a:prstGeom prst="rect">
            <a:avLst/>
          </a:prstGeom>
          <a:solidFill>
            <a:srgbClr val="F2F1EC"/>
          </a:solidFill>
          <a:ln w="12700">
            <a:solidFill>
              <a:srgbClr val="F2F1E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621682" y="488289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12个月</a:t>
            </a:r>
            <a:endParaRPr lang="zh-CN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4621682" y="5120640"/>
            <a:ext cx="30580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50</a:t>
            </a:r>
            <a:r>
              <a:rPr lang="zh-CN" altLang="en-US" sz="18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个训练环境</a:t>
            </a:r>
            <a:endParaRPr lang="zh-CN" sz="1800" dirty="0"/>
          </a:p>
        </p:txBody>
      </p:sp>
      <p:sp>
        <p:nvSpPr>
          <p:cNvPr id="34" name="Shape 32"/>
          <p:cNvSpPr/>
          <p:nvPr/>
        </p:nvSpPr>
        <p:spPr>
          <a:xfrm>
            <a:off x="7899197" y="5189220"/>
            <a:ext cx="228600" cy="0"/>
          </a:xfrm>
          <a:prstGeom prst="line">
            <a:avLst/>
          </a:prstGeom>
          <a:noFill/>
          <a:ln w="12700">
            <a:solidFill>
              <a:srgbClr val="6E6C66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219237" y="4754880"/>
            <a:ext cx="3423818" cy="868680"/>
          </a:xfrm>
          <a:prstGeom prst="rect">
            <a:avLst/>
          </a:prstGeom>
          <a:solidFill>
            <a:srgbClr val="111110"/>
          </a:solidFill>
          <a:ln w="12700">
            <a:solidFill>
              <a:srgbClr val="11111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456981" y="488289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E27A3F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24个月</a:t>
            </a:r>
            <a:endParaRPr lang="zh-CN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8456981" y="5120640"/>
            <a:ext cx="30580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200</a:t>
            </a:r>
            <a:r>
              <a:rPr lang="zh-CN" altLang="en-US" sz="1800" dirty="0">
                <a:solidFill>
                  <a:srgbClr val="FAF9F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r>
              <a:rPr lang="zh-CN" altLang="en-US" sz="18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个环境、30</a:t>
            </a:r>
            <a:r>
              <a:rPr lang="zh-CN" altLang="en-US" sz="1800" dirty="0">
                <a:solidFill>
                  <a:srgbClr val="FAF9F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r>
              <a:rPr lang="zh-CN" altLang="en-US" sz="18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行业</a:t>
            </a:r>
            <a:endParaRPr lang="zh-CN" sz="18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585216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估值与条款面议。</a:t>
            </a:r>
            <a:endParaRPr lang="zh-CN" sz="1100" dirty="0"/>
          </a:p>
        </p:txBody>
      </p:sp>
      <p:pic>
        <p:nvPicPr>
          <p:cNvPr id="39" name="Image 0" descr="Sim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40" name="Text 37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  <p:sp>
        <p:nvSpPr>
          <p:cNvPr id="41" name="Text 38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18</a:t>
            </a:r>
            <a:endParaRPr lang="zh-CN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r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737360" cy="1645920"/>
          </a:xfrm>
          <a:prstGeom prst="rect">
            <a:avLst/>
          </a:prstGeom>
        </p:spPr>
      </p:pic>
      <p:pic>
        <p:nvPicPr>
          <p:cNvPr id="3" name="Image 1" descr="or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914400"/>
            <a:ext cx="4325112" cy="5852160"/>
          </a:xfrm>
          <a:prstGeom prst="rect">
            <a:avLst/>
          </a:prstGeom>
        </p:spPr>
      </p:pic>
      <p:pic>
        <p:nvPicPr>
          <p:cNvPr id="4" name="Image 2" descr="SimRe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72768"/>
            <a:ext cx="365760" cy="452628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548640" y="228600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600"/>
              </a:lnSpc>
              <a:buNone/>
            </a:pPr>
            <a:r>
              <a:rPr lang="zh-CN" altLang="en-US" sz="44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每个行业最强的AI，</a:t>
            </a:r>
            <a:endParaRPr lang="zh-CN" sz="4400" dirty="0"/>
          </a:p>
          <a:p>
            <a:pPr indent="0" marL="0">
              <a:lnSpc>
                <a:spcPts val="5600"/>
              </a:lnSpc>
              <a:buNone/>
            </a:pPr>
            <a:r>
              <a:rPr lang="zh-CN" altLang="en-US" sz="44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都出自我们的世界。</a:t>
            </a:r>
            <a:endParaRPr lang="zh-CN" sz="4400" dirty="0"/>
          </a:p>
        </p:txBody>
      </p:sp>
      <p:sp>
        <p:nvSpPr>
          <p:cNvPr id="6" name="Text 1"/>
          <p:cNvSpPr txBox="1"/>
          <p:nvPr/>
        </p:nvSpPr>
        <p:spPr>
          <a:xfrm>
            <a:off x="548640" y="3913632"/>
            <a:ext cx="7132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三个世界已经上线：交易、AI研究、未来预测。</a:t>
            </a:r>
            <a:endParaRPr lang="zh-CN" sz="15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4315968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SimReal  ·  AI经济的数据与自我进化引擎</a:t>
            </a:r>
            <a:endParaRPr lang="zh-CN" sz="1800" dirty="0"/>
          </a:p>
        </p:txBody>
      </p:sp>
      <p:sp>
        <p:nvSpPr>
          <p:cNvPr id="8" name="Shape 3"/>
          <p:cNvSpPr/>
          <p:nvPr/>
        </p:nvSpPr>
        <p:spPr>
          <a:xfrm>
            <a:off x="548640" y="4956048"/>
            <a:ext cx="512064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548640" y="5084064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111110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business@simreal.co  ·  simreal.co  ·  x.com/simrealhq</a:t>
            </a:r>
            <a:endParaRPr lang="zh-CN" sz="1100" dirty="0"/>
          </a:p>
        </p:txBody>
      </p:sp>
      <p:pic>
        <p:nvPicPr>
          <p:cNvPr id="10" name="Image 3" descr="SimRe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A1</a:t>
            </a: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附录</a:t>
            </a:r>
            <a:endParaRPr lang="zh-CN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Xitadel：测试了什么，怎么测的</a:t>
            </a:r>
            <a:endParaRPr lang="zh-CN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72084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环境</a:t>
            </a:r>
            <a:endParaRPr lang="zh-CN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011680" y="1600200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回放真实交易日，包含真实订单簿；每一笔交易由市场结算。</a:t>
            </a:r>
            <a:endParaRPr lang="zh-CN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258568"/>
            <a:ext cx="672084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258568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模型</a:t>
            </a:r>
            <a:endParaRPr lang="zh-CN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011680" y="2258568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开源模型Qwen3.8-27B，对比其在Xitadel训练前后的表现。</a:t>
            </a:r>
            <a:endParaRPr lang="zh-CN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916936"/>
            <a:ext cx="672084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916936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测试数据</a:t>
            </a:r>
            <a:endParaRPr lang="zh-CN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011680" y="2916936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模型从未见过的真实交易日。</a:t>
            </a:r>
            <a:endParaRPr lang="zh-CN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575304"/>
            <a:ext cx="672084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575304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结果</a:t>
            </a:r>
            <a:endParaRPr lang="zh-CN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011680" y="3575304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交易表现较基础模型</a:t>
            </a:r>
            <a:r>
              <a:rPr lang="zh-CN" altLang="en-US" sz="1300" dirty="0">
                <a:solidFill>
                  <a:srgbClr val="C2410C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提升12%</a:t>
            </a: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，多次独立运行均复现（受控实验）。</a:t>
            </a:r>
            <a:endParaRPr lang="zh-CN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233672"/>
            <a:ext cx="672084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2336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公开基准</a:t>
            </a:r>
            <a:endParaRPr lang="zh-CN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011680" y="4233672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Xitadel公开预览版：人类参考分80；前沿模型最高77.28（GPT 6），尚无模型越过人类水平线。</a:t>
            </a:r>
            <a:endParaRPr lang="zh-CN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4892040"/>
            <a:ext cx="672084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89204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尽调材料</a:t>
            </a:r>
            <a:endParaRPr lang="zh-CN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011680" y="4892040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完整运行记录、指标定义与脚本，可在尽调中提供。</a:t>
            </a:r>
            <a:endParaRPr lang="zh-CN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5550408"/>
            <a:ext cx="672084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35240" y="1600200"/>
            <a:ext cx="4007815" cy="3950208"/>
          </a:xfrm>
          <a:prstGeom prst="rect">
            <a:avLst/>
          </a:prstGeom>
          <a:solidFill>
            <a:srgbClr val="F2F1EC"/>
          </a:solidFill>
          <a:ln w="12700">
            <a:solidFill>
              <a:srgbClr val="F2F1E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909560" y="1783080"/>
            <a:ext cx="34591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Xitadel公开预览版</a:t>
            </a:r>
            <a:endParaRPr lang="zh-CN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909560" y="2029968"/>
            <a:ext cx="3459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尚无模型越过人类水平线</a:t>
            </a:r>
            <a:endParaRPr lang="zh-CN" sz="180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7909560" y="2606040"/>
          <a:ext cx="3459175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Text 24"/>
          <p:cNvSpPr txBox="1"/>
          <p:nvPr/>
        </p:nvSpPr>
        <p:spPr>
          <a:xfrm>
            <a:off x="7909560" y="2880360"/>
            <a:ext cx="1033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1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人类参考分</a:t>
            </a:r>
            <a:endParaRPr lang="zh-CN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7909560" y="3886200"/>
            <a:ext cx="1033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1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前沿模型最高</a:t>
            </a:r>
            <a:endParaRPr lang="zh-CN" sz="1300" dirty="0"/>
          </a:p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GPT 6</a:t>
            </a:r>
            <a:endParaRPr lang="zh-CN" sz="1300" dirty="0"/>
          </a:p>
        </p:txBody>
      </p:sp>
      <p:pic>
        <p:nvPicPr>
          <p:cNvPr id="29" name="Image 0" descr="SimRe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  <p:sp>
        <p:nvSpPr>
          <p:cNvPr id="31" name="Text 27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20</a:t>
            </a:r>
            <a:endParaRPr lang="zh-CN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A2</a:t>
            </a: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附录</a:t>
            </a:r>
            <a:endParaRPr lang="zh-CN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产品清单</a:t>
            </a:r>
            <a:endParaRPr lang="zh-CN" sz="2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72768"/>
          <a:ext cx="11094415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097280"/>
                <a:gridCol w="4846320"/>
                <a:gridCol w="2819095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E6C66"/>
                          </a:solidFill>
                          <a:latin typeface="IBM Plex Mono" pitchFamily="34" charset="0"/>
                          <a:ea typeface="Noto Sans CJK SC" pitchFamily="34" charset="-122"/>
                          <a:cs typeface="IBM Plex Mono" pitchFamily="34" charset="-120"/>
                        </a:rPr>
                        <a:t>产品</a:t>
                      </a:r>
                      <a:endParaRPr lang="en-US" sz="1000" dirty="0">
                        <a:latin typeface="IBM Plex Mono" charset="0"/>
                        <a:ea typeface="Noto Sans CJK SC" charset="0"/>
                        <a:cs typeface="IBM Plex Mono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E6C66"/>
                          </a:solidFill>
                          <a:latin typeface="IBM Plex Mono" pitchFamily="34" charset="0"/>
                          <a:ea typeface="Noto Sans CJK SC" pitchFamily="34" charset="-122"/>
                          <a:cs typeface="IBM Plex Mono" pitchFamily="34" charset="-120"/>
                        </a:rPr>
                        <a:t>领域</a:t>
                      </a:r>
                      <a:endParaRPr lang="en-US" sz="1000" dirty="0">
                        <a:latin typeface="IBM Plex Mono" charset="0"/>
                        <a:ea typeface="Noto Sans CJK SC" charset="0"/>
                        <a:cs typeface="IBM Plex Mono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E6C66"/>
                          </a:solidFill>
                          <a:latin typeface="IBM Plex Mono" pitchFamily="34" charset="0"/>
                          <a:ea typeface="Noto Sans CJK SC" pitchFamily="34" charset="-122"/>
                          <a:cs typeface="IBM Plex Mono" pitchFamily="34" charset="-120"/>
                        </a:rPr>
                        <a:t>说明</a:t>
                      </a:r>
                      <a:endParaRPr lang="en-US" sz="1000" dirty="0">
                        <a:latin typeface="IBM Plex Mono" charset="0"/>
                        <a:ea typeface="Noto Sans CJK SC" charset="0"/>
                        <a:cs typeface="IBM Plex Mono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E6C66"/>
                          </a:solidFill>
                          <a:latin typeface="IBM Plex Mono" pitchFamily="34" charset="0"/>
                          <a:ea typeface="Noto Sans CJK SC" pitchFamily="34" charset="-122"/>
                          <a:cs typeface="IBM Plex Mono" pitchFamily="34" charset="-120"/>
                        </a:rPr>
                        <a:t>状态</a:t>
                      </a:r>
                      <a:endParaRPr lang="en-US" sz="1000" dirty="0">
                        <a:latin typeface="IBM Plex Mono" charset="0"/>
                        <a:ea typeface="Noto Sans CJK SC" charset="0"/>
                        <a:cs typeface="IBM Plex Mono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0"/>
                          </a:solidFill>
                          <a:latin typeface="Instrument Sans SemiBold" pitchFamily="34" charset="0"/>
                          <a:ea typeface="Noto Sans CJK SC Medium" pitchFamily="34" charset="-122"/>
                          <a:cs typeface="Instrument Sans SemiBold" pitchFamily="34" charset="-120"/>
                        </a:rPr>
                        <a:t>Xitadel</a:t>
                      </a:r>
                      <a:endParaRPr lang="en-US" sz="1200" dirty="0">
                        <a:latin typeface="Instrument Sans SemiBold" charset="0"/>
                        <a:ea typeface="Noto Sans CJK SC Medium" charset="0"/>
                        <a:cs typeface="Instrument Sans SemiBold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111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C66"/>
                          </a:solidFill>
                          <a:latin typeface="Instrument Sans" pitchFamily="34" charset="0"/>
                          <a:ea typeface="Noto Sans CJK SC" pitchFamily="34" charset="-122"/>
                          <a:cs typeface="Instrument Sans" pitchFamily="34" charset="-120"/>
                        </a:rPr>
                        <a:t>交易</a:t>
                      </a:r>
                      <a:endParaRPr lang="en-US" sz="11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111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22F"/>
                          </a:solidFill>
                          <a:latin typeface="Instrument Sans" pitchFamily="34" charset="0"/>
                          <a:ea typeface="Noto Sans CJK SC" pitchFamily="34" charset="-122"/>
                          <a:cs typeface="Instrument Sans" pitchFamily="34" charset="-120"/>
                        </a:rPr>
                        <a:t>AI在真实行情中交易，按盈亏评分；已跑通自我进化（+12%）</a:t>
                      </a:r>
                      <a:endParaRPr lang="en-US" sz="12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111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2410C"/>
                          </a:solidFill>
                          <a:latin typeface="Instrument Sans SemiBold" pitchFamily="34" charset="0"/>
                          <a:ea typeface="Noto Sans CJK SC Medium" pitchFamily="34" charset="-122"/>
                          <a:cs typeface="Instrument Sans SemiBold" pitchFamily="34" charset="-120"/>
                        </a:rPr>
                        <a:t>开源</a:t>
                      </a:r>
                      <a:r>
                        <a:rPr lang="en-US" sz="900" dirty="0">
                          <a:solidFill>
                            <a:srgbClr val="6E6C66"/>
                          </a:solidFill>
                          <a:latin typeface="IBM Plex Mono" pitchFamily="34" charset="0"/>
                          <a:ea typeface="Noto Sans CJK SC" pitchFamily="34" charset="-122"/>
                          <a:cs typeface="IBM Plex Mono" pitchFamily="34" charset="-120"/>
                        </a:rPr>
                        <a:t>  Xitadel-QuantBench</a:t>
                      </a:r>
                      <a:endParaRPr lang="en-US" sz="11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111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0"/>
                          </a:solidFill>
                          <a:latin typeface="Instrument Sans SemiBold" pitchFamily="34" charset="0"/>
                          <a:ea typeface="Noto Sans CJK SC Medium" pitchFamily="34" charset="-122"/>
                          <a:cs typeface="Instrument Sans SemiBold" pitchFamily="34" charset="-120"/>
                        </a:rPr>
                        <a:t>SimReal-MLBench</a:t>
                      </a:r>
                      <a:endParaRPr lang="en-US" sz="1200" dirty="0">
                        <a:latin typeface="Instrument Sans SemiBold" charset="0"/>
                        <a:ea typeface="Noto Sans CJK SC Medium" charset="0"/>
                        <a:cs typeface="Instrument Sans SemiBold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C66"/>
                          </a:solidFill>
                          <a:latin typeface="Instrument Sans" pitchFamily="34" charset="0"/>
                          <a:ea typeface="Noto Sans CJK SC" pitchFamily="34" charset="-122"/>
                          <a:cs typeface="Instrument Sans" pitchFamily="34" charset="-120"/>
                        </a:rPr>
                        <a:t>AI研究</a:t>
                      </a:r>
                      <a:endParaRPr lang="en-US" sz="11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22F"/>
                          </a:solidFill>
                          <a:latin typeface="Instrument Sans" pitchFamily="34" charset="0"/>
                          <a:ea typeface="Noto Sans CJK SC" pitchFamily="34" charset="-122"/>
                          <a:cs typeface="Instrument Sans" pitchFamily="34" charset="-120"/>
                        </a:rPr>
                        <a:t>60个研究任务、7类数据，参照OpenAI的MLE-bench</a:t>
                      </a:r>
                      <a:endParaRPr lang="en-US" sz="12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2410C"/>
                          </a:solidFill>
                          <a:latin typeface="Instrument Sans SemiBold" pitchFamily="34" charset="0"/>
                          <a:ea typeface="Noto Sans CJK SC Medium" pitchFamily="34" charset="-122"/>
                          <a:cs typeface="Instrument Sans SemiBold" pitchFamily="34" charset="-120"/>
                        </a:rPr>
                        <a:t>开源</a:t>
                      </a:r>
                      <a:r>
                        <a:rPr lang="en-US" sz="900" dirty="0">
                          <a:solidFill>
                            <a:srgbClr val="6E6C66"/>
                          </a:solidFill>
                          <a:latin typeface="IBM Plex Mono" pitchFamily="34" charset="0"/>
                          <a:ea typeface="Noto Sans CJK SC" pitchFamily="34" charset="-122"/>
                          <a:cs typeface="IBM Plex Mono" pitchFamily="34" charset="-120"/>
                        </a:rPr>
                        <a:t>  Simreal-MLBench</a:t>
                      </a:r>
                      <a:endParaRPr lang="en-US" sz="11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0"/>
                          </a:solidFill>
                          <a:latin typeface="Instrument Sans SemiBold" pitchFamily="34" charset="0"/>
                          <a:ea typeface="Noto Sans CJK SC Medium" pitchFamily="34" charset="-122"/>
                          <a:cs typeface="Instrument Sans SemiBold" pitchFamily="34" charset="-120"/>
                        </a:rPr>
                        <a:t>Future Prediction Bench</a:t>
                      </a:r>
                      <a:endParaRPr lang="en-US" sz="1200" dirty="0">
                        <a:latin typeface="Instrument Sans SemiBold" charset="0"/>
                        <a:ea typeface="Noto Sans CJK SC Medium" charset="0"/>
                        <a:cs typeface="Instrument Sans SemiBold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C66"/>
                          </a:solidFill>
                          <a:latin typeface="Instrument Sans" pitchFamily="34" charset="0"/>
                          <a:ea typeface="Noto Sans CJK SC" pitchFamily="34" charset="-122"/>
                          <a:cs typeface="Instrument Sans" pitchFamily="34" charset="-120"/>
                        </a:rPr>
                        <a:t>预测</a:t>
                      </a:r>
                      <a:endParaRPr lang="en-US" sz="11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22F"/>
                          </a:solidFill>
                          <a:latin typeface="Instrument Sans" pitchFamily="34" charset="0"/>
                          <a:ea typeface="Noto Sans CJK SC" pitchFamily="34" charset="-122"/>
                          <a:cs typeface="Instrument Sans" pitchFamily="34" charset="-120"/>
                        </a:rPr>
                        <a:t>预测真实事件，揭晓后按结果打分；数据实时接入</a:t>
                      </a:r>
                      <a:endParaRPr lang="en-US" sz="12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0"/>
                          </a:solidFill>
                          <a:latin typeface="Instrument Sans SemiBold" pitchFamily="34" charset="0"/>
                          <a:ea typeface="Noto Sans CJK SC Medium" pitchFamily="34" charset="-122"/>
                          <a:cs typeface="Instrument Sans SemiBold" pitchFamily="34" charset="-120"/>
                        </a:rPr>
                        <a:t>上线</a:t>
                      </a:r>
                      <a:endParaRPr lang="en-US" sz="11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0"/>
                          </a:solidFill>
                          <a:latin typeface="Instrument Sans SemiBold" pitchFamily="34" charset="0"/>
                          <a:ea typeface="Noto Sans CJK SC Medium" pitchFamily="34" charset="-122"/>
                          <a:cs typeface="Instrument Sans SemiBold" pitchFamily="34" charset="-120"/>
                        </a:rPr>
                        <a:t>Month-End Close</a:t>
                      </a:r>
                      <a:endParaRPr lang="en-US" sz="1200" dirty="0">
                        <a:latin typeface="Instrument Sans SemiBold" charset="0"/>
                        <a:ea typeface="Noto Sans CJK SC Medium" charset="0"/>
                        <a:cs typeface="Instrument Sans SemiBold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C66"/>
                          </a:solidFill>
                          <a:latin typeface="Instrument Sans" pitchFamily="34" charset="0"/>
                          <a:ea typeface="Noto Sans CJK SC" pitchFamily="34" charset="-122"/>
                          <a:cs typeface="Instrument Sans" pitchFamily="34" charset="-120"/>
                        </a:rPr>
                        <a:t>财务</a:t>
                      </a:r>
                      <a:endParaRPr lang="en-US" sz="11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22F"/>
                          </a:solidFill>
                          <a:latin typeface="Instrument Sans" pitchFamily="34" charset="0"/>
                          <a:ea typeface="Noto Sans CJK SC" pitchFamily="34" charset="-122"/>
                          <a:cs typeface="Instrument Sans" pitchFamily="34" charset="-120"/>
                        </a:rPr>
                        <a:t>让AI零差错完成月结；评分漏洞6 → 0</a:t>
                      </a:r>
                      <a:endParaRPr lang="en-US" sz="12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0"/>
                          </a:solidFill>
                          <a:latin typeface="Instrument Sans SemiBold" pitchFamily="34" charset="0"/>
                          <a:ea typeface="Noto Sans CJK SC Medium" pitchFamily="34" charset="-122"/>
                          <a:cs typeface="Instrument Sans SemiBold" pitchFamily="34" charset="-120"/>
                        </a:rPr>
                        <a:t>上线</a:t>
                      </a:r>
                      <a:endParaRPr lang="en-US" sz="11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0"/>
                          </a:solidFill>
                          <a:latin typeface="Instrument Sans SemiBold" pitchFamily="34" charset="0"/>
                          <a:ea typeface="Noto Sans CJK SC Medium" pitchFamily="34" charset="-122"/>
                          <a:cs typeface="Instrument Sans SemiBold" pitchFamily="34" charset="-120"/>
                        </a:rPr>
                        <a:t>SWE-Forward</a:t>
                      </a:r>
                      <a:endParaRPr lang="en-US" sz="1200" dirty="0">
                        <a:latin typeface="Instrument Sans SemiBold" charset="0"/>
                        <a:ea typeface="Noto Sans CJK SC Medium" charset="0"/>
                        <a:cs typeface="Instrument Sans SemiBold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C66"/>
                          </a:solidFill>
                          <a:latin typeface="Instrument Sans" pitchFamily="34" charset="0"/>
                          <a:ea typeface="Noto Sans CJK SC" pitchFamily="34" charset="-122"/>
                          <a:cs typeface="Instrument Sans" pitchFamily="34" charset="-120"/>
                        </a:rPr>
                        <a:t>软件工程</a:t>
                      </a:r>
                      <a:endParaRPr lang="en-US" sz="11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22F"/>
                          </a:solidFill>
                          <a:latin typeface="Instrument Sans" pitchFamily="34" charset="0"/>
                          <a:ea typeface="Noto Sans CJK SC" pitchFamily="34" charset="-122"/>
                          <a:cs typeface="Instrument Sans" pitchFamily="34" charset="-120"/>
                        </a:rPr>
                        <a:t>检验AI写的代码能否挺过下一个版本</a:t>
                      </a:r>
                      <a:endParaRPr lang="en-US" sz="12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0"/>
                          </a:solidFill>
                          <a:latin typeface="Instrument Sans SemiBold" pitchFamily="34" charset="0"/>
                          <a:ea typeface="Noto Sans CJK SC Medium" pitchFamily="34" charset="-122"/>
                          <a:cs typeface="Instrument Sans SemiBold" pitchFamily="34" charset="-120"/>
                        </a:rPr>
                        <a:t>上线</a:t>
                      </a:r>
                      <a:endParaRPr lang="en-US" sz="11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0"/>
                          </a:solidFill>
                          <a:latin typeface="Instrument Sans SemiBold" pitchFamily="34" charset="0"/>
                          <a:ea typeface="Noto Sans CJK SC Medium" pitchFamily="34" charset="-122"/>
                          <a:cs typeface="Instrument Sans SemiBold" pitchFamily="34" charset="-120"/>
                        </a:rPr>
                        <a:t>MathmoBench</a:t>
                      </a:r>
                      <a:endParaRPr lang="en-US" sz="1200" dirty="0">
                        <a:latin typeface="Instrument Sans SemiBold" charset="0"/>
                        <a:ea typeface="Noto Sans CJK SC Medium" charset="0"/>
                        <a:cs typeface="Instrument Sans SemiBold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C66"/>
                          </a:solidFill>
                          <a:latin typeface="Instrument Sans" pitchFamily="34" charset="0"/>
                          <a:ea typeface="Noto Sans CJK SC" pitchFamily="34" charset="-122"/>
                          <a:cs typeface="Instrument Sans" pitchFamily="34" charset="-120"/>
                        </a:rPr>
                        <a:t>数学证明</a:t>
                      </a:r>
                      <a:endParaRPr lang="en-US" sz="11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22F"/>
                          </a:solidFill>
                          <a:latin typeface="Instrument Sans" pitchFamily="34" charset="0"/>
                          <a:ea typeface="Noto Sans CJK SC" pitchFamily="34" charset="-122"/>
                          <a:cs typeface="Instrument Sans" pitchFamily="34" charset="-120"/>
                        </a:rPr>
                        <a:t>让AI证明答案，而不是猜答案</a:t>
                      </a:r>
                      <a:endParaRPr lang="en-US" sz="12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2410C"/>
                          </a:solidFill>
                          <a:latin typeface="Instrument Sans SemiBold" pitchFamily="34" charset="0"/>
                          <a:ea typeface="Noto Sans CJK SC Medium" pitchFamily="34" charset="-122"/>
                          <a:cs typeface="Instrument Sans SemiBold" pitchFamily="34" charset="-120"/>
                        </a:rPr>
                        <a:t>开源</a:t>
                      </a:r>
                      <a:r>
                        <a:rPr lang="en-US" sz="900" dirty="0">
                          <a:solidFill>
                            <a:srgbClr val="6E6C66"/>
                          </a:solidFill>
                          <a:latin typeface="IBM Plex Mono" pitchFamily="34" charset="0"/>
                          <a:ea typeface="Noto Sans CJK SC" pitchFamily="34" charset="-122"/>
                          <a:cs typeface="IBM Plex Mono" pitchFamily="34" charset="-120"/>
                        </a:rPr>
                        <a:t>  MathmoBench</a:t>
                      </a:r>
                      <a:endParaRPr lang="en-US" sz="11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0"/>
                          </a:solidFill>
                          <a:latin typeface="Instrument Sans SemiBold" pitchFamily="34" charset="0"/>
                          <a:ea typeface="Noto Sans CJK SC Medium" pitchFamily="34" charset="-122"/>
                          <a:cs typeface="Instrument Sans SemiBold" pitchFamily="34" charset="-120"/>
                        </a:rPr>
                        <a:t>Puzzle Benchmark</a:t>
                      </a:r>
                      <a:endParaRPr lang="en-US" sz="1200" dirty="0">
                        <a:latin typeface="Instrument Sans SemiBold" charset="0"/>
                        <a:ea typeface="Noto Sans CJK SC Medium" charset="0"/>
                        <a:cs typeface="Instrument Sans SemiBold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C66"/>
                          </a:solidFill>
                          <a:latin typeface="Instrument Sans" pitchFamily="34" charset="0"/>
                          <a:ea typeface="Noto Sans CJK SC" pitchFamily="34" charset="-122"/>
                          <a:cs typeface="Instrument Sans" pitchFamily="34" charset="-120"/>
                        </a:rPr>
                        <a:t>逻辑推理</a:t>
                      </a:r>
                      <a:endParaRPr lang="en-US" sz="11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22F"/>
                          </a:solidFill>
                          <a:latin typeface="Instrument Sans" pitchFamily="34" charset="0"/>
                          <a:ea typeface="Noto Sans CJK SC" pitchFamily="34" charset="-122"/>
                          <a:cs typeface="Instrument Sans" pitchFamily="34" charset="-120"/>
                        </a:rPr>
                        <a:t>709道无法作弊的谜题；400次作弊攻击0次成功</a:t>
                      </a:r>
                      <a:endParaRPr lang="en-US" sz="12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2410C"/>
                          </a:solidFill>
                          <a:latin typeface="Instrument Sans SemiBold" pitchFamily="34" charset="0"/>
                          <a:ea typeface="Noto Sans CJK SC Medium" pitchFamily="34" charset="-122"/>
                          <a:cs typeface="Instrument Sans SemiBold" pitchFamily="34" charset="-120"/>
                        </a:rPr>
                        <a:t>开源</a:t>
                      </a:r>
                      <a:r>
                        <a:rPr lang="en-US" sz="900" dirty="0">
                          <a:solidFill>
                            <a:srgbClr val="6E6C66"/>
                          </a:solidFill>
                          <a:latin typeface="IBM Plex Mono" pitchFamily="34" charset="0"/>
                          <a:ea typeface="Noto Sans CJK SC" pitchFamily="34" charset="-122"/>
                          <a:cs typeface="IBM Plex Mono" pitchFamily="34" charset="-120"/>
                        </a:rPr>
                        <a:t>  hard-puzzle-benchmark</a:t>
                      </a:r>
                      <a:endParaRPr lang="en-US" sz="11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Image 0" descr="Sim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  <p:sp>
        <p:nvSpPr>
          <p:cNvPr id="7" name="Text 3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21</a:t>
            </a:r>
            <a:endParaRPr lang="zh-CN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A3</a:t>
            </a: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附录</a:t>
            </a:r>
            <a:endParaRPr lang="zh-CN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数据来源</a:t>
            </a:r>
            <a:endParaRPr lang="zh-CN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36192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公司</a:t>
            </a:r>
            <a:endParaRPr lang="zh-CN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792224"/>
            <a:ext cx="5349240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938528"/>
            <a:ext cx="5349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zh-CN" altLang="en-US" sz="10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Mercor年化收入：</a:t>
            </a:r>
            <a:r>
              <a:rPr lang="zh-CN" altLang="en-US" sz="10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TechCrunch（2025年2月，7,500万美元）；Mercor CEO（2025年9月，5亿美元）；Sacra（2025年12月，7.6亿美元）；Mercor（2026年初，10亿美元）；Dealroom（2026年6月，20亿美元）。均为毛营收，专家拿走60–70%（彭博）</a:t>
            </a:r>
            <a:endParaRPr lang="zh-CN" sz="10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zh-CN" altLang="en-US" sz="10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Mercor估值：</a:t>
            </a:r>
            <a:r>
              <a:rPr lang="zh-CN" altLang="en-US" sz="10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A轮2.5亿美元（2024年9月）到C轮100亿美元（2025年10月）；200亿美元估值轮次处于早期洽谈（彭博，2026年7月9日）</a:t>
            </a:r>
            <a:endParaRPr lang="zh-CN" sz="10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zh-CN" altLang="en-US" sz="10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Surge AI：</a:t>
            </a:r>
            <a:r>
              <a:rPr lang="zh-CN" altLang="en-US" sz="10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2024年收入12亿美元（TechCrunch、福布斯）</a:t>
            </a:r>
            <a:endParaRPr lang="zh-CN" sz="10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zh-CN" altLang="en-US" sz="10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Snorkel AI：</a:t>
            </a:r>
            <a:r>
              <a:rPr lang="zh-CN" altLang="en-US" sz="10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公司公告及TechCrunch，2026年9月22日（以35亿美元估值融资3.5亿美元；年化收入3.75亿美元，一年增长18倍）</a:t>
            </a:r>
            <a:endParaRPr lang="zh-CN" sz="10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zh-CN" altLang="en-US" sz="10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AfterQuery：</a:t>
            </a:r>
            <a:r>
              <a:rPr lang="zh-CN" altLang="en-US" sz="10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福布斯，2026年9月1日（加入YC 18个月，估值32亿美元；2025年2月成立）；YC公司页（联合创始人曾在Citadel Securities实习）</a:t>
            </a:r>
            <a:endParaRPr lang="zh-CN" sz="10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zh-CN" altLang="en-US" sz="10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Scale AI：</a:t>
            </a:r>
            <a:r>
              <a:rPr lang="zh-CN" altLang="en-US" sz="10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2016年由19岁的Alexandr Wang创立（福布斯）；Meta以143亿美元取得49%股份，估值约290亿美元（路透社，2025年6月）</a:t>
            </a:r>
            <a:endParaRPr lang="zh-CN" sz="10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zh-CN" altLang="en-US" sz="10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UniPat：</a:t>
            </a:r>
            <a:r>
              <a:rPr lang="zh-CN" altLang="en-US" sz="10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彭博，2026年9月10日（阿里领投3亿美元，据报道估值25亿美元；条款可能变化）</a:t>
            </a:r>
            <a:endParaRPr lang="zh-CN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291072" y="1536192"/>
            <a:ext cx="535198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市场与研究</a:t>
            </a:r>
            <a:endParaRPr lang="zh-CN" sz="1000" dirty="0"/>
          </a:p>
        </p:txBody>
      </p:sp>
      <p:sp>
        <p:nvSpPr>
          <p:cNvPr id="8" name="Shape 6"/>
          <p:cNvSpPr/>
          <p:nvPr/>
        </p:nvSpPr>
        <p:spPr>
          <a:xfrm>
            <a:off x="6291072" y="1792224"/>
            <a:ext cx="5351983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91072" y="1938528"/>
            <a:ext cx="5351983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zh-CN" altLang="en-US" sz="10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Anthropic：</a:t>
            </a:r>
            <a:r>
              <a:rPr lang="zh-CN" altLang="en-US" sz="10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The Information经TechCrunch报道，2025年9月（讨论在此后一年投入逾10亿美元用于RL环境）</a:t>
            </a:r>
            <a:endParaRPr lang="zh-CN" sz="10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zh-CN" altLang="en-US" sz="10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AI智能体市场：</a:t>
            </a:r>
            <a:r>
              <a:rPr lang="zh-CN" altLang="en-US" sz="10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Precedence Research（2025年79.2亿美元；年复合增长45.82%，2034年达2,360亿美元）。2028、2032年数值按此路径推算</a:t>
            </a:r>
            <a:endParaRPr lang="zh-CN" sz="10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zh-CN" altLang="en-US" sz="10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麦肯锡《生成式AI的经济潜力》：</a:t>
            </a:r>
            <a:r>
              <a:rPr lang="zh-CN" altLang="en-US" sz="10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每年2.6–4.4万亿美元经济价值（创造的价值，非支出）</a:t>
            </a:r>
            <a:endParaRPr lang="zh-CN" sz="10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zh-CN" altLang="en-US" sz="10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RL环境定价与单任务算力成本：</a:t>
            </a:r>
            <a:r>
              <a:rPr lang="zh-CN" altLang="en-US" sz="10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Epoch AI《An FAQ on RL environments》（2026年1月）</a:t>
            </a:r>
            <a:endParaRPr lang="zh-CN" sz="10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zh-CN" altLang="en-US" sz="10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公开文本存量：</a:t>
            </a:r>
            <a:r>
              <a:rPr lang="zh-CN" altLang="en-US" sz="10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Epoch AI《Will we run out of data?》（2024）：约300T有效token，预计于2026–2032年间用尽（80%置信区间）</a:t>
            </a:r>
            <a:endParaRPr lang="zh-CN" sz="1000" dirty="0"/>
          </a:p>
        </p:txBody>
      </p:sp>
      <p:pic>
        <p:nvPicPr>
          <p:cNvPr id="10" name="Image 0" descr="Sim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22</a:t>
            </a:r>
            <a:endParaRPr lang="zh-CN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A4</a:t>
            </a: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附录</a:t>
            </a:r>
            <a:endParaRPr lang="zh-CN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术语表</a:t>
            </a:r>
            <a:endParaRPr lang="zh-CN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454298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922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01</a:t>
            </a:r>
            <a:endParaRPr lang="zh-CN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48256"/>
            <a:ext cx="345429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训练环境</a:t>
            </a:r>
            <a:endParaRPr lang="zh-CN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560320"/>
            <a:ext cx="3454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让AI反复做真实工作、并按结果打分的系统。行业里常称“RL环境”。</a:t>
            </a:r>
            <a:endParaRPr lang="zh-CN" sz="1300" dirty="0"/>
          </a:p>
        </p:txBody>
      </p:sp>
      <p:sp>
        <p:nvSpPr>
          <p:cNvPr id="8" name="Shape 6"/>
          <p:cNvSpPr/>
          <p:nvPr/>
        </p:nvSpPr>
        <p:spPr>
          <a:xfrm>
            <a:off x="4368698" y="1645920"/>
            <a:ext cx="3454298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68698" y="17922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02</a:t>
            </a:r>
            <a:endParaRPr lang="zh-CN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368698" y="2048256"/>
            <a:ext cx="345429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结果评分</a:t>
            </a:r>
            <a:endParaRPr lang="zh-CN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368698" y="2560320"/>
            <a:ext cx="3454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用真实结果（盈亏、账目是否对平、代码能否运行）打分，不靠另一个AI的主观判断。</a:t>
            </a:r>
            <a:endParaRPr lang="zh-CN" sz="1300" dirty="0"/>
          </a:p>
        </p:txBody>
      </p:sp>
      <p:sp>
        <p:nvSpPr>
          <p:cNvPr id="12" name="Shape 10"/>
          <p:cNvSpPr/>
          <p:nvPr/>
        </p:nvSpPr>
        <p:spPr>
          <a:xfrm>
            <a:off x="8188757" y="1645920"/>
            <a:ext cx="3454298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188757" y="17922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03</a:t>
            </a:r>
            <a:endParaRPr lang="zh-CN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188757" y="2048256"/>
            <a:ext cx="345429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自我进化（RSI）</a:t>
            </a:r>
            <a:endParaRPr lang="zh-CN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188757" y="2560320"/>
            <a:ext cx="3454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AI用自己在真实环境中的结果训练自己，每一轮都比上一轮更强。</a:t>
            </a:r>
            <a:endParaRPr lang="zh-CN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657600"/>
            <a:ext cx="3454298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8039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04</a:t>
            </a:r>
            <a:endParaRPr lang="zh-CN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059936"/>
            <a:ext cx="345429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攻防测试</a:t>
            </a:r>
            <a:endParaRPr lang="zh-CN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572000"/>
            <a:ext cx="3454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上线前模拟各种作弊和攻击，找出评分漏洞并修复。</a:t>
            </a:r>
            <a:endParaRPr lang="zh-CN" sz="1300" dirty="0"/>
          </a:p>
        </p:txBody>
      </p:sp>
      <p:sp>
        <p:nvSpPr>
          <p:cNvPr id="20" name="Shape 18"/>
          <p:cNvSpPr/>
          <p:nvPr/>
        </p:nvSpPr>
        <p:spPr>
          <a:xfrm>
            <a:off x="4368698" y="3657600"/>
            <a:ext cx="3454298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368698" y="38039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05</a:t>
            </a:r>
            <a:endParaRPr lang="zh-CN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368698" y="4059936"/>
            <a:ext cx="345429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受控实验</a:t>
            </a:r>
            <a:endParaRPr lang="zh-CN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4368698" y="4572000"/>
            <a:ext cx="3454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只改变一个条件（是否在Xitadel训练），比较前后表现的实验。</a:t>
            </a:r>
            <a:endParaRPr lang="zh-CN" sz="1300" dirty="0"/>
          </a:p>
        </p:txBody>
      </p:sp>
      <p:sp>
        <p:nvSpPr>
          <p:cNvPr id="24" name="Shape 22"/>
          <p:cNvSpPr/>
          <p:nvPr/>
        </p:nvSpPr>
        <p:spPr>
          <a:xfrm>
            <a:off x="8188757" y="3657600"/>
            <a:ext cx="3454298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188757" y="38039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06</a:t>
            </a:r>
            <a:endParaRPr lang="zh-CN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8188757" y="4059936"/>
            <a:ext cx="345429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年化毛营收</a:t>
            </a:r>
            <a:endParaRPr lang="zh-CN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8188757" y="4572000"/>
            <a:ext cx="3454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按当前收入推算的全年收入，含支付给专家的部分。</a:t>
            </a:r>
            <a:endParaRPr lang="zh-CN" sz="1300" dirty="0"/>
          </a:p>
        </p:txBody>
      </p:sp>
      <p:pic>
        <p:nvPicPr>
          <p:cNvPr id="28" name="Image 0" descr="Sim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23</a:t>
            </a:r>
            <a:endParaRPr lang="zh-CN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ewsreader"/>
        <a:ea typeface="Noto Serif CJK SC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strument Sans"/>
        <a:ea typeface="Noto Sans CJK SC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SimReal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SimReal 商业计划书 · 种子轮</dc:title>
  <dc:subject>PptxGenJS Presentation</dc:subject>
  <dc:creator>SimReal</dc:creator>
  <cp:lastModifiedBy>SimReal</cp:lastModifiedBy>
  <cp:revision>1</cp:revision>
  <dcterms:created xsi:type="dcterms:W3CDTF">2026-09-25T16:00:46Z</dcterms:created>
  <dcterms:modified xsi:type="dcterms:W3CDTF">2026-09-25T16:00:46Z</dcterms:modified>
</cp:coreProperties>
</file>