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2" r:id="rId6"/>
    <p:sldId id="264" r:id="rId7"/>
    <p:sldId id="265" r:id="rId8"/>
    <p:sldId id="272" r:id="rId9"/>
    <p:sldId id="271" r:id="rId10"/>
    <p:sldId id="269" r:id="rId11"/>
    <p:sldId id="275" r:id="rId12"/>
    <p:sldId id="270" r:id="rId13"/>
    <p:sldId id="267" r:id="rId14"/>
  </p:sldIdLst>
  <p:sldSz cx="12192000" cy="6858000"/>
  <p:notesSz cx="6858000" cy="12192000"/>
  <p:embeddedFontLst>
    <p:embeddedFont>
      <p:font typeface="IBM Plex Mono" panose="020B0509050203000203" pitchFamily="49" charset="77"/>
      <p:regular r:id="rId16"/>
      <p:bold r:id="rId17"/>
      <p:italic r:id="rId18"/>
      <p:boldItalic r:id="rId19"/>
    </p:embeddedFont>
    <p:embeddedFont>
      <p:font typeface="Instrument Sans" pitchFamily="2" charset="0"/>
      <p:regular r:id="rId20"/>
      <p:bold r:id="rId21"/>
      <p:italic r:id="rId22"/>
      <p:boldItalic r:id="rId23"/>
    </p:embeddedFont>
    <p:embeddedFont>
      <p:font typeface="Newsreader" panose="02000000000000000000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85"/>
  </p:normalViewPr>
  <p:slideViewPr>
    <p:cSldViewPr snapToGrid="0">
      <p:cViewPr varScale="1">
        <p:scale>
          <a:sx n="117" d="100"/>
          <a:sy n="117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7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agents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be trained in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environments, verifiers</a:t>
            </a:r>
            <a:br>
              <a:rPr lang="zh-CN" sz="18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</a:br>
            <a:r>
              <a:rPr lang="zh-CN" sz="18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data for </a:t>
            </a:r>
            <a:r>
              <a:rPr lang="en-US" altLang="zh-CN" sz="18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self-improving AI</a:t>
            </a:r>
            <a:endParaRPr lang="zh-CN" sz="1800" b="0" i="0" u="none" strike="noStrike" cap="none" dirty="0">
              <a:solidFill>
                <a:srgbClr val="C2410C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Investor presentation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Problem   Product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RSI engines: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let agents improve themselves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Reached 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ML research, math, reasoning,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forecasting, software and accounting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model trained in our trading environment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did better on trading days it had never seen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672 GitHub stars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shipped in our first 14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Problem   Product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Four</a:t>
            </a:r>
            <a:r>
              <a:rPr lang="en-US" alt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21-year-old founders.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</a:t>
            </a:r>
            <a:r>
              <a:rPr lang="en-US" altLang="zh-CN" sz="1600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M+ in first-year pay to build SimReal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7001" name="SimReal 7001"/>
          <p:cNvSpPr/>
          <p:nvPr/>
        </p:nvSpPr>
        <p:spPr>
          <a:xfrm>
            <a:off x="548640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02" name="SimReal 7002"/>
          <p:cNvSpPr txBox="1"/>
          <p:nvPr/>
        </p:nvSpPr>
        <p:spPr>
          <a:xfrm>
            <a:off x="777240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7003" name="SimReal 7003"/>
          <p:cNvSpPr txBox="1"/>
          <p:nvPr/>
        </p:nvSpPr>
        <p:spPr>
          <a:xfrm>
            <a:off x="777240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Employee #1 at United Stables, building it from scratch to $1.5B+. Listed on Binance within a month.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HSBC’s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</a:t>
            </a:r>
          </a:p>
        </p:txBody>
      </p:sp>
      <p:sp>
        <p:nvSpPr>
          <p:cNvPr id="7004" name="SimReal 7004"/>
          <p:cNvSpPr/>
          <p:nvPr/>
        </p:nvSpPr>
        <p:spPr>
          <a:xfrm>
            <a:off x="777240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05" name="SimReal 7005"/>
          <p:cNvSpPr txBox="1"/>
          <p:nvPr/>
        </p:nvSpPr>
        <p:spPr>
          <a:xfrm>
            <a:off x="777240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7006" name="SimReal 7006"/>
          <p:cNvSpPr/>
          <p:nvPr/>
        </p:nvSpPr>
        <p:spPr>
          <a:xfrm>
            <a:off x="3378708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07" name="SimReal 7007"/>
          <p:cNvSpPr txBox="1"/>
          <p:nvPr/>
        </p:nvSpPr>
        <p:spPr>
          <a:xfrm>
            <a:off x="3607308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7008" name="SimReal 7008"/>
          <p:cNvSpPr txBox="1"/>
          <p:nvPr/>
        </p:nvSpPr>
        <p:spPr>
          <a:xfrm>
            <a:off x="3607308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St John’s College, First Class with Scholarship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</p:txBody>
      </p:sp>
      <p:sp>
        <p:nvSpPr>
          <p:cNvPr id="7009" name="SimReal 7009"/>
          <p:cNvSpPr/>
          <p:nvPr/>
        </p:nvSpPr>
        <p:spPr>
          <a:xfrm>
            <a:off x="3607308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10" name="SimReal 7010"/>
          <p:cNvSpPr txBox="1"/>
          <p:nvPr/>
        </p:nvSpPr>
        <p:spPr>
          <a:xfrm>
            <a:off x="3607308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STEP maths competition (~IMO Medalist level)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7011" name="SimReal 7011"/>
          <p:cNvSpPr/>
          <p:nvPr/>
        </p:nvSpPr>
        <p:spPr>
          <a:xfrm>
            <a:off x="6208776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12" name="SimReal 7012"/>
          <p:cNvSpPr txBox="1"/>
          <p:nvPr/>
        </p:nvSpPr>
        <p:spPr>
          <a:xfrm>
            <a:off x="6437376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7013" name="SimReal 7013"/>
          <p:cNvSpPr txBox="1"/>
          <p:nvPr/>
        </p:nvSpPr>
        <p:spPr>
          <a:xfrm>
            <a:off x="6437376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Millennium’s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Play’s first Hong Kong event, with HKSTP (200+ attendees)</a:t>
            </a:r>
          </a:p>
        </p:txBody>
      </p:sp>
      <p:sp>
        <p:nvSpPr>
          <p:cNvPr id="7014" name="SimReal 7014"/>
          <p:cNvSpPr/>
          <p:nvPr/>
        </p:nvSpPr>
        <p:spPr>
          <a:xfrm>
            <a:off x="6437376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15" name="SimReal 7015"/>
          <p:cNvSpPr txBox="1"/>
          <p:nvPr/>
        </p:nvSpPr>
        <p:spPr>
          <a:xfrm>
            <a:off x="6437376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7016" name="SimReal 7016"/>
          <p:cNvSpPr/>
          <p:nvPr/>
        </p:nvSpPr>
        <p:spPr>
          <a:xfrm>
            <a:off x="9038844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17" name="SimReal 7017"/>
          <p:cNvSpPr txBox="1"/>
          <p:nvPr/>
        </p:nvSpPr>
        <p:spPr>
          <a:xfrm>
            <a:off x="9267444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James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CPO · 21</a:t>
            </a:r>
          </a:p>
        </p:txBody>
      </p:sp>
      <p:sp>
        <p:nvSpPr>
          <p:cNvPr id="7018" name="SimReal 7018"/>
          <p:cNvSpPr txBox="1"/>
          <p:nvPr/>
        </p:nvSpPr>
        <p:spPr>
          <a:xfrm>
            <a:off x="9267444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trading at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Asset management at Fidelity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Equity research at Jefferies</a:t>
            </a:r>
          </a:p>
        </p:txBody>
      </p:sp>
      <p:sp>
        <p:nvSpPr>
          <p:cNvPr id="7019" name="SimReal 7019"/>
          <p:cNvSpPr/>
          <p:nvPr/>
        </p:nvSpPr>
        <p:spPr>
          <a:xfrm>
            <a:off x="9267444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20" name="SimReal 7020"/>
          <p:cNvSpPr txBox="1"/>
          <p:nvPr/>
        </p:nvSpPr>
        <p:spPr>
          <a:xfrm>
            <a:off x="9267444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AMC: global top 1%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Mathematical Olympiad: Gold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Product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 dirty="0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Wins on past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have nowhere realistic to practice, and no source of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</a:t>
            </a:r>
            <a:r>
              <a:rPr lang="en-US" altLang="zh-CN" sz="16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</a:t>
            </a: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loop that turns real outcomes into better agents,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What's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Humans hand-write every task, label and rubric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help write new tasks and data, find failure modes and improve the environments they train in. Next, they will write the verifiers too</a:t>
            </a:r>
            <a:r>
              <a:rPr lang="en-US" alt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 AI nativ</a:t>
            </a:r>
            <a:r>
              <a:rPr lang="en-US" altLang="zh-CN" sz="115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 from the start.</a:t>
            </a:r>
            <a:endParaRPr lang="zh-CN" sz="1150" b="0" i="0" u="none" strike="noStrike" cap="none" dirty="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 point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43984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44398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trading days it never saw,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 in our loop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is the best of several independent replications, measured on trading days held out from training.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Seven environments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is scored by something the agent can't argue with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</a:t>
            </a:r>
            <a:r>
              <a:rPr lang="en-US" altLang="zh-CN" sz="64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  <a:r>
              <a:rPr lang="zh-CN" sz="64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432304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across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0175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 dirty="0">
                <a:solidFill>
                  <a:srgbClr val="6E6C66"/>
                </a:solidFill>
                <a:latin typeface="+mj-lt"/>
                <a:ea typeface="IBM Plex Mono"/>
                <a:cs typeface="IBM Plex Mono"/>
                <a:sym typeface="IBM Plex Mono"/>
              </a:rPr>
              <a:t>As of October 4, 2026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493008"/>
            <a:ext cx="301752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21024"/>
            <a:ext cx="3017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Give the agent a world to practice in.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2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 the reward come from a market, a proof, hidden labels, an executable system or a real-world outcome.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931920" y="1572768"/>
            <a:ext cx="7708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931920" y="15910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257800" y="159105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315200" y="159105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Scored by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835640" y="1591056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931920" y="188366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931920" y="188366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257800" y="188366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0" y="188366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Profit on unseen market days, vs. the best human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835640" y="188366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r>
              <a:rPr lang="en-US" altLang="zh-CN" sz="110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lang="zh-CN" sz="1100" b="1" i="0" u="none" strike="noStrike" cap="none" dirty="0">
              <a:solidFill>
                <a:srgbClr val="C2410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020" name="SimReal 5020"/>
          <p:cNvSpPr/>
          <p:nvPr/>
        </p:nvSpPr>
        <p:spPr>
          <a:xfrm>
            <a:off x="3931920" y="239572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3931920" y="23957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257800" y="239572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23957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official Kaggle leaderboard, on hidden labels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835640" y="239572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</a:t>
            </a:r>
            <a:r>
              <a:rPr lang="en-US" altLang="zh-CN" sz="110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lang="zh-CN" sz="1100" b="1" i="0" u="none" strike="noStrike" cap="none" dirty="0">
              <a:solidFill>
                <a:srgbClr val="C2410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025" name="SimReal 5025"/>
          <p:cNvSpPr/>
          <p:nvPr/>
        </p:nvSpPr>
        <p:spPr>
          <a:xfrm>
            <a:off x="3931920" y="290779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931920" y="2907792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257800" y="290779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90779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proof is correct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835640" y="2907792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101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931920" y="3419856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931920" y="3419856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Reasoning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7800" y="3419856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341985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answers to 749 human-written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835640" y="3419856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100</a:t>
            </a:r>
            <a:endParaRPr lang="zh-CN" sz="1100" b="1" i="0" u="none" strike="noStrike" cap="none" dirty="0">
              <a:solidFill>
                <a:srgbClr val="C2410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035" name="SimReal 5035"/>
          <p:cNvSpPr/>
          <p:nvPr/>
        </p:nvSpPr>
        <p:spPr>
          <a:xfrm>
            <a:off x="3931920" y="3931920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931920" y="3931920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257800" y="393192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315200" y="39319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after the deadline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835640" y="3931920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27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3931920" y="444398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3931920" y="444398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257800" y="444398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315200" y="444398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 the code must pass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835640" y="444398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3931920" y="495604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3931920" y="4956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257800" y="495604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0" y="495604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books reconcile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835640" y="49560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3931920" y="546811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not open-sourced.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1700784"/>
            <a:ext cx="8732520" cy="1353312"/>
          </a:xfrm>
          <a:prstGeom prst="rect">
            <a:avLst/>
          </a:prstGeom>
        </p:spPr>
      </p:pic>
      <p:pic>
        <p:nvPicPr>
          <p:cNvPr id="338" name="Picture 337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3108960"/>
            <a:ext cx="8732520" cy="1353312"/>
          </a:xfrm>
          <a:prstGeom prst="rect">
            <a:avLst/>
          </a:prstGeom>
        </p:spPr>
      </p:pic>
      <p:pic>
        <p:nvPicPr>
          <p:cNvPr id="339" name="Picture 338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4517136"/>
            <a:ext cx="8732520" cy="135331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How it works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scores the AI against something real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96265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Given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61441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The AI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6617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Scored against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700784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/>
          <p:nvPr/>
        </p:nvSpPr>
        <p:spPr>
          <a:xfrm>
            <a:off x="11576304" y="1700784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/>
          <p:nvPr/>
        </p:nvSpPr>
        <p:spPr>
          <a:xfrm>
            <a:off x="548640" y="1700784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777240" y="199339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77240" y="2194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77240" y="259689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results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3108960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/>
          <p:nvPr/>
        </p:nvSpPr>
        <p:spPr>
          <a:xfrm>
            <a:off x="11576304" y="3108960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/>
          <p:nvPr/>
        </p:nvSpPr>
        <p:spPr>
          <a:xfrm>
            <a:off x="548640" y="3108960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34015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research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77240" y="360273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77240" y="400507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Baseline result, not an AI agent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4517136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11576304" y="4517136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548640" y="4517136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77240" y="480974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77240" y="501091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77240" y="54132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Illustrative numbers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96188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human: on each task, the best real strategy from IMC Prosperity, a global trading competition. FuturePredict baseline: a reference forecast, also locked in advance.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 ARR in 24 days,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</a:t>
            </a:r>
            <a:r>
              <a:rPr lang="en-US" altLang="zh-CN" sz="1050" b="1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31</a:t>
            </a:r>
            <a:endParaRPr lang="zh-CN" sz="1050" b="1" i="0" u="none" strike="noStrike" cap="none" dirty="0">
              <a:solidFill>
                <a:srgbClr val="C2410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</a:t>
            </a:r>
            <a:r>
              <a:rPr lang="en-US" altLang="zh-CN" sz="40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  <a:r>
              <a:rPr lang="zh-CN" sz="40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practice run takes a quarter of the time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compute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Less time spent saving model checkpoints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come from separate internal tests and should not be added together.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agents do 3.1 days of work for every researcher-day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 and improved 7 times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When the environment gets noisy, top agents drop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RSI; they are our core research.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$3M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the AI economy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AI becomes a $7T economy and 10% goes to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Investors are paying up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AI's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The 2030 figure is our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sell environments, data and evals.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labs pay today; enterprise and personal agents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verified tasks and evals to post-train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10896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895344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task; about $300K for a complex environment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tests that prove an agent can do the job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license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customer,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 over 8–12 weeks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 </a:t>
            </a:r>
            <a:r>
              <a:rPr 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to one person‘s habits</a:t>
            </a:r>
            <a:r>
              <a:rPr lang="en-US" alt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and strategies</a:t>
            </a:r>
            <a:r>
              <a:rPr 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before it acts for them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monthly subscription, direct or through agent apps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$5–$10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user, per month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reference, consumer AI plans cost about $20 a month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 serves all three,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with environment builders and AI labs (January 2026). Enterprise and personal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Market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 sell expert hours.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assets that compound with every customer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035040" y="1572768"/>
            <a:ext cx="5605272" cy="3511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51460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Expert-data vendors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172200" y="1591056"/>
            <a:ext cx="5468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85800" y="188366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compounds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514600" y="188366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hours. Each project starts from scratch.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172200" y="188366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environments, verifiers and maps of where models fail, plus the models we train in them. Every customer and loop adds to them.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237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85800" y="252374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Cost curve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14600" y="252374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Rises with headcount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172200" y="252374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Falls with scale: once a verifier exists, new data is generated and checked automatically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85800" y="316382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Proof of quality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16382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Spot checks and reviewer judgment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172200" y="316382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results, hash-locked published results and measured training gains (+12%)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039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85800" y="380390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Velocity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514600" y="380390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 dirty="0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new domain means new recruiting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380390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days; $3M ARR in 24 days</a:t>
            </a:r>
            <a:r>
              <a:rPr lang="en-US" altLang="zh-CN" sz="1150" b="1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 </a:t>
            </a:r>
            <a:endParaRPr lang="zh-CN" sz="1150" b="1" i="0" u="none" strike="noStrike" cap="none" dirty="0">
              <a:solidFill>
                <a:srgbClr val="11111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25" name="SimReal 5025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685800" y="444398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514600" y="444398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 expert pools, paid by the hour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172200" y="444398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Practitioners from top trading firms and 200K+ reachable experts, whose work our verifiers check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084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548640" y="5248656"/>
            <a:ext cx="11091672" cy="548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77240" y="52486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286000" y="5248656"/>
            <a:ext cx="9171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hours; we sell verified gains.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Their costs rise with scale; ours fall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9713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56639" y="189695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9603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47082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6879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Market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Experts from the most competitive entry-level jobs and from research,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work agents are now built to do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come from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most competitive entry-level jobs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finance, software and more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streamline everyday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AI, mathematics and quantitative research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automate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 or study;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2007</Words>
  <Application>Microsoft Macintosh PowerPoint</Application>
  <PresentationFormat>Widescreen</PresentationFormat>
  <Paragraphs>355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Newsreader</vt:lpstr>
      <vt:lpstr>Instrument Sans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6</cp:revision>
  <dcterms:modified xsi:type="dcterms:W3CDTF">2026-10-09T15:07:25Z</dcterms:modified>
</cp:coreProperties>
</file>