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2" r:id="rId8"/>
    <p:sldId id="264" r:id="rId10"/>
    <p:sldId id="265" r:id="rId11"/>
    <p:sldId id="272" r:id="rId18"/>
    <p:sldId id="271" r:id="rId17"/>
    <p:sldId id="269" r:id="rId15"/>
    <p:sldId id="275" r:id="rId21"/>
    <p:sldId id="270" r:id="rId16"/>
    <p:sldId id="267" r:id="rId13"/>
    <p:sldId id="278" r:id="rId45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9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agents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be trained in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154680"/>
            <a:ext cx="74980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RL environments, verifiers and training data for agents that improve themselves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$6M seed round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0350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Investor presentation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0350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 AI-native neolab building RSI engines: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environments, verifiers and data that let agents improve themselves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Reached 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Product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7 environments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ML research, math, reasoning,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forecasting, software and accounting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model trained in our trading environment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did better on trading days it had never seen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benchmarks,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all shipped in our first 14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Quant founders, all 21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 and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Spent today on training data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RL environments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Together they turned down $0.9M+ in first-year pay to build SimReal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 ·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Stables, where $U grew from zero to $1.4B in a year and listed on Binance within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with YZi Labs, SIG, DRW and Wintermute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HSBC's HKD stablecoin project, working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Hedge fund intern, Citadel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LSE, Mathematics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 ·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Class; scholar of St John's College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Youngest researcher at the Cambridge AI research center, under Prof. Po-Ling Loh 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 and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competition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British Physics Olympiad Top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 ·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 on Millennium's alternative-data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Hong Kong event, with HKSTP (200+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Duke, Mathematics and Statistics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still fail at real work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right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actually happens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Wins on past data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doesn't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 a live trading contest (Alpha Arena), frontier models made money in only 6 of 32 runs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gap: </a:t>
            </a:r>
            <a:r>
              <a:rPr lang="zh-CN" sz="19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agents have nowhere realistic to practice, and no source of truth to learn from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Solution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 loop that turns real outcomes into better agents,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with AI inside it from day one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What's different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Today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14016"/>
            <a:ext cx="4005072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Humans hand-write every task, label and rubric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52928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62656"/>
            <a:ext cx="40050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SimReal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10128"/>
            <a:ext cx="400507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Agents help write new tasks and data, find failure modes and improve the environments they train in. Next, they will write the verifiers too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4005072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4133088"/>
            <a:ext cx="40050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224528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Proof point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443984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443984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 trading days it never saw,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after training in our loop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+12% is the best of several independent replications, measured on trading days held out from training.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Seven environments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is scored by something the agent can't argue with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81328"/>
            <a:ext cx="30175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548640" y="2432304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 across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As of October 4, 2026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3493008"/>
            <a:ext cx="301752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3621024"/>
            <a:ext cx="301752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Give the agent a world to practice in.</a:t>
            </a:r>
          </a:p>
          <a:p>
            <a:pPr marL="0" marR="0" lvl="0" indent="0" algn="l" rtl="0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Make the reward come from a market, a proof, hidden labels, an executable system or a real-world outcome.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931920" y="1572768"/>
            <a:ext cx="77083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931920" y="1591056"/>
            <a:ext cx="12344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Domain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257800" y="1591056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Environment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7315200" y="1591056"/>
            <a:ext cx="3429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Scored by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835640" y="1591056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3931920" y="188366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3931920" y="188366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257800" y="188366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0" y="188366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Profit on unseen market days, vs. the best human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835640" y="188366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102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3931920" y="239572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3931920" y="239572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ML research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5257800" y="239572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0" y="239572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official Kaggle leaderboard, on hidden labels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0835640" y="239572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302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3931920" y="290779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3931920" y="2907792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Math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257800" y="2907792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315200" y="2907792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proof is correct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835640" y="2907792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101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931920" y="3419856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931920" y="3419856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Reasoning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257800" y="3419856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7315200" y="3419856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answers to 749 human-written puzzles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835640" y="3419856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70</a:t>
            </a:r>
          </a:p>
        </p:txBody>
      </p:sp>
      <p:sp>
        <p:nvSpPr>
          <p:cNvPr id="5035" name="SimReal 5035"/>
          <p:cNvSpPr/>
          <p:nvPr/>
        </p:nvSpPr>
        <p:spPr>
          <a:xfrm>
            <a:off x="3931920" y="3931920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6" name="SimReal 5036"/>
          <p:cNvSpPr txBox="1"/>
          <p:nvPr/>
        </p:nvSpPr>
        <p:spPr>
          <a:xfrm>
            <a:off x="3931920" y="3931920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257800" y="3931920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7315200" y="3931920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real outcome, after the deadline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835640" y="3931920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27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3931920" y="4443984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3931920" y="4443984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257800" y="4443984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SWE-Forward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7315200" y="4443984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 the code must pass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0835640" y="4443984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45" name="SimReal 5045"/>
          <p:cNvSpPr/>
          <p:nvPr/>
        </p:nvSpPr>
        <p:spPr>
          <a:xfrm>
            <a:off x="3931920" y="4956048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6" name="SimReal 5046"/>
          <p:cNvSpPr txBox="1"/>
          <p:nvPr/>
        </p:nvSpPr>
        <p:spPr>
          <a:xfrm>
            <a:off x="3931920" y="4956048"/>
            <a:ext cx="123444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Accounting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5257800" y="4956048"/>
            <a:ext cx="196596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Close</a:t>
            </a:r>
          </a:p>
        </p:txBody>
      </p:sp>
      <p:sp>
        <p:nvSpPr>
          <p:cNvPr id="5048" name="SimReal 5048"/>
          <p:cNvSpPr txBox="1"/>
          <p:nvPr/>
        </p:nvSpPr>
        <p:spPr>
          <a:xfrm>
            <a:off x="7315200" y="4956048"/>
            <a:ext cx="3383280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Whether the books reconcile</a:t>
            </a:r>
          </a:p>
        </p:txBody>
      </p:sp>
      <p:sp>
        <p:nvSpPr>
          <p:cNvPr id="5049" name="SimReal 5049"/>
          <p:cNvSpPr txBox="1"/>
          <p:nvPr/>
        </p:nvSpPr>
        <p:spPr>
          <a:xfrm>
            <a:off x="10835640" y="4956048"/>
            <a:ext cx="804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Private</a:t>
            </a:r>
          </a:p>
        </p:txBody>
      </p:sp>
      <p:sp>
        <p:nvSpPr>
          <p:cNvPr id="5050" name="SimReal 5050"/>
          <p:cNvSpPr/>
          <p:nvPr/>
        </p:nvSpPr>
        <p:spPr>
          <a:xfrm>
            <a:off x="3931920" y="5468112"/>
            <a:ext cx="77083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51" name="SimReal 5051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SWE-Forward and Month-End Close are not open-sourced.</a:t>
            </a:r>
          </a:p>
        </p:txBody>
      </p:sp>
      <p:sp>
        <p:nvSpPr>
          <p:cNvPr id="5052" name="SimReal 505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53" name="SimReal 505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Picture 336" descr="xita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2928" y="1517904"/>
            <a:ext cx="8732520" cy="1353312"/>
          </a:xfrm>
          <a:prstGeom prst="rect">
            <a:avLst/>
          </a:prstGeom>
        </p:spPr>
      </p:pic>
      <p:pic>
        <p:nvPicPr>
          <p:cNvPr id="338" name="Picture 337" descr="mlben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2928" y="2926080"/>
            <a:ext cx="8732520" cy="1353312"/>
          </a:xfrm>
          <a:prstGeom prst="rect">
            <a:avLst/>
          </a:prstGeom>
        </p:spPr>
      </p:pic>
      <p:pic>
        <p:nvPicPr>
          <p:cNvPr id="339" name="Picture 338" descr="foreca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2928" y="4334256"/>
            <a:ext cx="8732520" cy="1353312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How it works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environments up close.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Each scores the AI against something real: a human, a leaderboard, an outcome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11576304" y="1517904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1517904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777240" y="1664208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777240" y="1865376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777240" y="2194560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writes a trading strategy.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risk-adjusted profit vs. the best human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2926080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/>
          <p:nvPr/>
        </p:nvSpPr>
        <p:spPr>
          <a:xfrm>
            <a:off x="11576304" y="2926080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548640" y="2926080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77240" y="3072384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AI 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77240" y="3273552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777240" y="3602736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runs an ML project.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rank on the real Kaggle leaderboard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4334256"/>
            <a:ext cx="2313432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/>
          <p:nvPr/>
        </p:nvSpPr>
        <p:spPr>
          <a:xfrm>
            <a:off x="11576304" y="4334256"/>
            <a:ext cx="64008" cy="135331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/>
          <p:nvPr/>
        </p:nvSpPr>
        <p:spPr>
          <a:xfrm>
            <a:off x="548640" y="4334256"/>
            <a:ext cx="45720" cy="1353312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777240" y="448056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777240" y="4681728"/>
            <a:ext cx="20116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777240" y="5010912"/>
            <a:ext cx="19659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AI forecasts real events.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Score: error once the outcome is known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Xitadel: published results; the human benchmark is the best real strategy from IMC Prosperity, a global trading competition. MLBench: a baseline run, scored on the official leaderboard. FuturePredict: the numbers are illustrative.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1845663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1896957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9603" y="1768972"/>
            <a:ext cx="989745" cy="485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1886053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46879" y="1885493"/>
            <a:ext cx="1368530" cy="252374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126236" y="4507992"/>
            <a:ext cx="693419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092958" y="450799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749166" y="4507992"/>
            <a:ext cx="842008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70142" y="4574186"/>
            <a:ext cx="1097280" cy="324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610219" y="4507992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167366" y="4586963"/>
            <a:ext cx="1097279" cy="299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173861" y="5148072"/>
            <a:ext cx="59817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772918" y="5206989"/>
            <a:ext cx="1097280" cy="33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621530" y="5198252"/>
            <a:ext cx="1097280" cy="356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685407" y="5148072"/>
            <a:ext cx="666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8318754" y="5242036"/>
            <a:ext cx="1097280" cy="2692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188321" y="5148072"/>
            <a:ext cx="105537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Experts from the most competitive entry-level jobs and from research,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work agents are now built to do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Practitioners in our R&amp;D come from top trading firms and markets, including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23957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/>
          <p:nvPr/>
        </p:nvSpPr>
        <p:spPr>
          <a:xfrm>
            <a:off x="548640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/>
          <p:nvPr/>
        </p:nvSpPr>
        <p:spPr>
          <a:xfrm>
            <a:off x="548640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most competitive entry-level jobs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22960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Trading, finance, software and more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22960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streamline everyday work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6231636" y="2523744"/>
            <a:ext cx="5408676" cy="96926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6231636" y="2523744"/>
            <a:ext cx="45720" cy="96926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505956" y="2615184"/>
            <a:ext cx="4951476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Research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505956" y="2926080"/>
            <a:ext cx="4951476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AI, mathematics and quantitative research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505956" y="3182112"/>
            <a:ext cx="49514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for agents that automate research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2011680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815584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156448" y="3602736"/>
            <a:ext cx="141732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619488" y="3602736"/>
            <a:ext cx="2020824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universities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169664"/>
            <a:ext cx="110916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424281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Students and alumni of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 or study; no endorsement implied.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a year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One vendor, Mercor,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If AI becomes a $7T economy and 10% goes to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for expert data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Investors are paying up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AI's new data business: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is shifting to experts and environments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The 2030 figure is our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Data vendors sell expert hours.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build assets that compound with every customer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035040" y="1572768"/>
            <a:ext cx="5605272" cy="3511296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251460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Expert-data vendors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172200" y="1591056"/>
            <a:ext cx="546811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685800" y="188366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compounds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2514600" y="188366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 hours. Each project starts from scratch.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172200" y="188366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Proprietary environments, verifiers and maps of where models fail, plus the models we train in them. Every customer and loop adds to them.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2374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85800" y="252374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Cost curve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514600" y="252374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Rises with headcount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172200" y="252374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Falls with scale: once a verifier exists, new data is generated and checked automatically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16382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685800" y="316382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Proof of quality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2514600" y="316382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Spot checks and reviewer judgment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172200" y="316382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Hidden tests, out-of-sample results, hash-locked published results and measured training gains (+12%)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0390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685800" y="380390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Velocity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2514600" y="380390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new domain means new recruiting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6172200" y="380390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environments in 14 days; $7M ARR in 24 days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44439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685800" y="4443984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514600" y="4443984"/>
            <a:ext cx="3383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Large expert pools, paid by the hour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6172200" y="4443984"/>
            <a:ext cx="533095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Practitioners from top trading firms and 200K+ reachable experts, whose work our verifiers check</a:t>
            </a:r>
          </a:p>
        </p:txBody>
      </p:sp>
      <p:sp>
        <p:nvSpPr>
          <p:cNvPr id="5029" name="SimReal 5029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0" name="SimReal 5030"/>
          <p:cNvSpPr/>
          <p:nvPr/>
        </p:nvSpPr>
        <p:spPr>
          <a:xfrm>
            <a:off x="548640" y="5248656"/>
            <a:ext cx="11091672" cy="5486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777240" y="5248656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In short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2286000" y="5248656"/>
            <a:ext cx="917143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They sell hours; we sell verified gains. 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Their costs rise with scale; ours fall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now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Agents are starting to improve themselves.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now the bottleneck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have built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doing AI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agents do 3.1 days of work for every researcher-day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SimReal-MLBench: an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is improving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 and improved 7 times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When the environment gets noisy, top agents drop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Seven environments in 14 days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 to build more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55448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Our position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377440" y="5138928"/>
            <a:ext cx="907999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gate RSI; they are our core research. 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days, with no outside capital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Across 5 open benchmarks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0" name="SimReal 5030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1" name="SimReal 5031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Each practice run takes a quarter of the time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compute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Less time spent saving model checkpoints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come from separate internal tests and should not be added together.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The round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Raising a $6M seed round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to scale environments, RSI and delivery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651760" cy="35295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47088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Raising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139696"/>
            <a:ext cx="210312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0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$6M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3090672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Seed round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4535424"/>
            <a:ext cx="2103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Three directions, each with a milestone  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29000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85032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85032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and data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85032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Take the trading playbook to more expert domains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3685032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3685032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3685032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 engineers  ·  Expert network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3685032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685032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10+ expert-domain environments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242304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498336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498336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498336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Scale self-improvement to larger models and more domains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6498336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6498336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498336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Compute  ·  Researchers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498336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498336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RSI on open-weight large models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9055608" y="1572768"/>
            <a:ext cx="2584704" cy="352958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931164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311640" y="1993392"/>
            <a:ext cx="212750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Delivery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9311640" y="2761488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early demand into lasting contracts</a:t>
            </a:r>
          </a:p>
        </p:txBody>
      </p:sp>
      <p:sp>
        <p:nvSpPr>
          <p:cNvPr id="5032" name="SimReal 5032"/>
          <p:cNvSpPr/>
          <p:nvPr/>
        </p:nvSpPr>
        <p:spPr>
          <a:xfrm>
            <a:off x="9311640" y="3401568"/>
            <a:ext cx="21275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3" name="SimReal 5033"/>
          <p:cNvSpPr txBox="1"/>
          <p:nvPr/>
        </p:nvSpPr>
        <p:spPr>
          <a:xfrm>
            <a:off x="9311640" y="3493008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the money goes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9311640" y="3694176"/>
            <a:ext cx="2127504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Delivery team  ·  Sales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9311640" y="4187952"/>
            <a:ext cx="21275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Milestone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9311640" y="4389120"/>
            <a:ext cx="212750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 customers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business@simreal.co</a:t>
            </a:r>
            <a:r>
              <a:rPr lang="zh-CN" sz="11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·   </a:t>
            </a:r>
            <a:r>
              <a:rPr lang="zh-CN" sz="1100" b="0" i="0" u="none" strike="noStrike" cap="none">
                <a:solidFill>
                  <a:srgbClr val="111110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simreal.com.cn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Problem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Round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Business model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We sell environments, data and evals.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Frontier labs pay today; enterprise and personal agents next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17904"/>
            <a:ext cx="3514344" cy="376732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Frontier AI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22960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Environments, verified tasks and evals to post-train their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22960" y="3108960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22960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22960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environment and per task, on quarterly contracts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22960" y="3895344"/>
            <a:ext cx="2965704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22960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22960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$300K–$1M+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22960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lab, per quarter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22960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Market rates: $200–$2,000 a task; about $300K for a complex environment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337304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11624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11624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611624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611624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environments and tests that prove an agent can do the job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611624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611624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611624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paid pilot, then an annual license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4611624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4611624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4611624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$200K–$800K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4611624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customer, per year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4611624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Pilot: $50K–$150K over 8–12 weeks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8125968" y="1517904"/>
            <a:ext cx="3514344" cy="376732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8400288" y="170078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Later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8400288" y="19202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8400288" y="241401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They buy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400288" y="261518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Short practice runs that fit an agent to one person's habits before it acts for them</a:t>
            </a:r>
          </a:p>
        </p:txBody>
      </p:sp>
      <p:sp>
        <p:nvSpPr>
          <p:cNvPr id="5036" name="SimReal 5036"/>
          <p:cNvSpPr/>
          <p:nvPr/>
        </p:nvSpPr>
        <p:spPr>
          <a:xfrm>
            <a:off x="8400288" y="31089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7" name="SimReal 5037"/>
          <p:cNvSpPr txBox="1"/>
          <p:nvPr/>
        </p:nvSpPr>
        <p:spPr>
          <a:xfrm>
            <a:off x="8400288" y="3200400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How we charge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8400288" y="3401568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monthly subscription, direct or through agent apps</a:t>
            </a:r>
          </a:p>
        </p:txBody>
      </p:sp>
      <p:sp>
        <p:nvSpPr>
          <p:cNvPr id="5039" name="SimReal 5039"/>
          <p:cNvSpPr/>
          <p:nvPr/>
        </p:nvSpPr>
        <p:spPr>
          <a:xfrm>
            <a:off x="8400288" y="3895344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0" name="SimReal 5040"/>
          <p:cNvSpPr txBox="1"/>
          <p:nvPr/>
        </p:nvSpPr>
        <p:spPr>
          <a:xfrm>
            <a:off x="8400288" y="3986784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Estimated price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8400288" y="4169664"/>
            <a:ext cx="2965704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$5–$10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8400288" y="457200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 user, per month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8400288" y="4791456"/>
            <a:ext cx="296570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 reference, consumer AI plans cost about $20 a month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 serves all three, 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and every new model needs new tasks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548640" y="590702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Estimates, not signed prices. Lab prices are market rates from Epoch AI interviews with environment builders and AI labs (January 2026). Enterprise and personal prices are our assumptions.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7" name="SimReal 504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