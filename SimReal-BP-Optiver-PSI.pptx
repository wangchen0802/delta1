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2" r:id="rId8"/>
    <p:sldId id="264" r:id="rId10"/>
    <p:sldId id="265" r:id="rId11"/>
    <p:sldId id="272" r:id="rId18"/>
    <p:sldId id="271" r:id="rId17"/>
    <p:sldId id="269" r:id="rId15"/>
    <p:sldId id="275" r:id="rId21"/>
    <p:sldId id="270" r:id="rId16"/>
    <p:sldId id="267" r:id="rId13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6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industry's best agents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will be trained in our worlds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5468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environments, verifiers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and data for self-improving AI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10,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$6M seed round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Prepared for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Optiver PSI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Prepared for Optiver PSI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environments, verifiers and data that let agents improve themselves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$3M ARR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Reached 24 days after founding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Flagship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Trading environment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making, options, baskets;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risk-adjusted P&amp;L on a held-out day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Early result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 held-out trading days, after training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our trading environment (best of several runs)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founders, all 21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 and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600+ GitHub stars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our open benchmarks;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environments built in 14 days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Spent today on training data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RL environments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Prepared for Optiver PSI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21-year-old founders.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Together they turned down $1M+ in first-year pay to build SimReal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 · 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Employee #1 at United Stables: $U grew from zero to $1.5B+ and listed on Binance within a month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with YZi Labs, SIG, DRW and Wintermute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Only intern on HSBC's HKD stablecoin project, working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intern, Citadel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 · 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St John's College, First Class with scholarship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researcher at the Cambridge AI research center, under Prof. Po-Ling Loh 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experience at Jane Street, Citadel and Optiver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STEP maths exam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Physics Olympiad Top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 · 21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 on Millennium's alternative-data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Play's first Hong Kong event, with HKSTP (200+ attendees)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Duke, Mathematics and Statistics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Prepared for Optiver PSI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can reason.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They still fail at real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right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actually happens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Profitable in backtest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doesn't reconcile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a live trading contest (Alpha Arena), frontier models made money in only 6 of 32 runs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gap: </a:t>
            </a:r>
            <a:r>
              <a:rPr lang="zh-CN" sz="19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agents have nowhere realistic to practice, and no source of truth to learn from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Prepared for Optiver PSI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loop that turns real outcomes into better agents,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with AI inside it from day one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What's different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Today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14016"/>
            <a:ext cx="40050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Tasks, labels and rubrics are mostly written by hand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52928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62656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10128"/>
            <a:ext cx="40050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help write new tasks and data, find failure modes and improve the environments they train in. Next, they will write the verifiers too. AI-native from the start.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4005072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4133088"/>
            <a:ext cx="4005072" cy="10789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22452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Early result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443984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443984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 trading days it never saw,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 training in our loop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+12% is the best of several independent replications, measured on trading days held out from training.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Prepared for Optiver PSI  ·  October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Trading is the flagship environment.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same engine runs ML research, forecasting and more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6812280" cy="42062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96112" y="1847088"/>
            <a:ext cx="61173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FLAGSHIP  ·  TRADING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96112" y="2084832"/>
            <a:ext cx="61173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  <a:r>
              <a:rPr lang="zh-CN" sz="10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 open source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96112" y="2706624"/>
            <a:ext cx="611733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researches a market, codes a strategy and is scored on a held-out trading day it never saw.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96112" y="3383280"/>
            <a:ext cx="61173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Seven published tasks, five types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96112" y="3639312"/>
            <a:ext cx="2168957" cy="274320"/>
          </a:xfrm>
          <a:prstGeom prst="rect">
            <a:avLst/>
          </a:prstGeom>
          <a:solidFill>
            <a:srgbClr val="2C2B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96112" y="3639312"/>
            <a:ext cx="216895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Single-product market making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3156509" y="3639312"/>
            <a:ext cx="1762963" cy="274320"/>
          </a:xfrm>
          <a:prstGeom prst="rect">
            <a:avLst/>
          </a:prstGeom>
          <a:solidFill>
            <a:srgbClr val="2C2B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3156509" y="3639312"/>
            <a:ext cx="176296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Options vs. underlying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010912" y="3639312"/>
            <a:ext cx="1762963" cy="274320"/>
          </a:xfrm>
          <a:prstGeom prst="rect">
            <a:avLst/>
          </a:prstGeom>
          <a:solidFill>
            <a:srgbClr val="2C2B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010912" y="3639312"/>
            <a:ext cx="176296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Baskets vs. components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896112" y="4005072"/>
            <a:ext cx="2642616" cy="274320"/>
          </a:xfrm>
          <a:prstGeom prst="rect">
            <a:avLst/>
          </a:prstGeom>
          <a:solidFill>
            <a:srgbClr val="2C2B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896112" y="4005072"/>
            <a:ext cx="264261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Conversion with tariffs and storage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3630168" y="4005072"/>
            <a:ext cx="2777947" cy="274320"/>
          </a:xfrm>
          <a:prstGeom prst="rect">
            <a:avLst/>
          </a:prstGeom>
          <a:solidFill>
            <a:srgbClr val="2C2B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3630168" y="4005072"/>
            <a:ext cx="277794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Multi-asset, disclosed counterparties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896112" y="4498848"/>
            <a:ext cx="61173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896112" y="4608576"/>
            <a:ext cx="15544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2496312" y="4608576"/>
            <a:ext cx="45171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 held-out trading days after RL training (best of several runs)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Scored on risk-adjusted P&amp;L; best human strategy = 80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635240" y="1572768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Supporting environments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635240" y="1847088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635240" y="1938528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ML research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635240" y="2139696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635240" y="2523744"/>
            <a:ext cx="40050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 past Kaggle competitions, ranked on the final human leaderboard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7635240" y="305409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635240" y="3145536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7635240" y="334670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7635240" y="3730752"/>
            <a:ext cx="40050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Questions with no answer yet, scored on the resolved outcome against a sealed baseline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7635240" y="4261104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7635240" y="435254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Also built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635240" y="4572000"/>
            <a:ext cx="400507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Math proofs (MathmoBench)  ·  Reasoning (Puzzle Benchmark)</a:t>
            </a:r>
          </a:p>
          <a:p>
            <a:pPr marL="0" marR="0" lvl="0" indent="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Software (SWE-Forward)  ·  Accounting (Month-End Close)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7635240" y="535838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600+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GitHub stars across our open benchmarks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SWE-Forward and Month-End Close are private. Best human: the best real strategy on each task from IMC Prosperity, a trading competition.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Prepared for Optiver PSI  ·  October 2026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Inside the trading environment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Research, code, then a private held-out 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Scored on risk-adjusted P&amp;L against the best human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783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56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Research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32304"/>
            <a:ext cx="296570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Historical order books and trades for 2–8 training days, with position limits and product rules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37304" y="1572768"/>
            <a:ext cx="3514344" cy="1783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611624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611624" y="1956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Code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432304"/>
            <a:ext cx="296570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agent backtests locally and submits a Python strategy:  Trader.run(state) → orders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25968" y="1572768"/>
            <a:ext cx="3514344" cy="1783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400288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400288" y="1956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Held-out replay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432304"/>
            <a:ext cx="296570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Run step by step on a private test day. At each step the strategy sees only the order books, reported trades and its own position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062984" y="1572768"/>
            <a:ext cx="27432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851648" y="1572768"/>
            <a:ext cx="27432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639312"/>
            <a:ext cx="5760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Published results  ·  score out of 100, best human = 80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9319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Best human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2148840" y="3995928"/>
            <a:ext cx="2706624" cy="15544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928616" y="39319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80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548640" y="42976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 6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2148840" y="4361688"/>
            <a:ext cx="2615275" cy="1554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4837267" y="4297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77.3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6634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GLM 5.3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2148840" y="4727448"/>
            <a:ext cx="1018367" cy="155448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3240359" y="46634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30.1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0292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Kimi K3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2148840" y="5093208"/>
            <a:ext cx="937169" cy="155448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159161" y="50292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27.7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39496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DeepSeek V4 Pro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2148840" y="5458968"/>
            <a:ext cx="832287" cy="155448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3054279" y="539496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24.6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766560" y="3639312"/>
            <a:ext cx="48737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Score and controls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6766560" y="3931920"/>
            <a:ext cx="487375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6766560" y="4005072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7818120" y="4005072"/>
            <a:ext cx="382219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(P&amp;L − 0.1 × max drawdown) × Sharpe factor (0.8–1.0)</a:t>
            </a:r>
          </a:p>
          <a:p>
            <a:pPr marL="0" marR="0" lvl="0" indent="0" algn="l" rtl="0">
              <a:lnSpc>
                <a:spcPct val="114999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Rescaled so the best human = 80 and twice it = 100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6766560" y="4535424"/>
            <a:ext cx="487375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6766560" y="4608576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Selection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7818120" y="4608576"/>
            <a:ext cx="382219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Tasks fixed before any model was scored; reserve tasks replace test days once they are no longer hidden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6766560" y="5138928"/>
            <a:ext cx="487375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6766560" y="521208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Audit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818120" y="5212080"/>
            <a:ext cx="382219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Full results hash-committed (SHA-256); the training reward is kept separate from this rubric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Best human: the best real strategy on each task from IMC Prosperity, a trading competition. Seven published tasks across five task types.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Prepared for Optiver PSI  ·  October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1845663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189695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99603" y="1768972"/>
            <a:ext cx="989745" cy="485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1886053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6879" y="1885493"/>
            <a:ext cx="1368530" cy="252374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26236" y="4507992"/>
            <a:ext cx="69341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92958" y="45079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49166" y="4507992"/>
            <a:ext cx="84200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70142" y="4574186"/>
            <a:ext cx="1097280" cy="32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610219" y="450799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67366" y="4586963"/>
            <a:ext cx="1097279" cy="299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173861" y="5148072"/>
            <a:ext cx="59817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772918" y="5206989"/>
            <a:ext cx="1097280" cy="33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621530" y="5198252"/>
            <a:ext cx="1097280" cy="35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685407" y="5148072"/>
            <a:ext cx="666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318754" y="5242036"/>
            <a:ext cx="1097280" cy="26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188321" y="5148072"/>
            <a:ext cx="10553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Experts from the most competitive entry-level jobs and from research,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work agents are now built to do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Practitioners in our R&amp;D have worked at top trading firms and markets, including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3957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/>
          <p:nvPr/>
        </p:nvSpPr>
        <p:spPr>
          <a:xfrm>
            <a:off x="548640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most competitive entry-level jobs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finance, software and more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streamline everyday work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6231636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505956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Research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05956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AI, mathematics and quantitative research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505956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automate research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011680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 experts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815584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156448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619488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universities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169664"/>
            <a:ext cx="11091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242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Students and alumni of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have worked or studied; no endorsement implied.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Prepared for Optiver PSI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 today.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One vendor, Mercor, grew revenue 27x in 16 months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Combined revenue of 50+ vendors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 scenario: our estimate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If AI becomes a $7T economy and 10% goes to training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run-rate revenue: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for expert data is growing fast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$2B to $20B in 17 months (in talks)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Investors are paying up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AI's new data business: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growth in one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is shifting to experts and environments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Deedy Das market map (Jul 2026); Mercor (TechCrunch, Dealroom); Snorkel AI (Sep 2026). The 2030 figure is our estimate.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Prepared for Optiver PSI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vendors sell expert hours.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build assets that compound with every customer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035040" y="1572768"/>
            <a:ext cx="5605272" cy="3511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51460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Expert-data vendors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172200" y="1591056"/>
            <a:ext cx="54681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685800" y="188366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What compounds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514600" y="188366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hours. Each project starts from scratch.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172200" y="188366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Proprietary environments, verifiers and maps of where models fail, plus the models we train in them. Every customer and loop adds to them.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237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85800" y="252374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Cost curve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514600" y="252374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Rises with headcount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172200" y="252374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Falls with scale: once a verifier exists, new data is generated and checked automatically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1638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85800" y="316382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Proof of quality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514600" y="316382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Spot checks and reviewer judgment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172200" y="316382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tests, out-of-sample scoring, hash-committed (SHA-256) results and measured training gains (+12%)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0390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85800" y="380390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Velocity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2514600" y="380390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new domain means new recruiting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172200" y="380390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environments in 14 days; $3M ARR in 24 days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685800" y="444398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514600" y="444398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Large expert pools, paid by the hour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172200" y="444398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Practitioners from top trading firms and 200K+ reachable experts, whose work our verifiers check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084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/>
          <p:nvPr/>
        </p:nvSpPr>
        <p:spPr>
          <a:xfrm>
            <a:off x="548640" y="5248656"/>
            <a:ext cx="11091672" cy="5486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77240" y="5248656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In short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2286000" y="5248656"/>
            <a:ext cx="9171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They sell hours; we sell verified gains.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Their costs rise with scale; ours fall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Prepared for Optiver PSI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starting to improve themselves.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now the bottleneck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have built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doing AI research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OpenAI: agents do 3.1 days of work for every researcher-day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OpenAI, Sep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SimReal-MLBench: an exam for AI research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 past Kaggle competitions, scored against humans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improving itself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rewrote its own code and improved 7 times in 8 days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Weco AIDE², Sep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Self-improvement working in trading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+12% on held-out trading days (best of several runs)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the bottleneck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When the environment gets noisy, top agents drop from 83.9% to 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Breaking the Environment Wall, Sep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Seven environments in 14 days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experts to build more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Our position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77440" y="5138928"/>
            <a:ext cx="9079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gate self-improvement; they are our core research. 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neolabs have no revenue; we hit $3M ARR in 24 days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OpenAI (Sep 6, 2026); Weco AI, arXiv 2609.26457; Breaking the Environment Wall, arXiv 2609.29773; Deedy Das neolab list (May 2026). +12% is the best of several replications.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Prepared for Optiver PSI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Founded September 10,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$3M ARR in 24 days, with no outside capital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324002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351434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3514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shipped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3514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training loop working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556760" y="1536192"/>
            <a:ext cx="324002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Week 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37304" y="2103120"/>
            <a:ext cx="351434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10+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337304" y="2779776"/>
            <a:ext cx="3514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Types of data delivered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345424" y="1536192"/>
            <a:ext cx="324002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25968" y="2103120"/>
            <a:ext cx="351434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$3M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125968" y="2779776"/>
            <a:ext cx="3514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125968" y="3072384"/>
            <a:ext cx="3514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Days counted from founding (September 10, 2026)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Pipeline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infrastructure: more training per unit of compute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Each practice run takes a quarter of the time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More scored attempts on the same compute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Less time spent saving model checkpoints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Infrastructure figures come from separate internal tests and should not be added together.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Prepared for Optiver PSI  ·  October 2026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Optiver PSI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clear connection to market making,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with a long runway as AI moves into trading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PSI looks for “a clear connection and long-term innovation potential for its core business” and invests people as well as capital.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938528"/>
            <a:ext cx="3514344" cy="2468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841248" y="212140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359152"/>
            <a:ext cx="29291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Clear connection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889504"/>
            <a:ext cx="292912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Our flagship environment tests agents on market making, options, baskets and position limits, scored on risk-adjusted P&amp;L on a held-out day.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938528"/>
            <a:ext cx="3514344" cy="2468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212140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359152"/>
            <a:ext cx="29291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Long-term potential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2889504"/>
            <a:ext cx="292912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As AI agents move into research and trading, they must be tested out of sample before they touch capital. Environments and verifiers are that test.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25968" y="1938528"/>
            <a:ext cx="3514344" cy="2468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418576" y="212140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418576" y="2359152"/>
            <a:ext cx="29291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People as well as capital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2889504"/>
            <a:ext cx="292912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Optiver's market-structure experience would make our environments more realistic. Our CTO has quant experience at Optiver.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4681728"/>
            <a:ext cx="11091672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22960" y="4681728"/>
            <a:ext cx="292608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Raising a $6M seed round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023360" y="4681728"/>
            <a:ext cx="7434072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 scale environments, self-improvement research and delivery.   </a:t>
            </a:r>
            <a:r>
              <a:rPr lang="zh-CN" sz="125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Prepared for Optiver PSI  ·  October 2026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We sell environments, data and evals.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Frontier labs pay today; enterprise and personal agents next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14344" cy="37673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Frontier 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verified tasks and evals to post-train their models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3108960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22960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environment and per task, on quarterly contracts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22960" y="3895344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22960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22960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$300K–$1M+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lab, per quarter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rates: $200–$2,000 a task; about $300K for a complex environment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11624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11624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611624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Custom environments and tests that prove an agent can do the job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611624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611624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611624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paid pilot, then an annual license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611624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611624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611624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$200K–$800K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611624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customer, per year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611624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Pilot: $50K–$150K over 8–12 weeks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125968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400288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Later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400288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Personal agents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400288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400288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 an agent to one person's habits and strategies before it acts for them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400288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400288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00288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monthly subscription, direct or through agent apps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8400288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8400288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400288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$5–$10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8400288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user, per month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8400288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reference, consumer AI plans cost about $20 a month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One set of environments serves all three, 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and every new model needs new tasks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90702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Estimates, not signed prices. Lab prices are market rates from Epoch AI interviews with environment builders and AI labs (January 2026). Enterprise and personal prices are our assumptions.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Prepared for Optiver PSI  ·  October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