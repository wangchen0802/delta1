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产品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33856"/>
            <a:ext cx="1108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三个训练环境已上线，</a:t>
            </a:r>
            <a:pPr indent="0" marL="0">
              <a:buNone/>
            </a:pPr>
            <a:r>
              <a:rPr lang="en-US" sz="19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每个动作都按真实结果打分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4023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我们是谁</a:t>
            </a:r>
            <a:pPr algn="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pPr algn="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pPr algn="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方法与产品</a:t>
            </a:r>
            <a:pPr algn="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优势与竞争</a:t>
            </a:r>
            <a:pPr algn="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商业与进展</a:t>
            </a:r>
            <a:pPr algn="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</a:t>
            </a:r>
            <a:endParaRPr lang="en-US" sz="900" dirty="0"/>
          </a:p>
        </p:txBody>
      </p:sp>
      <p:pic>
        <p:nvPicPr>
          <p:cNvPr id="6" name="Image 0" descr="/home/claude/v61/logo_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005840" cy="22585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机密 · 仅供受邀投资机构内部评估使用 · 2026年10月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27632"/>
            <a:ext cx="3584448" cy="3950208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627632"/>
            <a:ext cx="3584448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17922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交易环境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9751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Xitadel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3108960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102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2414016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回放真实交易日，和同一资产上的专业交易员比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26791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真实订单簿 → AI逐笔下单 → 市场结算盈亏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3232" y="2999232"/>
            <a:ext cx="3255264" cy="201168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30815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XITADEL · 交易日回放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278124" y="3122676"/>
            <a:ext cx="64008" cy="64008"/>
          </a:xfrm>
          <a:prstGeom prst="ellipse">
            <a:avLst/>
          </a:prstGeom>
          <a:solidFill>
            <a:srgbClr val="E0703A"/>
          </a:solidFill>
          <a:ln w="12700">
            <a:solidFill>
              <a:srgbClr val="E070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401568" y="3081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实时撮合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336499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07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101.25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1316736" y="3387852"/>
            <a:ext cx="341986" cy="91440"/>
          </a:xfrm>
          <a:prstGeom prst="rect">
            <a:avLst/>
          </a:prstGeom>
          <a:solidFill>
            <a:srgbClr val="A6461C"/>
          </a:solidFill>
          <a:ln w="12700">
            <a:solidFill>
              <a:srgbClr val="A6461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352044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07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101.20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1316736" y="3543300"/>
            <a:ext cx="217627" cy="91440"/>
          </a:xfrm>
          <a:prstGeom prst="rect">
            <a:avLst/>
          </a:prstGeom>
          <a:solidFill>
            <a:srgbClr val="A6461C"/>
          </a:solidFill>
          <a:ln w="12700">
            <a:solidFill>
              <a:srgbClr val="A6461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367588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07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101.15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1316736" y="3698748"/>
            <a:ext cx="466344" cy="91440"/>
          </a:xfrm>
          <a:prstGeom prst="rect">
            <a:avLst/>
          </a:prstGeom>
          <a:solidFill>
            <a:srgbClr val="A6461C"/>
          </a:solidFill>
          <a:ln w="12700">
            <a:solidFill>
              <a:srgbClr val="A646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" y="383133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07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101.10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1316736" y="3854196"/>
            <a:ext cx="279806" cy="91440"/>
          </a:xfrm>
          <a:prstGeom prst="rect">
            <a:avLst/>
          </a:prstGeom>
          <a:solidFill>
            <a:srgbClr val="A6461C"/>
          </a:solidFill>
          <a:ln w="12700">
            <a:solidFill>
              <a:srgbClr val="A6461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404164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101.05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1316736" y="4064508"/>
            <a:ext cx="373075" cy="91440"/>
          </a:xfrm>
          <a:prstGeom prst="rect">
            <a:avLst/>
          </a:prstGeom>
          <a:solidFill>
            <a:srgbClr val="5E5B55"/>
          </a:solidFill>
          <a:ln w="12700">
            <a:solidFill>
              <a:srgbClr val="5E5B5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2960" y="419709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101.00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1316736" y="4219956"/>
            <a:ext cx="528523" cy="91440"/>
          </a:xfrm>
          <a:prstGeom prst="rect">
            <a:avLst/>
          </a:prstGeom>
          <a:solidFill>
            <a:srgbClr val="5E5B55"/>
          </a:solidFill>
          <a:ln w="12700">
            <a:solidFill>
              <a:srgbClr val="5E5B5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4352544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100.95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1316736" y="4375404"/>
            <a:ext cx="248717" cy="91440"/>
          </a:xfrm>
          <a:prstGeom prst="rect">
            <a:avLst/>
          </a:prstGeom>
          <a:solidFill>
            <a:srgbClr val="5E5B55"/>
          </a:solidFill>
          <a:ln w="12700">
            <a:solidFill>
              <a:srgbClr val="5E5B5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2960" y="450799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100.90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316736" y="4530852"/>
            <a:ext cx="310896" cy="91440"/>
          </a:xfrm>
          <a:prstGeom prst="rect">
            <a:avLst/>
          </a:prstGeom>
          <a:solidFill>
            <a:srgbClr val="5E5B55"/>
          </a:solidFill>
          <a:ln w="12700">
            <a:solidFill>
              <a:srgbClr val="5E5B5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2960" y="3246120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卖盘</a:t>
            </a:r>
            <a:endParaRPr lang="en-US" sz="65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4663440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买盘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2084832" y="3646170"/>
            <a:ext cx="1746504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084832" y="4014216"/>
            <a:ext cx="1746504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084832" y="4382262"/>
            <a:ext cx="1746504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V="1">
            <a:off x="2084832" y="3961638"/>
            <a:ext cx="209580" cy="73609"/>
          </a:xfrm>
          <a:prstGeom prst="line">
            <a:avLst/>
          </a:prstGeom>
          <a:noFill/>
          <a:ln w="15875">
            <a:solidFill>
              <a:srgbClr val="E8E6E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294412" y="3961638"/>
            <a:ext cx="174650" cy="199796"/>
          </a:xfrm>
          <a:prstGeom prst="line">
            <a:avLst/>
          </a:prstGeom>
          <a:noFill/>
          <a:ln w="15875">
            <a:solidFill>
              <a:srgbClr val="E8E6E1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flipV="1">
            <a:off x="2469063" y="3930091"/>
            <a:ext cx="209580" cy="231343"/>
          </a:xfrm>
          <a:prstGeom prst="line">
            <a:avLst/>
          </a:prstGeom>
          <a:noFill/>
          <a:ln w="15875">
            <a:solidFill>
              <a:srgbClr val="E8E6E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678643" y="3930091"/>
            <a:ext cx="227046" cy="84125"/>
          </a:xfrm>
          <a:prstGeom prst="line">
            <a:avLst/>
          </a:prstGeom>
          <a:noFill/>
          <a:ln w="15875">
            <a:solidFill>
              <a:srgbClr val="E8E6E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V="1">
            <a:off x="2905689" y="3761842"/>
            <a:ext cx="227046" cy="252374"/>
          </a:xfrm>
          <a:prstGeom prst="line">
            <a:avLst/>
          </a:prstGeom>
          <a:noFill/>
          <a:ln w="15875">
            <a:solidFill>
              <a:srgbClr val="E8E6E1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132734" y="3761842"/>
            <a:ext cx="209580" cy="84125"/>
          </a:xfrm>
          <a:prstGeom prst="line">
            <a:avLst/>
          </a:prstGeom>
          <a:noFill/>
          <a:ln w="15875">
            <a:solidFill>
              <a:srgbClr val="E8E6E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V="1">
            <a:off x="3342315" y="3593592"/>
            <a:ext cx="244511" cy="252374"/>
          </a:xfrm>
          <a:prstGeom prst="line">
            <a:avLst/>
          </a:prstGeom>
          <a:noFill/>
          <a:ln w="15875">
            <a:solidFill>
              <a:srgbClr val="E8E6E1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586825" y="3593592"/>
            <a:ext cx="244511" cy="105156"/>
          </a:xfrm>
          <a:prstGeom prst="line">
            <a:avLst/>
          </a:prstGeom>
          <a:noFill/>
          <a:ln w="15875">
            <a:solidFill>
              <a:srgbClr val="E8E6E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423343" y="4115714"/>
            <a:ext cx="91440" cy="91440"/>
          </a:xfrm>
          <a:prstGeom prst="ellipse">
            <a:avLst/>
          </a:prstGeom>
          <a:solidFill>
            <a:srgbClr val="E0703A"/>
          </a:solidFill>
          <a:ln w="12700">
            <a:solidFill>
              <a:srgbClr val="E0703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2286183" y="422544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E070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买入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3541105" y="354787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3403945" y="339242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卖出</a:t>
            </a:r>
            <a:endParaRPr lang="en-US" sz="650" dirty="0"/>
          </a:p>
        </p:txBody>
      </p:sp>
      <p:sp>
        <p:nvSpPr>
          <p:cNvPr id="53" name="Text 50"/>
          <p:cNvSpPr txBox="1"/>
          <p:nvPr/>
        </p:nvSpPr>
        <p:spPr>
          <a:xfrm>
            <a:off x="2084832" y="462686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盈亏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2340864" y="4663440"/>
            <a:ext cx="274320" cy="73152"/>
          </a:xfrm>
          <a:prstGeom prst="rect">
            <a:avLst/>
          </a:prstGeom>
          <a:solidFill>
            <a:srgbClr val="E0703A"/>
          </a:solidFill>
          <a:ln w="12700">
            <a:solidFill>
              <a:srgbClr val="E0703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688336" y="462686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回撤</a:t>
            </a:r>
            <a:endParaRPr lang="en-US" sz="700" dirty="0"/>
          </a:p>
        </p:txBody>
      </p:sp>
      <p:sp>
        <p:nvSpPr>
          <p:cNvPr id="56" name="Shape 53"/>
          <p:cNvSpPr/>
          <p:nvPr/>
        </p:nvSpPr>
        <p:spPr>
          <a:xfrm>
            <a:off x="2944368" y="4663440"/>
            <a:ext cx="120701" cy="73152"/>
          </a:xfrm>
          <a:prstGeom prst="rect">
            <a:avLst/>
          </a:prstGeom>
          <a:solidFill>
            <a:srgbClr val="8C8880"/>
          </a:solidFill>
          <a:ln w="12700">
            <a:solidFill>
              <a:srgbClr val="8C888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91840" y="462686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夏普</a:t>
            </a:r>
            <a:endParaRPr lang="en-US" sz="700" dirty="0"/>
          </a:p>
        </p:txBody>
      </p:sp>
      <p:sp>
        <p:nvSpPr>
          <p:cNvPr id="58" name="Shape 55"/>
          <p:cNvSpPr/>
          <p:nvPr/>
        </p:nvSpPr>
        <p:spPr>
          <a:xfrm>
            <a:off x="3547872" y="4663440"/>
            <a:ext cx="208483" cy="73152"/>
          </a:xfrm>
          <a:prstGeom prst="rect">
            <a:avLst/>
          </a:prstGeom>
          <a:solidFill>
            <a:srgbClr val="E0703A"/>
          </a:solidFill>
          <a:ln w="12700">
            <a:solidFill>
              <a:srgbClr val="E0703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48640" y="515721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逐笔撮合 · 风险计分 · 留出交易日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4297680" y="1627632"/>
            <a:ext cx="3584448" cy="3950208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297680" y="1627632"/>
            <a:ext cx="3584448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4498848" y="17922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AI研究环境</a:t>
            </a:r>
            <a:endParaRPr lang="en-US" sz="950" dirty="0"/>
          </a:p>
        </p:txBody>
      </p:sp>
      <p:sp>
        <p:nvSpPr>
          <p:cNvPr id="63" name="Text 60"/>
          <p:cNvSpPr txBox="1"/>
          <p:nvPr/>
        </p:nvSpPr>
        <p:spPr>
          <a:xfrm>
            <a:off x="4498848" y="19751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SimReal-MLBench</a:t>
            </a:r>
            <a:endParaRPr lang="en-US" sz="1900" dirty="0"/>
          </a:p>
        </p:txBody>
      </p:sp>
      <p:sp>
        <p:nvSpPr>
          <p:cNvPr id="64" name="Text 61"/>
          <p:cNvSpPr txBox="1"/>
          <p:nvPr/>
        </p:nvSpPr>
        <p:spPr>
          <a:xfrm>
            <a:off x="6858000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302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4498848" y="2414016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60道真实机器学习竞赛题，测AI做研究的能力</a:t>
            </a:r>
            <a:endParaRPr lang="en-US" sz="1050" dirty="0"/>
          </a:p>
        </p:txBody>
      </p:sp>
      <p:sp>
        <p:nvSpPr>
          <p:cNvPr id="66" name="Text 63"/>
          <p:cNvSpPr txBox="1"/>
          <p:nvPr/>
        </p:nvSpPr>
        <p:spPr>
          <a:xfrm>
            <a:off x="4498848" y="26791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真实竞赛题 → AI写代码训模型 → 对照真实名次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4462272" y="2999232"/>
            <a:ext cx="3255264" cy="201168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572000" y="3081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SIMREAL-MLBENCH · 任务 23/60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4572000" y="3346704"/>
            <a:ext cx="896112" cy="1463040"/>
          </a:xfrm>
          <a:prstGeom prst="rect">
            <a:avLst/>
          </a:prstGeom>
          <a:solidFill>
            <a:srgbClr val="242422"/>
          </a:solidFill>
          <a:ln w="12700">
            <a:solidFill>
              <a:srgbClr val="24242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4645152" y="341985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竞赛任务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4645152" y="3584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表格预测</a:t>
            </a:r>
            <a:endParaRPr lang="en-US" sz="950" dirty="0"/>
          </a:p>
        </p:txBody>
      </p:sp>
      <p:sp>
        <p:nvSpPr>
          <p:cNvPr id="72" name="Text 69"/>
          <p:cNvSpPr txBox="1"/>
          <p:nvPr/>
        </p:nvSpPr>
        <p:spPr>
          <a:xfrm>
            <a:off x="4645152" y="38679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7类数据之一</a:t>
            </a:r>
            <a:endParaRPr lang="en-US" sz="700" dirty="0"/>
          </a:p>
        </p:txBody>
      </p:sp>
      <p:sp>
        <p:nvSpPr>
          <p:cNvPr id="73" name="Text 70"/>
          <p:cNvSpPr txBox="1"/>
          <p:nvPr/>
        </p:nvSpPr>
        <p:spPr>
          <a:xfrm>
            <a:off x="4645152" y="403250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指标：AUC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4645152" y="453542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070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提交即评分</a:t>
            </a:r>
            <a:endParaRPr lang="en-US" sz="700" dirty="0"/>
          </a:p>
        </p:txBody>
      </p:sp>
      <p:sp>
        <p:nvSpPr>
          <p:cNvPr id="75" name="Text 72"/>
          <p:cNvSpPr txBox="1"/>
          <p:nvPr/>
        </p:nvSpPr>
        <p:spPr>
          <a:xfrm>
            <a:off x="5559552" y="338328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FCB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700" dirty="0"/>
          </a:p>
        </p:txBody>
      </p:sp>
      <p:sp>
        <p:nvSpPr>
          <p:cNvPr id="76" name="Text 73"/>
          <p:cNvSpPr txBox="1"/>
          <p:nvPr/>
        </p:nvSpPr>
        <p:spPr>
          <a:xfrm>
            <a:off x="5559552" y="358444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FCB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load('train')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5559552" y="378561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FCB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GBM()</a:t>
            </a:r>
            <a:endParaRPr lang="en-US" sz="700" dirty="0"/>
          </a:p>
        </p:txBody>
      </p:sp>
      <p:sp>
        <p:nvSpPr>
          <p:cNvPr id="78" name="Text 75"/>
          <p:cNvSpPr txBox="1"/>
          <p:nvPr/>
        </p:nvSpPr>
        <p:spPr>
          <a:xfrm>
            <a:off x="5559552" y="39867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FCB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model.fit(X, y)</a:t>
            </a:r>
            <a:endParaRPr lang="en-US" sz="700" dirty="0"/>
          </a:p>
        </p:txBody>
      </p:sp>
      <p:sp>
        <p:nvSpPr>
          <p:cNvPr id="79" name="Text 76"/>
          <p:cNvSpPr txBox="1"/>
          <p:nvPr/>
        </p:nvSpPr>
        <p:spPr>
          <a:xfrm>
            <a:off x="5559552" y="418795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FCB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model.predict(T)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5559552" y="438912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07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submit(p)</a:t>
            </a:r>
            <a:endParaRPr lang="en-US" sz="700" dirty="0"/>
          </a:p>
        </p:txBody>
      </p:sp>
      <p:sp>
        <p:nvSpPr>
          <p:cNvPr id="81" name="Text 78"/>
          <p:cNvSpPr txBox="1"/>
          <p:nvPr/>
        </p:nvSpPr>
        <p:spPr>
          <a:xfrm>
            <a:off x="6793992" y="336499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真实排行榜</a:t>
            </a:r>
            <a:endParaRPr lang="en-US" sz="700" dirty="0"/>
          </a:p>
        </p:txBody>
      </p:sp>
      <p:sp>
        <p:nvSpPr>
          <p:cNvPr id="82" name="Text 79"/>
          <p:cNvSpPr txBox="1"/>
          <p:nvPr/>
        </p:nvSpPr>
        <p:spPr>
          <a:xfrm>
            <a:off x="6803136" y="35844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CB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#1  人类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6803136" y="380390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CB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#2  人类</a:t>
            </a:r>
            <a:endParaRPr lang="en-US" sz="750" dirty="0"/>
          </a:p>
        </p:txBody>
      </p:sp>
      <p:sp>
        <p:nvSpPr>
          <p:cNvPr id="84" name="Text 81"/>
          <p:cNvSpPr txBox="1"/>
          <p:nvPr/>
        </p:nvSpPr>
        <p:spPr>
          <a:xfrm>
            <a:off x="6803136" y="40233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CB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…</a:t>
            </a:r>
            <a:endParaRPr lang="en-US" sz="750" dirty="0"/>
          </a:p>
        </p:txBody>
      </p:sp>
      <p:sp>
        <p:nvSpPr>
          <p:cNvPr id="85" name="Shape 82"/>
          <p:cNvSpPr/>
          <p:nvPr/>
        </p:nvSpPr>
        <p:spPr>
          <a:xfrm>
            <a:off x="6748272" y="4224528"/>
            <a:ext cx="877824" cy="1828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6803136" y="424281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#12  Agent</a:t>
            </a:r>
            <a:endParaRPr lang="en-US" sz="750" dirty="0"/>
          </a:p>
        </p:txBody>
      </p:sp>
      <p:sp>
        <p:nvSpPr>
          <p:cNvPr id="87" name="Text 84"/>
          <p:cNvSpPr txBox="1"/>
          <p:nvPr/>
        </p:nvSpPr>
        <p:spPr>
          <a:xfrm>
            <a:off x="6803136" y="44622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CB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#13  人类</a:t>
            </a:r>
            <a:endParaRPr lang="en-US" sz="750" dirty="0"/>
          </a:p>
        </p:txBody>
      </p:sp>
      <p:sp>
        <p:nvSpPr>
          <p:cNvPr id="88" name="Text 85"/>
          <p:cNvSpPr txBox="1"/>
          <p:nvPr/>
        </p:nvSpPr>
        <p:spPr>
          <a:xfrm>
            <a:off x="5559552" y="473659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自动评分 · 对照人类真实名次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297680" y="515721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60道竞赛题 · 7类数据 · 真实名次</a:t>
            </a:r>
            <a:endParaRPr lang="en-US" sz="1050" dirty="0"/>
          </a:p>
        </p:txBody>
      </p:sp>
      <p:sp>
        <p:nvSpPr>
          <p:cNvPr id="90" name="Shape 87"/>
          <p:cNvSpPr/>
          <p:nvPr/>
        </p:nvSpPr>
        <p:spPr>
          <a:xfrm>
            <a:off x="8046720" y="1627632"/>
            <a:ext cx="3584448" cy="3950208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8046720" y="1627632"/>
            <a:ext cx="3584448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8247888" y="17922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事件预测环境</a:t>
            </a:r>
            <a:endParaRPr lang="en-US" sz="950" dirty="0"/>
          </a:p>
        </p:txBody>
      </p:sp>
      <p:sp>
        <p:nvSpPr>
          <p:cNvPr id="93" name="Text 90"/>
          <p:cNvSpPr txBox="1"/>
          <p:nvPr/>
        </p:nvSpPr>
        <p:spPr>
          <a:xfrm>
            <a:off x="8247888" y="19751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FuturePredict</a:t>
            </a:r>
            <a:endParaRPr lang="en-US" sz="1900" dirty="0"/>
          </a:p>
        </p:txBody>
      </p:sp>
      <p:sp>
        <p:nvSpPr>
          <p:cNvPr id="94" name="Text 91"/>
          <p:cNvSpPr txBox="1"/>
          <p:nvPr/>
        </p:nvSpPr>
        <p:spPr>
          <a:xfrm>
            <a:off x="10607040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27</a:t>
            </a:r>
            <a:endParaRPr lang="en-US" sz="1000" dirty="0"/>
          </a:p>
        </p:txBody>
      </p:sp>
      <p:sp>
        <p:nvSpPr>
          <p:cNvPr id="95" name="Text 92"/>
          <p:cNvSpPr txBox="1"/>
          <p:nvPr/>
        </p:nvSpPr>
        <p:spPr>
          <a:xfrm>
            <a:off x="8247888" y="2414016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预测真实事件，结果揭晓后打分</a:t>
            </a:r>
            <a:endParaRPr lang="en-US" sz="1050" dirty="0"/>
          </a:p>
        </p:txBody>
      </p:sp>
      <p:sp>
        <p:nvSpPr>
          <p:cNvPr id="96" name="Text 93"/>
          <p:cNvSpPr txBox="1"/>
          <p:nvPr/>
        </p:nvSpPr>
        <p:spPr>
          <a:xfrm>
            <a:off x="8247888" y="26791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截止前锁定概率 → 等待真实结果 → 揭晓后打分</a:t>
            </a:r>
            <a:endParaRPr lang="en-US" sz="1000" dirty="0"/>
          </a:p>
        </p:txBody>
      </p:sp>
      <p:sp>
        <p:nvSpPr>
          <p:cNvPr id="97" name="Shape 94"/>
          <p:cNvSpPr/>
          <p:nvPr/>
        </p:nvSpPr>
        <p:spPr>
          <a:xfrm>
            <a:off x="8211312" y="2999232"/>
            <a:ext cx="3255264" cy="201168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8321040" y="3081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FUTUREPREDICT · 事件 #108</a:t>
            </a:r>
            <a:endParaRPr lang="en-US" sz="750" dirty="0"/>
          </a:p>
        </p:txBody>
      </p:sp>
      <p:sp>
        <p:nvSpPr>
          <p:cNvPr id="99" name="Text 96"/>
          <p:cNvSpPr txBox="1"/>
          <p:nvPr/>
        </p:nvSpPr>
        <p:spPr>
          <a:xfrm>
            <a:off x="8321040" y="3328416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今晚比赛，主队能赢吗？</a:t>
            </a:r>
            <a:endParaRPr lang="en-US" sz="950" dirty="0"/>
          </a:p>
        </p:txBody>
      </p:sp>
      <p:sp>
        <p:nvSpPr>
          <p:cNvPr id="100" name="Text 97"/>
          <p:cNvSpPr txBox="1"/>
          <p:nvPr/>
        </p:nvSpPr>
        <p:spPr>
          <a:xfrm>
            <a:off x="8321040" y="365760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AI预测</a:t>
            </a:r>
            <a:endParaRPr lang="en-US" sz="700" dirty="0"/>
          </a:p>
        </p:txBody>
      </p:sp>
      <p:sp>
        <p:nvSpPr>
          <p:cNvPr id="101" name="Shape 98"/>
          <p:cNvSpPr/>
          <p:nvPr/>
        </p:nvSpPr>
        <p:spPr>
          <a:xfrm>
            <a:off x="8778240" y="3675888"/>
            <a:ext cx="2231136" cy="100584"/>
          </a:xfrm>
          <a:prstGeom prst="rect">
            <a:avLst/>
          </a:prstGeom>
          <a:solidFill>
            <a:srgbClr val="3A3936"/>
          </a:solidFill>
          <a:ln w="12700">
            <a:solidFill>
              <a:srgbClr val="3A3936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8778240" y="3675888"/>
            <a:ext cx="1383304" cy="10058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11055096" y="364845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62%</a:t>
            </a:r>
            <a:endParaRPr lang="en-US" sz="750" dirty="0"/>
          </a:p>
        </p:txBody>
      </p:sp>
      <p:sp>
        <p:nvSpPr>
          <p:cNvPr id="104" name="Shape 101"/>
          <p:cNvSpPr/>
          <p:nvPr/>
        </p:nvSpPr>
        <p:spPr>
          <a:xfrm>
            <a:off x="8531352" y="4206240"/>
            <a:ext cx="2615184" cy="0"/>
          </a:xfrm>
          <a:prstGeom prst="line">
            <a:avLst/>
          </a:prstGeom>
          <a:noFill/>
          <a:ln w="15875">
            <a:solidFill>
              <a:srgbClr val="6E6B64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8467344" y="4142232"/>
            <a:ext cx="128016" cy="128016"/>
          </a:xfrm>
          <a:prstGeom prst="ellipse">
            <a:avLst/>
          </a:prstGeom>
          <a:solidFill>
            <a:srgbClr val="6E6B64"/>
          </a:solidFill>
          <a:ln w="12700">
            <a:solidFill>
              <a:srgbClr val="6E6B64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8028432" y="3913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提问</a:t>
            </a:r>
            <a:endParaRPr lang="en-US" sz="800" dirty="0"/>
          </a:p>
        </p:txBody>
      </p:sp>
      <p:sp>
        <p:nvSpPr>
          <p:cNvPr id="107" name="Text 104"/>
          <p:cNvSpPr txBox="1"/>
          <p:nvPr/>
        </p:nvSpPr>
        <p:spPr>
          <a:xfrm>
            <a:off x="7982712" y="432511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开放检索</a:t>
            </a:r>
            <a:endParaRPr lang="en-US" sz="700" dirty="0"/>
          </a:p>
        </p:txBody>
      </p:sp>
      <p:sp>
        <p:nvSpPr>
          <p:cNvPr id="108" name="Shape 105"/>
          <p:cNvSpPr/>
          <p:nvPr/>
        </p:nvSpPr>
        <p:spPr>
          <a:xfrm>
            <a:off x="9774936" y="4142232"/>
            <a:ext cx="128016" cy="128016"/>
          </a:xfrm>
          <a:prstGeom prst="ellipse">
            <a:avLst/>
          </a:prstGeom>
          <a:solidFill>
            <a:srgbClr val="E0703A"/>
          </a:solidFill>
          <a:ln w="12700">
            <a:solidFill>
              <a:srgbClr val="E0703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9336024" y="3913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截止</a:t>
            </a:r>
            <a:endParaRPr lang="en-US" sz="800" dirty="0"/>
          </a:p>
        </p:txBody>
      </p:sp>
      <p:sp>
        <p:nvSpPr>
          <p:cNvPr id="110" name="Text 107"/>
          <p:cNvSpPr txBox="1"/>
          <p:nvPr/>
        </p:nvSpPr>
        <p:spPr>
          <a:xfrm>
            <a:off x="9290304" y="432511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锁定概率与证据</a:t>
            </a:r>
            <a:endParaRPr lang="en-US" sz="700" dirty="0"/>
          </a:p>
        </p:txBody>
      </p:sp>
      <p:sp>
        <p:nvSpPr>
          <p:cNvPr id="111" name="Shape 108"/>
          <p:cNvSpPr/>
          <p:nvPr/>
        </p:nvSpPr>
        <p:spPr>
          <a:xfrm>
            <a:off x="11082528" y="414223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10643616" y="3913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揭晓</a:t>
            </a:r>
            <a:endParaRPr lang="en-US" sz="800" dirty="0"/>
          </a:p>
        </p:txBody>
      </p:sp>
      <p:sp>
        <p:nvSpPr>
          <p:cNvPr id="113" name="Text 110"/>
          <p:cNvSpPr txBox="1"/>
          <p:nvPr/>
        </p:nvSpPr>
        <p:spPr>
          <a:xfrm>
            <a:off x="10597896" y="432511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按结局打分</a:t>
            </a:r>
            <a:endParaRPr lang="en-US" sz="700" dirty="0"/>
          </a:p>
        </p:txBody>
      </p:sp>
      <p:sp>
        <p:nvSpPr>
          <p:cNvPr id="114" name="Text 111"/>
          <p:cNvSpPr txBox="1"/>
          <p:nvPr/>
        </p:nvSpPr>
        <p:spPr>
          <a:xfrm>
            <a:off x="8321040" y="4718304"/>
            <a:ext cx="3035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检索只能看到截止前的信息，答案无法提前泄露</a:t>
            </a:r>
            <a:endParaRPr lang="en-US" sz="700" dirty="0"/>
          </a:p>
        </p:txBody>
      </p:sp>
      <p:sp>
        <p:nvSpPr>
          <p:cNvPr id="115" name="Text 112"/>
          <p:cNvSpPr txBox="1"/>
          <p:nvPr/>
        </p:nvSpPr>
        <p:spPr>
          <a:xfrm>
            <a:off x="8046720" y="515721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时间锁定 · 防止泄题 · 延迟奖励</a:t>
            </a:r>
            <a:endParaRPr lang="en-US" sz="1050" dirty="0"/>
          </a:p>
        </p:txBody>
      </p:sp>
      <p:sp>
        <p:nvSpPr>
          <p:cNvPr id="116" name="Shape 113"/>
          <p:cNvSpPr/>
          <p:nvPr/>
        </p:nvSpPr>
        <p:spPr>
          <a:xfrm>
            <a:off x="548640" y="5705856"/>
            <a:ext cx="11082528" cy="402336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117" name="Text 114"/>
          <p:cNvSpPr txBox="1"/>
          <p:nvPr/>
        </p:nvSpPr>
        <p:spPr>
          <a:xfrm>
            <a:off x="777240" y="5815584"/>
            <a:ext cx="10625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5个开源基准，GitHub 602星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：SimReal-MLBench 302 · Xitadel 102 · MathmoBench 101 · Puzzle 70 · FuturePredict 27（截至2026年10月4日）</a:t>
            </a:r>
            <a:endParaRPr lang="en-US" sz="1050" dirty="0"/>
          </a:p>
        </p:txBody>
      </p:sp>
      <p:sp>
        <p:nvSpPr>
          <p:cNvPr id="118" name="Text 115"/>
          <p:cNvSpPr txBox="1"/>
          <p:nvPr/>
        </p:nvSpPr>
        <p:spPr>
          <a:xfrm>
            <a:off x="548640" y="61813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界面为示意图。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交付物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33856"/>
            <a:ext cx="1108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环境每跑一遍，产出一条带验证的轨迹：</a:t>
            </a:r>
            <a:pPr indent="0" marL="0">
              <a:buNone/>
            </a:pPr>
            <a:r>
              <a:rPr lang="en-US" sz="19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客户拿到的不只是数据，还有证据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4023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我们是谁</a:t>
            </a:r>
            <a:pPr algn="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pPr algn="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pPr algn="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方法与产品</a:t>
            </a:r>
            <a:pPr algn="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优势与竞争</a:t>
            </a:r>
            <a:pPr algn="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商业与进展</a:t>
            </a:r>
            <a:pPr algn="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</a:t>
            </a:r>
            <a:endParaRPr lang="en-US" sz="900" dirty="0"/>
          </a:p>
        </p:txBody>
      </p:sp>
      <p:pic>
        <p:nvPicPr>
          <p:cNvPr id="6" name="Image 0" descr="/home/claude/v61/logo_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005840" cy="22585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机密 · 仅供受邀投资机构内部评估使用 · 2026年10月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27632"/>
            <a:ext cx="6629400" cy="393192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7739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一条交易轨迹 · XITADEL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17739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示意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066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步骤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066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类型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2331720" y="2066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77240" y="2286000"/>
            <a:ext cx="6172200" cy="0"/>
          </a:xfrm>
          <a:prstGeom prst="line">
            <a:avLst/>
          </a:prstGeom>
          <a:noFill/>
          <a:ln w="9525">
            <a:solidFill>
              <a:srgbClr val="2E2D2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4505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325880" y="242316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3A3936"/>
          </a:solidFill>
          <a:ln w="12700">
            <a:solidFill>
              <a:srgbClr val="3A393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25880" y="24231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FCB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2331720" y="244144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订单簿快照：买一 101.05，卖一 101.10；持仓 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7240" y="272491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28163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325880" y="278892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325880" y="27889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行动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2331720" y="280720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限价买入 100股，价格 101.05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77240" y="309067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31821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325880" y="3154680"/>
            <a:ext cx="777240" cy="228600"/>
          </a:xfrm>
          <a:prstGeom prst="roundRect">
            <a:avLst>
              <a:gd name="adj" fmla="val 24000"/>
            </a:avLst>
          </a:prstGeom>
          <a:ln w="9525">
            <a:solidFill>
              <a:srgbClr val="CFCBC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325880" y="31546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世界反应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2331720" y="317296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部分成交 60股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77240" y="345643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7240" y="35478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325880" y="352044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325880" y="35204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行动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2331720" y="353872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撤销剩余 40股，改价 101.08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77240" y="382219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7240" y="39136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325880" y="3886200"/>
            <a:ext cx="777240" cy="228600"/>
          </a:xfrm>
          <a:prstGeom prst="roundRect">
            <a:avLst>
              <a:gd name="adj" fmla="val 24000"/>
            </a:avLst>
          </a:prstGeom>
          <a:ln w="9525">
            <a:solidFill>
              <a:srgbClr val="CFCBC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325880" y="38862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世界反应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2331720" y="390448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剩余全部成交，行情上行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77240" y="418795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77240" y="4279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325880" y="425196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325880" y="4251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行动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2331720" y="427024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收盘前卖出 100股，价格 101.30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77240" y="455371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77240" y="46451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1325880" y="461772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325880" y="46177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结算</a:t>
            </a:r>
            <a:endParaRPr lang="en-US" sz="850" dirty="0"/>
          </a:p>
        </p:txBody>
      </p:sp>
      <p:sp>
        <p:nvSpPr>
          <p:cNvPr id="49" name="Text 46"/>
          <p:cNvSpPr txBox="1"/>
          <p:nvPr/>
        </p:nvSpPr>
        <p:spPr>
          <a:xfrm>
            <a:off x="2331720" y="463600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按盈亏、回撤、夏普计分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777240" y="491947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77240" y="5056632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070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验证器：通过 ✓    ·    结果哈希已预先公开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7360920" y="1627632"/>
            <a:ext cx="4270248" cy="121615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589520" y="17922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7589520" y="1993392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完整轨迹</a:t>
            </a:r>
            <a:endParaRPr lang="en-US" sz="1800" dirty="0"/>
          </a:p>
        </p:txBody>
      </p:sp>
      <p:sp>
        <p:nvSpPr>
          <p:cNvPr id="55" name="Text 52"/>
          <p:cNvSpPr txBox="1"/>
          <p:nvPr/>
        </p:nvSpPr>
        <p:spPr>
          <a:xfrm>
            <a:off x="7589520" y="2377440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每一步的观察、行动和世界的反应，可完整回放；用于监督微调与强化学习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7360920" y="2985516"/>
            <a:ext cx="4270248" cy="121615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589520" y="31501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7589520" y="3351276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自动验证</a:t>
            </a:r>
            <a:endParaRPr lang="en-US" sz="1800" dirty="0"/>
          </a:p>
        </p:txBody>
      </p:sp>
      <p:sp>
        <p:nvSpPr>
          <p:cNvPr id="59" name="Text 56"/>
          <p:cNvSpPr txBox="1"/>
          <p:nvPr/>
        </p:nvSpPr>
        <p:spPr>
          <a:xfrm>
            <a:off x="7589520" y="3735324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验证器按真实结果判定成败，不靠人工意见；评分器上线前先经过攻击测试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7360920" y="4343400"/>
            <a:ext cx="4270248" cy="121615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7589520" y="45079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7589520" y="4709160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质检报告</a:t>
            </a:r>
            <a:endParaRPr lang="en-US" sz="1800" dirty="0"/>
          </a:p>
        </p:txBody>
      </p:sp>
      <p:sp>
        <p:nvSpPr>
          <p:cNvPr id="63" name="Text 60"/>
          <p:cNvSpPr txBox="1"/>
          <p:nvPr/>
        </p:nvSpPr>
        <p:spPr>
          <a:xfrm>
            <a:off x="7589520" y="5093208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每批附污染检测、难度分布与验证通过率：无污染、可验证、高难度，一次给齐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548640" y="5724144"/>
            <a:ext cx="11082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数商卖人力，</a:t>
            </a:r>
            <a:pPr indent="0" marL="0">
              <a:buNone/>
            </a:pPr>
            <a:r>
              <a:rPr lang="en-US" sz="20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衍真卖验证。</a:t>
            </a:r>
            <a:endParaRPr lang="en-US" sz="2000" dirty="0"/>
          </a:p>
        </p:txBody>
      </p:sp>
      <p:sp>
        <p:nvSpPr>
          <p:cNvPr id="65" name="Text 62"/>
          <p:cNvSpPr txBox="1"/>
          <p:nvPr/>
        </p:nvSpPr>
        <p:spPr>
          <a:xfrm>
            <a:off x="548640" y="61813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轨迹为示意。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竞争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33856"/>
            <a:ext cx="1108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对手强在规模，</a:t>
            </a:r>
            <a:pPr indent="0" marL="0">
              <a:buNone/>
            </a:pPr>
            <a:r>
              <a:rPr lang="en-US" sz="19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我们强在专业领域的打分和速度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4023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我们是谁</a:t>
            </a:r>
            <a:pPr algn="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pPr algn="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方法与产品</a:t>
            </a:r>
            <a:pPr algn="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pPr algn="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优势与竞争</a:t>
            </a:r>
            <a:pPr algn="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商业与进展</a:t>
            </a:r>
            <a:pPr algn="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</a:t>
            </a:r>
            <a:endParaRPr lang="en-US" sz="900" dirty="0"/>
          </a:p>
        </p:txBody>
      </p:sp>
      <p:pic>
        <p:nvPicPr>
          <p:cNvPr id="6" name="Image 0" descr="/home/claude/v61/logo_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005840" cy="22585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机密 · 仅供受邀投资机构内部评估使用 · 2026年10月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129016" y="1572768"/>
            <a:ext cx="3502152" cy="3035808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572768"/>
            <a:ext cx="11082528" cy="0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7006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客户现在的选择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3556102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强在哪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044184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弱在哪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646566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衍真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" y="1901952"/>
            <a:ext cx="11082528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7006" y="2011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数据外包公司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737006" y="234086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AI、Mercor等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556102" y="2130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人多，实验室关系深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044184" y="21305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靠堆人，做不了专业打分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8646566" y="21305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量化出身，打分专业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2578608"/>
            <a:ext cx="11082528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7006" y="26883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国内数据商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737006" y="30175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按需求交付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3556102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价格低，交付灵活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6044184" y="28072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按条交付，难证明无污染和增益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8646566" y="280720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环境产出的数据，自带验证和质检报告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48640" y="3255264"/>
            <a:ext cx="11082528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7006" y="3364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公开榜单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737006" y="36941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 Arena等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3556102" y="3483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方便比较模型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6044184" y="348386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只能测不能训，很快被刷爆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8646566" y="348386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同一个环境既能测也能训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548640" y="3931920"/>
            <a:ext cx="11082528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7006" y="4114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实验室自建</a:t>
            </a:r>
            <a:endParaRPr lang="en-US" sz="1900" dirty="0"/>
          </a:p>
        </p:txBody>
      </p:sp>
      <p:sp>
        <p:nvSpPr>
          <p:cNvPr id="35" name="Text 32"/>
          <p:cNvSpPr txBox="1"/>
          <p:nvPr/>
        </p:nvSpPr>
        <p:spPr>
          <a:xfrm>
            <a:off x="3556102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贴合自己的需求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6044184" y="41605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缺行业规则和专家，占研究人力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8646566" y="4160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现成环境，20万+专家随时调用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548640" y="4608576"/>
            <a:ext cx="11082528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48640" y="5138928"/>
            <a:ext cx="11082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对手拼规模，我们拼加速度：</a:t>
            </a:r>
            <a:pPr indent="0" marL="0">
              <a:buNone/>
            </a:pPr>
            <a:r>
              <a:rPr lang="en-US" sz="22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14天上线7款产品，24天做到ARR 4,500万元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SimReal 衍真 商业计划书 v61</dc:title>
  <dc:subject>PptxGenJS Presentation</dc:subject>
  <dc:creator>PptxGenJS</dc:creator>
  <cp:lastModifiedBy>PptxGenJS</cp:lastModifiedBy>
  <cp:revision>1</cp:revision>
  <dcterms:created xsi:type="dcterms:W3CDTF">2026-10-05T00:24:54Z</dcterms:created>
  <dcterms:modified xsi:type="dcterms:W3CDTF">2026-10-05T00:24:54Z</dcterms:modified>
</cp:coreProperties>
</file>