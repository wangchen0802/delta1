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embeddedFontLst>
    <p:embeddedFont>
      <p:font typeface="Newsreader" pitchFamily="18" charset="0"/>
      <p:regular r:id="rIdSimRealFont1"/>
    </p:embeddedFont>
    <p:embeddedFont>
      <p:font typeface="Instrument Sans" pitchFamily="34" charset="0"/>
      <p:regular r:id="rIdSimRealFont2"/>
    </p:embeddedFont>
    <p:embeddedFont>
      <p:font typeface="IBM Plex Mono" pitchFamily="49" charset="0"/>
      <p:regular r:id="rIdSimRealFont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SimRealFont1" Type="http://schemas.openxmlformats.org/officeDocument/2006/relationships/font" Target="fonts/font1.fntdata"/><Relationship Id="rIdSimRealFont2" Type="http://schemas.openxmlformats.org/officeDocument/2006/relationships/font" Target="fonts/font2.fntdata"/><Relationship Id="rIdSimRealFont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orbit-bp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0"/>
            <a:ext cx="4510735" cy="4114800"/>
          </a:xfrm>
          <a:prstGeom prst="rect">
            <a:avLst/>
          </a:prstGeom>
        </p:spPr>
      </p:pic>
      <p:pic>
        <p:nvPicPr>
          <p:cNvPr id="3" name="Image 1" descr="/home/claude/build/assets/simreal-logo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02920"/>
            <a:ext cx="850392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94360" y="1572768"/>
            <a:ext cx="31089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1051560" y="14173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AI经济的数据与自我进化引擎</a:t>
            </a:r>
            <a:endParaRPr lang="zh-CN" alt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94360" y="1828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56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每个行业最强的AI</a:t>
            </a:r>
            <a:endParaRPr lang="zh-CN" altLang="en-US" sz="5600" dirty="0"/>
          </a:p>
        </p:txBody>
      </p:sp>
      <p:sp>
        <p:nvSpPr>
          <p:cNvPr id="7" name="Text 3"/>
          <p:cNvSpPr txBox="1"/>
          <p:nvPr/>
        </p:nvSpPr>
        <p:spPr>
          <a:xfrm>
            <a:off x="594360" y="267004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56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都出自我们的世界</a:t>
            </a:r>
            <a:endParaRPr lang="zh-CN" altLang="en-US" sz="56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6E6C6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SimReal  ·  商业计划书  ·  种子轮</a:t>
            </a:r>
            <a:endParaRPr lang="zh-CN" alt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594360" y="4709160"/>
            <a:ext cx="11000232" cy="0"/>
          </a:xfrm>
          <a:prstGeom prst="line">
            <a:avLst/>
          </a:prstGeom>
          <a:noFill/>
          <a:ln w="9525">
            <a:solidFill>
              <a:srgbClr val="11111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4360" y="4828032"/>
            <a:ext cx="3392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成立</a:t>
            </a:r>
            <a:endParaRPr lang="zh-CN" alt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50749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2026年9月10日</a:t>
            </a:r>
            <a:endParaRPr lang="zh-CN" alt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123944" y="4709160"/>
            <a:ext cx="0" cy="77724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261104" y="4828032"/>
            <a:ext cx="3392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本轮融资</a:t>
            </a:r>
            <a:endParaRPr lang="zh-CN" alt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4261104" y="50749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2,000万美元（约1.5亿元人民币）</a:t>
            </a:r>
            <a:endParaRPr lang="zh-CN" alt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790688" y="4709160"/>
            <a:ext cx="0" cy="77724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927848" y="4828032"/>
            <a:ext cx="3392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联系</a:t>
            </a:r>
            <a:endParaRPr lang="zh-CN" alt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7927848" y="507492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business@simreal.co</a:t>
            </a:r>
            <a:endParaRPr lang="zh-CN" alt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94360" y="5486400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94360" y="6355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9496"/>
            <a:ext cx="31089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项目概述</a:t>
            </a:r>
            <a:endParaRPr lang="zh-CN" alt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68096"/>
            <a:ext cx="11000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我们为AI搭建真实工作的训练世界，让它按真实结果学习、自我进化</a:t>
            </a:r>
            <a:endParaRPr lang="zh-CN" alt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627632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2763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做什么</a:t>
            </a:r>
            <a:endParaRPr lang="zh-CN" alt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627632"/>
            <a:ext cx="9445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为AI实验室和企业搭建训练环境：AI在其中做真实工作，由真实结果打分，再用结果训练自己。</a:t>
            </a:r>
            <a:endParaRPr lang="zh-CN" alt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212848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212848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已做到</a:t>
            </a:r>
            <a:endParaRPr lang="zh-CN" alt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2212848"/>
            <a:ext cx="9445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成立14天，零外部融资，做出7款产品；旗舰产品Xitadel已在交易上跑通自我进化。</a:t>
            </a:r>
            <a:endParaRPr lang="zh-CN" alt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2798064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798064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核心证据</a:t>
            </a:r>
            <a:endParaRPr lang="zh-CN" alt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2798064"/>
            <a:ext cx="9445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开源模型Qwen3.8-27B在Xitadel训练后，在从未见过的真实市场数据上交易表现提升12%，多次独立运行均复现（受控实验）。</a:t>
            </a:r>
            <a:endParaRPr lang="zh-CN" alt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383280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38328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团队</a:t>
            </a:r>
            <a:endParaRPr lang="zh-CN" alt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3383280"/>
            <a:ext cx="9445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四位平均21岁的量化人，来自剑桥、LSE、杜克，有Jane Street、Citadel、D. E. Shaw、Millennium、Optiver经历。</a:t>
            </a:r>
            <a:endParaRPr lang="zh-CN" alt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3968496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968496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市场</a:t>
            </a:r>
            <a:endParaRPr lang="zh-CN" alt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148840" y="3968496"/>
            <a:ext cx="9445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头部AI训练数据公司已有数十亿美元收入；AI智能体市场预计从2025年79亿美元增长到2032年约1,110亿美元。</a:t>
            </a:r>
            <a:endParaRPr lang="zh-CN" alt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4553712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55371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本轮融资</a:t>
            </a:r>
            <a:endParaRPr lang="zh-CN" alt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148840" y="4553712"/>
            <a:ext cx="9445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种子轮2,000万美元（约1.5亿元人民币），24个月内建成200+个训练环境、覆盖30+行业。</a:t>
            </a:r>
            <a:endParaRPr lang="zh-CN" alt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5138928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06472" y="5578920"/>
            <a:ext cx="500888" cy="96520"/>
          </a:xfrm>
          <a:prstGeom prst="rect">
            <a:avLst/>
          </a:prstGeom>
          <a:solidFill>
            <a:srgbClr val="C2410C">
              <a:alpha val="17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5349240"/>
            <a:ext cx="11000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谁拥有最好的训练世界，谁就拥有该行业最好的AI。我们已经建成了一个。</a:t>
            </a:r>
            <a:endParaRPr lang="zh-CN" altLang="en-US" sz="1900" dirty="0"/>
          </a:p>
        </p:txBody>
      </p:sp>
      <p:pic>
        <p:nvPicPr>
          <p:cNvPr id="26" name="Image 0" descr="/home/claude/build/assets/simreal-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02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9496"/>
            <a:ext cx="31089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团队</a:t>
            </a:r>
            <a:endParaRPr lang="zh-CN" alt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68096"/>
            <a:ext cx="11000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四位平均21岁的量化人，放弃顶级量化机构offer，来做这件事</a:t>
            </a:r>
            <a:endParaRPr lang="zh-CN" alt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26464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奥赛和世界名校 </a:t>
            </a:r>
            <a:pPr indent="0" marL="0">
              <a:buNone/>
            </a:pPr>
            <a:r>
              <a:rPr lang="zh-CN" altLang="en-US" sz="13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</a:t>
            </a:r>
            <a:pPr indent="0" marL="0">
              <a:buNone/>
            </a:pPr>
            <a:r>
              <a:rPr lang="zh-CN" altLang="en-US" sz="13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华尔街最残酷的交易台 </a:t>
            </a:r>
            <a:pPr indent="0" marL="0">
              <a:buNone/>
            </a:pPr>
            <a:r>
              <a:rPr lang="zh-CN" altLang="en-US" sz="13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</a:t>
            </a:r>
            <a:pPr indent="0" marL="0">
              <a:buNone/>
            </a:pPr>
            <a:r>
              <a:rPr lang="zh-CN" altLang="en-US" sz="13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所以我们知道做题和做事差多远</a:t>
            </a:r>
            <a:endParaRPr lang="zh-CN" altLang="en-US" sz="1350" dirty="0"/>
          </a:p>
        </p:txBody>
      </p:sp>
      <p:pic>
        <p:nvPicPr>
          <p:cNvPr id="6" name="Image 0" descr="/home/claude/build/assets/logos/jane-street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37" y="1865660"/>
            <a:ext cx="800217" cy="310328"/>
          </a:xfrm>
          <a:prstGeom prst="rect">
            <a:avLst/>
          </a:prstGeom>
        </p:spPr>
      </p:pic>
      <p:pic>
        <p:nvPicPr>
          <p:cNvPr id="7" name="Image 1" descr="/home/claude/build/assets/logos/citadel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033" y="1946095"/>
            <a:ext cx="1230769" cy="149458"/>
          </a:xfrm>
          <a:prstGeom prst="rect">
            <a:avLst/>
          </a:prstGeom>
        </p:spPr>
      </p:pic>
      <p:pic>
        <p:nvPicPr>
          <p:cNvPr id="8" name="Image 2" descr="/home/claude/build/assets/logos/de-shaw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051" y="1919696"/>
            <a:ext cx="909477" cy="202257"/>
          </a:xfrm>
          <a:prstGeom prst="rect">
            <a:avLst/>
          </a:prstGeom>
        </p:spPr>
      </p:pic>
      <p:pic>
        <p:nvPicPr>
          <p:cNvPr id="9" name="Image 3" descr="/home/claude/build/assets/logos/millennium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849" y="1940890"/>
            <a:ext cx="1150627" cy="159868"/>
          </a:xfrm>
          <a:prstGeom prst="rect">
            <a:avLst/>
          </a:prstGeom>
        </p:spPr>
      </p:pic>
      <p:pic>
        <p:nvPicPr>
          <p:cNvPr id="10" name="Image 4" descr="/home/claude/build/assets/logos/optiver-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815" y="1924955"/>
            <a:ext cx="863437" cy="191737"/>
          </a:xfrm>
          <a:prstGeom prst="rect">
            <a:avLst/>
          </a:prstGeom>
        </p:spPr>
      </p:pic>
      <p:pic>
        <p:nvPicPr>
          <p:cNvPr id="11" name="Image 5" descr="/home/claude/build/assets/logos/cambridge-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1305" y="1810512"/>
            <a:ext cx="473202" cy="420624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594360" y="2359152"/>
            <a:ext cx="2606040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3" name="Text 5"/>
          <p:cNvSpPr txBox="1"/>
          <p:nvPr/>
        </p:nvSpPr>
        <p:spPr>
          <a:xfrm>
            <a:off x="850392" y="24505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700" i="1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Charles</a:t>
            </a:r>
            <a:endParaRPr lang="zh-CN" altLang="en-US" sz="2700" dirty="0"/>
          </a:p>
        </p:txBody>
      </p:sp>
      <p:sp>
        <p:nvSpPr>
          <p:cNvPr id="14" name="Text 6"/>
          <p:cNvSpPr txBox="1"/>
          <p:nvPr/>
        </p:nvSpPr>
        <p:spPr>
          <a:xfrm>
            <a:off x="868680" y="29077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CEO</a:t>
            </a:r>
            <a:endParaRPr lang="zh-CN" altLang="en-US" sz="950" dirty="0"/>
          </a:p>
        </p:txBody>
      </p:sp>
      <p:sp>
        <p:nvSpPr>
          <p:cNvPr id="15" name="Text 7"/>
          <p:cNvSpPr txBox="1"/>
          <p:nvPr/>
        </p:nvSpPr>
        <p:spPr>
          <a:xfrm>
            <a:off x="850392" y="3200400"/>
            <a:ext cx="21579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zh-CN" altLang="en-US" sz="1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稳定币公司United Stables首位员工：U稳定币流通约14亿美元，已上线Binance</a:t>
            </a:r>
            <a:endParaRPr lang="zh-CN" altLang="en-US" sz="1200" dirty="0"/>
          </a:p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zh-CN" altLang="en-US" sz="1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汇丰港元稳定币发行项目唯一实习生</a:t>
            </a:r>
            <a:endParaRPr lang="zh-CN" altLang="en-US" sz="1200" dirty="0"/>
          </a:p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zh-CN" altLang="en-US" sz="1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Citadel（全球顶级对冲基金）量化经历</a:t>
            </a:r>
            <a:endParaRPr lang="zh-CN" altLang="en-US" sz="1200" dirty="0"/>
          </a:p>
        </p:txBody>
      </p:sp>
      <p:sp>
        <p:nvSpPr>
          <p:cNvPr id="16" name="Shape 8"/>
          <p:cNvSpPr/>
          <p:nvPr/>
        </p:nvSpPr>
        <p:spPr>
          <a:xfrm>
            <a:off x="850392" y="5175504"/>
            <a:ext cx="209397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7" name="Text 9"/>
          <p:cNvSpPr txBox="1"/>
          <p:nvPr/>
        </p:nvSpPr>
        <p:spPr>
          <a:xfrm>
            <a:off x="850392" y="5230368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LSE数学  ·  入围USAMO（美国最高级别数学竞赛）</a:t>
            </a:r>
            <a:endParaRPr lang="zh-CN" altLang="en-US" sz="900" dirty="0"/>
          </a:p>
        </p:txBody>
      </p:sp>
      <p:sp>
        <p:nvSpPr>
          <p:cNvPr id="18" name="Shape 10"/>
          <p:cNvSpPr/>
          <p:nvPr/>
        </p:nvSpPr>
        <p:spPr>
          <a:xfrm>
            <a:off x="3392424" y="2359152"/>
            <a:ext cx="2606040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3648456" y="24505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700" i="1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Henry</a:t>
            </a:r>
            <a:endParaRPr lang="zh-CN" altLang="en-US" sz="2700" dirty="0"/>
          </a:p>
        </p:txBody>
      </p:sp>
      <p:sp>
        <p:nvSpPr>
          <p:cNvPr id="20" name="Text 12"/>
          <p:cNvSpPr txBox="1"/>
          <p:nvPr/>
        </p:nvSpPr>
        <p:spPr>
          <a:xfrm>
            <a:off x="3666744" y="29077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CTO</a:t>
            </a:r>
            <a:endParaRPr lang="zh-CN" altLang="en-US" sz="950" dirty="0"/>
          </a:p>
        </p:txBody>
      </p:sp>
      <p:sp>
        <p:nvSpPr>
          <p:cNvPr id="21" name="Text 13"/>
          <p:cNvSpPr txBox="1"/>
          <p:nvPr/>
        </p:nvSpPr>
        <p:spPr>
          <a:xfrm>
            <a:off x="3648456" y="3200400"/>
            <a:ext cx="21579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zh-CN" altLang="en-US" sz="1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师从剑桥统计学教授Po-Ling Loh做机器学习研究（国际数理统计学会会士，2025年Ethel Newbold奖）</a:t>
            </a:r>
            <a:endParaRPr lang="zh-CN" altLang="en-US" sz="1200" dirty="0"/>
          </a:p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zh-CN" altLang="en-US" sz="1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Jane Street、D. E. Shaw、Citadel量化经历（均为全球顶级量化交易公司）</a:t>
            </a:r>
            <a:endParaRPr lang="zh-CN" alt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3648456" y="5175504"/>
            <a:ext cx="209397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3648456" y="5230368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剑桥数学（圣约翰学院）  ·  STEP全球前30（剑桥、帝国理工、华威数学系招生选拔考试）</a:t>
            </a:r>
            <a:endParaRPr lang="zh-CN" alt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6190488" y="2359152"/>
            <a:ext cx="2606040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6446520" y="24505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700" i="1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Amaris</a:t>
            </a:r>
            <a:endParaRPr lang="zh-CN" altLang="en-US" sz="2700" dirty="0"/>
          </a:p>
        </p:txBody>
      </p:sp>
      <p:sp>
        <p:nvSpPr>
          <p:cNvPr id="26" name="Text 18"/>
          <p:cNvSpPr txBox="1"/>
          <p:nvPr/>
        </p:nvSpPr>
        <p:spPr>
          <a:xfrm>
            <a:off x="6464808" y="29077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COO</a:t>
            </a:r>
            <a:endParaRPr lang="zh-CN" altLang="en-US" sz="950" dirty="0"/>
          </a:p>
        </p:txBody>
      </p:sp>
      <p:sp>
        <p:nvSpPr>
          <p:cNvPr id="27" name="Text 19"/>
          <p:cNvSpPr txBox="1"/>
          <p:nvPr/>
        </p:nvSpPr>
        <p:spPr>
          <a:xfrm>
            <a:off x="6446520" y="3200400"/>
            <a:ext cx="21579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zh-CN" altLang="en-US" sz="1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Millennium（全球头部多策略对冲基金）香港数据科学家</a:t>
            </a:r>
            <a:endParaRPr lang="zh-CN" altLang="en-US" sz="1200" dirty="0"/>
          </a:p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zh-CN" altLang="en-US" sz="1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另类数据团队历史上第一位应届招聘</a:t>
            </a:r>
            <a:endParaRPr lang="zh-CN" alt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446520" y="5175504"/>
            <a:ext cx="209397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6446520" y="5230368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杜克数学与统计</a:t>
            </a:r>
            <a:endParaRPr lang="zh-CN" alt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8988552" y="2359152"/>
            <a:ext cx="2606040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9244584" y="24505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700" i="1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James</a:t>
            </a:r>
            <a:endParaRPr lang="zh-CN" altLang="en-US" sz="2700" dirty="0"/>
          </a:p>
        </p:txBody>
      </p:sp>
      <p:sp>
        <p:nvSpPr>
          <p:cNvPr id="32" name="Text 24"/>
          <p:cNvSpPr txBox="1"/>
          <p:nvPr/>
        </p:nvSpPr>
        <p:spPr>
          <a:xfrm>
            <a:off x="9262872" y="29077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CPO</a:t>
            </a:r>
            <a:endParaRPr lang="zh-CN" altLang="en-US" sz="950" dirty="0"/>
          </a:p>
        </p:txBody>
      </p:sp>
      <p:sp>
        <p:nvSpPr>
          <p:cNvPr id="33" name="Text 25"/>
          <p:cNvSpPr txBox="1"/>
          <p:nvPr/>
        </p:nvSpPr>
        <p:spPr>
          <a:xfrm>
            <a:off x="9244584" y="3200400"/>
            <a:ext cx="21579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zh-CN" altLang="en-US" sz="1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Optiver（全球头部做市商）量化经历</a:t>
            </a:r>
            <a:endParaRPr lang="zh-CN" altLang="en-US" sz="1200" dirty="0"/>
          </a:p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zh-CN" altLang="en-US" sz="1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富达股票研究</a:t>
            </a:r>
            <a:endParaRPr lang="zh-CN" alt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9244584" y="5175504"/>
            <a:ext cx="209397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9244584" y="5230368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LSE数学</a:t>
            </a:r>
            <a:endParaRPr lang="zh-CN" alt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594360" y="5833872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四人都拿到了顶级量化机构的return offer。我们选择放弃，来做这件事。平均21岁。</a:t>
            </a:r>
            <a:endParaRPr lang="zh-CN" altLang="en-US" sz="1600" dirty="0"/>
          </a:p>
        </p:txBody>
      </p:sp>
      <p:pic>
        <p:nvPicPr>
          <p:cNvPr id="37" name="Image 6" descr="/home/claude/build/assets/simreal-logo-in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39" name="Text 30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03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9496"/>
            <a:ext cx="31089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为什么是现在</a:t>
            </a:r>
            <a:endParaRPr lang="zh-CN" alt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68096"/>
            <a:ext cx="11000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AI的下一次进步，要靠真实工作的反馈，而不是更多文本</a:t>
            </a:r>
            <a:endParaRPr lang="zh-CN" alt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484632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2026–2032年</a:t>
            </a:r>
            <a:endParaRPr lang="zh-CN" alt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9514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公开的人类文本预计在此期间被用尽（Epoch AI估算，80%置信区间）。</a:t>
            </a:r>
            <a:endParaRPr lang="zh-CN" alt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484632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971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&gt;10亿美元</a:t>
            </a:r>
            <a:endParaRPr lang="zh-CN" alt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48386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Anthropic曾讨论一年内在训练环境上的投入（2025年9月报道）。</a:t>
            </a:r>
            <a:endParaRPr lang="zh-CN" alt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4069080"/>
            <a:ext cx="484632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4160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27倍</a:t>
            </a:r>
            <a:endParaRPr lang="zh-CN" alt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67258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赛道公司Mercor的年化毛营收，16个月从7,500万美元增至20亿美元（含支付给专家的部分）。</a:t>
            </a:r>
            <a:endParaRPr lang="zh-CN" alt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5257800"/>
            <a:ext cx="484632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0" y="16916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今天增长最快的数据公司，只是它所服务市场的一小部分。</a:t>
            </a:r>
            <a:endParaRPr lang="zh-CN" alt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5394960"/>
            <a:ext cx="420624" cy="45720"/>
          </a:xfrm>
          <a:prstGeom prst="rect">
            <a:avLst/>
          </a:prstGeom>
          <a:solidFill>
            <a:srgbClr val="D9D6CE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512064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dirty="0">
                <a:solidFill>
                  <a:srgbClr val="111110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$75M</a:t>
            </a:r>
            <a:endParaRPr lang="zh-CN" alt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38544" y="5394960"/>
            <a:ext cx="420624" cy="45720"/>
          </a:xfrm>
          <a:prstGeom prst="rect">
            <a:avLst/>
          </a:prstGeom>
          <a:solidFill>
            <a:srgbClr val="D9D6CE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55664" y="512064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dirty="0">
                <a:solidFill>
                  <a:srgbClr val="111110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$500M</a:t>
            </a:r>
            <a:endParaRPr lang="zh-CN" alt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242048" y="5394960"/>
            <a:ext cx="420624" cy="45720"/>
          </a:xfrm>
          <a:prstGeom prst="rect">
            <a:avLst/>
          </a:prstGeom>
          <a:solidFill>
            <a:srgbClr val="D9D6CE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59168" y="512064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dirty="0">
                <a:solidFill>
                  <a:srgbClr val="111110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$760M</a:t>
            </a:r>
            <a:endParaRPr lang="zh-CN" alt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845552" y="5394960"/>
            <a:ext cx="420624" cy="45720"/>
          </a:xfrm>
          <a:prstGeom prst="rect">
            <a:avLst/>
          </a:prstGeom>
          <a:solidFill>
            <a:srgbClr val="D9D6CE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62672" y="512064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dirty="0">
                <a:solidFill>
                  <a:srgbClr val="111110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$1B</a:t>
            </a:r>
            <a:endParaRPr lang="zh-CN" alt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449056" y="5386310"/>
            <a:ext cx="420624" cy="54370"/>
          </a:xfrm>
          <a:prstGeom prst="rect">
            <a:avLst/>
          </a:prstGeom>
          <a:solidFill>
            <a:srgbClr val="D9D6CE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66176" y="511199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dirty="0">
                <a:solidFill>
                  <a:srgbClr val="111110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$2B</a:t>
            </a:r>
            <a:endParaRPr lang="zh-CN" alt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098280" y="2377440"/>
            <a:ext cx="0" cy="306324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26880" y="4761058"/>
            <a:ext cx="777240" cy="679622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052560" y="437701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~$25B</a:t>
            </a:r>
            <a:endParaRPr lang="zh-CN" alt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052560" y="549554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2028E</a:t>
            </a:r>
            <a:endParaRPr lang="zh-CN" alt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424160" y="2423160"/>
            <a:ext cx="777240" cy="30175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49840" y="20391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~$111B</a:t>
            </a:r>
            <a:endParaRPr lang="zh-CN" alt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0" y="549554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2032E</a:t>
            </a:r>
            <a:endParaRPr lang="zh-CN" alt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43600" y="5440680"/>
            <a:ext cx="5623560" cy="0"/>
          </a:xfrm>
          <a:prstGeom prst="line">
            <a:avLst/>
          </a:prstGeom>
          <a:noFill/>
          <a:ln w="9525">
            <a:solidFill>
              <a:srgbClr val="6E6C6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43600" y="549554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Mercor年化毛营收</a:t>
            </a:r>
            <a:endParaRPr lang="zh-CN" alt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0" y="5715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AI智能体市场</a:t>
            </a:r>
            <a:endParaRPr lang="zh-CN" alt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605332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7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Epoch AI（2024）；The Information经TechCrunch（2025年9月）；Mercor：TechCrunch、Sacra、Dealroom（毛营收）；AI智能体：Precedence Research，2025年79亿美元，年复合增长45.8%。</a:t>
            </a:r>
            <a:endParaRPr lang="zh-CN" altLang="en-US" sz="750" dirty="0"/>
          </a:p>
        </p:txBody>
      </p:sp>
      <p:pic>
        <p:nvPicPr>
          <p:cNvPr id="37" name="Image 0" descr="/home/claude/build/assets/simreal-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04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9496"/>
            <a:ext cx="31089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问题</a:t>
            </a:r>
            <a:endParaRPr lang="zh-CN" alt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68096"/>
            <a:ext cx="11000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考满分的AI，还不能被放心交付真活</a:t>
            </a:r>
            <a:endParaRPr lang="zh-CN" alt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26464"/>
            <a:ext cx="11000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训练题有标准答案，真实工作没有。所以企业还不敢把真活交给AI。</a:t>
            </a:r>
            <a:endParaRPr lang="zh-CN" alt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考试过关</a:t>
            </a:r>
            <a:endParaRPr lang="zh-CN" alt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实战失手</a:t>
            </a:r>
            <a:endParaRPr lang="zh-CN" alt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395728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395728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写出的策略看起来很专业</a:t>
            </a:r>
            <a:endParaRPr lang="zh-CN" alt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760720" y="2816352"/>
            <a:ext cx="411480" cy="0"/>
          </a:xfrm>
          <a:prstGeom prst="line">
            <a:avLst/>
          </a:prstGeom>
          <a:noFill/>
          <a:ln w="12700">
            <a:solidFill>
              <a:srgbClr val="6E6C66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6400800" y="2395728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真实交易日一上场就亏钱</a:t>
            </a:r>
            <a:endParaRPr lang="zh-CN" alt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94360" y="3236976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236976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做出的账看起来已经完成</a:t>
            </a:r>
            <a:endParaRPr lang="zh-CN" alt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760720" y="3657600"/>
            <a:ext cx="411480" cy="0"/>
          </a:xfrm>
          <a:prstGeom prst="line">
            <a:avLst/>
          </a:prstGeom>
          <a:noFill/>
          <a:ln w="12700">
            <a:solidFill>
              <a:srgbClr val="6E6C66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400800" y="3236976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账却对不平</a:t>
            </a:r>
            <a:endParaRPr lang="zh-CN" alt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94360" y="4078224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4078224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提交的代码通过了今天的测试</a:t>
            </a:r>
            <a:endParaRPr lang="zh-CN" alt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760720" y="4498848"/>
            <a:ext cx="411480" cy="0"/>
          </a:xfrm>
          <a:prstGeom prst="line">
            <a:avLst/>
          </a:prstGeom>
          <a:noFill/>
          <a:ln w="12700">
            <a:solidFill>
              <a:srgbClr val="6E6C66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400800" y="4078224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下一个版本就出问题</a:t>
            </a:r>
            <a:endParaRPr lang="zh-CN" alt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594360" y="4919472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92072" y="5576570"/>
            <a:ext cx="526288" cy="101600"/>
          </a:xfrm>
          <a:prstGeom prst="rect">
            <a:avLst/>
          </a:prstGeom>
          <a:solidFill>
            <a:srgbClr val="C2410C">
              <a:alpha val="17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5349240"/>
            <a:ext cx="11000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智能体越自主，评分标准出错的代价越大：企业不敢用，实验室白白浪费算力。</a:t>
            </a:r>
            <a:endParaRPr lang="zh-CN" altLang="en-US" sz="2000" dirty="0"/>
          </a:p>
        </p:txBody>
      </p:sp>
      <p:pic>
        <p:nvPicPr>
          <p:cNvPr id="23" name="Image 0" descr="/home/claude/build/assets/simreal-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05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9496"/>
            <a:ext cx="31089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核心洞察</a:t>
            </a:r>
            <a:endParaRPr lang="zh-CN" alt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780987" y="994664"/>
            <a:ext cx="1643888" cy="162560"/>
          </a:xfrm>
          <a:prstGeom prst="rect">
            <a:avLst/>
          </a:prstGeom>
          <a:solidFill>
            <a:srgbClr val="C2410C">
              <a:alpha val="17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768096"/>
            <a:ext cx="11000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AI的每一次能力跃迁，都来自一次反馈信号的升级</a:t>
            </a:r>
            <a:endParaRPr lang="zh-CN" alt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251002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48256"/>
            <a:ext cx="2510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第一代 · 互联网数据</a:t>
            </a:r>
            <a:endParaRPr lang="zh-CN" alt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59152"/>
            <a:ext cx="25100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模仿</a:t>
            </a:r>
            <a:endParaRPr lang="zh-CN" alt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889504"/>
            <a:ext cx="241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人写，模型抄。</a:t>
            </a:r>
            <a:endParaRPr lang="zh-CN" alt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547872"/>
            <a:ext cx="251002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639312"/>
            <a:ext cx="25100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带来的跃迁</a:t>
            </a:r>
            <a:endParaRPr lang="zh-CN" alt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877056"/>
            <a:ext cx="2510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会说话的AI</a:t>
            </a:r>
            <a:endParaRPr lang="zh-CN" alt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526280"/>
            <a:ext cx="25100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边际收益递减</a:t>
            </a:r>
            <a:endParaRPr lang="zh-CN" alt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24428" y="1920240"/>
            <a:ext cx="251002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24428" y="2048256"/>
            <a:ext cx="2510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第二代 · 人类偏好</a:t>
            </a:r>
            <a:endParaRPr lang="zh-CN" alt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424428" y="2359152"/>
            <a:ext cx="25100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对齐</a:t>
            </a:r>
            <a:endParaRPr lang="zh-CN" alt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3424428" y="2889504"/>
            <a:ext cx="241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人打分，模型迎合。</a:t>
            </a:r>
            <a:endParaRPr lang="zh-CN" alt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4428" y="3547872"/>
            <a:ext cx="251002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24428" y="3639312"/>
            <a:ext cx="25100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带来的跃迁</a:t>
            </a:r>
            <a:endParaRPr lang="zh-CN" alt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424428" y="3877056"/>
            <a:ext cx="2510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好用的AI助手</a:t>
            </a:r>
            <a:endParaRPr lang="zh-CN" alt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424428" y="4526280"/>
            <a:ext cx="25100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边际收益递减</a:t>
            </a:r>
            <a:endParaRPr lang="zh-CN" alt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54496" y="1920240"/>
            <a:ext cx="251002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54496" y="2048256"/>
            <a:ext cx="2510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第三代 · 可检验的答案</a:t>
            </a:r>
            <a:endParaRPr lang="zh-CN" alt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254496" y="2359152"/>
            <a:ext cx="25100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验证</a:t>
            </a:r>
            <a:endParaRPr lang="zh-CN" altLang="en-US" sz="2700" dirty="0"/>
          </a:p>
        </p:txBody>
      </p:sp>
      <p:sp>
        <p:nvSpPr>
          <p:cNvPr id="25" name="Text 23"/>
          <p:cNvSpPr txBox="1"/>
          <p:nvPr/>
        </p:nvSpPr>
        <p:spPr>
          <a:xfrm>
            <a:off x="6254496" y="2889504"/>
            <a:ext cx="241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规则判定，模型解题。数学与代码。</a:t>
            </a:r>
            <a:endParaRPr lang="zh-CN" alt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54496" y="3547872"/>
            <a:ext cx="251002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54496" y="3639312"/>
            <a:ext cx="25100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带来的跃迁</a:t>
            </a:r>
            <a:endParaRPr lang="zh-CN" alt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254496" y="3877056"/>
            <a:ext cx="2510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推理模型</a:t>
            </a:r>
            <a:endParaRPr lang="zh-CN" alt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254496" y="4526280"/>
            <a:ext cx="25100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趋于成熟</a:t>
            </a:r>
            <a:endParaRPr lang="zh-CN" alt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084564" y="1920240"/>
            <a:ext cx="2510028" cy="0"/>
          </a:xfrm>
          <a:prstGeom prst="line">
            <a:avLst/>
          </a:prstGeom>
          <a:noFill/>
          <a:ln w="25400">
            <a:solidFill>
              <a:srgbClr val="11111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84564" y="2048256"/>
            <a:ext cx="2510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第四代 · 真实世界的结果</a:t>
            </a:r>
            <a:endParaRPr lang="zh-CN" alt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9084564" y="2359152"/>
            <a:ext cx="25100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后果</a:t>
            </a:r>
            <a:endParaRPr lang="zh-CN" altLang="en-US" sz="2700" dirty="0"/>
          </a:p>
        </p:txBody>
      </p:sp>
      <p:sp>
        <p:nvSpPr>
          <p:cNvPr id="33" name="Text 31"/>
          <p:cNvSpPr txBox="1"/>
          <p:nvPr/>
        </p:nvSpPr>
        <p:spPr>
          <a:xfrm>
            <a:off x="9084564" y="2889504"/>
            <a:ext cx="241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世界结算，模型承担。</a:t>
            </a:r>
            <a:endParaRPr lang="zh-CN" alt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084564" y="3547872"/>
            <a:ext cx="251002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84564" y="3639312"/>
            <a:ext cx="25100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带来的跃迁</a:t>
            </a:r>
            <a:endParaRPr lang="zh-CN" alt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9084564" y="3877056"/>
            <a:ext cx="2510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20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自主运行与自我进化</a:t>
            </a:r>
            <a:endParaRPr lang="zh-CN" alt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084564" y="4526280"/>
            <a:ext cx="25100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111110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刚刚起步</a:t>
            </a:r>
            <a:endParaRPr lang="zh-CN" alt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4360" y="5257800"/>
            <a:ext cx="0" cy="502920"/>
          </a:xfrm>
          <a:prstGeom prst="line">
            <a:avLst/>
          </a:prstGeom>
          <a:noFill/>
          <a:ln w="19050">
            <a:solidFill>
              <a:srgbClr val="11111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8680" y="525780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前三代信号来自人。第四代来自世界，让AI能够自我进化。</a:t>
            </a:r>
            <a:endParaRPr lang="zh-CN" altLang="en-US" sz="2000" dirty="0"/>
          </a:p>
        </p:txBody>
      </p:sp>
      <p:pic>
        <p:nvPicPr>
          <p:cNvPr id="40" name="Image 0" descr="/home/claude/build/assets/simreal-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42" name="Text 39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06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9496"/>
            <a:ext cx="31089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我们做什么</a:t>
            </a:r>
            <a:endParaRPr lang="zh-CN" alt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827272" y="994664"/>
            <a:ext cx="831088" cy="162560"/>
          </a:xfrm>
          <a:prstGeom prst="rect">
            <a:avLst/>
          </a:prstGeom>
          <a:solidFill>
            <a:srgbClr val="C2410C">
              <a:alpha val="17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768096"/>
            <a:ext cx="11000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每个动作都有真实后果，AI从中持续进步</a:t>
            </a:r>
            <a:endParaRPr lang="zh-CN" alt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26464"/>
            <a:ext cx="11000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训练环境、结果评分、专家判断合为一体：AI练习真实工作，从每次结果中学习。</a:t>
            </a:r>
            <a:endParaRPr lang="zh-CN" alt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3392424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04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01</a:t>
            </a:r>
            <a:endParaRPr lang="zh-CN" alt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560320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训练环境</a:t>
            </a:r>
            <a:endParaRPr lang="zh-CN" alt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99923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还原真实工作，供AI练习</a:t>
            </a:r>
            <a:endParaRPr lang="zh-CN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986784" y="2103120"/>
            <a:ext cx="411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600" dirty="0">
                <a:solidFill>
                  <a:srgbClr val="6E6C6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+</a:t>
            </a:r>
            <a:endParaRPr lang="zh-CN" alt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398264" y="2103120"/>
            <a:ext cx="3392424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72584" y="2304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02</a:t>
            </a:r>
            <a:endParaRPr lang="zh-CN" alt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672584" y="2560320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结果评分</a:t>
            </a:r>
            <a:endParaRPr lang="zh-CN" alt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672584" y="299923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按真实结果打分</a:t>
            </a:r>
            <a:endParaRPr lang="zh-CN" alt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90688" y="2103120"/>
            <a:ext cx="411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600" dirty="0">
                <a:solidFill>
                  <a:srgbClr val="6E6C6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+</a:t>
            </a:r>
            <a:endParaRPr lang="zh-CN" alt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202168" y="2103120"/>
            <a:ext cx="3392424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76488" y="2304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03</a:t>
            </a:r>
            <a:endParaRPr lang="zh-CN" alt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476488" y="2560320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专家反馈</a:t>
            </a:r>
            <a:endParaRPr lang="zh-CN" alt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476488" y="299923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真实工作背后的判断</a:t>
            </a:r>
            <a:endParaRPr lang="zh-CN" alt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821528" y="34290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400" dirty="0">
                <a:solidFill>
                  <a:srgbClr val="6E6C6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=</a:t>
            </a:r>
            <a:endParaRPr lang="zh-CN" alt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94360" y="3813048"/>
            <a:ext cx="11000232" cy="86868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38130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E27A3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SimReal</a:t>
            </a:r>
            <a:endParaRPr lang="zh-CN" alt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965960" y="3813048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6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一个给出真实反馈的世界</a:t>
            </a:r>
            <a:endParaRPr lang="zh-CN" alt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3813048"/>
            <a:ext cx="4096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让AI从每次结果中学习</a:t>
            </a:r>
            <a:endParaRPr lang="zh-CN" alt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5212080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AI行动  </a:t>
            </a:r>
            <a:pPr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</a:t>
            </a:r>
            <a:pPr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 世界给出结果  </a:t>
            </a:r>
            <a:pPr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</a:t>
            </a:r>
            <a:pPr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 AI从结果中训练  </a:t>
            </a:r>
            <a:pPr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</a:t>
            </a:r>
            <a:pPr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 自我进化</a:t>
            </a:r>
            <a:endParaRPr lang="zh-CN" altLang="en-US" sz="2000" dirty="0"/>
          </a:p>
        </p:txBody>
      </p:sp>
      <p:pic>
        <p:nvPicPr>
          <p:cNvPr id="27" name="Image 0" descr="/home/claude/build/assets/simreal-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07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9496"/>
            <a:ext cx="31089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旗舰产品  ·  自我进化（RSI）</a:t>
            </a:r>
            <a:endParaRPr lang="zh-CN" alt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13232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64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Xitadel</a:t>
            </a:r>
            <a:endParaRPr lang="zh-CN" alt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3619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6E6C6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AI自己学会交易</a:t>
            </a:r>
            <a:endParaRPr lang="zh-CN" alt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612648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1488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上真实战场</a:t>
            </a:r>
            <a:endParaRPr lang="zh-CN" alt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1488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AI进入真实市场，和顶尖交易员同场比赛。</a:t>
            </a:r>
            <a:endParaRPr lang="zh-CN" alt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651760"/>
            <a:ext cx="612648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651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市场当裁判</a:t>
            </a:r>
            <a:endParaRPr lang="zh-CN" alt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65176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每一笔交易由市场结算。</a:t>
            </a:r>
            <a:endParaRPr lang="zh-CN" alt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154680"/>
            <a:ext cx="612648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154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从结果中进化</a:t>
            </a:r>
            <a:endParaRPr lang="zh-CN" alt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1546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AI从每天的盈亏中复盘，每一轮都让下一轮更强。</a:t>
            </a:r>
            <a:endParaRPr lang="zh-CN" alt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657600"/>
            <a:ext cx="612648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73075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CN" altLang="en-US" sz="13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我们把开源模型Qwen3.8-27B放进Xitadel训练。在从未见过的真实市场数据上，它的交易表现提升12%，并在多次独立运行中得到复现。</a:t>
            </a:r>
            <a:endParaRPr lang="zh-CN" alt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57200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我们已经证明，AI可以在真实市场里自己变强。</a:t>
            </a:r>
            <a:pPr indent="0" marL="0">
              <a:lnSpc>
                <a:spcPct val="110000"/>
              </a:lnSpc>
              <a:buNone/>
            </a:pPr>
            <a:r>
              <a:rPr lang="zh-CN" altLang="en-US" sz="17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下一步：扩展到多策略、多市场。</a:t>
            </a:r>
            <a:endParaRPr lang="zh-CN" alt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086600" y="914400"/>
            <a:ext cx="4507992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109728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每一轮，都从上一轮出发</a:t>
            </a:r>
            <a:endParaRPr lang="zh-CN" alt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06640" y="3291840"/>
            <a:ext cx="566928" cy="868680"/>
          </a:xfrm>
          <a:prstGeom prst="rect">
            <a:avLst/>
          </a:prstGeom>
          <a:solidFill>
            <a:srgbClr val="E2E0DA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78040" y="42336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基础模型</a:t>
            </a:r>
            <a:endParaRPr lang="zh-CN" alt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231886" y="2971800"/>
            <a:ext cx="566928" cy="1188720"/>
          </a:xfrm>
          <a:prstGeom prst="rect">
            <a:avLst/>
          </a:prstGeom>
          <a:solidFill>
            <a:srgbClr val="C4C0B7"/>
          </a:solidFill>
          <a:ln w="12700">
            <a:solidFill>
              <a:srgbClr val="C4C0B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03286" y="42336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第1轮</a:t>
            </a:r>
            <a:endParaRPr lang="zh-CN" alt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019288" y="3127248"/>
            <a:ext cx="166878" cy="-320040"/>
          </a:xfrm>
          <a:prstGeom prst="line">
            <a:avLst/>
          </a:prstGeom>
          <a:noFill/>
          <a:ln w="9525">
            <a:solidFill>
              <a:srgbClr val="6E6C6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57132" y="2651760"/>
            <a:ext cx="566928" cy="1508760"/>
          </a:xfrm>
          <a:prstGeom prst="rect">
            <a:avLst/>
          </a:prstGeom>
          <a:solidFill>
            <a:srgbClr val="E9B089"/>
          </a:solidFill>
          <a:ln w="12700">
            <a:solidFill>
              <a:srgbClr val="E9B0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28532" y="42336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第2轮</a:t>
            </a:r>
            <a:endParaRPr lang="zh-CN" alt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844534" y="2807208"/>
            <a:ext cx="166878" cy="-320040"/>
          </a:xfrm>
          <a:prstGeom prst="line">
            <a:avLst/>
          </a:prstGeom>
          <a:noFill/>
          <a:ln w="9525">
            <a:solidFill>
              <a:srgbClr val="6E6C6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82378" y="2331720"/>
            <a:ext cx="566928" cy="1828800"/>
          </a:xfrm>
          <a:prstGeom prst="rect">
            <a:avLst/>
          </a:prstGeom>
          <a:solidFill>
            <a:srgbClr val="E27A3F"/>
          </a:solidFill>
          <a:ln w="12700">
            <a:solidFill>
              <a:srgbClr val="E27A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53778" y="42336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第3轮</a:t>
            </a:r>
            <a:endParaRPr lang="zh-CN" alt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669780" y="2487168"/>
            <a:ext cx="166878" cy="-320040"/>
          </a:xfrm>
          <a:prstGeom prst="line">
            <a:avLst/>
          </a:prstGeom>
          <a:noFill/>
          <a:ln w="9525">
            <a:solidFill>
              <a:srgbClr val="6E6C6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707624" y="1965960"/>
            <a:ext cx="566928" cy="21945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79024" y="42336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第4轮</a:t>
            </a:r>
            <a:endParaRPr lang="zh-CN" alt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495026" y="2167128"/>
            <a:ext cx="166878" cy="-365760"/>
          </a:xfrm>
          <a:prstGeom prst="line">
            <a:avLst/>
          </a:prstGeom>
          <a:noFill/>
          <a:ln w="9525">
            <a:solidFill>
              <a:srgbClr val="6E6C6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406640" y="4160520"/>
            <a:ext cx="3867912" cy="0"/>
          </a:xfrm>
          <a:prstGeom prst="line">
            <a:avLst/>
          </a:prstGeom>
          <a:noFill/>
          <a:ln w="9525">
            <a:solidFill>
              <a:srgbClr val="6E6C6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296144" y="139903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30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+12%</a:t>
            </a:r>
            <a:endParaRPr lang="zh-CN" altLang="en-US" sz="3000" dirty="0"/>
          </a:p>
        </p:txBody>
      </p:sp>
      <p:sp>
        <p:nvSpPr>
          <p:cNvPr id="36" name="Text 34"/>
          <p:cNvSpPr txBox="1"/>
          <p:nvPr/>
        </p:nvSpPr>
        <p:spPr>
          <a:xfrm>
            <a:off x="7406640" y="4544568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9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示意图。实测：在从未见过的真实市场数据上提升12%，多次独立运行均复现（受控实验，Qwen3.8-27B）。</a:t>
            </a:r>
            <a:endParaRPr lang="zh-CN" alt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06472" y="5670360"/>
            <a:ext cx="500888" cy="96520"/>
          </a:xfrm>
          <a:prstGeom prst="rect">
            <a:avLst/>
          </a:prstGeom>
          <a:solidFill>
            <a:srgbClr val="C2410C">
              <a:alpha val="17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94360" y="5440680"/>
            <a:ext cx="11000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谁拥有最好的训练世界，谁就拥有每个领域最好的AI。我们已经建成，而且跑通了。</a:t>
            </a:r>
            <a:endParaRPr lang="zh-CN" altLang="en-US" sz="1900" dirty="0"/>
          </a:p>
        </p:txBody>
      </p:sp>
      <p:pic>
        <p:nvPicPr>
          <p:cNvPr id="39" name="Image 0" descr="/home/claude/build/assets/simreal-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08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9496"/>
            <a:ext cx="31089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产品线</a:t>
            </a:r>
            <a:endParaRPr lang="zh-CN" alt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68096"/>
            <a:ext cx="11000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同样的方法，已经在AI研究和预测上运转</a:t>
            </a:r>
            <a:endParaRPr lang="zh-CN" alt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26464"/>
            <a:ext cx="11000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每个领域，都需要自己的训练世界。我们做得快，而且公开可查。</a:t>
            </a:r>
            <a:endParaRPr lang="zh-CN" alt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5340096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pic>
        <p:nvPicPr>
          <p:cNvPr id="7" name="Image 0" descr="/home/claude/build/assets/ml-modali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1368" y="2130552"/>
            <a:ext cx="2926080" cy="1463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3749040"/>
            <a:ext cx="470001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3840480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SimReal-MLBench  ·  AI研究员</a:t>
            </a:r>
            <a:endParaRPr lang="zh-CN" alt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97680"/>
            <a:ext cx="4700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让AI独立完成整个研究项目，从读数据、做实验到交结果：60个真实任务，覆盖7类数据。</a:t>
            </a:r>
            <a:endParaRPr lang="zh-CN" alt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89204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目标：AI改进AI，进化越来越快。</a:t>
            </a:r>
            <a:endParaRPr lang="zh-CN" alt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54496" y="1965960"/>
            <a:ext cx="5340096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pic>
        <p:nvPicPr>
          <p:cNvPr id="13" name="Image 1" descr="/home/claude/build/assets/forecast-f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4" y="2130552"/>
            <a:ext cx="2926080" cy="14630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574536" y="3749040"/>
            <a:ext cx="4700016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574536" y="3840480"/>
            <a:ext cx="4700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Future Prediction Bench  ·  AI预测</a:t>
            </a:r>
            <a:endParaRPr lang="zh-CN" alt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574536" y="4297680"/>
            <a:ext cx="4700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让AI对真实世界的事件提前下判断，从体育赛事到地震活动，事件揭晓后按结果打分。</a:t>
            </a:r>
            <a:endParaRPr lang="zh-CN" alt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574536" y="489204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目标：做出经得起现实检验的判断。</a:t>
            </a:r>
            <a:endParaRPr lang="zh-CN" alt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94360" y="5596128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94360" y="565099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14天做出7款产品，零外部融资。   </a:t>
            </a:r>
            <a:pPr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另有Month-End Close（财务结账）、SWE-Forward（软件工程）、MathmoBench（数学证明）、Puzzle Benchmark（逻辑推理）。公开预览：github.com/Simreal-AI</a:t>
            </a:r>
            <a:endParaRPr lang="zh-CN" altLang="en-US" sz="1300" dirty="0"/>
          </a:p>
        </p:txBody>
      </p:sp>
      <p:pic>
        <p:nvPicPr>
          <p:cNvPr id="20" name="Image 2" descr="/home/claude/build/assets/simreal-logo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09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9496"/>
            <a:ext cx="31089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质量与防作弊</a:t>
            </a:r>
            <a:endParaRPr lang="zh-CN" alt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68096"/>
            <a:ext cx="11000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400次作弊攻击，0次成功</a:t>
            </a:r>
            <a:endParaRPr lang="zh-CN" alt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585216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373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为什么重要</a:t>
            </a:r>
            <a:endParaRPr lang="zh-CN" alt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173736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5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评分一旦有漏洞，模型就会钻空子；每个能被钻空子的任务，都在浪费实验室的训练算力。</a:t>
            </a:r>
            <a:endParaRPr lang="zh-CN" alt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606040"/>
            <a:ext cx="585216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6060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我们怎么做</a:t>
            </a:r>
            <a:endParaRPr lang="zh-CN" alt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26060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5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每个测试上线前先经受攻击；评分只看真实结果，不靠另一个AI打分。</a:t>
            </a:r>
            <a:endParaRPr lang="zh-CN" alt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474720"/>
            <a:ext cx="585216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4747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客户得到什么</a:t>
            </a:r>
            <a:endParaRPr lang="zh-CN" alt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34747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5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信得过的分数，以及花在真正学习上的算力。</a:t>
            </a:r>
            <a:endParaRPr lang="zh-CN" alt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343400"/>
            <a:ext cx="585216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1737360"/>
            <a:ext cx="2299716" cy="173736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5160" y="1920240"/>
            <a:ext cx="18425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600" dirty="0">
                <a:solidFill>
                  <a:srgbClr val="E27A3F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0 / 400</a:t>
            </a:r>
            <a:endParaRPr lang="zh-CN" alt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2697480"/>
            <a:ext cx="18882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次作弊攻击成功（Puzzle Benchmark）</a:t>
            </a:r>
            <a:endParaRPr lang="zh-CN" alt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294876" y="1737360"/>
            <a:ext cx="2299716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23476" y="1920240"/>
            <a:ext cx="18425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6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6 </a:t>
            </a:r>
            <a:pPr indent="0" marL="0">
              <a:buNone/>
            </a:pPr>
            <a:r>
              <a:rPr lang="zh-CN" altLang="en-US" sz="36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</a:t>
            </a:r>
            <a:pPr indent="0" marL="0">
              <a:buNone/>
            </a:pPr>
            <a:r>
              <a:rPr lang="zh-CN" altLang="en-US" sz="36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0</a:t>
            </a:r>
            <a:endParaRPr lang="zh-CN" alt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9523476" y="2697480"/>
            <a:ext cx="18882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个评分漏洞，两轮受控对比（Month-End Close）</a:t>
            </a:r>
            <a:endParaRPr lang="zh-CN" alt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66560" y="3657600"/>
            <a:ext cx="2299716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95160" y="3840480"/>
            <a:ext cx="18425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6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709</a:t>
            </a:r>
            <a:endParaRPr lang="zh-CN" alt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4617720"/>
            <a:ext cx="18882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道AI无法作弊通过的谜题</a:t>
            </a:r>
            <a:endParaRPr lang="zh-CN" alt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294876" y="3657600"/>
            <a:ext cx="2299716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23476" y="3840480"/>
            <a:ext cx="18425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6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~$2,400</a:t>
            </a:r>
            <a:endParaRPr lang="zh-CN" alt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9523476" y="4617720"/>
            <a:ext cx="18882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前沿实验室每个强化学习任务的算力成本，单位美元（Mechanize估算）</a:t>
            </a:r>
            <a:endParaRPr lang="zh-CN" alt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605332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7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红队测试记录可在尽调中提供。算力估算：Mechanize，引自Epoch AI《An FAQ on RL environments》（2026年1月）。</a:t>
            </a:r>
            <a:endParaRPr lang="zh-CN" altLang="en-US" sz="750" dirty="0"/>
          </a:p>
        </p:txBody>
      </p:sp>
      <p:pic>
        <p:nvPicPr>
          <p:cNvPr id="28" name="Image 0" descr="/home/claude/build/assets/simreal-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10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9496"/>
            <a:ext cx="31089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商业模式</a:t>
            </a:r>
            <a:endParaRPr lang="zh-CN" alt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68096"/>
            <a:ext cx="11000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训练环境只需搭建一次，模型每升级一次，就再收一次费</a:t>
            </a:r>
            <a:endParaRPr lang="zh-CN" alt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727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基础业务</a:t>
            </a:r>
            <a:endParaRPr lang="zh-CN" alt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901952"/>
            <a:ext cx="254431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993392"/>
            <a:ext cx="25443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专家数据</a:t>
            </a:r>
            <a:endParaRPr lang="zh-CN" alt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95728"/>
            <a:ext cx="2452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专业人士的示范与判断</a:t>
            </a:r>
            <a:endParaRPr lang="zh-CN" alt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2998" y="1901952"/>
            <a:ext cx="254431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12998" y="1993392"/>
            <a:ext cx="25443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RL训练环境</a:t>
            </a:r>
            <a:endParaRPr lang="zh-CN" alt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12998" y="2395728"/>
            <a:ext cx="2452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还原真实工作，供智能体练习</a:t>
            </a:r>
            <a:endParaRPr lang="zh-CN" alt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1636" y="1901952"/>
            <a:ext cx="254431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1636" y="1993392"/>
            <a:ext cx="25443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评测与攻防测试</a:t>
            </a:r>
            <a:endParaRPr lang="zh-CN" alt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31636" y="2395728"/>
            <a:ext cx="2452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私有评测、公开基准、对抗测试</a:t>
            </a:r>
            <a:endParaRPr lang="zh-CN" alt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50274" y="1901952"/>
            <a:ext cx="254431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50274" y="1993392"/>
            <a:ext cx="25443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企业定制</a:t>
            </a:r>
            <a:endParaRPr lang="zh-CN" alt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050274" y="2395728"/>
            <a:ext cx="2452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围绕企业自身工作流搭建环境</a:t>
            </a:r>
            <a:endParaRPr lang="zh-CN" alt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063240"/>
            <a:ext cx="11000232" cy="96012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30632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E27A3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独有业务</a:t>
            </a:r>
            <a:endParaRPr lang="zh-CN" alt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331720" y="306324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RSI自我进化服务</a:t>
            </a:r>
            <a:endParaRPr lang="zh-CN" alt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3063240"/>
            <a:ext cx="4645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模型每次升级，都回到我们的环境继续训练，形成持续收入。</a:t>
            </a:r>
            <a:endParaRPr lang="zh-CN" alt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43434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收费路径</a:t>
            </a:r>
            <a:endParaRPr lang="zh-CN" alt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46634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免费基准  </a:t>
            </a:r>
            <a:pPr indent="0" marL="0">
              <a:buNone/>
            </a:pPr>
            <a:r>
              <a:rPr lang="zh-CN" altLang="en-US" sz="15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</a:t>
            </a:r>
            <a:pPr indent="0" marL="0">
              <a:buNone/>
            </a:pPr>
            <a:r>
              <a:rPr lang="zh-CN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 私有评测  </a:t>
            </a:r>
            <a:pPr indent="0" marL="0">
              <a:buNone/>
            </a:pPr>
            <a:r>
              <a:rPr lang="zh-CN" altLang="en-US" sz="15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</a:t>
            </a:r>
            <a:pPr indent="0" marL="0">
              <a:buNone/>
            </a:pPr>
            <a:r>
              <a:rPr lang="zh-CN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 环境授权  </a:t>
            </a:r>
            <a:pPr indent="0" marL="0">
              <a:buNone/>
            </a:pPr>
            <a:r>
              <a:rPr lang="zh-CN" altLang="en-US" sz="15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</a:t>
            </a:r>
            <a:pPr indent="0" marL="0">
              <a:buNone/>
            </a:pPr>
            <a:r>
              <a:rPr lang="zh-CN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 持续训练</a:t>
            </a:r>
            <a:endParaRPr lang="zh-CN" alt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51206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实验室每训练一个新模型，都会回来再买一轮。</a:t>
            </a:r>
            <a:endParaRPr lang="zh-CN" alt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60920" y="4343400"/>
            <a:ext cx="0" cy="114300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35240" y="4389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六到七位数</a:t>
            </a:r>
            <a:endParaRPr lang="zh-CN" alt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7635240" y="5047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美元/每份实验室合同/每季度  ·  独家4–5倍（行业参考，Epoch AI）</a:t>
            </a:r>
            <a:endParaRPr lang="zh-CN" altLang="en-US" sz="1100" dirty="0"/>
          </a:p>
        </p:txBody>
      </p:sp>
      <p:pic>
        <p:nvPicPr>
          <p:cNvPr id="28" name="Image 0" descr="/home/claude/build/assets/simreal-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11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star-chart-16x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539496"/>
            <a:ext cx="310896" cy="0"/>
          </a:xfrm>
          <a:prstGeom prst="line">
            <a:avLst/>
          </a:prstGeom>
          <a:noFill/>
          <a:ln w="19050">
            <a:solidFill>
              <a:srgbClr val="E27A3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5156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进展</a:t>
            </a:r>
            <a:endParaRPr lang="zh-CN" alt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768096"/>
            <a:ext cx="11000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成立两周，合作方已在排队</a:t>
            </a:r>
            <a:endParaRPr lang="zh-CN" alt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94360" y="1828800"/>
            <a:ext cx="2544318" cy="0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965960"/>
            <a:ext cx="25443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8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</a:t>
            </a:r>
            <a:endParaRPr lang="zh-CN" alt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670048"/>
            <a:ext cx="24071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CN" altLang="en-US" sz="12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家前沿AI实验室正在洽谈，目标第3个月签下首个付费客户</a:t>
            </a:r>
            <a:endParaRPr lang="zh-CN" alt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12998" y="1828800"/>
            <a:ext cx="2544318" cy="0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12998" y="1965960"/>
            <a:ext cx="25443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8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7,000</a:t>
            </a:r>
            <a:pPr indent="0" marL="0">
              <a:buNone/>
            </a:pPr>
            <a:r>
              <a:rPr lang="zh-CN" altLang="en-US" sz="3800" dirty="0">
                <a:solidFill>
                  <a:srgbClr val="E27A3F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+</a:t>
            </a:r>
            <a:endParaRPr lang="zh-CN" alt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3412998" y="2670048"/>
            <a:ext cx="24071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CN" altLang="en-US" sz="12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名专家在候补名单上</a:t>
            </a:r>
            <a:endParaRPr lang="zh-CN" alt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31636" y="1828800"/>
            <a:ext cx="2544318" cy="0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31636" y="1965960"/>
            <a:ext cx="25443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8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500</a:t>
            </a:r>
            <a:pPr indent="0" marL="0">
              <a:buNone/>
            </a:pPr>
            <a:r>
              <a:rPr lang="zh-CN" altLang="en-US" sz="3800" dirty="0">
                <a:solidFill>
                  <a:srgbClr val="E27A3F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+</a:t>
            </a:r>
            <a:endParaRPr lang="zh-CN" altLang="en-US" sz="3800" dirty="0"/>
          </a:p>
        </p:txBody>
      </p:sp>
      <p:sp>
        <p:nvSpPr>
          <p:cNvPr id="14" name="Text 11"/>
          <p:cNvSpPr txBox="1"/>
          <p:nvPr/>
        </p:nvSpPr>
        <p:spPr>
          <a:xfrm>
            <a:off x="6231636" y="2670048"/>
            <a:ext cx="24071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CN" altLang="en-US" sz="12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首周GitHub星标</a:t>
            </a:r>
            <a:endParaRPr lang="zh-CN" alt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050274" y="1828800"/>
            <a:ext cx="2544318" cy="0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50274" y="1965960"/>
            <a:ext cx="25443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8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5</a:t>
            </a:r>
            <a:endParaRPr lang="zh-CN" altLang="en-US" sz="3800" dirty="0"/>
          </a:p>
        </p:txBody>
      </p:sp>
      <p:sp>
        <p:nvSpPr>
          <p:cNvPr id="17" name="Text 14"/>
          <p:cNvSpPr txBox="1"/>
          <p:nvPr/>
        </p:nvSpPr>
        <p:spPr>
          <a:xfrm>
            <a:off x="9050274" y="2670048"/>
            <a:ext cx="24071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CN" altLang="en-US" sz="12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位硅谷顶级天使主动接洽</a:t>
            </a:r>
            <a:endParaRPr lang="zh-CN" alt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4360" y="3749040"/>
            <a:ext cx="11000232" cy="0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4360" y="388620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全球顶级交易公司的从业者，已经在支持我们。</a:t>
            </a:r>
            <a:endParaRPr lang="zh-CN" altLang="en-US" sz="2400" dirty="0"/>
          </a:p>
        </p:txBody>
      </p:sp>
      <p:pic>
        <p:nvPicPr>
          <p:cNvPr id="20" name="Image 1" descr="/home/claude/build/assets/logos/jane-street-pap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983" y="4722006"/>
            <a:ext cx="994800" cy="385788"/>
          </a:xfrm>
          <a:prstGeom prst="rect">
            <a:avLst/>
          </a:prstGeom>
        </p:spPr>
      </p:pic>
      <p:pic>
        <p:nvPicPr>
          <p:cNvPr id="21" name="Image 2" descr="/home/claude/build/assets/logos/imc-pap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4928" y="4800177"/>
            <a:ext cx="1239004" cy="229445"/>
          </a:xfrm>
          <a:prstGeom prst="rect">
            <a:avLst/>
          </a:prstGeom>
        </p:spPr>
      </p:pic>
      <p:pic>
        <p:nvPicPr>
          <p:cNvPr id="22" name="Image 3" descr="/home/claude/build/assets/logos/citadel-securities-pap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125" y="4650868"/>
            <a:ext cx="1076701" cy="528064"/>
          </a:xfrm>
          <a:prstGeom prst="rect">
            <a:avLst/>
          </a:prstGeom>
        </p:spPr>
      </p:pic>
      <p:pic>
        <p:nvPicPr>
          <p:cNvPr id="23" name="Image 4" descr="/home/claude/build/assets/logos/optiver-pap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7826" y="4795720"/>
            <a:ext cx="1073393" cy="23836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394546" y="4572000"/>
            <a:ext cx="22000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Polymarket</a:t>
            </a:r>
            <a:endParaRPr lang="zh-CN" alt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594360" y="5760720"/>
            <a:ext cx="11000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标识代表支持者任职的机构，不代表这些机构的背书。</a:t>
            </a:r>
            <a:endParaRPr lang="zh-CN" altLang="en-US" sz="900" dirty="0"/>
          </a:p>
        </p:txBody>
      </p:sp>
      <p:pic>
        <p:nvPicPr>
          <p:cNvPr id="26" name="Image 5" descr="/home/claude/build/assets/simreal-logo-pap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28" name="Text 20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C4C0B7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12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orbit-bp-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0"/>
            <a:ext cx="3139135" cy="2468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539496"/>
            <a:ext cx="31089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5156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专家网络</a:t>
            </a:r>
            <a:endParaRPr lang="zh-CN" alt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768096"/>
            <a:ext cx="11000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20万+可触达、可验证的专家，覆盖21所顶尖大学</a:t>
            </a:r>
            <a:endParaRPr lang="zh-CN" alt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426464"/>
            <a:ext cx="11000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每个训练世界的评分标准，都由真正懂行的人把关。</a:t>
            </a:r>
            <a:endParaRPr lang="zh-CN" alt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874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66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200,000</a:t>
            </a:r>
            <a:pPr indent="0" marL="0">
              <a:buNone/>
            </a:pPr>
            <a:r>
              <a:rPr lang="zh-CN" altLang="en-US" sz="66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+</a:t>
            </a:r>
            <a:endParaRPr lang="zh-CN" altLang="en-US" sz="6600" dirty="0"/>
          </a:p>
        </p:txBody>
      </p:sp>
      <p:sp>
        <p:nvSpPr>
          <p:cNvPr id="8" name="Shape 5"/>
          <p:cNvSpPr/>
          <p:nvPr/>
        </p:nvSpPr>
        <p:spPr>
          <a:xfrm>
            <a:off x="594360" y="3017520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3127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网络覆盖的部分高校</a:t>
            </a:r>
            <a:endParaRPr lang="zh-CN" altLang="en-US" sz="1100" dirty="0"/>
          </a:p>
        </p:txBody>
      </p:sp>
      <p:pic>
        <p:nvPicPr>
          <p:cNvPr id="10" name="Image 1" descr="/home/claude/build/assets/logos/harvard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754" y="3607766"/>
            <a:ext cx="844583" cy="556868"/>
          </a:xfrm>
          <a:prstGeom prst="rect">
            <a:avLst/>
          </a:prstGeom>
        </p:spPr>
      </p:pic>
      <p:pic>
        <p:nvPicPr>
          <p:cNvPr id="11" name="Image 2" descr="/home/claude/build/assets/logos/stanford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485" y="3587267"/>
            <a:ext cx="597867" cy="597867"/>
          </a:xfrm>
          <a:prstGeom prst="rect">
            <a:avLst/>
          </a:prstGeom>
        </p:spPr>
      </p:pic>
      <p:pic>
        <p:nvPicPr>
          <p:cNvPr id="12" name="Image 3" descr="/home/claude/build/assets/logos/mit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934" y="3671798"/>
            <a:ext cx="789713" cy="428803"/>
          </a:xfrm>
          <a:prstGeom prst="rect">
            <a:avLst/>
          </a:prstGeom>
        </p:spPr>
      </p:pic>
      <p:pic>
        <p:nvPicPr>
          <p:cNvPr id="13" name="Image 4" descr="/home/claude/build/assets/logos/oxford-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938" y="3711189"/>
            <a:ext cx="1182447" cy="350022"/>
          </a:xfrm>
          <a:prstGeom prst="rect">
            <a:avLst/>
          </a:prstGeom>
        </p:spPr>
      </p:pic>
      <p:pic>
        <p:nvPicPr>
          <p:cNvPr id="14" name="Image 5" descr="/home/claude/build/assets/logos/cambridge-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3054" y="3520440"/>
            <a:ext cx="822960" cy="731520"/>
          </a:xfrm>
          <a:prstGeom prst="rect">
            <a:avLst/>
          </a:prstGeom>
        </p:spPr>
      </p:pic>
      <p:pic>
        <p:nvPicPr>
          <p:cNvPr id="15" name="Image 6" descr="/home/claude/build/assets/logos/princeton-in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6119" y="3722076"/>
            <a:ext cx="1203574" cy="328247"/>
          </a:xfrm>
          <a:prstGeom prst="rect">
            <a:avLst/>
          </a:prstGeom>
        </p:spPr>
      </p:pic>
      <p:pic>
        <p:nvPicPr>
          <p:cNvPr id="16" name="Image 7" descr="/home/claude/build/assets/logos/yale-in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442" y="4580495"/>
            <a:ext cx="815208" cy="623089"/>
          </a:xfrm>
          <a:prstGeom prst="rect">
            <a:avLst/>
          </a:prstGeom>
        </p:spPr>
      </p:pic>
      <p:pic>
        <p:nvPicPr>
          <p:cNvPr id="17" name="Image 8" descr="/home/claude/build/assets/logos/berkeley-in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2928" y="4721476"/>
            <a:ext cx="1102980" cy="341128"/>
          </a:xfrm>
          <a:prstGeom prst="rect">
            <a:avLst/>
          </a:prstGeom>
        </p:spPr>
      </p:pic>
      <p:pic>
        <p:nvPicPr>
          <p:cNvPr id="18" name="Image 9" descr="/home/claude/build/assets/logos/tsinghua-in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3722" y="4708603"/>
            <a:ext cx="1128136" cy="366873"/>
          </a:xfrm>
          <a:prstGeom prst="rect">
            <a:avLst/>
          </a:prstGeom>
        </p:spPr>
      </p:pic>
      <p:pic>
        <p:nvPicPr>
          <p:cNvPr id="19" name="Image 10" descr="/home/claude/build/assets/logos/columbia-in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7071" y="4608092"/>
            <a:ext cx="828182" cy="567896"/>
          </a:xfrm>
          <a:prstGeom prst="rect">
            <a:avLst/>
          </a:prstGeom>
        </p:spPr>
      </p:pic>
      <p:pic>
        <p:nvPicPr>
          <p:cNvPr id="20" name="Image 11" descr="/home/claude/build/assets/logos/uchicago-in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5412" y="4740108"/>
            <a:ext cx="1238244" cy="303864"/>
          </a:xfrm>
          <a:prstGeom prst="rect">
            <a:avLst/>
          </a:prstGeom>
        </p:spPr>
      </p:pic>
      <p:pic>
        <p:nvPicPr>
          <p:cNvPr id="21" name="Image 12" descr="/home/claude/build/assets/logos/duke-in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11932" y="4690174"/>
            <a:ext cx="931948" cy="403732"/>
          </a:xfrm>
          <a:prstGeom prst="rect">
            <a:avLst/>
          </a:prstGeom>
        </p:spPr>
      </p:pic>
      <p:sp>
        <p:nvSpPr>
          <p:cNvPr id="22" name="Text 7"/>
          <p:cNvSpPr txBox="1"/>
          <p:nvPr/>
        </p:nvSpPr>
        <p:spPr>
          <a:xfrm>
            <a:off x="594360" y="5760720"/>
            <a:ext cx="11000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标识代表网络成员就读或任职的机构，不代表背书。</a:t>
            </a:r>
            <a:endParaRPr lang="zh-CN" altLang="en-US" sz="900" dirty="0"/>
          </a:p>
        </p:txBody>
      </p:sp>
      <p:pic>
        <p:nvPicPr>
          <p:cNvPr id="23" name="Image 13" descr="/home/claude/build/assets/simreal-logo-ink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24" name="Text 8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25" name="Text 9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13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9496"/>
            <a:ext cx="31089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市场</a:t>
            </a:r>
            <a:endParaRPr lang="zh-CN" alt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68096"/>
            <a:ext cx="11000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今天是AI实验室，明天是每一家部署AI的公司</a:t>
            </a:r>
            <a:endParaRPr lang="zh-CN" alt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头部AI训练数据公司收入（十亿美元，最新报道）</a:t>
            </a:r>
            <a:endParaRPr lang="zh-CN" alt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2697480"/>
            <a:ext cx="1051560" cy="214884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24028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$2.0B</a:t>
            </a:r>
            <a:endParaRPr lang="zh-CN" alt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91947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Mercor</a:t>
            </a:r>
            <a:endParaRPr lang="zh-CN" alt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1572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7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年化毛营收，2026年7月</a:t>
            </a:r>
            <a:endParaRPr lang="zh-CN" alt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31720" y="3557016"/>
            <a:ext cx="1051560" cy="1289304"/>
          </a:xfrm>
          <a:prstGeom prst="rect">
            <a:avLst/>
          </a:prstGeom>
          <a:solidFill>
            <a:srgbClr val="D9D6CE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57400" y="309981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$1.2B</a:t>
            </a:r>
            <a:endParaRPr lang="zh-CN" alt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491947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Surge AI</a:t>
            </a:r>
            <a:endParaRPr lang="zh-CN" alt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51572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7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2024年收入</a:t>
            </a:r>
            <a:endParaRPr lang="zh-CN" alt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886200" y="4443413"/>
            <a:ext cx="1051560" cy="402908"/>
          </a:xfrm>
          <a:prstGeom prst="rect">
            <a:avLst/>
          </a:prstGeom>
          <a:solidFill>
            <a:srgbClr val="D9D6CE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11880" y="3986213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$0.375B</a:t>
            </a:r>
            <a:endParaRPr lang="zh-CN" alt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491947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Snorkel AI</a:t>
            </a:r>
            <a:endParaRPr lang="zh-CN" alt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51572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7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年化收入，2026年9月</a:t>
            </a:r>
            <a:endParaRPr lang="zh-CN" alt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440680" y="4738878"/>
            <a:ext cx="1051560" cy="107442"/>
          </a:xfrm>
          <a:prstGeom prst="rect">
            <a:avLst/>
          </a:prstGeom>
          <a:solidFill>
            <a:srgbClr val="D9D6CE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66360" y="428167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$0.1+B</a:t>
            </a:r>
            <a:endParaRPr lang="zh-CN" alt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491947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AfterQuery</a:t>
            </a:r>
            <a:endParaRPr lang="zh-CN" alt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51572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7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年化收入，2026年4月</a:t>
            </a:r>
            <a:endParaRPr lang="zh-CN" alt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94360" y="4846320"/>
            <a:ext cx="6217920" cy="0"/>
          </a:xfrm>
          <a:prstGeom prst="line">
            <a:avLst/>
          </a:prstGeom>
          <a:noFill/>
          <a:ln w="9525">
            <a:solidFill>
              <a:srgbClr val="6E6C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86600" y="1783080"/>
            <a:ext cx="4507992" cy="3703320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60920" y="196596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AI智能体市场</a:t>
            </a:r>
            <a:endParaRPr lang="zh-CN" alt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360920" y="2221992"/>
            <a:ext cx="3959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2025年79亿美元 </a:t>
            </a:r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</a:t>
            </a:r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2032年约1,110亿美元</a:t>
            </a:r>
            <a:endParaRPr lang="zh-CN" alt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283464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Precedence Research；2032年按其45.8%年复合增长推算</a:t>
            </a:r>
            <a:endParaRPr lang="zh-CN" alt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360920" y="3044952"/>
            <a:ext cx="395935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60920" y="3136392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潜在经济价值</a:t>
            </a:r>
            <a:endParaRPr lang="zh-CN" alt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3392424"/>
            <a:ext cx="3959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生成式AI每年可创造2.6–4.4万亿美元价值（经济价值，非支出）</a:t>
            </a:r>
            <a:endParaRPr lang="zh-CN" alt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4005072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麦肯锡</a:t>
            </a:r>
            <a:endParaRPr lang="zh-CN" alt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360920" y="4215384"/>
            <a:ext cx="395935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60920" y="4306824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赛道趋势</a:t>
            </a:r>
            <a:endParaRPr lang="zh-CN" alt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360920" y="4562856"/>
            <a:ext cx="3959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4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Mercor、AfterQuery、Snorkel、UniPat各做闭环中的一环，估值都已达数十亿美元。</a:t>
            </a:r>
            <a:endParaRPr lang="zh-CN" alt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360920" y="5175504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SimReal把这些环节，合成一个会自我进化的闭环。</a:t>
            </a:r>
            <a:endParaRPr lang="zh-CN" alt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116072" y="5965190"/>
            <a:ext cx="1034288" cy="101600"/>
          </a:xfrm>
          <a:prstGeom prst="rect">
            <a:avLst/>
          </a:prstGeom>
          <a:solidFill>
            <a:srgbClr val="C2410C">
              <a:alpha val="17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" y="5760720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实验室训练是切入点，自主经济是我们的目标市场。</a:t>
            </a:r>
            <a:endParaRPr lang="zh-CN" altLang="en-US" sz="2000" dirty="0"/>
          </a:p>
        </p:txBody>
      </p:sp>
      <p:pic>
        <p:nvPicPr>
          <p:cNvPr id="37" name="Image 0" descr="/home/claude/build/assets/simreal-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14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9496"/>
            <a:ext cx="31089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竞争格局</a:t>
            </a:r>
            <a:endParaRPr lang="zh-CN" alt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68096"/>
            <a:ext cx="11000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别人各做闭环中的一环，我们提供让AI持续进步的完整闭环</a:t>
            </a:r>
            <a:endParaRPr lang="zh-CN" alt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64008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专家数据平台</a:t>
            </a:r>
            <a:endParaRPr lang="zh-CN" alt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671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Mercor、Surge、AfterQuery</a:t>
            </a:r>
            <a:endParaRPr lang="zh-CN" alt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764792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提供专家示范与判断，按人工意见打分。</a:t>
            </a:r>
            <a:endParaRPr lang="zh-CN" alt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715768"/>
            <a:ext cx="64008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8072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AI评测公司</a:t>
            </a:r>
            <a:endParaRPr lang="zh-CN" alt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912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UniPat等</a:t>
            </a:r>
            <a:endParaRPr lang="zh-CN" alt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788920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测出模型今天的水平，分数就是产品。</a:t>
            </a:r>
            <a:endParaRPr lang="zh-CN" alt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739896"/>
            <a:ext cx="64008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8313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实验室自建</a:t>
            </a:r>
            <a:endParaRPr lang="zh-CN" alt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2153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各前沿实验室</a:t>
            </a:r>
            <a:endParaRPr lang="zh-CN" alt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813048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只做自己熟悉的领域。</a:t>
            </a:r>
            <a:endParaRPr lang="zh-CN" alt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4764024"/>
            <a:ext cx="6400800" cy="932688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8554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SimReal</a:t>
            </a:r>
            <a:endParaRPr lang="zh-CN" alt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2395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950" dirty="0">
                <a:solidFill>
                  <a:srgbClr val="E27A3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数据、训练环境、结果评分、自我进化</a:t>
            </a:r>
            <a:endParaRPr lang="zh-CN" alt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4837176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不只测出AI几分，还让它越练越强：每一次打分，都变成下一轮训练。</a:t>
            </a:r>
            <a:endParaRPr lang="zh-CN" alt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169164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为什么我们能赢</a:t>
            </a:r>
            <a:endParaRPr lang="zh-CN" alt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69480" y="2029968"/>
            <a:ext cx="432511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69480" y="2103120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自有资产</a:t>
            </a:r>
            <a:endParaRPr lang="zh-CN" alt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2450592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训练环境、评分体系和每次运行产生的结果数据，都是我们自己的。</a:t>
            </a:r>
            <a:endParaRPr lang="zh-CN" alt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69480" y="2944368"/>
            <a:ext cx="432511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69480" y="3017520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客户粘性</a:t>
            </a:r>
            <a:endParaRPr lang="zh-CN" alt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3364992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模型每次升级，都要在同一套环境里对比和再训练。</a:t>
            </a:r>
            <a:endParaRPr lang="zh-CN" alt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69480" y="3858768"/>
            <a:ext cx="432511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69480" y="3931920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交付速度</a:t>
            </a:r>
            <a:endParaRPr lang="zh-CN" alt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4279392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14天做出7款产品。AI变化越快，我们越有利。</a:t>
            </a:r>
            <a:endParaRPr lang="zh-CN" alt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69480" y="4773168"/>
            <a:ext cx="432511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69480" y="4846320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独立中立</a:t>
            </a:r>
            <a:endParaRPr lang="zh-CN" alt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7269480" y="5193792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不接受模型公司入股，每家实验室都能放心采购。</a:t>
            </a:r>
            <a:endParaRPr lang="zh-CN" alt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269480" y="5687568"/>
            <a:ext cx="432511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pic>
        <p:nvPicPr>
          <p:cNvPr id="35" name="Image 0" descr="/home/claude/build/assets/simreal-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15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9496"/>
            <a:ext cx="31089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标杆</a:t>
            </a:r>
            <a:endParaRPr lang="zh-CN" alt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68096"/>
            <a:ext cx="11000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这个赛道的突围者，都起步年轻、跑得很快。我们也是</a:t>
            </a:r>
            <a:endParaRPr lang="zh-CN" alt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2599182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2011680"/>
            <a:ext cx="21419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Scale AI</a:t>
            </a:r>
            <a:endParaRPr lang="zh-CN" alt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2395728"/>
            <a:ext cx="21419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$29B</a:t>
            </a:r>
            <a:endParaRPr lang="zh-CN" alt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2944368"/>
            <a:ext cx="21419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估值，2025年</a:t>
            </a:r>
            <a:endParaRPr lang="zh-CN" alt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50392" y="3273552"/>
            <a:ext cx="208711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0392" y="3319272"/>
            <a:ext cx="21419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2016年由19岁的Alexandr Wang创立</a:t>
            </a:r>
            <a:endParaRPr lang="zh-CN" alt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50392" y="3858768"/>
            <a:ext cx="208711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" y="3904488"/>
            <a:ext cx="21419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MIT辍学，出自Y Combinator</a:t>
            </a:r>
            <a:endParaRPr lang="zh-CN" alt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0392" y="4443984"/>
            <a:ext cx="208711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" y="4489704"/>
            <a:ext cx="21419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曾是最年轻的白手起家亿万富翁</a:t>
            </a:r>
            <a:endParaRPr lang="zh-CN" alt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94710" y="1828800"/>
            <a:ext cx="2599182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0742" y="2011680"/>
            <a:ext cx="21419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Mercor</a:t>
            </a:r>
            <a:endParaRPr lang="zh-CN" alt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3650742" y="2395728"/>
            <a:ext cx="21419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$10B</a:t>
            </a:r>
            <a:endParaRPr lang="zh-CN" alt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3650742" y="2944368"/>
            <a:ext cx="21419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估值，2025年</a:t>
            </a:r>
            <a:endParaRPr lang="zh-CN" alt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0742" y="3273552"/>
            <a:ext cx="208711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0742" y="3319272"/>
            <a:ext cx="21419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三位高中同学创立</a:t>
            </a:r>
            <a:endParaRPr lang="zh-CN" alt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0742" y="3858768"/>
            <a:ext cx="208711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0742" y="3904488"/>
            <a:ext cx="21419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22岁成为最年轻的白手起家亿万富翁</a:t>
            </a:r>
            <a:endParaRPr lang="zh-CN" alt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0742" y="4443984"/>
            <a:ext cx="208711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50742" y="4489704"/>
            <a:ext cx="21419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13个月估值上涨约40倍</a:t>
            </a:r>
            <a:endParaRPr lang="zh-CN" alt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95060" y="1828800"/>
            <a:ext cx="2599182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51092" y="2011680"/>
            <a:ext cx="21419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AfterQuery</a:t>
            </a:r>
            <a:endParaRPr lang="zh-CN" alt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6451092" y="2395728"/>
            <a:ext cx="21419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$3.2B</a:t>
            </a:r>
            <a:endParaRPr lang="zh-CN" alt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6451092" y="2944368"/>
            <a:ext cx="21419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据报道，加入YC 18个月</a:t>
            </a:r>
            <a:endParaRPr lang="zh-CN" alt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51092" y="3273552"/>
            <a:ext cx="208711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51092" y="3319272"/>
            <a:ext cx="21419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两位高中好友约21岁创立，当时仍在读大学</a:t>
            </a:r>
            <a:endParaRPr lang="zh-CN" alt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51092" y="3858768"/>
            <a:ext cx="208711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51092" y="3904488"/>
            <a:ext cx="21419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联合创始人曾在Citadel Securities实习</a:t>
            </a:r>
            <a:endParaRPr lang="zh-CN" alt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51092" y="4443984"/>
            <a:ext cx="2087118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51092" y="4489704"/>
            <a:ext cx="21419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YC史上最快的独角兽</a:t>
            </a:r>
            <a:endParaRPr lang="zh-CN" alt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995410" y="1828800"/>
            <a:ext cx="2599182" cy="329184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251442" y="2011680"/>
            <a:ext cx="21419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FAF9F6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SimReal</a:t>
            </a:r>
            <a:endParaRPr lang="zh-CN" alt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9251442" y="2395728"/>
            <a:ext cx="21419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dirty="0">
                <a:solidFill>
                  <a:srgbClr val="E27A3F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14天</a:t>
            </a:r>
            <a:endParaRPr lang="zh-CN" altLang="en-US" sz="3400" dirty="0"/>
          </a:p>
        </p:txBody>
      </p:sp>
      <p:sp>
        <p:nvSpPr>
          <p:cNvPr id="38" name="Text 36"/>
          <p:cNvSpPr txBox="1"/>
          <p:nvPr/>
        </p:nvSpPr>
        <p:spPr>
          <a:xfrm>
            <a:off x="9251442" y="2944368"/>
            <a:ext cx="21419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dirty="0">
                <a:solidFill>
                  <a:srgbClr val="C4C0B7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做出7款产品</a:t>
            </a:r>
            <a:endParaRPr lang="zh-CN" alt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251442" y="3273552"/>
            <a:ext cx="2087118" cy="0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51442" y="3319272"/>
            <a:ext cx="21419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四位量化人，平均21岁</a:t>
            </a:r>
            <a:endParaRPr lang="zh-CN" alt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251442" y="3858768"/>
            <a:ext cx="2087118" cy="0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51442" y="3904488"/>
            <a:ext cx="21419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剑桥、LSE、杜克大四在读</a:t>
            </a:r>
            <a:endParaRPr lang="zh-CN" alt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251442" y="4443984"/>
            <a:ext cx="2087118" cy="0"/>
          </a:xfrm>
          <a:prstGeom prst="line">
            <a:avLst/>
          </a:prstGeom>
          <a:noFill/>
          <a:ln w="9525">
            <a:solidFill>
              <a:srgbClr val="3A393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51442" y="4489704"/>
            <a:ext cx="21419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量化经历：Jane Street、Citadel、D. E. Shaw、Optiver</a:t>
            </a:r>
            <a:endParaRPr lang="zh-CN" alt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94360" y="5440680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同样的起点，同一个赛道。我们从第一天就在这里。</a:t>
            </a:r>
            <a:endParaRPr lang="zh-CN" altLang="en-US" sz="2000" dirty="0"/>
          </a:p>
        </p:txBody>
      </p:sp>
      <p:pic>
        <p:nvPicPr>
          <p:cNvPr id="46" name="Image 0" descr="/home/claude/build/assets/simreal-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47" name="Text 44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48" name="Text 45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16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9496"/>
            <a:ext cx="31089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里程碑</a:t>
            </a:r>
            <a:endParaRPr lang="zh-CN" alt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68096"/>
            <a:ext cx="11000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24个月：从7款产品，到覆盖30+行业的200+个训练环境</a:t>
            </a:r>
            <a:endParaRPr lang="zh-CN" alt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60120" y="2377440"/>
            <a:ext cx="10268712" cy="0"/>
          </a:xfrm>
          <a:prstGeom prst="line">
            <a:avLst/>
          </a:prstGeom>
          <a:noFill/>
          <a:ln w="15875">
            <a:solidFill>
              <a:srgbClr val="1111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258568"/>
            <a:ext cx="237744" cy="237744"/>
          </a:xfrm>
          <a:prstGeom prst="ellipse">
            <a:avLst/>
          </a:prstGeom>
          <a:solidFill>
            <a:srgbClr val="111110"/>
          </a:solidFill>
          <a:ln w="15875">
            <a:solidFill>
              <a:srgbClr val="11111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今天</a:t>
            </a:r>
            <a:endParaRPr lang="zh-CN" alt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97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7款产品上线</a:t>
            </a:r>
            <a:endParaRPr lang="zh-CN" alt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60120" y="3703320"/>
            <a:ext cx="173736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2家前沿实验室洽谈中</a:t>
            </a:r>
            <a:endParaRPr lang="zh-CN" alt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64152" y="2258568"/>
            <a:ext cx="237744" cy="237744"/>
          </a:xfrm>
          <a:prstGeom prst="ellipse">
            <a:avLst/>
          </a:prstGeom>
          <a:solidFill>
            <a:srgbClr val="FAF9F6"/>
          </a:solidFill>
          <a:ln w="15875">
            <a:solidFill>
              <a:srgbClr val="11111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48584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3个月</a:t>
            </a:r>
            <a:endParaRPr lang="zh-CN" alt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48584" y="2697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首个付费前沿实验室客户</a:t>
            </a:r>
            <a:endParaRPr lang="zh-CN" alt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3514344" y="3703320"/>
            <a:ext cx="173736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48584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验证实验室付费意愿</a:t>
            </a:r>
            <a:endParaRPr lang="zh-CN" alt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87056" y="2258568"/>
            <a:ext cx="237744" cy="237744"/>
          </a:xfrm>
          <a:prstGeom prst="ellipse">
            <a:avLst/>
          </a:prstGeom>
          <a:solidFill>
            <a:srgbClr val="FAF9F6"/>
          </a:solidFill>
          <a:ln w="15875">
            <a:solidFill>
              <a:srgbClr val="11111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71488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12个月</a:t>
            </a:r>
            <a:endParaRPr lang="zh-CN" alt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71488" y="2697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50+个训练环境</a:t>
            </a:r>
            <a:endParaRPr lang="zh-CN" alt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937248" y="3703320"/>
            <a:ext cx="173736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71488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形成可复制的交付能力</a:t>
            </a:r>
            <a:endParaRPr lang="zh-CN" alt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1109960" y="2258568"/>
            <a:ext cx="237744" cy="237744"/>
          </a:xfrm>
          <a:prstGeom prst="ellipse">
            <a:avLst/>
          </a:prstGeom>
          <a:solidFill>
            <a:srgbClr val="C2410C"/>
          </a:solidFill>
          <a:ln w="15875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25712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24个月</a:t>
            </a:r>
            <a:endParaRPr lang="zh-CN" alt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25712" y="2697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21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200+个环境，覆盖30+行业</a:t>
            </a:r>
            <a:endParaRPr lang="zh-CN" alt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491472" y="3703320"/>
            <a:ext cx="1737360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25712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zh-CN" altLang="en-US" sz="12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进入企业市场，支撑下一轮融资</a:t>
            </a:r>
            <a:endParaRPr lang="zh-CN" altLang="en-US" sz="1250" dirty="0"/>
          </a:p>
        </p:txBody>
      </p:sp>
      <p:pic>
        <p:nvPicPr>
          <p:cNvPr id="26" name="Image 0" descr="/home/claude/build/assets/simreal-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17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9496"/>
            <a:ext cx="31089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融资计划</a:t>
            </a:r>
            <a:endParaRPr lang="zh-CN" alt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68096"/>
            <a:ext cx="11000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本轮融资2,000万美元（约1.5亿元人民币），支撑24个月发展</a:t>
            </a:r>
            <a:endParaRPr lang="zh-CN" alt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3566160" cy="233172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6000" dirty="0">
                <a:solidFill>
                  <a:srgbClr val="E27A3F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$20M</a:t>
            </a:r>
            <a:endParaRPr lang="zh-CN" alt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08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CN" altLang="en-US" sz="1300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种子轮  ·  约1.5亿元人民币  ·  24个月</a:t>
            </a:r>
            <a:endParaRPr lang="zh-CN" alt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7830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资金用途</a:t>
            </a:r>
            <a:endParaRPr lang="zh-CN" alt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2103120"/>
            <a:ext cx="706831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210312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训练环境</a:t>
            </a:r>
            <a:endParaRPr lang="zh-CN" alt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2103120"/>
            <a:ext cx="4325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每进入一个行业，就多一条来自实验室的收入</a:t>
            </a:r>
            <a:endParaRPr lang="zh-CN" alt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2615184"/>
            <a:ext cx="706831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261518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专家与数据</a:t>
            </a:r>
            <a:endParaRPr lang="zh-CN" alt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2615184"/>
            <a:ext cx="4325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来自7,000+人的候补名单，每个世界几周就能交付</a:t>
            </a:r>
            <a:endParaRPr lang="zh-CN" alt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26280" y="3127248"/>
            <a:ext cx="706831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312724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算力</a:t>
            </a:r>
            <a:endParaRPr lang="zh-CN" alt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3127248"/>
            <a:ext cx="4325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训练实验与自我进化实验</a:t>
            </a:r>
            <a:endParaRPr lang="zh-CN" alt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3639312"/>
            <a:ext cx="706831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26280" y="363931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防作弊与安全</a:t>
            </a:r>
            <a:endParaRPr lang="zh-CN" alt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3639312"/>
            <a:ext cx="4325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每个测试先经受攻击，实验室才信得过每一个分数</a:t>
            </a:r>
            <a:endParaRPr lang="zh-CN" alt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26280" y="4151376"/>
            <a:ext cx="706831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572000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46817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资金对应的里程碑</a:t>
            </a:r>
            <a:endParaRPr lang="zh-CN" alt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98348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3个月：首个付费实验室  </a:t>
            </a:r>
            <a:pPr indent="0" marL="0">
              <a:buNone/>
            </a:pPr>
            <a:r>
              <a:rPr lang="zh-CN" altLang="en-US" sz="18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</a:t>
            </a:r>
            <a:pPr indent="0" marL="0">
              <a:buNone/>
            </a:pPr>
            <a:r>
              <a:rPr lang="zh-CN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 12个月：50+个训练环境  </a:t>
            </a:r>
            <a:pPr indent="0" marL="0">
              <a:buNone/>
            </a:pPr>
            <a:r>
              <a:rPr lang="zh-CN" altLang="en-US" sz="18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</a:t>
            </a:r>
            <a:pPr indent="0" marL="0">
              <a:buNone/>
            </a:pPr>
            <a:r>
              <a:rPr lang="zh-CN" altLang="en-US" sz="1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  24个月：200+个环境、30+行业</a:t>
            </a:r>
            <a:endParaRPr lang="zh-CN" alt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5943600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估值与条款面议。</a:t>
            </a:r>
            <a:endParaRPr lang="zh-CN" altLang="en-US" sz="1000" dirty="0"/>
          </a:p>
        </p:txBody>
      </p:sp>
      <p:pic>
        <p:nvPicPr>
          <p:cNvPr id="26" name="Image 0" descr="/home/claude/build/assets/simreal-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18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orbit-bp-close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37360" cy="1645920"/>
          </a:xfrm>
          <a:prstGeom prst="rect">
            <a:avLst/>
          </a:prstGeom>
        </p:spPr>
      </p:pic>
      <p:pic>
        <p:nvPicPr>
          <p:cNvPr id="3" name="Image 1" descr="/home/claude/build/assets/orbit-bp-close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914400"/>
            <a:ext cx="4327855" cy="58521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912968" y="2057400"/>
            <a:ext cx="365760" cy="0"/>
          </a:xfrm>
          <a:prstGeom prst="line">
            <a:avLst/>
          </a:prstGeom>
          <a:noFill/>
          <a:ln w="15875">
            <a:solidFill>
              <a:srgbClr val="C2410C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594360" y="219456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46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每个行业最强的AI，</a:t>
            </a:r>
            <a:endParaRPr lang="zh-CN" altLang="en-US" sz="4600" dirty="0"/>
          </a:p>
        </p:txBody>
      </p:sp>
      <p:sp>
        <p:nvSpPr>
          <p:cNvPr id="6" name="Text 2"/>
          <p:cNvSpPr txBox="1"/>
          <p:nvPr/>
        </p:nvSpPr>
        <p:spPr>
          <a:xfrm>
            <a:off x="594360" y="288036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46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都出自我们的世界。</a:t>
            </a:r>
            <a:endParaRPr lang="zh-CN" altLang="en-US" sz="4600" dirty="0"/>
          </a:p>
        </p:txBody>
      </p:sp>
      <p:sp>
        <p:nvSpPr>
          <p:cNvPr id="7" name="Text 3"/>
          <p:cNvSpPr txBox="1"/>
          <p:nvPr/>
        </p:nvSpPr>
        <p:spPr>
          <a:xfrm>
            <a:off x="594360" y="3703320"/>
            <a:ext cx="11000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三个世界已经上线：交易、AI研究、未来预测。</a:t>
            </a:r>
            <a:endParaRPr lang="zh-CN" alt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4087368"/>
            <a:ext cx="11000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SimReal  ·  AI经济的数据与自我进化引擎</a:t>
            </a:r>
            <a:endParaRPr lang="zh-CN" alt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461772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business@simreal.co  ·  simreal.co  ·  x.com/simrealhq</a:t>
            </a:r>
            <a:endParaRPr lang="zh-CN" altLang="en-US" sz="1300" dirty="0"/>
          </a:p>
        </p:txBody>
      </p:sp>
      <p:pic>
        <p:nvPicPr>
          <p:cNvPr id="10" name="Image 2" descr="/home/claude/build/assets/simreal-mark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680" y="5257800"/>
            <a:ext cx="402336" cy="475488"/>
          </a:xfrm>
          <a:prstGeom prst="rect">
            <a:avLst/>
          </a:prstGeom>
        </p:spPr>
      </p:pic>
      <p:pic>
        <p:nvPicPr>
          <p:cNvPr id="11" name="Image 3" descr="/home/claude/build/assets/simreal-logo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13" name="Text 7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19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9496"/>
            <a:ext cx="31089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附录  ·  A1</a:t>
            </a:r>
            <a:endParaRPr lang="zh-CN" alt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68096"/>
            <a:ext cx="11000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Xitadel：测试了什么，怎么测的</a:t>
            </a:r>
            <a:endParaRPr lang="zh-CN" alt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645920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45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环境</a:t>
            </a:r>
            <a:endParaRPr lang="zh-CN" alt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645920"/>
            <a:ext cx="8988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5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回放真实交易日，包含真实订单簿；每一笔交易由市场结算。</a:t>
            </a:r>
            <a:endParaRPr lang="zh-CN" alt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模型</a:t>
            </a:r>
            <a:endParaRPr lang="zh-CN" alt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286000"/>
            <a:ext cx="8988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5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开源模型Qwen3.8-27B，对比其在Xitadel训练前后的表现。</a:t>
            </a:r>
            <a:endParaRPr lang="zh-CN" alt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926080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测试数据</a:t>
            </a:r>
            <a:endParaRPr lang="zh-CN" alt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2926080"/>
            <a:ext cx="8988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5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模型从未见过的真实交易日。</a:t>
            </a:r>
            <a:endParaRPr lang="zh-CN" alt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3566160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566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结果</a:t>
            </a:r>
            <a:endParaRPr lang="zh-CN" alt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3566160"/>
            <a:ext cx="8988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5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交易表现较基础模型提升12%，多次独立运行均复现（受控实验）。</a:t>
            </a:r>
            <a:endParaRPr lang="zh-CN" alt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4206240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公开基准</a:t>
            </a:r>
            <a:endParaRPr lang="zh-CN" alt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06040" y="4206240"/>
            <a:ext cx="8988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5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Xitadel公开预览版：人类参考分80；前沿模型最高77.28（GPT 6），尚无模型越过人类水平线。</a:t>
            </a:r>
            <a:endParaRPr lang="zh-CN" alt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4846320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846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尽调材料</a:t>
            </a:r>
            <a:endParaRPr lang="zh-CN" alt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4846320"/>
            <a:ext cx="8988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5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完整运行记录、指标定义与脚本，可在尽调中提供。</a:t>
            </a:r>
            <a:endParaRPr lang="zh-CN" alt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94360" y="5486400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pic>
        <p:nvPicPr>
          <p:cNvPr id="24" name="Image 0" descr="/home/claude/build/assets/simreal-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20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9496"/>
            <a:ext cx="31089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附录  ·  A2</a:t>
            </a:r>
            <a:endParaRPr lang="zh-CN" alt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68096"/>
            <a:ext cx="11000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产品清单</a:t>
            </a:r>
            <a:endParaRPr lang="zh-CN" altLang="en-US" sz="3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0023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5120640"/>
                <a:gridCol w="23134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11110"/>
                          </a:solidFill>
                          <a:latin typeface="Newsreader" pitchFamily="34" charset="0"/>
                          <a:ea typeface="Noto Serif CJK SC" pitchFamily="34" charset="-122"/>
                          <a:cs typeface="Newsreader" pitchFamily="34" charset="-120"/>
                        </a:rPr>
                        <a:t>Xitadel</a:t>
                      </a:r>
                      <a:endParaRPr lang="zh-CN" altLang="en-US" sz="1300" dirty="0">
                        <a:latin typeface="Newsreader" charset="0"/>
                        <a:ea typeface="Noto Serif CJK SC" charset="0"/>
                        <a:cs typeface="Newsreader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150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交易</a:t>
                      </a:r>
                      <a:endParaRPr lang="zh-CN" altLang="en-US" sz="115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150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AI在真实行情中交易，按盈亏评分；已跑通自我进化（+12%）</a:t>
                      </a:r>
                      <a:endParaRPr lang="zh-CN" altLang="en-US" sz="115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150" dirty="0">
                          <a:solidFill>
                            <a:srgbClr val="6E6C66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开源：Xitadel-QuantBench</a:t>
                      </a:r>
                      <a:endParaRPr lang="zh-CN" altLang="en-US" sz="115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11110"/>
                          </a:solidFill>
                          <a:latin typeface="Newsreader" pitchFamily="34" charset="0"/>
                          <a:ea typeface="Noto Serif CJK SC" pitchFamily="34" charset="-122"/>
                          <a:cs typeface="Newsreader" pitchFamily="34" charset="-120"/>
                        </a:rPr>
                        <a:t>SimReal-MLBench</a:t>
                      </a:r>
                      <a:endParaRPr lang="zh-CN" altLang="en-US" sz="1300" dirty="0">
                        <a:latin typeface="Newsreader" charset="0"/>
                        <a:ea typeface="Noto Serif CJK SC" charset="0"/>
                        <a:cs typeface="Newsreader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150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AI研究</a:t>
                      </a:r>
                      <a:endParaRPr lang="zh-CN" altLang="en-US" sz="115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150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60个研究任务、7类数据，参照OpenAI的MLE-bench</a:t>
                      </a:r>
                      <a:endParaRPr lang="zh-CN" altLang="en-US" sz="115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150" dirty="0">
                          <a:solidFill>
                            <a:srgbClr val="6E6C66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开源：Simreal-MLBench</a:t>
                      </a:r>
                      <a:endParaRPr lang="zh-CN" altLang="en-US" sz="115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11110"/>
                          </a:solidFill>
                          <a:latin typeface="Newsreader" pitchFamily="34" charset="0"/>
                          <a:ea typeface="Noto Serif CJK SC" pitchFamily="34" charset="-122"/>
                          <a:cs typeface="Newsreader" pitchFamily="34" charset="-120"/>
                        </a:rPr>
                        <a:t>Future Prediction Bench</a:t>
                      </a:r>
                      <a:endParaRPr lang="zh-CN" altLang="en-US" sz="1300" dirty="0">
                        <a:latin typeface="Newsreader" charset="0"/>
                        <a:ea typeface="Noto Serif CJK SC" charset="0"/>
                        <a:cs typeface="Newsreader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150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预测</a:t>
                      </a:r>
                      <a:endParaRPr lang="zh-CN" altLang="en-US" sz="115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150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预测真实事件，揭晓后按结果打分；数据实时接入</a:t>
                      </a:r>
                      <a:endParaRPr lang="zh-CN" altLang="en-US" sz="115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150" dirty="0">
                          <a:solidFill>
                            <a:srgbClr val="6E6C66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上线</a:t>
                      </a:r>
                      <a:endParaRPr lang="zh-CN" altLang="en-US" sz="115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11110"/>
                          </a:solidFill>
                          <a:latin typeface="Newsreader" pitchFamily="34" charset="0"/>
                          <a:ea typeface="Noto Serif CJK SC" pitchFamily="34" charset="-122"/>
                          <a:cs typeface="Newsreader" pitchFamily="34" charset="-120"/>
                        </a:rPr>
                        <a:t>Month-End Close</a:t>
                      </a:r>
                      <a:endParaRPr lang="zh-CN" altLang="en-US" sz="1300" dirty="0">
                        <a:latin typeface="Newsreader" charset="0"/>
                        <a:ea typeface="Noto Serif CJK SC" charset="0"/>
                        <a:cs typeface="Newsreader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150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财务</a:t>
                      </a:r>
                      <a:endParaRPr lang="zh-CN" altLang="en-US" sz="115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150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让AI零差错完成月结；评分漏洞6 → 0</a:t>
                      </a:r>
                      <a:endParaRPr lang="zh-CN" altLang="en-US" sz="115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150" dirty="0">
                          <a:solidFill>
                            <a:srgbClr val="6E6C66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上线</a:t>
                      </a:r>
                      <a:endParaRPr lang="zh-CN" altLang="en-US" sz="115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11110"/>
                          </a:solidFill>
                          <a:latin typeface="Newsreader" pitchFamily="34" charset="0"/>
                          <a:ea typeface="Noto Serif CJK SC" pitchFamily="34" charset="-122"/>
                          <a:cs typeface="Newsreader" pitchFamily="34" charset="-120"/>
                        </a:rPr>
                        <a:t>SWE-Forward</a:t>
                      </a:r>
                      <a:endParaRPr lang="zh-CN" altLang="en-US" sz="1300" dirty="0">
                        <a:latin typeface="Newsreader" charset="0"/>
                        <a:ea typeface="Noto Serif CJK SC" charset="0"/>
                        <a:cs typeface="Newsreader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150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软件工程</a:t>
                      </a:r>
                      <a:endParaRPr lang="zh-CN" altLang="en-US" sz="115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150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检验AI写的代码能否挺过下一个版本</a:t>
                      </a:r>
                      <a:endParaRPr lang="zh-CN" altLang="en-US" sz="115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150" dirty="0">
                          <a:solidFill>
                            <a:srgbClr val="6E6C66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上线</a:t>
                      </a:r>
                      <a:endParaRPr lang="zh-CN" altLang="en-US" sz="115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11110"/>
                          </a:solidFill>
                          <a:latin typeface="Newsreader" pitchFamily="34" charset="0"/>
                          <a:ea typeface="Noto Serif CJK SC" pitchFamily="34" charset="-122"/>
                          <a:cs typeface="Newsreader" pitchFamily="34" charset="-120"/>
                        </a:rPr>
                        <a:t>MathmoBench</a:t>
                      </a:r>
                      <a:endParaRPr lang="zh-CN" altLang="en-US" sz="1300" dirty="0">
                        <a:latin typeface="Newsreader" charset="0"/>
                        <a:ea typeface="Noto Serif CJK SC" charset="0"/>
                        <a:cs typeface="Newsreader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150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数学证明</a:t>
                      </a:r>
                      <a:endParaRPr lang="zh-CN" altLang="en-US" sz="115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150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让AI证明答案，而不是猜答案</a:t>
                      </a:r>
                      <a:endParaRPr lang="zh-CN" altLang="en-US" sz="115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150" dirty="0">
                          <a:solidFill>
                            <a:srgbClr val="6E6C66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开源：MathmoBench</a:t>
                      </a:r>
                      <a:endParaRPr lang="zh-CN" altLang="en-US" sz="115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11110"/>
                          </a:solidFill>
                          <a:latin typeface="Newsreader" pitchFamily="34" charset="0"/>
                          <a:ea typeface="Noto Serif CJK SC" pitchFamily="34" charset="-122"/>
                          <a:cs typeface="Newsreader" pitchFamily="34" charset="-120"/>
                        </a:rPr>
                        <a:t>Puzzle Benchmark</a:t>
                      </a:r>
                      <a:endParaRPr lang="zh-CN" altLang="en-US" sz="1300" dirty="0">
                        <a:latin typeface="Newsreader" charset="0"/>
                        <a:ea typeface="Noto Serif CJK SC" charset="0"/>
                        <a:cs typeface="Newsreader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150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逻辑推理</a:t>
                      </a:r>
                      <a:endParaRPr lang="zh-CN" altLang="en-US" sz="115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150" dirty="0">
                          <a:solidFill>
                            <a:srgbClr val="111110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709道无法作弊的谜题；400次作弊攻击0次成功</a:t>
                      </a:r>
                      <a:endParaRPr lang="zh-CN" altLang="en-US" sz="115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150" dirty="0">
                          <a:solidFill>
                            <a:srgbClr val="6E6C66"/>
                          </a:solidFill>
                          <a:latin typeface="Instrument Sans" pitchFamily="34" charset="0"/>
                          <a:ea typeface="Noto Sans CJK SC" pitchFamily="34" charset="-122"/>
                          <a:cs typeface="Instrument Sans" pitchFamily="34" charset="-120"/>
                        </a:rPr>
                        <a:t>开源：hard-puzzle-benchmark</a:t>
                      </a:r>
                      <a:endParaRPr lang="zh-CN" altLang="en-US" sz="1150" dirty="0">
                        <a:latin typeface="Instrument Sans" charset="0"/>
                        <a:ea typeface="Noto Sans CJK SC" charset="0"/>
                        <a:cs typeface="Instrument Sans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home/claude/build/assets/simreal-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8" name="Text 4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21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9496"/>
            <a:ext cx="31089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附录  ·  A3</a:t>
            </a:r>
            <a:endParaRPr lang="zh-CN" alt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68096"/>
            <a:ext cx="11000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数据来源</a:t>
            </a:r>
            <a:endParaRPr lang="zh-CN" alt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00200"/>
            <a:ext cx="1100023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zh-CN" altLang="en-US" sz="105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Mercor年化收入：TechCrunch（2025年2月，7,500万美元）；Mercor CEO（2025年9月，5亿美元）；Sacra（2025年12月，7.6亿美元）；Mercor（2026年初，10亿美元）；Dealroom（2026年6月，20亿美元）。均为毛营收，专家拿走60–70%（彭博）</a:t>
            </a:r>
            <a:endParaRPr lang="zh-CN" alt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zh-CN" altLang="en-US" sz="105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Mercor估值：A轮2.5亿美元（2024年9月）到C轮100亿美元（2025年10月）；200亿美元估值轮次处于早期洽谈（彭博，2026年7月9日）</a:t>
            </a:r>
            <a:endParaRPr lang="zh-CN" alt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zh-CN" altLang="en-US" sz="105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Surge AI：2024年收入12亿美元（TechCrunch、福布斯）</a:t>
            </a:r>
            <a:endParaRPr lang="zh-CN" alt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zh-CN" altLang="en-US" sz="105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Anthropic：The Information经TechCrunch报道，2025年9月（讨论在此后一年投入逾10亿美元用于RL环境）</a:t>
            </a:r>
            <a:endParaRPr lang="zh-CN" alt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zh-CN" altLang="en-US" sz="105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Snorkel AI：公司公告及TechCrunch，2026年9月22日（以35亿美元估值融资3.5亿美元；年化收入3.75亿美元，一年增长18倍）</a:t>
            </a:r>
            <a:endParaRPr lang="zh-CN" alt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zh-CN" altLang="en-US" sz="105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AfterQuery：福布斯，2026年9月1日（加入YC 18个月，估值32亿美元；2025年2月成立）；YC公司页（联合创始人曾在Citadel Securities实习）</a:t>
            </a:r>
            <a:endParaRPr lang="zh-CN" alt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zh-CN" altLang="en-US" sz="105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Scale AI：2016年由19岁的Alexandr Wang创立（福布斯）；Meta以143亿美元取得49%股份，估值约290亿美元（路透社，2025年6月）</a:t>
            </a:r>
            <a:endParaRPr lang="zh-CN" alt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zh-CN" altLang="en-US" sz="105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UniPat：彭博，2026年9月10日（阿里领投3亿美元，据报道估值25亿美元；条款可能变化）</a:t>
            </a:r>
            <a:endParaRPr lang="zh-CN" alt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zh-CN" altLang="en-US" sz="105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AI智能体市场：Precedence Research（2025年79.2亿美元；年复合增长45.82%，2034年达2,360亿美元）。2028、2032年数值按此路径推算</a:t>
            </a:r>
            <a:endParaRPr lang="zh-CN" alt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zh-CN" altLang="en-US" sz="105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麦肯锡《生成式AI的经济潜力》：每年2.6–4.4万亿美元经济价值（创造的价值，非支出）</a:t>
            </a:r>
            <a:endParaRPr lang="zh-CN" alt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zh-CN" altLang="en-US" sz="105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RL环境定价与单任务算力成本：Epoch AI《An FAQ on RL environments》（2026年1月）</a:t>
            </a:r>
            <a:endParaRPr lang="zh-CN" altLang="en-US" sz="105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zh-CN" altLang="en-US" sz="105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公开文本存量：Epoch AI《Will we run out of data?》（2024）：约300T有效token，预计于2026–2032年间用尽（80%置信区间）</a:t>
            </a:r>
            <a:endParaRPr lang="zh-CN" altLang="en-US" sz="1050" dirty="0"/>
          </a:p>
        </p:txBody>
      </p:sp>
      <p:pic>
        <p:nvPicPr>
          <p:cNvPr id="6" name="Image 0" descr="/home/claude/build/assets/simreal-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22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39496"/>
            <a:ext cx="31089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附录  ·  A4</a:t>
            </a:r>
            <a:endParaRPr lang="zh-CN" alt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68096"/>
            <a:ext cx="11000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2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术语表</a:t>
            </a:r>
            <a:endParaRPr lang="zh-CN" alt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645920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459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训练环境</a:t>
            </a:r>
            <a:endParaRPr lang="zh-CN" alt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645920"/>
            <a:ext cx="8988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5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让AI反复做真实工作、并按结果打分的系统。行业里常称“RL环境”。</a:t>
            </a:r>
            <a:endParaRPr lang="zh-CN" alt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304288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3042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结果评分</a:t>
            </a:r>
            <a:endParaRPr lang="zh-CN" alt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304288"/>
            <a:ext cx="8988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5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用真实结果（盈亏、账目是否对平、代码能否运行）打分，不靠另一个AI的主观判断。</a:t>
            </a:r>
            <a:endParaRPr lang="zh-CN" alt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9626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自我进化（RSI）</a:t>
            </a:r>
            <a:endParaRPr lang="zh-CN" alt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2962656"/>
            <a:ext cx="8988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5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AI用自己在真实环境中的结果训练自己，每一轮都比上一轮更强。</a:t>
            </a:r>
            <a:endParaRPr lang="zh-CN" alt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3621024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62102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攻防测试</a:t>
            </a:r>
            <a:endParaRPr lang="zh-CN" alt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3621024"/>
            <a:ext cx="8988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5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上线前模拟各种作弊和攻击，找出评分漏洞并修复。</a:t>
            </a:r>
            <a:endParaRPr lang="zh-CN" alt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4279392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42793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受控实验</a:t>
            </a:r>
            <a:endParaRPr lang="zh-CN" alt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06040" y="4279392"/>
            <a:ext cx="8988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5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只改变一个条件（是否在Xitadel训练），比较前后表现的实验。</a:t>
            </a:r>
            <a:endParaRPr lang="zh-CN" alt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4937760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9377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年化毛营收</a:t>
            </a:r>
            <a:endParaRPr lang="zh-CN" alt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4937760"/>
            <a:ext cx="8988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350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按当前收入推算的全年收入，含支付给专家的部分。</a:t>
            </a:r>
            <a:endParaRPr lang="zh-CN" alt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94360" y="5596128"/>
            <a:ext cx="11000232" cy="0"/>
          </a:xfrm>
          <a:prstGeom prst="line">
            <a:avLst/>
          </a:prstGeom>
          <a:noFill/>
          <a:ln w="9525">
            <a:solidFill>
              <a:srgbClr val="E2E0DA"/>
            </a:solidFill>
            <a:prstDash val="solid"/>
          </a:ln>
        </p:spPr>
      </p:sp>
      <p:pic>
        <p:nvPicPr>
          <p:cNvPr id="24" name="Image 0" descr="/home/claude/build/assets/simreal-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37376"/>
            <a:ext cx="640080" cy="17282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417320" y="64008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5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alt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10680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23</a:t>
            </a:r>
            <a:endParaRPr lang="zh-CN" alt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ewsread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strument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SimReal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SimReal 商业计划书</dc:title>
  <dc:subject>PptxGenJS Presentation</dc:subject>
  <dc:creator>PptxGenJS</dc:creator>
  <cp:lastModifiedBy>PptxGenJS</cp:lastModifiedBy>
  <cp:revision>1</cp:revision>
  <dcterms:created xsi:type="dcterms:W3CDTF">2026-09-25T14:45:35Z</dcterms:created>
  <dcterms:modified xsi:type="dcterms:W3CDTF">2026-09-25T14:45:35Z</dcterms:modified>
</cp:coreProperties>
</file>