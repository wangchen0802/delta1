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2" r:id="rId8"/>
    <p:sldId id="265" r:id="rId11"/>
    <p:sldId id="264" r:id="rId10"/>
    <p:sldId id="261" r:id="rId7"/>
    <p:sldId id="272" r:id="rId18"/>
    <p:sldId id="269" r:id="rId15"/>
    <p:sldId id="275" r:id="rId21"/>
    <p:sldId id="266" r:id="rId12"/>
    <p:sldId id="271" r:id="rId17"/>
    <p:sldId id="270" r:id="rId16"/>
    <p:sldId id="267" r:id="rId13"/>
    <p:sldId id="268" r:id="rId14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20040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用真实数据，驱动AI精准行动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成立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2026年9月10日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公司概述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衍真是一家AI新实验室（Neolab），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为下一代AI构建数据、强化学习环境与递归自我改进（RSI）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37160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SimReal, a neolab building data, RL environments and recursive self-improvement (RSI) for future AI.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4,500万元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人民币，成立24天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开源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其中5个开源基准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研究成果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成立两周在交易环境跑通训练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没见过的交易日上表现最高提升12%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训练数据与RL环境，今天的年收入规模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16个月收入涨27倍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投向环境、RSI与交付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放弃首年合计600万+薪酬的工作，搭建下一代训练引擎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一年从0做到14亿美元，一个月上线币安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负责机构合作，对接SIG、DRW等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LSE数学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剑桥数学一等荣誉，奖学金获得者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剑桥AI研究中心最年轻的研究员，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导师Po-Ling Loh（国际数理统计学会会士）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主导设计全部5个开源基准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训练的瓶颈从公开文本转到可验证的数据和环境，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钱已经在花，专业领域的供给还很少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瓶颈转向可验证数据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公开的人类文本预计2026–2032年用完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推理模型改靠强化学习提升：在环境里做题、自动判对错，产出可验证的训练数据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可验证的数据和环境，成了稀缺资源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一道强化学习训练题卖200–2,000美元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RSI新实验室Recursive估值46.5亿美元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实验室和资本为数据、环境、RSI买单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专业数据和环境还很少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Meta、OpenAI 9月推出替人办事的Agent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但做交易、做财务，大模型仍频繁出错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先从对错最清楚的交易做起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RL环境赛道约20家早期公司，预计最后剩3–5家。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先做出效果的，先拿下长期合同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AI（2026年1月）；TechCrunch（2026年7月）；SiliconANGLE（2026年5月）；Meta、OpenAI发布（2026年9月）；Wing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但干不好真实的活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看上去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实盘行情里亏钱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一上线就出错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月底对不上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前沿大模型拿真钱做交易，32轮只有6轮赚钱（Alpha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缺的是一个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按真实结果打分的训练场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交付物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环境每跑一遍，产出一条带验证的轨迹：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客户拿到的不只是数据，还有证据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6638544" cy="39319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一条交易轨迹  ·  XITADEL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04418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示意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步骤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2588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类型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33172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内容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777240" y="2267712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77240" y="23042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1325880" y="23682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4A484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观察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331720" y="23042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订单簿快照：买一 101.05，卖一 101.10；持仓 0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777240" y="26700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77240" y="26700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1325880" y="27340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331720" y="26700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限价买入 100股，价格 101.05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777240" y="30358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303580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1325880" y="309981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2331720" y="303580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部分成交 60股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77240" y="340156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34015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1325880" y="346557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331720" y="340156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撤销剩余 40股，改价 101.08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77240" y="376732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37673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1325880" y="383133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31720" y="376732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剩余全部成交，行情上行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777240" y="413308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77240" y="41330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1325880" y="41970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331720" y="41330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收盘前卖出 100股，价格 101.30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777240" y="44988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777240" y="44988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1325880" y="45628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E8E6E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结算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2331720" y="44988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按盈亏、回撤、夏普计分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777240" y="48646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777240" y="493776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验证器：通过 ✓</a:t>
            </a: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 ·    </a:t>
            </a: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结果哈希已预先公开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7351776" y="1572768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758952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589520" y="1938528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完整轨迹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589520" y="2359152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每一步的观察、行动和世界的反应，可完整回放；用于监督微调与强化学习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7351776" y="2926080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7589520" y="30906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7589520" y="3291840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自动验证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589520" y="3712464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验证器按真实结果判定成败，不靠人工意见；评分器上线前先经过攻击测试</a:t>
            </a:r>
          </a:p>
        </p:txBody>
      </p:sp>
      <p:sp>
        <p:nvSpPr>
          <p:cNvPr id="5049" name="SimReal 5049"/>
          <p:cNvSpPr/>
          <p:nvPr/>
        </p:nvSpPr>
        <p:spPr>
          <a:xfrm>
            <a:off x="7351776" y="4279392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0" name="SimReal 5050"/>
          <p:cNvSpPr txBox="1"/>
          <p:nvPr/>
        </p:nvSpPr>
        <p:spPr>
          <a:xfrm>
            <a:off x="7589520" y="44439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7589520" y="4645152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质检报告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7589520" y="5065776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每批附污染检测、难度分布与验证通过率：无污染、可验证、高难度，一次给齐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数商卖人力，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衍真卖验证。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548640" y="608990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轨迹为示意。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递归自我改进（RSI）：模型在环境里做题、被打分、补短板，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一圈比一圈强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衍真强在哪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打分专业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量化标准，最强模型77分，其余24–30分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出题又快又准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20万+专家把关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效果已验证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分数来自Xitadel公开测评；+12%为多次独立复现中的最佳一次。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xita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1682496"/>
            <a:ext cx="8732520" cy="1298448"/>
          </a:xfrm>
          <a:prstGeom prst="rect">
            <a:avLst/>
          </a:prstGeom>
        </p:spPr>
      </p:pic>
      <p:pic>
        <p:nvPicPr>
          <p:cNvPr id="302" name="Picture 301" descr="mlbe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3035808"/>
            <a:ext cx="8732520" cy="1298448"/>
          </a:xfrm>
          <a:prstGeom prst="rect">
            <a:avLst/>
          </a:prstGeom>
        </p:spPr>
      </p:pic>
      <p:pic>
        <p:nvPicPr>
          <p:cNvPr id="303" name="Picture 302" descr="foreca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928" y="4389120"/>
            <a:ext cx="8732520" cy="1298448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三个训练环境已上线，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都拿真实结果给AI打分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96265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给AI的题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61441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AI做什么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6617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3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和谁比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682496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/>
          <p:nvPr/>
        </p:nvSpPr>
        <p:spPr>
          <a:xfrm>
            <a:off x="11576304" y="1682496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/>
          <p:nvPr/>
        </p:nvSpPr>
        <p:spPr>
          <a:xfrm>
            <a:off x="548640" y="1682496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777240" y="190195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77240" y="2103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77240" y="250545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102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777240" y="270662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公开成绩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035808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/>
          <p:nvPr/>
        </p:nvSpPr>
        <p:spPr>
          <a:xfrm>
            <a:off x="11576304" y="3035808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/>
          <p:nvPr/>
        </p:nvSpPr>
        <p:spPr>
          <a:xfrm>
            <a:off x="548640" y="3035808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325526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AI研究环境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77240" y="345643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777240" y="38587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302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405993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基线成绩，并非AI Agent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389120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/>
          <p:nvPr/>
        </p:nvSpPr>
        <p:spPr>
          <a:xfrm>
            <a:off x="11576304" y="4389120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/>
          <p:nvPr/>
        </p:nvSpPr>
        <p:spPr>
          <a:xfrm>
            <a:off x="548640" y="4389120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77240" y="460857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事件预测环境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77240" y="480974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77240" y="521208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27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54132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数字为示例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742432"/>
            <a:ext cx="11091672" cy="3291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77240" y="5742432"/>
            <a:ext cx="1072591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5个开源基准，GitHub 602星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：SimReal-MLBench 302  ·  Xitadel 102  ·  MathmoBench 101  ·  Puzzle 70  ·  FuturePredict 27（截至2026年10月4日）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6108192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人类最佳：IMC Prosperity（全球交易竞赛）中每项任务的最佳真实策略。事件预测的基线：同样提前锁定的参考预测。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Picture 336" descr="order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83664"/>
            <a:ext cx="5394960" cy="1542778"/>
          </a:xfrm>
          <a:prstGeom prst="rect">
            <a:avLst/>
          </a:prstGeom>
        </p:spPr>
      </p:pic>
      <p:pic>
        <p:nvPicPr>
          <p:cNvPr id="338" name="Picture 337" descr="rep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68496"/>
            <a:ext cx="5212080" cy="2302155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强化学习环境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模拟专业量化研究员的工作，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让AI反复实践、按结果学习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历史订单簿：多档报价与逐时点数据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345643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最多三档买卖报价与数量，空白表示该档无报价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6941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独立测试回放：收益与风险反馈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03720" y="1554480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专业量化研究的训练闭环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903720" y="201168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7406640" y="199339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读市场与规则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406640" y="2359152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分析订单簿、成交记录，理解仓位限制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406640" y="2651760"/>
            <a:ext cx="4233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903720" y="274320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7406640" y="272491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像量化研究员一样做实验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406640" y="3090672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编写Python策略，反复回测、调整参数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7406640" y="3383280"/>
            <a:ext cx="4233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903720" y="347472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406640" y="345643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按交易规则模拟执行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406640" y="3822192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撮合买卖，更新持仓与现金，记录结果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406640" y="4114800"/>
            <a:ext cx="4233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6903720" y="420624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406640" y="418795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按专业标准验证，返回奖励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406640" y="4553712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在训练验证日按收益、回撤与Sharpe打分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406640" y="4846320"/>
            <a:ext cx="4233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/>
          <p:nvPr/>
        </p:nvSpPr>
        <p:spPr>
          <a:xfrm>
            <a:off x="6647688" y="2907792"/>
            <a:ext cx="13716" cy="1463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/>
          <p:nvPr/>
        </p:nvSpPr>
        <p:spPr>
          <a:xfrm>
            <a:off x="6647688" y="4370832"/>
            <a:ext cx="182880" cy="1371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/>
          <p:nvPr/>
        </p:nvSpPr>
        <p:spPr>
          <a:xfrm>
            <a:off x="6647688" y="2907792"/>
            <a:ext cx="182880" cy="1371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757416" y="280720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▸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903720" y="4974336"/>
            <a:ext cx="47365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根据反馈改进，再练一轮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903720" y="5340096"/>
            <a:ext cx="47365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奖励与轨迹可接入客户训练器，更新模型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6903720" y="5687568"/>
            <a:ext cx="47365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6903720" y="5760720"/>
            <a:ext cx="473659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冻结策略后，用未见交易日独立检验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环境授权、数据交付、联合训练，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模型每升级一次就要复购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交易、AI研究、事件预测等训练环境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按期限和范围收费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环境每跑一遍就产出数据：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轨迹、专家示范、评测题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按量收费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用我们的环境，帮客户把模型练强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按项目收费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需求与验收标准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模型每升级一次都要换题，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环境和数据要持续更新，客户持续付费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4094" y="1858180"/>
            <a:ext cx="1027425" cy="39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2739" y="1919733"/>
            <a:ext cx="1486804" cy="27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4435" y="1768017"/>
            <a:ext cx="1180081" cy="578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33936" y="1906648"/>
            <a:ext cx="1357747" cy="30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3001" y="1906524"/>
            <a:ext cx="1636286" cy="30175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参与研发的从业者来自顶级交易机构，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他们的产出由验证器逐条检验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6974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可触达的专家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已报名的候补专家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 · 打分 · 把关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专家在环境里做的事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4160520"/>
            <a:ext cx="5408676" cy="1325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数据外包公司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22960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专家按小时计费，卖的是工时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质量靠人工抽检，项目做完就散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4160520"/>
            <a:ext cx="5408676" cy="1325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一线从业者出题、打分、把关，产出由验证器逐条检验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题目和验证器沉淀成自有环境，客户越多越值钱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标识仅表示从业者任职机构，不代表背书。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421" y="1700784"/>
            <a:ext cx="94305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0662" y="1700784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97604" y="1700784"/>
            <a:ext cx="114513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5842" y="1815440"/>
            <a:ext cx="1325880" cy="39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7636" y="1700784"/>
            <a:ext cx="699516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53066" y="1830878"/>
            <a:ext cx="1325879" cy="36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190" y="2596896"/>
            <a:ext cx="81351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58618" y="2702759"/>
            <a:ext cx="1325879" cy="41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07230" y="2692201"/>
            <a:ext cx="1325880" cy="43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65392" y="2596896"/>
            <a:ext cx="90678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04454" y="2745107"/>
            <a:ext cx="1325880" cy="32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053066" y="2620598"/>
            <a:ext cx="1325879" cy="57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高校网络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21所顶尖高校的学生和校友，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覆盖顶级入门岗位和前沿科研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58444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841248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顶级入门岗位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交易、金融、软件等竞争最激烈的校招岗位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41248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为替人处理日常工作的Agent提供训练数据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/>
          <p:nvPr/>
        </p:nvSpPr>
        <p:spPr>
          <a:xfrm>
            <a:off x="6231636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524244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前沿科研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24244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AI、数学与量化研究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24244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为自动做研究的Agent提供训练数据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这两类工作，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正是今天Agent主攻的两个方向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图为网络覆盖的部分高校；标识不代表学校背书。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头部公司16个月收入涨27倍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50余家供应商的收入合计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按AI经济7万亿美元、10%投入训练估算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Mercor年化收入16个月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AI新数据业务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一年增长18倍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来源：Deedy Das行业图谱（2026年7月）；Mercor（TechCrunch、Dealroom）；Snorkel AI公告（2026年9月）。2030年为公司测算。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我们强在专业领域的打分和速度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119872" y="1572768"/>
            <a:ext cx="3520440" cy="232257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客户现在的选择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547872" y="159105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强在哪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1591056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弱在哪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数据外包公司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AI、Mercor等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547872" y="1865376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035040" y="1865376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靠堆人，做不了专业打分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量化出身，打分专业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5420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542032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公开榜单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547872" y="2542032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035040" y="2542032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只能测不能训，很快被刷爆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542032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同一个环境既能测也能训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218688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547872" y="3218688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贴合自己的需求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035040" y="3218688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缺规则缺专家，占研究人力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218688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现成环境，20万+专家随时调用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8953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为什么难被抄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失效地图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持续跑前沿模型，知道它们在哪类题上失手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前沿模型24–77分，人类最佳80分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52544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52544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成本随规模下降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4352544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验证器建好后，合成加自动核验批量生产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4352544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单轮耗时降到1/4，同等资源多完成64%尝试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156448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156448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能自证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156448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无污染可审计，训练增益可验证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156448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结果哈希预先公开；训练后+12%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4864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对手拼规模，我们拼加速度：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14天上线7款产品，24天做到ARR 4,500万元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2026年RSI的三个变化，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每一个我们都已经在交付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2026年的变化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AI开始自己做研究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OpenAI研究团队每人每天配3.1个Agent工作日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OpenAI，2026年9月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MLBench：AI做研究的考场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 302星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AI开始自己改进自己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Agent改写自己的代码，8天完成7轮自我改进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Weco AIDE²，2026年9月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交易环境里跑通RSI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没见过的交易日上+12%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卡点变成环境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环境一乱，最强Agent通过率从83.9%掉到57.6%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Breaking the Environment Wall，2026年9月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3周交付数百万需求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所以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RSI卡在环境，环境正是衍真的研究核心。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多数AI新实验室还没有收入，衍真成立24天ARR 4,500万元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来源：OpenAI（2026年9月6日）；Weco AI，arXiv 2609.26457；Breaking the Environment Wall，arXiv 2609.29773；Deedy Das新实验室名单（2026年5月）。+12%为多次独立复现中的最佳一次。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2026年9月10日成立，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24天做到ARR 4,500万元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产品上线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交易环境同期跑通训练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第3周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数百万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交付需求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4,500万元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人民币，零外部融资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“第N天”从成立日算起；截至2026年10月4日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同样资源，多完成64%的训练尝试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存档耗时减少1/3，存档次数减半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基础设施指标为公司内部测试，口径不同，不能相乘或相加。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投向环境、RSI和交付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22960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把交易的打法复制到更多专业领域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22960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22960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环境工程师  ·  专家网络扩容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22960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10+个专业领域环境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22064" y="2487168"/>
            <a:ext cx="3544824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6384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6384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RSI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6384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把自我进化扩到更大的模型、更多的行业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4596384" y="4114800"/>
            <a:ext cx="29961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4596384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596384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  ·  研究员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596384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596384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开源大模型实现RSI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095488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8369808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369808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客户交付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69808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前沿实验室从试点做到长期合同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369808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369808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369808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交付团队  ·  商务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369808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369808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我们卖环境、数据和评测：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前沿实验室现在付费，企业和个人Agent是下一步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004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前沿AI实验室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环境、经过验证的训练题和评测，用来做后训练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76732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按环境、按题计费，签季度合同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定制环境和验收评测，证明Agent上线前能把活干好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76732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先付费试点，再签年度授权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再下一步 · C端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个人用户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让AI快速摸清自己的习惯，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每天用得顺手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76732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按月订阅，或经Agent应用分发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同一套环境服务三类客户，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模型每升级一次都需要新题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