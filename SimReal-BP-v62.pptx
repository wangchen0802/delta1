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产品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三个训练环境已上线，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每个动作都按真实结果打分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864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4980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交易环境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Xitadel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102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29768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429768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62" name="Text 59"/>
          <p:cNvSpPr txBox="1"/>
          <p:nvPr/>
        </p:nvSpPr>
        <p:spPr>
          <a:xfrm>
            <a:off x="449884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AI研究环境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449884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SimReal-MLBench</a:t>
            </a:r>
            <a:endParaRPr lang="en-US" sz="1900" dirty="0"/>
          </a:p>
        </p:txBody>
      </p:sp>
      <p:sp>
        <p:nvSpPr>
          <p:cNvPr id="64" name="Text 61"/>
          <p:cNvSpPr txBox="1"/>
          <p:nvPr/>
        </p:nvSpPr>
        <p:spPr>
          <a:xfrm>
            <a:off x="685800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302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8046720" y="1627632"/>
            <a:ext cx="3584448" cy="39502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p/>
        </p:txBody>
      </p:sp>
      <p:sp>
        <p:nvSpPr>
          <p:cNvPr id="91" name="Shape 88"/>
          <p:cNvSpPr/>
          <p:nvPr/>
        </p:nvSpPr>
        <p:spPr>
          <a:xfrm>
            <a:off x="8046720" y="1627632"/>
            <a:ext cx="3584448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92" name="Text 89"/>
          <p:cNvSpPr txBox="1"/>
          <p:nvPr/>
        </p:nvSpPr>
        <p:spPr>
          <a:xfrm>
            <a:off x="8247888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事件预测环境</a:t>
            </a:r>
            <a:endParaRPr lang="en-US" sz="950" dirty="0"/>
          </a:p>
        </p:txBody>
      </p:sp>
      <p:sp>
        <p:nvSpPr>
          <p:cNvPr id="93" name="Text 90"/>
          <p:cNvSpPr txBox="1"/>
          <p:nvPr/>
        </p:nvSpPr>
        <p:spPr>
          <a:xfrm>
            <a:off x="8247888" y="19751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FuturePredict</a:t>
            </a:r>
            <a:endParaRPr lang="en-US" sz="1900" dirty="0"/>
          </a:p>
        </p:txBody>
      </p:sp>
      <p:sp>
        <p:nvSpPr>
          <p:cNvPr id="94" name="Text 91"/>
          <p:cNvSpPr txBox="1"/>
          <p:nvPr/>
        </p:nvSpPr>
        <p:spPr>
          <a:xfrm>
            <a:off x="10607040" y="18105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27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548640" y="5705856"/>
            <a:ext cx="11082528" cy="402336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p/>
        </p:txBody>
      </p:sp>
      <p:sp>
        <p:nvSpPr>
          <p:cNvPr id="117" name="Text 114"/>
          <p:cNvSpPr txBox="1"/>
          <p:nvPr/>
        </p:nvSpPr>
        <p:spPr>
          <a:xfrm>
            <a:off x="777240" y="5815584"/>
            <a:ext cx="10625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5个开源基准，GitHub 602星</a:t>
            </a:r>
            <a:r>
              <a:rPr lang="en-US" sz="10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：SimReal-MLBench 302 · Xitadel 102 · MathmoBench 101 · Puzzle 70 · FuturePredict 27（截至2026年10月4日）</a:t>
            </a:r>
            <a:endParaRPr lang="en-US" sz="1050" dirty="0"/>
          </a:p>
        </p:txBody>
      </p:sp>
      <p:sp>
        <p:nvSpPr>
          <p:cNvPr id="118" name="Text 115"/>
          <p:cNvSpPr txBox="1"/>
          <p:nvPr/>
        </p:nvSpPr>
        <p:spPr>
          <a:xfrm>
            <a:off x="548640" y="618134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Xitadel分数来自其GitHub公开排行榜（人类最佳=80，满分100）；事件预测为示例。</a:t>
            </a:r>
            <a:endParaRPr lang="en-US" sz="800" dirty="0"/>
          </a:p>
        </p:txBody>
      </p:sp>
      <p:pic>
        <p:nvPicPr>
          <p:cNvPr id="119" name="Picture 118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95728"/>
            <a:ext cx="3218688" cy="3107699"/>
          </a:xfrm>
          <a:prstGeom prst="rect">
            <a:avLst/>
          </a:prstGeom>
        </p:spPr>
      </p:pic>
      <p:pic>
        <p:nvPicPr>
          <p:cNvPr id="120" name="Picture 119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395728"/>
            <a:ext cx="3218688" cy="3107699"/>
          </a:xfrm>
          <a:prstGeom prst="rect">
            <a:avLst/>
          </a:prstGeom>
        </p:spPr>
      </p:pic>
      <p:pic>
        <p:nvPicPr>
          <p:cNvPr id="121" name="Picture 120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2395728"/>
            <a:ext cx="3218688" cy="31076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交付物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环境每跑一遍，产出一条带验证的轨迹：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客户拿到的不只是数据，还有证据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27632"/>
            <a:ext cx="6629400" cy="3931920"/>
          </a:xfrm>
          <a:prstGeom prst="rect">
            <a:avLst/>
          </a:prstGeom>
          <a:solidFill>
            <a:srgbClr val="111110"/>
          </a:solidFill>
          <a:ln w="12700">
            <a:solidFill>
              <a:srgbClr val="11111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773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一条交易轨迹 · XITADEL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773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示意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步骤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2066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A49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77240" y="2286000"/>
            <a:ext cx="6172200" cy="0"/>
          </a:xfrm>
          <a:prstGeom prst="line">
            <a:avLst/>
          </a:prstGeom>
          <a:noFill/>
          <a:ln w="9525">
            <a:solidFill>
              <a:srgbClr val="2E2D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2450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325880" y="242316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3A3936"/>
          </a:solidFill>
          <a:ln w="12700">
            <a:solidFill>
              <a:srgbClr val="3A39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2423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FCB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24414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订单簿快照：买一 101.05，卖一 101.10；持仓 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" y="272491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2816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325880" y="27889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2588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28072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限价买入 100股，价格 101.05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" y="309067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3182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325880" y="3154680"/>
            <a:ext cx="777240" cy="228600"/>
          </a:xfrm>
          <a:prstGeom prst="roundRect">
            <a:avLst>
              <a:gd name="adj" fmla="val 24000"/>
            </a:avLst>
          </a:prstGeom>
          <a:ln w="9525">
            <a:solidFill>
              <a:srgbClr val="CFCBC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325880" y="31546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世界反应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2331720" y="317296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部分成交 60股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7240" y="345643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7240" y="3547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325880" y="352044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325880" y="35204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2331720" y="353872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撤销剩余 40股，改价 101.08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7240" y="382219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3913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325880" y="3886200"/>
            <a:ext cx="777240" cy="228600"/>
          </a:xfrm>
          <a:prstGeom prst="roundRect">
            <a:avLst>
              <a:gd name="adj" fmla="val 24000"/>
            </a:avLst>
          </a:prstGeom>
          <a:ln w="9525">
            <a:solidFill>
              <a:srgbClr val="CFCBC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325880" y="3886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世界反应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2331720" y="390448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剩余全部成交，行情上行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77240" y="418795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7240" y="42793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325880" y="425196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32588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行动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2331720" y="427024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收盘前卖出 100股，价格 101.30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77240" y="455371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7240" y="4645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325880" y="46177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325880" y="4617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结算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2331720" y="46360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按盈亏、回撤、夏普计分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77240" y="4919472"/>
            <a:ext cx="6172200" cy="0"/>
          </a:xfrm>
          <a:prstGeom prst="line">
            <a:avLst/>
          </a:prstGeom>
          <a:noFill/>
          <a:ln w="6350">
            <a:solidFill>
              <a:srgbClr val="2E2D2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77240" y="505663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70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验证器：通过 ✓    ·    结果哈希已预先公开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360920" y="1627632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89520" y="17922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589520" y="1993392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完整轨迹</a:t>
            </a:r>
            <a:endParaRPr lang="en-US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7589520" y="237744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每一步的观察、行动和世界的反应，可完整回放；用于监督微调与强化学习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7360920" y="2985516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589520" y="31501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589520" y="3351276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自动验证</a:t>
            </a:r>
            <a:endParaRPr lang="en-US" sz="1800" dirty="0"/>
          </a:p>
        </p:txBody>
      </p:sp>
      <p:sp>
        <p:nvSpPr>
          <p:cNvPr id="59" name="Text 56"/>
          <p:cNvSpPr txBox="1"/>
          <p:nvPr/>
        </p:nvSpPr>
        <p:spPr>
          <a:xfrm>
            <a:off x="7589520" y="3735324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验证器按真实结果判定成败，不靠人工意见；评分器上线前先经过攻击测试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7360920" y="4343400"/>
            <a:ext cx="4270248" cy="1216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589520" y="45079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7589520" y="470916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质检报告</a:t>
            </a:r>
            <a:endParaRPr lang="en-US" sz="1800" dirty="0"/>
          </a:p>
        </p:txBody>
      </p:sp>
      <p:sp>
        <p:nvSpPr>
          <p:cNvPr id="63" name="Text 60"/>
          <p:cNvSpPr txBox="1"/>
          <p:nvPr/>
        </p:nvSpPr>
        <p:spPr>
          <a:xfrm>
            <a:off x="7589520" y="5093208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每批附污染检测、难度分布与验证通过率：无污染、可验证、高难度，一次给齐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5724144"/>
            <a:ext cx="11082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数商卖人力，</a:t>
            </a:r>
            <a:r>
              <a:rPr lang="en-US" sz="20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衍真卖验证。</a:t>
            </a:r>
            <a:endParaRPr lang="en-US" sz="2000" dirty="0"/>
          </a:p>
        </p:txBody>
      </p:sp>
      <p:sp>
        <p:nvSpPr>
          <p:cNvPr id="65" name="Text 62"/>
          <p:cNvSpPr txBox="1"/>
          <p:nvPr/>
        </p:nvSpPr>
        <p:spPr>
          <a:xfrm>
            <a:off x="548640" y="6181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轨迹为示意。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竞争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33856"/>
            <a:ext cx="11082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对手强在规模，</a:t>
            </a:r>
            <a:r>
              <a:rPr lang="en-US" sz="19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我们强在专业领域的打分和速度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4023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我们是谁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方法与产品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优势与竞争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商业与进展</a:t>
            </a:r>
            <a:r>
              <a:rPr lang="en-US" sz="9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9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</a:t>
            </a:r>
            <a:endParaRPr lang="en-US" sz="900" dirty="0"/>
          </a:p>
        </p:txBody>
      </p:sp>
      <p:pic>
        <p:nvPicPr>
          <p:cNvPr id="6" name="Image 0" descr="/home/claude/v61/logo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005840" cy="2258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6446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7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机密 · 仅供受邀投资机构内部评估使用 · 2026年10月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129016" y="1572768"/>
            <a:ext cx="3502152" cy="235915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572768"/>
            <a:ext cx="11082528" cy="0"/>
          </a:xfrm>
          <a:prstGeom prst="line">
            <a:avLst/>
          </a:prstGeom>
          <a:noFill/>
          <a:ln w="15875">
            <a:solidFill>
              <a:srgbClr val="5555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700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客户现在的选择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556102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强在哪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044184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弱在哪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646566" y="16824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衍真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1901952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7006" y="2011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数据外包公司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737006" y="234086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AI、Mercor等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556102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人多，实验室关系深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044184" y="2130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靠堆人，做不了专业打分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646566" y="2130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量化出身，打分专业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2578608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7006" y="26883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公开榜单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37006" y="30175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Arena等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3556102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方便比较模型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044184" y="2807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只能测不能训，很快被刷爆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646566" y="28072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同一个环境既能测也能训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8640" y="3255264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7006" y="34381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实验室自建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3556102" y="3483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贴合自己的需求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044184" y="34838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缺规则缺专家，占研究人力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646566" y="34838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现成环境，20万+专家随时调用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548640" y="3931920"/>
            <a:ext cx="11082528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5559552"/>
            <a:ext cx="11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对手拼规模，我们拼加速度：</a:t>
            </a:r>
            <a:r>
              <a:rPr lang="en-US" sz="2200" dirty="0">
                <a:solidFill>
                  <a:srgbClr val="C2410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14天上线7款产品，24天做到ARR 4,500万元</a:t>
            </a:r>
            <a:endParaRPr lang="en-US" sz="2200" dirty="0"/>
          </a:p>
        </p:txBody>
      </p:sp>
      <p:sp>
        <p:nvSpPr>
          <p:cNvPr id="300" name="SimReal 300"/>
          <p:cNvSpPr txBox="1"/>
          <p:nvPr/>
        </p:nvSpPr>
        <p:spPr>
          <a:xfrm>
            <a:off x="548640" y="4133087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95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为什么难被抄</a:t>
            </a:r>
            <a:endParaRPr lang="en-US" sz="950" dirty="0"/>
          </a:p>
        </p:txBody>
      </p:sp>
      <p:sp>
        <p:nvSpPr>
          <p:cNvPr id="301" name="SimReal 301"/>
          <p:cNvSpPr/>
          <p:nvPr/>
        </p:nvSpPr>
        <p:spPr>
          <a:xfrm>
            <a:off x="548640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02" name="SimReal 302"/>
          <p:cNvSpPr txBox="1"/>
          <p:nvPr/>
        </p:nvSpPr>
        <p:spPr>
          <a:xfrm>
            <a:off x="548640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失效地图</a:t>
            </a:r>
            <a:endParaRPr lang="en-US" sz="1700" dirty="0"/>
          </a:p>
        </p:txBody>
      </p:sp>
      <p:sp>
        <p:nvSpPr>
          <p:cNvPr id="303" name="SimReal 303"/>
          <p:cNvSpPr txBox="1"/>
          <p:nvPr/>
        </p:nvSpPr>
        <p:spPr>
          <a:xfrm>
            <a:off x="548640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持续跑前沿模型，知道它们在哪类题上失手</a:t>
            </a:r>
            <a:endParaRPr lang="en-US" sz="1100" dirty="0"/>
          </a:p>
        </p:txBody>
      </p:sp>
      <p:sp>
        <p:nvSpPr>
          <p:cNvPr id="304" name="SimReal 304"/>
          <p:cNvSpPr txBox="1"/>
          <p:nvPr/>
        </p:nvSpPr>
        <p:spPr>
          <a:xfrm>
            <a:off x="548640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前沿模型24–77分，人类最佳80分</a:t>
            </a:r>
            <a:endParaRPr lang="en-US" sz="1100" dirty="0"/>
          </a:p>
        </p:txBody>
      </p:sp>
      <p:sp>
        <p:nvSpPr>
          <p:cNvPr id="305" name="SimReal 305"/>
          <p:cNvSpPr/>
          <p:nvPr/>
        </p:nvSpPr>
        <p:spPr>
          <a:xfrm>
            <a:off x="4349495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06" name="SimReal 306"/>
          <p:cNvSpPr txBox="1"/>
          <p:nvPr/>
        </p:nvSpPr>
        <p:spPr>
          <a:xfrm>
            <a:off x="4349495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成本随规模下降</a:t>
            </a:r>
            <a:endParaRPr lang="en-US" sz="1700" dirty="0"/>
          </a:p>
        </p:txBody>
      </p:sp>
      <p:sp>
        <p:nvSpPr>
          <p:cNvPr id="307" name="SimReal 307"/>
          <p:cNvSpPr txBox="1"/>
          <p:nvPr/>
        </p:nvSpPr>
        <p:spPr>
          <a:xfrm>
            <a:off x="4349495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验证器建好后，合成加自动核验批量生产</a:t>
            </a:r>
            <a:endParaRPr lang="en-US" sz="1100" dirty="0"/>
          </a:p>
        </p:txBody>
      </p:sp>
      <p:sp>
        <p:nvSpPr>
          <p:cNvPr id="308" name="SimReal 308"/>
          <p:cNvSpPr txBox="1"/>
          <p:nvPr/>
        </p:nvSpPr>
        <p:spPr>
          <a:xfrm>
            <a:off x="4349495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单轮耗时降到1/4，同等资源多完成64%尝试</a:t>
            </a:r>
            <a:endParaRPr lang="en-US" sz="1100" dirty="0"/>
          </a:p>
        </p:txBody>
      </p:sp>
      <p:sp>
        <p:nvSpPr>
          <p:cNvPr id="309" name="SimReal 309"/>
          <p:cNvSpPr/>
          <p:nvPr/>
        </p:nvSpPr>
        <p:spPr>
          <a:xfrm>
            <a:off x="8150351" y="4389120"/>
            <a:ext cx="3480816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310" name="SimReal 310"/>
          <p:cNvSpPr txBox="1"/>
          <p:nvPr/>
        </p:nvSpPr>
        <p:spPr>
          <a:xfrm>
            <a:off x="8150351" y="4480560"/>
            <a:ext cx="3480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能自证</a:t>
            </a:r>
            <a:endParaRPr lang="en-US" sz="1700" dirty="0"/>
          </a:p>
        </p:txBody>
      </p:sp>
      <p:sp>
        <p:nvSpPr>
          <p:cNvPr id="311" name="SimReal 311"/>
          <p:cNvSpPr txBox="1"/>
          <p:nvPr/>
        </p:nvSpPr>
        <p:spPr>
          <a:xfrm>
            <a:off x="8150351" y="4846320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无污染可审计，训练增益可验证</a:t>
            </a:r>
            <a:endParaRPr lang="en-US" sz="1100" dirty="0"/>
          </a:p>
        </p:txBody>
      </p:sp>
      <p:sp>
        <p:nvSpPr>
          <p:cNvPr id="312" name="SimReal 312"/>
          <p:cNvSpPr txBox="1"/>
          <p:nvPr/>
        </p:nvSpPr>
        <p:spPr>
          <a:xfrm>
            <a:off x="8150351" y="5084064"/>
            <a:ext cx="3480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sz="1100" dirty="0">
                <a:solidFill>
                  <a:srgbClr val="C2410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结果哈希预先公开；训练后+12%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61/p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" y="420624"/>
            <a:ext cx="502920" cy="155448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4069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1201400" y="6419088"/>
            <a:ext cx="502920" cy="164592"/>
          </a:xfrm>
          <a:prstGeom prst="rect">
            <a:avLst/>
          </a:prstGeom>
          <a:solidFill>
            <a:srgbClr val="FAF9F6"/>
          </a:solidFill>
          <a:ln w="12700">
            <a:solidFill>
              <a:srgbClr val="FAF9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716768" y="6446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87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SimReal 衍真 商业计划书 v61</dc:title>
  <dc:subject>PptxGenJS Presentation</dc:subject>
  <dc:creator>PptxGenJS</dc:creator>
  <cp:lastModifiedBy>PptxGenJS</cp:lastModifiedBy>
  <cp:revision>1</cp:revision>
  <dcterms:created xsi:type="dcterms:W3CDTF">2026-10-05T00:24:54Z</dcterms:created>
  <dcterms:modified xsi:type="dcterms:W3CDTF">2026-10-05T00:24:54Z</dcterms:modified>
</cp:coreProperties>
</file>