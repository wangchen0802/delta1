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71" r:id="rId17"/>
    <p:sldId id="264" r:id="rId10"/>
    <p:sldId id="272" r:id="rId18"/>
    <p:sldId id="270" r:id="rId16"/>
    <p:sldId id="267" r:id="rId13"/>
    <p:sldId id="269" r:id="rId15"/>
    <p:sldId id="275" r:id="rId21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10" Type="http://schemas.openxmlformats.org/officeDocument/2006/relationships/slide" Target="slides/slide9.xml"/><Relationship Id="rId13" Type="http://schemas.openxmlformats.org/officeDocument/2006/relationships/slide" Target="slides/slide12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1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5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8.png"/><Relationship Id="rId15" Type="http://schemas.openxmlformats.org/officeDocument/2006/relationships/image" Target="../media/image24.png"/><Relationship Id="rId16" Type="http://schemas.openxmlformats.org/officeDocument/2006/relationships/image" Target="../media/image25.png"/><Relationship Id="rId17" Type="http://schemas.openxmlformats.org/officeDocument/2006/relationships/image" Target="../media/image26.png"/><Relationship Id="rId18" Type="http://schemas.openxmlformats.org/officeDocument/2006/relationships/image" Target="../media/image27.png"/><Relationship Id="rId19" Type="http://schemas.openxmlformats.org/officeDocument/2006/relationships/image" Target="../media/image28.png"/><Relationship Id="rId20" Type="http://schemas.openxmlformats.org/officeDocument/2006/relationships/image" Target="../media/image29.png"/><Relationship Id="rId21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Financial AI will be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trained in our markets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3154680"/>
            <a:ext cx="7498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RL environments and human intelligence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3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for financial AI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4526280"/>
            <a:ext cx="82296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Founded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September 2026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32918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Website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918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simreal.co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0350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Contact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0350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business@simreal.co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Overview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RL environments and human intelligence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for AI that does financial work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700784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82880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08483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$250K / month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688336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sales in September 2026,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about $3M a year at this rate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70078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82880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Product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208483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+ data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688336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 and forecasting environments,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plus financial expert data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70078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82880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Buyers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208483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segments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688336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Frontier labs, financial firms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and vertical AI startups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4015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5295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37856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Quant founders, all 21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3891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Cambridge, LSE and Duke mathematics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Street, Citadel, Optiver, Millennium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4015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5295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Supply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37856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 signed up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3891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Financial experts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 paid data work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4015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5295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Market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37856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$2.8B a year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3891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Spent by investment managers on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alternative data in 2025 (Neudata)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5230368"/>
            <a:ext cx="11091672" cy="78638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777240" y="5230368"/>
            <a:ext cx="1554480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How it fits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2377440" y="5230368"/>
            <a:ext cx="8988552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Funds already buy their edge as data. </a:t>
            </a: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We sell the environments and expert data AI needs to do financial work.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Team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21-year-old founders.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Together they turned down $1M+ in first-year pay to build SimReal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CEO · 21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Employee #1 at United Stables, building it from scratch to $1.5B+. Listed on Binance within a month.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Led institutional partnerships with YZi Labs, SIG, DRW and Wintermute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Only intern on HSBC’s HKD stablecoin project, working on HKMA compliance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Hedge fund intern, Citadel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LSE, Mathematics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USAMO qualifier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CTO · 21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 Mathematics, St John’s College, First Class with Scholarship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Youngest researcher at the Cambridge AI research center, under Prof. Po-Ling Loh (IMS Fellow)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Ex-quant at Jane Street, Citadel and Optiver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30 worldwide, Cambridge STEP maths competition (~IMO Medalist level)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British Physics Olympiad Top Gold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COO · 21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scientist, Millennium Hong Kong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graduate hire on Millennium’s alternative-data team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Co-organized Plug and Play’s first Hong Kong event, with HKSTP (200+ attendees)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Duke, Mathematics and Statistics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Problem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Agents are moving into financial work.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Their backtests lie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720840" y="1636776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219456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Looks right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94944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actually happens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96596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65960"/>
            <a:ext cx="1600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194560" y="196596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Profitable in backtest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217920" y="196596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949440" y="196596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Loses money live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694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569464"/>
            <a:ext cx="1600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Research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194560" y="256946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Signal looks strong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17920" y="256946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949440" y="256946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Overfit to the past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1729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172968"/>
            <a:ext cx="1600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94560" y="3172968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Analysis sounds right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217920" y="3172968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949440" y="3172968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Outcome proves it wrong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77647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776472"/>
            <a:ext cx="1600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Accounting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37764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Books look closed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217920" y="37764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949440" y="37764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doesn’t reconcile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799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6/32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286000" y="45720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 a live trading contest (Nof1’s Alpha Arena), frontier models made money in only 6 of 32 runs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 backtest you can fool will lie to you. </a:t>
            </a:r>
            <a:r>
              <a:rPr lang="zh-CN" sz="19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Agents need a test the market grades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Source: Nof1, Alpha Arena (May 2026).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Product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and expert data for financial AI.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market grades every result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3832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Market environments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450592"/>
            <a:ext cx="296570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 and quant research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22960" y="2798064"/>
            <a:ext cx="2965704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Agents research stocks, baskets and options and build strategies, tested against simulated market participants.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22960" y="4114800"/>
            <a:ext cx="296570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22960" y="420624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Graded by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22960" y="4407408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P&amp;L on a withheld trading day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337304" y="1572768"/>
            <a:ext cx="3514344" cy="33832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Forecasting environments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4611624" y="2450592"/>
            <a:ext cx="296570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Future Prediction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4611624" y="2798064"/>
            <a:ext cx="2965704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Agents forecast events with search and prediction-market tools. Copying the market’s forecast earns zero.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611624" y="411480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611624" y="420624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Graded by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611624" y="4407408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real outcome, once it is known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25968" y="1572768"/>
            <a:ext cx="3514344" cy="33832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002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Financial expert data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400288" y="2450592"/>
            <a:ext cx="296570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Expert data and trajectories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00288" y="2798064"/>
            <a:ext cx="2965704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Demonstrations, reasoning traces and grading rubrics from financial professionals, plus agent trajectories.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400288" y="411480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400288" y="420624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Graded by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400288" y="4407408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Checked against the market result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230368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Also built: </a:t>
            </a: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accounting (Month-End Close), ML research, maths, reasoning and software benchmarks</a:t>
            </a: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700+ GitHub stars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07005" y="1845663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13144" y="1768972"/>
            <a:ext cx="989745" cy="485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15207" y="1886053"/>
            <a:ext cx="1131456" cy="2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69588" y="1885493"/>
            <a:ext cx="1368530" cy="252374"/>
          </a:xfrm>
          <a:prstGeom prst="rect">
            <a:avLst/>
          </a:prstGeom>
        </p:spPr>
      </p:pic>
      <p:pic>
        <p:nvPicPr>
          <p:cNvPr id="9429" name="Google Shape;429;p15" descr="harvard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26236" y="4507992"/>
            <a:ext cx="693419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0" name="Google Shape;430;p15" descr="stanford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092958" y="45079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1" name="Google Shape;431;p15" descr="mit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749166" y="4507992"/>
            <a:ext cx="842008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2" name="Google Shape;432;p15" descr="oxford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470142" y="4574186"/>
            <a:ext cx="1097280" cy="324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3" name="Google Shape;433;p15" descr="cambridge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610219" y="4507992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4" name="Google Shape;434;p15" descr="princeton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167366" y="4586963"/>
            <a:ext cx="1097279" cy="2992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5" name="Google Shape;435;p15" descr="yale-ink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173861" y="5148072"/>
            <a:ext cx="59817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6" name="Google Shape;436;p15" descr="berkeley-ink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2772918" y="5206989"/>
            <a:ext cx="1097280" cy="339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7" name="Google Shape;437;p15" descr="tsinghua-ink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621530" y="5198252"/>
            <a:ext cx="1097280" cy="356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8" name="Google Shape;438;p15" descr="columbia-ink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685407" y="5148072"/>
            <a:ext cx="6667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9" name="Google Shape;439;p15" descr="uchicago-ink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8318754" y="5242036"/>
            <a:ext cx="1097280" cy="269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0" name="Google Shape;440;p15" descr="duke-ink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188321" y="5148072"/>
            <a:ext cx="105537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Human intelligence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Financial professionals show agents how the work is done.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market checks the result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17904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Practitioners in our R&amp;D have worked at top trading firms and markets, including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23957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/>
          <p:nvPr/>
        </p:nvSpPr>
        <p:spPr>
          <a:xfrm>
            <a:off x="548640" y="2523744"/>
            <a:ext cx="5408676" cy="96926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/>
          <p:nvPr/>
        </p:nvSpPr>
        <p:spPr>
          <a:xfrm>
            <a:off x="548640" y="2523744"/>
            <a:ext cx="45720" cy="9692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2615184"/>
            <a:ext cx="495147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Financial professionals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22960" y="2926080"/>
            <a:ext cx="495147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Demonstrations and explanations of how they research and decide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22960" y="3182112"/>
            <a:ext cx="49514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for agents that do financial work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231636" y="2523744"/>
            <a:ext cx="5408676" cy="96926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6231636" y="2523744"/>
            <a:ext cx="45720" cy="9692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505956" y="2615184"/>
            <a:ext cx="495147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Quant, maths and finance talent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505956" y="2926080"/>
            <a:ext cx="495147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Students and alumni of 21 top universities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505956" y="3182112"/>
            <a:ext cx="49514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for agents that do financial research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36027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200K+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2011680" y="3602736"/>
            <a:ext cx="202082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Students and alumni</a:t>
            </a: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we can reach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36027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815584" y="3602736"/>
            <a:ext cx="202082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Signed up for</a:t>
            </a: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paid data work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156448" y="36027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21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619488" y="3602736"/>
            <a:ext cx="202082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universities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169664"/>
            <a:ext cx="110916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424281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Students and alumni of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Logos show where practitioners have worked or studied; no endorsement implied.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Market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Funds already buy their edge as data.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AI that does financial work needs it too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Financial firms: market data and analysis, 2025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49377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$49.2B / year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record, up 6.5% (Burton-Taylor)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6035040" y="1801368"/>
            <a:ext cx="9144" cy="1280160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Investment managers: alternative data, 2025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$2.8B / year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Up 17% in a year (Neudata)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$2B+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gross run-rate: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June 2026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Labs pay billions for expert data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$100M+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AfterQuery run-rate, within about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15 months of founding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New data vendors scale fast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4–5x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Exclusive environments cost 4–5x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non-exclusive ones (Epoch AI)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Exclusivity is priced like data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Burton-Taylor (TP ICAP), Financial Market Data/Analysis 2026; Neudata, The state of the alternative data market in 2026; Mercor (TechCrunch, Jul 2026); AfterQuery (Dealroom, Apr 2026); Epoch AI (Jan 2026). Run-rates are gross.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us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 expert can’t grade a trade.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Only the market can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601468" cy="23957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1956816"/>
            <a:ext cx="21442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 expert can’t grade a trade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77240" y="2578608"/>
            <a:ext cx="2144268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 expert can say whether a strategy will make money. Our environments match every order the way an exchange would.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78708" y="1572768"/>
            <a:ext cx="2601468" cy="23957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607308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607308" y="1956816"/>
            <a:ext cx="21442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Markets have no answer key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607308" y="2578608"/>
            <a:ext cx="2144268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 trading and forecasting the answer arrives with the outcome, and it shifts as others copy what works.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6208776" y="1572768"/>
            <a:ext cx="2601468" cy="23957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437376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437376" y="1956816"/>
            <a:ext cx="21442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 neutral supplier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437376" y="2578608"/>
            <a:ext cx="2144268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Funds won’t hand their data to a lab. We license environments to funds and labs alike, exclusively at 4–5x.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9038844" y="1572768"/>
            <a:ext cx="2601468" cy="23957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9267444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267444" y="1956816"/>
            <a:ext cx="21442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Revenue funds speed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9267444" y="2578608"/>
            <a:ext cx="2144268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$250K of data a month and 7,000+ people signed up to write tasks.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415137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Landscape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548640" y="4389120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Quant environment startups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017520" y="4389120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EdotEnv (YC S26)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6172200" y="4389120"/>
            <a:ext cx="546811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Quant research environments for labs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4636008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Expert-data vendors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3017520" y="4636008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Mercor, Surge, Scale, AfterQuery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172200" y="4636008"/>
            <a:ext cx="546811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 time and contractor-built environments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4882896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Finance evaluation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3017520" y="4882896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Halluminate, Vals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6172200" y="4882896"/>
            <a:ext cx="546811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Banking and private-equity work, graded against known answers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129784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SimReal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3017520" y="5129784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and financial expert data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6172200" y="5129784"/>
            <a:ext cx="546811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Graded by the market or the real outcome; neutral to funds and labs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548640" y="5522976"/>
            <a:ext cx="11091672" cy="51206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777240" y="5522976"/>
            <a:ext cx="14630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In short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2286000" y="5522976"/>
            <a:ext cx="917143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They sell hours or answer keys; </a:t>
            </a: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we sell results the market grades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now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Agents are entering financial work.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Funds already pay for an edge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583680" y="1572768"/>
            <a:ext cx="5056632" cy="287121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changed in 2026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81228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have built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31520" y="2157984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Funds are handing research to agents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31520" y="254203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 AI-agent hedge fund raised a $100M seed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31520" y="2779776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Abundance, Apr 2026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172200" y="1883664"/>
            <a:ext cx="36576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812280" y="1883664"/>
            <a:ext cx="4736592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 environments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Stocks, baskets and options, graded by the market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316382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31520" y="3438144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Funds buy their edge as data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731520" y="382219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Investment managers spent $2.8B on alternative data in 2025, up 17%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" y="4059936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Neudata, Feb 2026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172200" y="3163824"/>
            <a:ext cx="36576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812280" y="3163824"/>
            <a:ext cx="4736592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licensed like datasets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Exclusive to one fund, priced at 4–5x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44439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/>
          <p:nvPr/>
        </p:nvSpPr>
        <p:spPr>
          <a:xfrm>
            <a:off x="548640" y="5138928"/>
            <a:ext cx="11091672" cy="6217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777240" y="5138928"/>
            <a:ext cx="155448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Our position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2377440" y="5138928"/>
            <a:ext cx="907999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Most AI-data startups in this space have no revenue yet. </a:t>
            </a: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We sell $250K of data a month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Abundance (Bloomberg, Apr 2026); Neudata, The state of the alternative data market in 2026 (Feb 2026).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Traction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$250K of data sales in September 2026.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About $3M a year at this rate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4160520" cy="356616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68680" y="1828800"/>
            <a:ext cx="3520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68680" y="2084832"/>
            <a:ext cx="35204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5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$250K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68680" y="2944368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 September 2026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68680" y="3383280"/>
            <a:ext cx="352044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68680" y="3493008"/>
            <a:ext cx="352044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4 paying customers: data suppliers and AI startups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Largest: a data supplier serving frontier labs, with a $100K order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074920" y="1572768"/>
            <a:ext cx="656539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5074920" y="1572768"/>
            <a:ext cx="1280160" cy="891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 mix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446520" y="1755648"/>
            <a:ext cx="51937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60% agent trajectories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446520" y="2048256"/>
            <a:ext cx="51937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35% reasoning traces and rubrics from finance professionals; 5% verified RL tasks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074920" y="2464308"/>
            <a:ext cx="656539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5074920" y="2464308"/>
            <a:ext cx="1280160" cy="891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14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446520" y="2647188"/>
            <a:ext cx="51937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 environments shipped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446520" y="2939796"/>
            <a:ext cx="51937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Trading, forecasting, accounting, ML research, maths, reasoning, software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074920" y="3355848"/>
            <a:ext cx="656539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5074920" y="3355848"/>
            <a:ext cx="1280160" cy="891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Supply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446520" y="3538728"/>
            <a:ext cx="51937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7,000+ signed up for paid data work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446520" y="3831336"/>
            <a:ext cx="51937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200K+ students and alumni of 21 top universities in reach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074920" y="4247388"/>
            <a:ext cx="656539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074920" y="4247388"/>
            <a:ext cx="1280160" cy="891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Pipeline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446520" y="4430268"/>
            <a:ext cx="51937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 frontier labs in talks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446520" y="4722876"/>
            <a:ext cx="51937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 environment and data contracts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074920" y="5138928"/>
            <a:ext cx="656539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About $3M a year = September 2026 revenue x 12. Orders are placed on demand today; we are moving them to subscriptions.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Business model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buyers, one set of environments.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All three already buy our data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514344" cy="37673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Frontier AI labs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They buy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22960" y="2615184"/>
            <a:ext cx="29657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Environments, trajectories and expert data to train and test their models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22960" y="3218688"/>
            <a:ext cx="296570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22960" y="331012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22960" y="3511296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environment and per task, on quarterly contracts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22960" y="3968496"/>
            <a:ext cx="296570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22960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Estimated price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22960" y="4242816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$300K–$1M+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22960" y="4645152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lab, per quarter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22960" y="4864608"/>
            <a:ext cx="29657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 rates: $200–$2,000 a task (Epoch AI)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337304" y="1517904"/>
            <a:ext cx="3514344" cy="37673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611624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611624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Financial firms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4611624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They buy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4611624" y="2615184"/>
            <a:ext cx="29657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to train and test agents before they touch real money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611624" y="321868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4611624" y="331012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611624" y="3511296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paid pilot, then an annual licence; exclusive at 4–5x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4611624" y="3968496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4611624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Estimated price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4611624" y="4242816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$200K–$800K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4611624" y="4645152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firm, per year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4611624" y="4864608"/>
            <a:ext cx="29657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Pilot: $50K–$150K. Hedge funds and prop shops first; then banks, asset managers, exchanges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8125968" y="1517904"/>
            <a:ext cx="3514344" cy="37673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8400288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8400288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Vertical AI startups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8400288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They buy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8400288" y="2615184"/>
            <a:ext cx="29657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and environments to train finance agents and prove they work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8400288" y="321868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8400288" y="331012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400288" y="3511296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subscriptions and environment licences</a:t>
            </a:r>
          </a:p>
        </p:txBody>
      </p:sp>
      <p:sp>
        <p:nvSpPr>
          <p:cNvPr id="5039" name="SimReal 5039"/>
          <p:cNvSpPr/>
          <p:nvPr/>
        </p:nvSpPr>
        <p:spPr>
          <a:xfrm>
            <a:off x="8400288" y="3968496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0" name="SimReal 5040"/>
          <p:cNvSpPr txBox="1"/>
          <p:nvPr/>
        </p:nvSpPr>
        <p:spPr>
          <a:xfrm>
            <a:off x="8400288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Pricing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8400288" y="4242816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Subscription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8400288" y="4645152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dataset or environment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8400288" y="4864608"/>
            <a:ext cx="29657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Several already buy our data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Recurring revenue from licences, data subscriptions and task updates; </a:t>
            </a: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every new model needs new tasks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548640" y="590702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Estimates, not signed prices. Lab prices are market rates from Epoch AI interviews (January 2026). Financial-firm prices are our assumptions.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