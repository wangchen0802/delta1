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7" r:id="rId13"/>
    <p:sldId id="260" r:id="rId6"/>
    <p:sldId id="259" r:id="rId5"/>
    <p:sldId id="262" r:id="rId8"/>
    <p:sldId id="264" r:id="rId10"/>
    <p:sldId id="271" r:id="rId17"/>
    <p:sldId id="269" r:id="rId15"/>
    <p:sldId id="270" r:id="rId16"/>
    <p:sldId id="266" r:id="rId12"/>
    <p:sldId id="272" r:id="rId18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5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强化学习训练环境与AI数据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面向AI实验室、企业和个人Agent团队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联系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2062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business@simreal.co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给AI实验室做强化学习训练环境，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从交易做起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08483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训练环境与数据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4320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交易、AI研究、事件预测已上线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卖环境授权、Agent轨迹、专家和评测数据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70078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08483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4320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Qwen3.8-27B在Xitadel训练后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未见过的交易日上最高提升12%，多次独立复现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速度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08483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14天7款产品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4320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5个公开仓库，512星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71246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4048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9651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75488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71246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4048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9651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75488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训练数据与RL环境供应商年收入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Mercor年化毛营收16个月涨27倍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71246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4048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9651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75488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练习环境开发中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三位05后创始人，都在量化机构工作或实习过，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放弃转正offer全职做衍真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840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62656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一年从0到14亿美元，一个月上线Binance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参与HKMA合规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X博主，内容数百万浏览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52303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321808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LSE数学 · 深国交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840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62656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剑桥机器学习暑研，导师Po-Ling Loh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剑桥研究中心最年轻的本科AI研究员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设计了5个基准和RL环境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52303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321808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剑桥数学一等荣誉（奖学金）· 深国交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840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62656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Millennium另类数据团队首位应届招聘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强生MedTech科技峰会主持人（200+人）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17岁出版作家，原创内容10万+互动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52303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321808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实验室开始花钱买训练环境，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专业领域供给不足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训练方式变了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推理模型靠可自动验证的结果做强化学习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公开人类文本预计2026–2032年用尽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能自动打分的环境成了稀缺品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每个RL任务200–2,000美元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环境合同每季度六到七位数美元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2026年7月收购环境公司Deeptune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环境成了实验室的采购项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个人Agent上线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Muse、OpenAI Dots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2026年9月上线，开始替人做事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下一批客户出现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约20家早期RL环境公司，预计收敛到3–5家（Wing VC）。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我们从交易切入，对错可以自动验证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AI（公开文本存量预测；《An FAQ on RL environments》，2026年1月）；SiliconANGLE、TechCrunch（2026年7月）；Meta、OpenAI发布（2026年9月）；Wing VC（2026年）。Muse、Dots为行业示例，不是衍真客户。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做不好真实世界里的事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8249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71907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看起来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71907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01168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201168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201168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201168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没见过的行情里亏钱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6151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6151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61518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61518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61518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上线出错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2186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21868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21868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21868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21868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8221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82219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82219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82219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82219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结果押错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42569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40280" y="45720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前沿模型真钱交易32轮，6轮赚钱（Alpha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缺少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按真实结果打分的训练环境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按任务结果训练，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在没见过的任务上验收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接入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客户已有的模型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和工具调用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047238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12998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41598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41598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适配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41598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监督微调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人类反馈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11596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77356" y="1572768"/>
            <a:ext cx="2498598" cy="1234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FAF9F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05956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按结果给奖励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强化学习更新模型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775954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141714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370314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370314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验收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370314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没见过的任务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达标才交付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526655" y="2807208"/>
            <a:ext cx="10973" cy="27432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599807" y="282549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训练暴露的薄弱任务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127248"/>
            <a:ext cx="11091672" cy="1143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327355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自动出题 · 研发中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找弱点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77240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分析训练失败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161538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527298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出新题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527298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智能体生成或挑选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911596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277356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校验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77356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规则、执行器、专家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661654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9027414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回到训练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27414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通过校验进入下一轮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4370832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验收任务不参与训练和出题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54880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777240" y="4754880"/>
            <a:ext cx="20116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交付物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2743200" y="4754880"/>
            <a:ext cx="87142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  ·  专业数据  ·  评分工具  ·  评测报告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参考：InstructGPT（arXiv 2203.02155）；DeepSeek-R1（arXiv 2501.12948）；Absolute Zero（arXiv 2505.03335）。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repos-2026-10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572768"/>
            <a:ext cx="5120640" cy="245245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5个基准已开源，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同等资源下已评分尝试+64%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989320" y="1572768"/>
            <a:ext cx="56509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989320" y="1609344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989320" y="1828800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60个真实竞赛任务，测机器学习研究能力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989320" y="2066544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989320" y="210312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Xitadel-QuantBench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989320" y="2322576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回放订单簿，和同资产上的专业交易员比；保留轨迹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989320" y="2560320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989320" y="2596896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5989320" y="2816352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高阶数学题，测推理和解题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989320" y="3054096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989320" y="309067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989320" y="3310128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749道人工推理题，15类主题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989320" y="3547872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989320" y="358444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 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3803904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截止前锁定概率和证据，按真实结局打分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989320" y="4041648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4370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11680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microVM隔离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52544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52544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815584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同等资源的已评分尝试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任务资源分配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8156448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619488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存档耗时，存档次数减半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智能存档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公开仓库截至2026年10月2日。三项指标为公司内部测试，比较口径不同，不能相乘或相加。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先卖给实验室，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再卖给企业和个人Agent团队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谁付钱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3514344" cy="9601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804672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04672" y="2048256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04672" y="2395728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2家前沿实验室在谈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755648"/>
            <a:ext cx="3514344" cy="960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593336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拓展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593336" y="2048256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593336" y="2395728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上线前训练、测试、验收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25968" y="1755648"/>
            <a:ext cx="3514344" cy="960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382000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382000" y="2048256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个人Agent团队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382000" y="2395728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长任务、跨应用、失败恢复练习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285292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买什么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090672"/>
            <a:ext cx="3514344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04672" y="320040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04672" y="3602736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可执行任务和评分工具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04672" y="3950208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 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按期限、范围、使用权授权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37304" y="3090672"/>
            <a:ext cx="3514344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3336" y="320040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AI数据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3336" y="3602736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Agent轨迹、专家数据、评测数据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3336" y="3950208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 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按量或批次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125968" y="3090672"/>
            <a:ext cx="3514344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382000" y="320040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382000" y="3602736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训练实验、迁移验证、托管运行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8382000" y="3950208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 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548640" y="4572000"/>
            <a:ext cx="2498598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77240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047238" y="4572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3412998" y="4572000"/>
            <a:ext cx="2498598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3641598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911596" y="4572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277356" y="4572000"/>
            <a:ext cx="2498598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505956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775954" y="4572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9141714" y="4572000"/>
            <a:ext cx="2498598" cy="4572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9370314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2120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模型一升级就要换任务和测试集，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这是复购逻辑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833872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收费方式为拟议商业模式，不代表已签署合同。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3637887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3689181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18637" y="3570531"/>
            <a:ext cx="951678" cy="466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3678277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7378" y="3666744"/>
            <a:ext cx="1487533" cy="274320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00143" y="4489704"/>
            <a:ext cx="63794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4476" y="4489704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18186" y="4497876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18932" y="4564678"/>
            <a:ext cx="914400" cy="27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625203" y="4489704"/>
            <a:ext cx="473202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590276" y="4575325"/>
            <a:ext cx="914399" cy="249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843958" y="5111495"/>
            <a:ext cx="55031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847588" y="5180405"/>
            <a:ext cx="914400" cy="282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033260" y="5173124"/>
            <a:ext cx="914400" cy="297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69427" y="5111495"/>
            <a:ext cx="613410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404604" y="5209611"/>
            <a:ext cx="914400" cy="224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630696" y="5141253"/>
            <a:ext cx="833560" cy="3611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14天上线7款产品，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2家前沿实验室在谈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争取首个付费试点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上线7款产品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90138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交易、AI研究、事件预测已上线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31636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231636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512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231636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31636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73134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073134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073134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外部融资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2999232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截至2026年9月29日；星标截至2026年10月2日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34670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支持研发的从业者来自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2245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334256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57400" y="4334256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可触达、可验证的专家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480974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057400" y="4809744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专家候补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528523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057400" y="5285232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高校的学生和校友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标识仅表示支持者任职机构或网络覆盖的部分高校，不代表机构或学校背书；网络覆盖不等于已注册或参与交付。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2030年公司情景测算7,000亿美元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50余家供应商收入估算（Deedy Das，2026年7月）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2030年：公司情景测算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假设AI经济7万亿美元，训练投入占10%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Mercor年化毛营收，16个月从7,500万到20亿美元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专家数据需求在涨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Mercor估值，17个月从20亿到200亿美元（洽谈中）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AI数据服务近一年增长，年化收入3.75亿美元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可比交易  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据彭博，阿里拟领投UniPat 3亿美元，估值约25亿美元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来源：Mercor（TechCrunch、Sacra、Dealroom）；Snorkel AI公告（2026年9月）；Deedy Das行业图谱（2026年7月）；UniPat（彭博，2026年9月）。2030年为公司情景测算，非独立研究预测。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规模不如对手，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专业领域的计分和速度占优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391363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客户现有选择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429000" y="1591056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强项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89320" y="1591056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短板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06040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数据与环境供应商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AI、AfterQuery、Mercor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429000" y="1865376"/>
            <a:ext cx="2286000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专家多，实验室关系深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89320" y="1865376"/>
            <a:ext cx="2377440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通用领域为主；交易撮合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和风险计分需要交易台经验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907792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量化机构出身做撮合和计分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同一策略，分数可复现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0723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3072384"/>
            <a:ext cx="2606040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公开基准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Arena等榜单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429000" y="3072384"/>
            <a:ext cx="2286000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3072384"/>
            <a:ext cx="2377440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只评测，不产训练数据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公开后很快饱和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3072384"/>
            <a:ext cx="2907792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同一环境产训练数据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储备任务持续换题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42793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4279392"/>
            <a:ext cx="2606040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429000" y="4279392"/>
            <a:ext cx="2286000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贴合自己的业务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89320" y="4279392"/>
            <a:ext cx="2377440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缺专业规则和专家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4279392"/>
            <a:ext cx="2907792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交易、事件预测环境现成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专家网络按需调用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54864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技术壁垒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计分准，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训练有效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5408676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68680" y="1792224"/>
            <a:ext cx="47685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计分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68680" y="2414016"/>
            <a:ext cx="47685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68680" y="2633472"/>
            <a:ext cx="476859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交易台规则：逐笔撮合，盈亏扣回撤再乘夏普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最后一个交易日留出，结果哈希提前公开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68680" y="3401568"/>
            <a:ext cx="476859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68680" y="3529584"/>
            <a:ext cx="47685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68680" y="3749040"/>
            <a:ext cx="476859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GPT 6得77分，其他前沿模型24–30分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5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人类最佳80分，还没有模型超过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1572768"/>
            <a:ext cx="5408676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551676" y="1792224"/>
            <a:ext cx="47685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551676" y="2414016"/>
            <a:ext cx="47685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51676" y="2633472"/>
            <a:ext cx="476859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同一环境既评测又训练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microVM隔离、任务资源分配、智能存档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6551676" y="3401568"/>
            <a:ext cx="476859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551676" y="3529584"/>
            <a:ext cx="47685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51676" y="3749040"/>
            <a:ext cx="476859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Qwen3.8-27B最高提升12%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5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未见过的交易日，多次独立复现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4864608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4864608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积累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286000" y="4864608"/>
            <a:ext cx="912571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任务库、评分器、失败案例和验证过的专家随交付积累，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新客户直接复用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来源：Xitadel-QuantBench公开报告与计分规范；训练基础设施指标为公司内部测试。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团队优势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按周交付新环境，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个人Agent练习场已在开发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5408676" cy="3200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96112" y="1792224"/>
            <a:ext cx="471373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96112" y="2029968"/>
            <a:ext cx="471373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14天，7个领域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96112" y="2615184"/>
            <a:ext cx="471373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交易、AI研究、事件预测、数学、推理、财务结账、软件工程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96112" y="2944368"/>
            <a:ext cx="471373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96112" y="3072384"/>
            <a:ext cx="4713732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自有环境构建工具和训练基础设施</a:t>
            </a:r>
            <a:br>
              <a:rPr lang="zh-CN" sz="130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</a:t>
            </a:r>
          </a:p>
          <a:p>
            <a:pPr marL="0" marR="0" lvl="0" indent="0" algn="l" rtl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20万+专家网络</a:t>
            </a:r>
            <a:br>
              <a:rPr lang="zh-CN" sz="130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7,000+已报名候补</a:t>
            </a:r>
          </a:p>
          <a:p>
            <a:pPr marL="0" marR="0" lvl="0" indent="0" algn="l" rtl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验收后交付</a:t>
            </a:r>
            <a:br>
              <a:rPr lang="zh-CN" sz="130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没见过的任务，达标才交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572768"/>
            <a:ext cx="5408676" cy="32004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579108" y="1792224"/>
            <a:ext cx="471373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下一站 · 开发中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579108" y="2029968"/>
            <a:ext cx="471373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个人Agent练习场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579108" y="2615184"/>
            <a:ext cx="471373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面向个人Agent开发团队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579108" y="2944368"/>
            <a:ext cx="4713732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79108" y="3072384"/>
            <a:ext cx="4713732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复刻真实应用</a:t>
            </a:r>
            <a:br>
              <a:rPr lang="zh-CN" sz="1300"/>
            </a:b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虚拟机和浏览器里的邮件、日历、文档</a:t>
            </a:r>
          </a:p>
          <a:p>
            <a:pPr marL="0" marR="0" lvl="0" indent="0" algn="l" rtl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跨应用长任务</a:t>
            </a:r>
            <a:br>
              <a:rPr lang="zh-CN" sz="1300"/>
            </a:b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按最终结果打分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失败恢复</a:t>
            </a:r>
            <a:br>
              <a:rPr lang="zh-CN" sz="1300"/>
            </a:b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弹窗、断网、登录失效时能否自己恢复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12064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