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60" r:id="rId6"/>
    <p:sldId id="259" r:id="rId5"/>
    <p:sldId id="262" r:id="rId8"/>
    <p:sldId id="264" r:id="rId10"/>
    <p:sldId id="267" r:id="rId13"/>
    <p:sldId id="269" r:id="rId15"/>
    <p:sldId id="270" r:id="rId16"/>
    <p:sldId id="266" r:id="rId12"/>
    <p:sldId id="271" r:id="rId17"/>
    <p:sldId id="258" r:id="rId4"/>
    <p:sldId id="272" r:id="rId18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6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80467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that improves itself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 the real world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Rebuilding the real world from real data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ground for AI labs, enterprises, and personal agents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Seed deck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4206240" y="46817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Contact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93776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business@simreal.co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We give AI and personal agents a real world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 fail, learn, and improve themselves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do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&amp; data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42032"/>
            <a:ext cx="34838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AI labs and enterprises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Proprietary environments for self-improvement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Next: open practice to personal agents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Shipped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products, 14 days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42032"/>
            <a:ext cx="34838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Live: trading, AI research, event prediction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public repos; no outside funding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727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Key result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42032"/>
            <a:ext cx="34838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 after training in Xitadel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12% better on unseen trading days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Reproduced in multiple independent runs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70832"/>
            <a:ext cx="34838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2005; math at Cambridge, LSE, and Duke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Experience at Jane Street, Citadel,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Optiver, and 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→ $700B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70832"/>
            <a:ext cx="34838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Today: training data and RL environments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2030: company scenario, 82x today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Not an independent forecast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4015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6-month goals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 customers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70832"/>
            <a:ext cx="34838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3–4 customers in months 1–3; 20 by month 6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on open-source large models by month 6</a:t>
            </a:r>
          </a:p>
          <a:p>
            <a:pPr marL="0" marR="0" lvl="0" indent="0" algn="l" rtl="0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Today: 2 frontier labs in talks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best training world makes the best AI. </a:t>
            </a:r>
            <a:r>
              <a:rPr lang="en-US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start with trading, then the whole world.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Math, ML, quant trading, and data science;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turned down top quant firms’ return offers to build this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310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889504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 (U stablecoin)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Helped U go 0 → $1.4B in a year, Binance in a month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Ran institutional relations; worked with SIG, DRW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Sole intern on HSBC HKD stablecoin; HKMA compliance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 (Twitter) writer with millions of views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 at Citadel,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8289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956048"/>
            <a:ext cx="29657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LSE, Math (undergrad) · SCIE, Shenzhen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310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889504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Summer ML research at Cambridge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Supervised by statistician Po-Ling Loh (IMS Fellow)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undergrad AI researcher, Cambridge center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experience: Jane Street, Citadel, and Optiver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the 5 benchmarks and RL environments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 in a Cambridge math contest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8289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956048"/>
            <a:ext cx="29657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Cambridge Math, First-Class (Scholar)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SCIE, Shenzhen · UK Physics Olympiad Super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310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889504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 at Millennium, Hong Kong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 alt-data team’s first-ever new-grad hire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Helped launch Plug and Play’s first Hong Kong event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Held with Hong Kong Science Park; 200+ attendees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Host of J&amp;J MedTech’s tech summit (200+ attendees)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Published author at 17; 100K+ engagements online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8289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956048"/>
            <a:ext cx="29657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Duke, Math &amp; Statistics (undergrad)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YK Pao School, Shanghai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632704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Trading-desk discipline, ML research, and institutional ties: </a:t>
            </a:r>
            <a:r>
              <a:rPr lang="en-US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exactly what training environments need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bottleneck is moving from data to environments,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professional domains still lack good ones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Training has changed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42032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Reasoning models train with RL on automatically checked outcomes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human text is projected to run out between 2026 and 2032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Scarce now: auto-scoring environments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Budgets are in place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42032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$200–$2,000 per RL task; environment contracts run 6–7 figures a quarter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acquired RL-environment startup Deeptune in July 2026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Labs now buy environments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tasks: unsolved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42032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models trading real money made a profit in only 6 of 32 runs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 Muse and OpenAI Dots began doing work for people in September 2026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first: easy to verify, big gap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The window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331720" y="4828032"/>
            <a:ext cx="90799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About 20 RL-environment startups; Wing VC expects 3–5 to last. </a:t>
            </a:r>
            <a:r>
              <a:rPr lang="en-US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 first to prove gains and win long-term lab contracts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Epoch AI (public-text projection; An FAQ on RL environments, Jan 2026); SiliconANGLE, TechCrunch (Jul 2026); Nof1 Alpha Arena (May 2026); Meta and OpenAI launches (Sep 2026); Wing VC (2026). Prices are industry figures, not SimReal contracts.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has learned to reason,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but it still can’t do real-world work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work has no answer key, only the world’s reaction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5968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Surface check: passed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Real world: failed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backtest only goes up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617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in markets it hasn’t seen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432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43200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43200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4320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43200"/>
            <a:ext cx="4617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101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10128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10128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books look done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1012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10128"/>
            <a:ext cx="4617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 won’t reconcile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87705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877056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Event prediction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877056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analysis sounds convincing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87705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877056"/>
            <a:ext cx="4617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Misses once the outcome is known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526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148840" y="4526280"/>
            <a:ext cx="3717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Real-money runs by frontier models that made a profit (Alpha Arena)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323076" y="4526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77 &lt; 80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923276" y="4526280"/>
            <a:ext cx="3717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 Xitadel, top model GPT 6 scores 77; best human, 80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 learn real work, AI needs a world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where real outcomes settle every move.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 models on task outcomes,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then check the gains with independent evals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Base agent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Plug in the client’s model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its tool calling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047238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12998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41598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41598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Adapt as needed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41598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Fine-tune on demonstrations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Align with human feedback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11596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77356" y="1572768"/>
            <a:ext cx="2498598" cy="1234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Train with RL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05956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Reward real outcomes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Update the model or policy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775954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141714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370314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370314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Independent evals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370314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Test on unseen tasks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Deliver at the agreed bar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526655" y="2807208"/>
            <a:ext cx="10973" cy="27432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599807" y="2825496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Weak tasks found in training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127248"/>
            <a:ext cx="11091672" cy="1143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32735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Self-generated task loop · R&amp;D direction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Analyze failures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77240" y="3877056"/>
            <a:ext cx="238429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Find the weak tasks in training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161538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527298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 sets tasks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527298" y="3877056"/>
            <a:ext cx="238429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Generates or picks new tasks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277356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Check tasks and scoring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77356" y="3877056"/>
            <a:ext cx="238429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Rules, executors, expert review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661654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027414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Back to training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27414" y="3877056"/>
            <a:ext cx="238429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 round once checks pass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437083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Self-generated tasks are an R&amp;D direction; eval tasks never feed training or generation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54880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777240" y="4754880"/>
            <a:ext cx="21945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SimReal delivers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2926080" y="4754880"/>
            <a:ext cx="853135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Professional data  ·  Training environments  ·  Scoring tools  ·  Eval reports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References: InstructGPT (arXiv 2203.02155); DeepSeek-R1 (arXiv 2501.12948); Absolute Zero (arXiv 2505.03335).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repos-2026-10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72768"/>
            <a:ext cx="5120640" cy="245245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 benchmarks are public,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our infrastructure cuts the cost of every training round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989320" y="1572768"/>
            <a:ext cx="56509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989320" y="1609344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989320" y="1837944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 real competition tasks that test ML research skill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989320" y="2066544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989320" y="210312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Xitadel-QuantBench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989320" y="233172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Replays order books vs. pro traders on the same asset; keeps trajectories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989320" y="2560320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989320" y="2596896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989320" y="2825496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Advanced math that tests reasoning and problem solving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989320" y="3054096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989320" y="309067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989320" y="331927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 hand-written reasoning puzzles across 15 topics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989320" y="3547872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989320" y="358444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 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3813048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Forecasts locked before the deadline, scored on real outcomes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989320" y="4041648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4370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Infrastructure: more training from the same compute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71830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874520" y="4718304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Time per training round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 microVM isolation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52544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52544" y="471830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678424" y="4718304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Scored attempts, same resources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Rollout allocation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156448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718304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482328" y="4718304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Checkpoint time, half the saves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Smart checkpointing picks when to save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Repos as of Oct 2, 2026. Infra metrics are internal tests with different baselines; they can’t be multiplied or added.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We charge AI labs and enterprises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by delivery scope and usage rights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Who pays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3514344" cy="10241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77240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048256"/>
            <a:ext cx="3057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AI labs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77240" y="237744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 frontier labs in talks for data and environments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755648"/>
            <a:ext cx="351434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565904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565904" y="2048256"/>
            <a:ext cx="3057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 teams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565904" y="237744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Workflows become tasks to train and test before launch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25968" y="1755648"/>
            <a:ext cx="351434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354568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Later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354568" y="2048256"/>
            <a:ext cx="3057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Personal-agent developers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354568" y="237744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Practice for long tasks, cross-app work, and recovery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2871216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buy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090672"/>
            <a:ext cx="3514344" cy="1481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318211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3364992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7240" y="374904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Executable tasks and outcome-scoring tools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77240" y="4187952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Pricing  </a:t>
            </a: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License by term, scope, and usage rights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4337304" y="3090672"/>
            <a:ext cx="3514344" cy="1481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4565904" y="318211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65904" y="3364992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data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4565904" y="374904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 trajectories, expert data, and eval data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565904" y="4187952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Pricing  </a:t>
            </a: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By volume or batch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8125968" y="3090672"/>
            <a:ext cx="3514344" cy="1481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8354568" y="318211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8354568" y="3364992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Joint training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8354568" y="374904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experiments, transfer validation, and managed runs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354568" y="4187952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Pricing  </a:t>
            </a: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Project or ongoing service contracts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548640" y="4736592"/>
            <a:ext cx="2498598" cy="4389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749808" y="4736592"/>
            <a:ext cx="209626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Scope and criteria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3047238" y="4736592"/>
            <a:ext cx="365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3412998" y="4736592"/>
            <a:ext cx="2498598" cy="4389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3614166" y="4736592"/>
            <a:ext cx="209626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Paid pilot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911596" y="4736592"/>
            <a:ext cx="365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6277356" y="4736592"/>
            <a:ext cx="2498598" cy="4389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6478524" y="4736592"/>
            <a:ext cx="209626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Licensed delivery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775954" y="4736592"/>
            <a:ext cx="365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9141714" y="4736592"/>
            <a:ext cx="2498598" cy="43891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9342882" y="4736592"/>
            <a:ext cx="209626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Ongoing updates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32180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model upgrade needs new tasks, trajectories, and tests, </a:t>
            </a:r>
            <a:r>
              <a:rPr lang="en-US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so updates drive repeat purchases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548640" y="5870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Pricing reflects the proposed business model, not signed contracts.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3637887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3689181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18637" y="3570531"/>
            <a:ext cx="951678" cy="466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3678277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7378" y="3666744"/>
            <a:ext cx="1487533" cy="274320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00143" y="4489704"/>
            <a:ext cx="63794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4476" y="448970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18186" y="4497876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18932" y="4564678"/>
            <a:ext cx="914400" cy="27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25203" y="4489704"/>
            <a:ext cx="473202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590276" y="4575325"/>
            <a:ext cx="914399" cy="24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843958" y="5111495"/>
            <a:ext cx="55031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847588" y="5180405"/>
            <a:ext cx="914400" cy="28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033260" y="5173124"/>
            <a:ext cx="914400" cy="297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69427" y="5111495"/>
            <a:ext cx="613410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404604" y="5209611"/>
            <a:ext cx="914400" cy="224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630696" y="5141253"/>
            <a:ext cx="833560" cy="3611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products in 14 days with no outside funding;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 frontier labs in talks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Path to our first paid pilot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to build 7 products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How fast we deliver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31636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231636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512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 on 5 public repos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Dev and researcher interest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73134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073134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$0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Outside funding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9073134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 dollar went into product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2999232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As of September 29, 2026; GitHub stars as of October 2, 2026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334670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supporting our R&amp;D work at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33425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200,000+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57400" y="4334256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Reachable, verifiable experts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80974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057400" y="4809744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528523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2057400" y="5285232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Universities: students and alumni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supporters work and some of the universities in our network; they do not imply endorsement. Network reach is not registration or participation.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Spend on training data and environments is accelerating: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our 2030 scenario is about 82x today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Estimated revenue of 50+ vendors (Deedy Das, Jul 2026)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309360" y="180136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company scenario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7889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About 82x today; assumes a $7T AI economy with 10% spent on training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Mercor’s gross run-rate: 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Expert-data demand is growing fast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Mercor’s valuation: $2B to $20B (in talks) in 17 months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Investors have priced this category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 data-services growth in about a year, to a $375M run-rate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Shift to experts and environments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Mercor (TechCrunch, Sacra, Dealroom); Snorkel AI announcement (Sep 2026); Deedy Das industry map (Jul 2026). 2030 is a company scenario, not an independent research forecast.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Competition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We start with trading and event prediction: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others win on scale; we win on scoring and speed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303580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clients use today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429000" y="1591056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do well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89320" y="1591056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they fall short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SimReal’s edge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&amp; environment vendors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Scale AI, AfterQuery, 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429000" y="1865376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Big expert networks, deep lab ties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89320" y="1865376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Mostly general domains; trade matching and risk scoring need desk experience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Desk-designed matching and risk scoring; same strategy, same score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79776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Public benchmarks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Alpha Arena and other leaderboards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429000" y="2779776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Easy to compare models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2779776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Eval only, no training data; saturate soon after release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79776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Same environment yields training data; reserve tasks keep it fresh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941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94176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Built in-house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429000" y="3694176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Fits their own tools and business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89320" y="3694176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Lacks domain rules and experts; ties up research staff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94176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Ready-made trading and event-prediction worlds plus experts, on demand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6085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7548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Reusable assets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377440" y="4754880"/>
            <a:ext cx="92628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Tasks, scorers, held-out test sets, expert data, and failure cases grow with each client and model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285232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category is priced: Bloomberg reports Alibaba plans to lead </a:t>
            </a:r>
            <a:r>
              <a:rPr lang="en-US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UniPat’s $300M round at about a $2.5B valuation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Scoring, training, and delivery must all work at once: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have results on all three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Scoring done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32888"/>
            <a:ext cx="296570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Trading-desk rules, tick-level matching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P&amp;L minus drawdown, times a Sharpe factor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Held-out last day; hash published up front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Result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 at 77; best human at 80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Other frontier models at 24–30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Training that pays off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32888"/>
            <a:ext cx="296570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One environment for evals and training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MicroVM isolation, rollout allocation,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smart checkpoints cut cost per round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Result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Qwen3.8-27B: up to 12% better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+64% scored attempts, same resources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Fast delivery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32888"/>
            <a:ext cx="296570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Our own environment-building tools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200,000+ reachable experts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7,000+ on the waitlist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Result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products in 14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512 stars on 5 public repos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864608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4864608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Harder to copy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880360" y="4864608"/>
            <a:ext cx="853135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Each client leaves tasks, scorers, failure cases, and vetted experts, </a:t>
            </a:r>
            <a:r>
              <a:rPr lang="en-US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reused for the next client and domain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Xitadel-QuantBench report and scoring spec (+12%: held-out days of IMC Prosperity order books); infra metrics: internal tests; stars: Oct 2, 2026.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Next 6 months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revenue engine sells to today’s buyers;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RSI engine works on self-improvement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5408676" cy="2926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 engine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1975104"/>
            <a:ext cx="48234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&amp; data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450592"/>
            <a:ext cx="48234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Licenses and data delivery that build recurring revenue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779776"/>
            <a:ext cx="48234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Focus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41248" y="2980944"/>
            <a:ext cx="48234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and expert data; onboarding, sign-off, and updates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41248" y="335584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41248" y="3465576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Months 1–3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41248" y="367588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3–4 customers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41248" y="4059936"/>
            <a:ext cx="22745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Deliver first orders, collect payment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252978" y="3465576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Month 6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252978" y="367588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 customers total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252978" y="4059936"/>
            <a:ext cx="22745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Expansion orders and repeat purchases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6231636" y="1572768"/>
            <a:ext cx="5408676" cy="29260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6524244" y="1755648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RSI engine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524244" y="1975104"/>
            <a:ext cx="48234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Recursive self-improvement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524244" y="2450592"/>
            <a:ext cx="48234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R&amp;D on self-generated tasks, training, and evals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524244" y="2779776"/>
            <a:ext cx="48234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Focus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524244" y="2980944"/>
            <a:ext cx="48234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Compute and research; validate in trading and event prediction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6524244" y="335584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6524244" y="3465576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Months 1–3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524244" y="367588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Small-model tests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524244" y="4059936"/>
            <a:ext cx="22745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Validate the self-generated task loop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935974" y="3465576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Month 6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935974" y="367588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10+ environments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8935974" y="4059936"/>
            <a:ext cx="227457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End to end; RSI on open-source LLMs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4681728"/>
            <a:ext cx="1109167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Self-improving AI in the real world,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from trading to the whole world.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71500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</a:t>
            </a: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·   </a:t>
            </a:r>
            <a:r>
              <a:rPr lang="en-US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