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2" r:id="rId6"/>
    <p:sldId id="264" r:id="rId7"/>
    <p:sldId id="265" r:id="rId8"/>
    <p:sldId id="272" r:id="rId9"/>
    <p:sldId id="271" r:id="rId10"/>
    <p:sldId id="269" r:id="rId11"/>
    <p:sldId id="275" r:id="rId12"/>
    <p:sldId id="270" r:id="rId13"/>
    <p:sldId id="267" r:id="rId14"/>
  </p:sldIdLst>
  <p:sldSz cx="12192000" cy="6858000"/>
  <p:notesSz cx="6858000" cy="12192000"/>
  <p:embeddedFontLst>
    <p:embeddedFont>
      <p:font typeface="IBM Plex Mono" panose="020B0509050203000203" pitchFamily="49" charset="77"/>
      <p:regular r:id="rId16"/>
      <p:bold r:id="rId17"/>
      <p:italic r:id="rId18"/>
      <p:boldItalic r:id="rId19"/>
    </p:embeddedFont>
    <p:embeddedFont>
      <p:font typeface="Instrument Sans" pitchFamily="2" charset="0"/>
      <p:regular r:id="rId20"/>
      <p:bold r:id="rId21"/>
      <p:italic r:id="rId22"/>
      <p:boldItalic r:id="rId23"/>
    </p:embeddedFont>
    <p:embeddedFont>
      <p:font typeface="Newsreader" panose="02000000000000000000" pitchFamily="2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85"/>
  </p:normalViewPr>
  <p:slideViewPr>
    <p:cSldViewPr snapToGrid="0">
      <p:cViewPr varScale="1">
        <p:scale>
          <a:sx n="117" d="100"/>
          <a:sy n="117" d="100"/>
        </p:scale>
        <p:origin x="2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Relationship Id="rId24" Type="http://schemas.openxmlformats.org/officeDocument/2006/relationships/font" Target="fonts/font9.fntdata"/><Relationship Id="rId25" Type="http://schemas.openxmlformats.org/officeDocument/2006/relationships/font" Target="fonts/font10.fntdata"/><Relationship Id="rId26" Type="http://schemas.openxmlformats.org/officeDocument/2006/relationships/font" Target="fonts/font11.fntdata"/><Relationship Id="rId27" Type="http://schemas.openxmlformats.org/officeDocument/2006/relationships/font" Target="fonts/font12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7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Relationship Id="rId17" Type="http://schemas.openxmlformats.org/officeDocument/2006/relationships/image" Target="../media/image25.png"/><Relationship Id="rId18" Type="http://schemas.openxmlformats.org/officeDocument/2006/relationships/image" Target="../media/image26.png"/><Relationship Id="rId19" Type="http://schemas.openxmlformats.org/officeDocument/2006/relationships/image" Target="../media/image27.png"/><Relationship Id="rId20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industry's best agents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will be trained in our worlds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5468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building environments, verifiers</a:t>
            </a:r>
            <a:br>
              <a:rPr lang="zh-CN" sz="18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</a:br>
            <a:r>
              <a:rPr lang="zh-CN" sz="18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and data for </a:t>
            </a:r>
            <a:r>
              <a:rPr lang="en-US" altLang="zh-CN" sz="18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self-improving AI</a:t>
            </a:r>
            <a:endParaRPr lang="zh-CN" sz="1800" b="0" i="0" u="none" strike="noStrike" cap="none" dirty="0">
              <a:solidFill>
                <a:srgbClr val="C2410C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10,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Seed round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Investor presentation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October 2026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Problem   Product   Traction   Market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building RSI engines: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environments, verifiers and data that let agents improve themselves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$3M ARR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Reached 24 days after founding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 environments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ML research, math, reasoning,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forecasting, software and accounting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Proof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model trained in our trading environment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did better on trading days it had never seen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 source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672 GitHub stars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5 open benchmarks,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all shipped in our first 14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Four quant founders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 and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Spent today on training data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RL environments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Problem   Product   Traction   Market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Four</a:t>
            </a:r>
            <a:r>
              <a:rPr lang="en-US" altLang="zh-CN" sz="1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founders. </a:t>
            </a:r>
            <a:r>
              <a:rPr lang="zh-CN" sz="16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Together they turned down $</a:t>
            </a:r>
            <a:r>
              <a:rPr lang="en-US" altLang="zh-CN" sz="1600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</a:t>
            </a:r>
            <a:r>
              <a:rPr lang="zh-CN" sz="16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M+ in first-year pay to build SimReal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7001" name="SimReal 7001"/>
          <p:cNvSpPr/>
          <p:nvPr/>
        </p:nvSpPr>
        <p:spPr>
          <a:xfrm>
            <a:off x="548640" y="2212848"/>
            <a:ext cx="2601468" cy="3611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02" name="SimReal 7002"/>
          <p:cNvSpPr txBox="1"/>
          <p:nvPr/>
        </p:nvSpPr>
        <p:spPr>
          <a:xfrm>
            <a:off x="777240" y="2359152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 · 21</a:t>
            </a:r>
          </a:p>
        </p:txBody>
      </p:sp>
      <p:sp>
        <p:nvSpPr>
          <p:cNvPr id="7003" name="SimReal 7003"/>
          <p:cNvSpPr txBox="1"/>
          <p:nvPr/>
        </p:nvSpPr>
        <p:spPr>
          <a:xfrm>
            <a:off x="777240" y="2926080"/>
            <a:ext cx="2144268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Employee #1 at United Stables, building it from scratch to $1.5B+. Listed on Binance within a month.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with YZi Labs, SIG, DRW and Wintermute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Only intern on HSBC’s HKD stablecoin project, working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intern, Citadel</a:t>
            </a:r>
          </a:p>
        </p:txBody>
      </p:sp>
      <p:sp>
        <p:nvSpPr>
          <p:cNvPr id="7004" name="SimReal 7004"/>
          <p:cNvSpPr/>
          <p:nvPr/>
        </p:nvSpPr>
        <p:spPr>
          <a:xfrm>
            <a:off x="777240" y="502920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05" name="SimReal 7005"/>
          <p:cNvSpPr txBox="1"/>
          <p:nvPr/>
        </p:nvSpPr>
        <p:spPr>
          <a:xfrm>
            <a:off x="777240" y="5120640"/>
            <a:ext cx="21442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LSE, Mathematics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7006" name="SimReal 7006"/>
          <p:cNvSpPr/>
          <p:nvPr/>
        </p:nvSpPr>
        <p:spPr>
          <a:xfrm>
            <a:off x="3378708" y="2212848"/>
            <a:ext cx="2601468" cy="3611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07" name="SimReal 7007"/>
          <p:cNvSpPr txBox="1"/>
          <p:nvPr/>
        </p:nvSpPr>
        <p:spPr>
          <a:xfrm>
            <a:off x="3607308" y="2359152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 · 21</a:t>
            </a:r>
          </a:p>
        </p:txBody>
      </p:sp>
      <p:sp>
        <p:nvSpPr>
          <p:cNvPr id="7008" name="SimReal 7008"/>
          <p:cNvSpPr txBox="1"/>
          <p:nvPr/>
        </p:nvSpPr>
        <p:spPr>
          <a:xfrm>
            <a:off x="3607308" y="2926080"/>
            <a:ext cx="2144268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 St John’s College, First Class with Scholarship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researcher at the Cambridge AI research center, under Prof. Po-Ling Loh 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Ex-quant at Jane Street, Citadel and Optiver</a:t>
            </a:r>
          </a:p>
        </p:txBody>
      </p:sp>
      <p:sp>
        <p:nvSpPr>
          <p:cNvPr id="7009" name="SimReal 7009"/>
          <p:cNvSpPr/>
          <p:nvPr/>
        </p:nvSpPr>
        <p:spPr>
          <a:xfrm>
            <a:off x="3607308" y="502920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10" name="SimReal 7010"/>
          <p:cNvSpPr txBox="1"/>
          <p:nvPr/>
        </p:nvSpPr>
        <p:spPr>
          <a:xfrm>
            <a:off x="3607308" y="5120640"/>
            <a:ext cx="21442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STEP maths competition (~IMO Medalist level)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British Physics Olympiad Top Gold</a:t>
            </a:r>
          </a:p>
        </p:txBody>
      </p:sp>
      <p:sp>
        <p:nvSpPr>
          <p:cNvPr id="7011" name="SimReal 7011"/>
          <p:cNvSpPr/>
          <p:nvPr/>
        </p:nvSpPr>
        <p:spPr>
          <a:xfrm>
            <a:off x="6208776" y="2212848"/>
            <a:ext cx="2601468" cy="3611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12" name="SimReal 7012"/>
          <p:cNvSpPr txBox="1"/>
          <p:nvPr/>
        </p:nvSpPr>
        <p:spPr>
          <a:xfrm>
            <a:off x="6437376" y="2359152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 · 21</a:t>
            </a:r>
          </a:p>
        </p:txBody>
      </p:sp>
      <p:sp>
        <p:nvSpPr>
          <p:cNvPr id="7013" name="SimReal 7013"/>
          <p:cNvSpPr txBox="1"/>
          <p:nvPr/>
        </p:nvSpPr>
        <p:spPr>
          <a:xfrm>
            <a:off x="6437376" y="2926080"/>
            <a:ext cx="2144268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 on Millennium’s alternative-data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Play’s first Hong Kong event, with HKSTP (200+ attendees)</a:t>
            </a:r>
          </a:p>
        </p:txBody>
      </p:sp>
      <p:sp>
        <p:nvSpPr>
          <p:cNvPr id="7014" name="SimReal 7014"/>
          <p:cNvSpPr/>
          <p:nvPr/>
        </p:nvSpPr>
        <p:spPr>
          <a:xfrm>
            <a:off x="6437376" y="502920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15" name="SimReal 7015"/>
          <p:cNvSpPr txBox="1"/>
          <p:nvPr/>
        </p:nvSpPr>
        <p:spPr>
          <a:xfrm>
            <a:off x="6437376" y="5120640"/>
            <a:ext cx="21442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Duke, Mathematics and Statistics</a:t>
            </a:r>
          </a:p>
        </p:txBody>
      </p:sp>
      <p:sp>
        <p:nvSpPr>
          <p:cNvPr id="7016" name="SimReal 7016"/>
          <p:cNvSpPr/>
          <p:nvPr/>
        </p:nvSpPr>
        <p:spPr>
          <a:xfrm>
            <a:off x="9038844" y="2212848"/>
            <a:ext cx="2601468" cy="3611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17" name="SimReal 7017"/>
          <p:cNvSpPr txBox="1"/>
          <p:nvPr/>
        </p:nvSpPr>
        <p:spPr>
          <a:xfrm>
            <a:off x="9267444" y="2359152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James</a:t>
            </a: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CPO</a:t>
            </a:r>
          </a:p>
        </p:txBody>
      </p:sp>
      <p:sp>
        <p:nvSpPr>
          <p:cNvPr id="7018" name="SimReal 7018"/>
          <p:cNvSpPr txBox="1"/>
          <p:nvPr/>
        </p:nvSpPr>
        <p:spPr>
          <a:xfrm>
            <a:off x="9267444" y="2926080"/>
            <a:ext cx="2144268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trading at Optiver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Asset management at Fidelity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Equity research at Jefferies</a:t>
            </a:r>
          </a:p>
        </p:txBody>
      </p:sp>
      <p:sp>
        <p:nvSpPr>
          <p:cNvPr id="7019" name="SimReal 7019"/>
          <p:cNvSpPr/>
          <p:nvPr/>
        </p:nvSpPr>
        <p:spPr>
          <a:xfrm>
            <a:off x="9267444" y="502920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20" name="SimReal 7020"/>
          <p:cNvSpPr txBox="1"/>
          <p:nvPr/>
        </p:nvSpPr>
        <p:spPr>
          <a:xfrm>
            <a:off x="9267444" y="5120640"/>
            <a:ext cx="21442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LSE, Mathematics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AMC: global top 1%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British Mathematical Olympiad: Gold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Product   Traction   Market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can reason. </a:t>
            </a:r>
            <a:r>
              <a:rPr lang="zh-CN" sz="16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They still fail at real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 dirty="0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right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actually happens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Wins on past data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closed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doesn't reconcile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a live trading contest (Alpha Arena), frontier models made money in only 6 of 32 runs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gap: </a:t>
            </a:r>
            <a:r>
              <a:rPr lang="zh-CN" sz="19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agents have nowhere realistic to practice, and no source of truth to learn from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Traction   Market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Solution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</a:t>
            </a:r>
            <a:r>
              <a:rPr lang="en-US" altLang="zh-CN" sz="1600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</a:t>
            </a:r>
            <a:r>
              <a:rPr lang="zh-CN" sz="1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loop that turns real outcomes into better agents, </a:t>
            </a:r>
            <a:r>
              <a:rPr lang="zh-CN" sz="16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with AI inside it from day one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What's different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Today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14016"/>
            <a:ext cx="40050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Humans hand-write every task, label and rubric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52928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62656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10128"/>
            <a:ext cx="40050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help write new tasks and data, find failure modes and improve the environments they train in. Next, they will write the verifiers too</a:t>
            </a:r>
            <a:r>
              <a:rPr lang="en-US" altLang="zh-CN" sz="115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. AI nativ</a:t>
            </a:r>
            <a:r>
              <a:rPr lang="en-US" altLang="zh-CN" sz="1150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 from the start.</a:t>
            </a:r>
            <a:endParaRPr lang="zh-CN" sz="1150" b="0" i="0" u="none" strike="noStrike" cap="none" dirty="0">
              <a:solidFill>
                <a:srgbClr val="33322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12" name="SimReal 5012"/>
          <p:cNvSpPr/>
          <p:nvPr/>
        </p:nvSpPr>
        <p:spPr>
          <a:xfrm>
            <a:off x="7635240" y="4005072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4133088"/>
            <a:ext cx="4005072" cy="10789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22452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Proof point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443984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443984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 trading days it never saw,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 training in our loop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+12% is the best of several independent replications, measured on trading days held out from training.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Traction   Market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Seven environments in 14 days.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Each is scored by something the agent can't argue with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81328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</a:t>
            </a:r>
            <a:r>
              <a:rPr lang="en-US" altLang="zh-CN" sz="64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  <a:r>
              <a:rPr lang="zh-CN" sz="64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432304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 across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benchmarks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0175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 dirty="0">
                <a:solidFill>
                  <a:srgbClr val="6E6C66"/>
                </a:solidFill>
                <a:latin typeface="+mj-lt"/>
                <a:ea typeface="IBM Plex Mono"/>
                <a:cs typeface="IBM Plex Mono"/>
                <a:sym typeface="IBM Plex Mono"/>
              </a:rPr>
              <a:t>As of October 4, 2026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3493008"/>
            <a:ext cx="301752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3621024"/>
            <a:ext cx="30175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Give the agent a world to practice in.</a:t>
            </a:r>
          </a:p>
          <a:p>
            <a:pPr marL="0" marR="0" lvl="0" indent="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25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Make the reward come from a market, a proof, hidden labels, an executable system or a real-world outcome.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931920" y="1572768"/>
            <a:ext cx="77083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931920" y="159105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Domain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257800" y="159105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Environment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7315200" y="1591056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Scored by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0835640" y="1591056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3931920" y="1883664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3931920" y="188366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257800" y="1883664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0" y="188366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Profit on unseen market days, vs. the best human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835640" y="1883664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 dirty="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  <a:r>
              <a:rPr lang="en-US" altLang="zh-CN" sz="1100" b="1" i="0" u="none" strike="noStrike" cap="none" dirty="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lang="zh-CN" sz="1100" b="1" i="0" u="none" strike="noStrike" cap="none" dirty="0">
              <a:solidFill>
                <a:srgbClr val="C2410C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020" name="SimReal 5020"/>
          <p:cNvSpPr/>
          <p:nvPr/>
        </p:nvSpPr>
        <p:spPr>
          <a:xfrm>
            <a:off x="3931920" y="2395728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3931920" y="239572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ML research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257800" y="2395728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0" y="239572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official Kaggle leaderboard, on hidden labels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0835640" y="239572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 dirty="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30</a:t>
            </a:r>
            <a:r>
              <a:rPr lang="en-US" altLang="zh-CN" sz="1100" b="1" i="0" u="none" strike="noStrike" cap="none" dirty="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lang="zh-CN" sz="1100" b="1" i="0" u="none" strike="noStrike" cap="none" dirty="0">
              <a:solidFill>
                <a:srgbClr val="C2410C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025" name="SimReal 5025"/>
          <p:cNvSpPr/>
          <p:nvPr/>
        </p:nvSpPr>
        <p:spPr>
          <a:xfrm>
            <a:off x="3931920" y="2907792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3931920" y="2907792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257800" y="2907792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315200" y="2907792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Whether the proof is correct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835640" y="2907792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101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931920" y="3419856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931920" y="3419856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Reasoning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257800" y="3419856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315200" y="3419856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answers to 749 human-written puzzles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835640" y="3419856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dirty="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100</a:t>
            </a:r>
            <a:endParaRPr lang="zh-CN" sz="1100" b="1" i="0" u="none" strike="noStrike" cap="none" dirty="0">
              <a:solidFill>
                <a:srgbClr val="C2410C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035" name="SimReal 5035"/>
          <p:cNvSpPr/>
          <p:nvPr/>
        </p:nvSpPr>
        <p:spPr>
          <a:xfrm>
            <a:off x="3931920" y="3931920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3931920" y="3931920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257800" y="3931920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7315200" y="3931920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real outcome, after the deadline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835640" y="3931920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27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3931920" y="4443984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3931920" y="444398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257800" y="4443984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7315200" y="444398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tests the code must pass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835640" y="4443984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Private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3931920" y="4956048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3931920" y="495604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5257800" y="4956048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315200" y="495604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Whether the books reconcile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0835640" y="495604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Private</a:t>
            </a:r>
          </a:p>
        </p:txBody>
      </p:sp>
      <p:sp>
        <p:nvSpPr>
          <p:cNvPr id="5050" name="SimReal 5050"/>
          <p:cNvSpPr/>
          <p:nvPr/>
        </p:nvSpPr>
        <p:spPr>
          <a:xfrm>
            <a:off x="3931920" y="5468112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SWE-Forward and Month-End Close are not open-sourced.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Picture 336" descr="xita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928" y="1700784"/>
            <a:ext cx="8732520" cy="1353312"/>
          </a:xfrm>
          <a:prstGeom prst="rect">
            <a:avLst/>
          </a:prstGeom>
        </p:spPr>
      </p:pic>
      <p:pic>
        <p:nvPicPr>
          <p:cNvPr id="338" name="Picture 337" descr="mlbe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928" y="3108960"/>
            <a:ext cx="8732520" cy="1353312"/>
          </a:xfrm>
          <a:prstGeom prst="rect">
            <a:avLst/>
          </a:prstGeom>
        </p:spPr>
      </p:pic>
      <p:pic>
        <p:nvPicPr>
          <p:cNvPr id="339" name="Picture 338" descr="foreca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4517136"/>
            <a:ext cx="8732520" cy="135331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Traction   Market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How it works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environments.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Each scores the AI against something real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962656" y="146304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Given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614416" y="146304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  The AI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66176" y="146304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  Scored against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700784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/>
          <p:nvPr/>
        </p:nvSpPr>
        <p:spPr>
          <a:xfrm>
            <a:off x="11576304" y="1700784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/>
          <p:nvPr/>
        </p:nvSpPr>
        <p:spPr>
          <a:xfrm>
            <a:off x="548640" y="1700784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777240" y="199339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77240" y="2194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777240" y="259689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Published results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3108960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/>
          <p:nvPr/>
        </p:nvSpPr>
        <p:spPr>
          <a:xfrm>
            <a:off x="11576304" y="3108960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/>
          <p:nvPr/>
        </p:nvSpPr>
        <p:spPr>
          <a:xfrm>
            <a:off x="548640" y="3108960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77240" y="340156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AI research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77240" y="3602736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77240" y="400507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Baseline result, not an AI agent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4517136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/>
          <p:nvPr/>
        </p:nvSpPr>
        <p:spPr>
          <a:xfrm>
            <a:off x="11576304" y="4517136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/>
          <p:nvPr/>
        </p:nvSpPr>
        <p:spPr>
          <a:xfrm>
            <a:off x="548640" y="4517136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77240" y="480974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77240" y="501091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77240" y="541324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Illustrative numbers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96188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Best human: on each task, the best real strategy from IMC Prosperity, a global trading competition. FuturePredict baseline: a reference forecast, also locked in advance.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Product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Market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Founded September 10,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$3M ARR in 24 days, with no outside capital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shipped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training loop working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Week 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10+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Types of data delivered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$3M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 dirty="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</a:t>
            </a:r>
            <a:r>
              <a:rPr lang="en-US" altLang="zh-CN" sz="1050" b="1" dirty="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31</a:t>
            </a:r>
            <a:endParaRPr lang="zh-CN" sz="1050" b="1" i="0" u="none" strike="noStrike" cap="none" dirty="0">
              <a:solidFill>
                <a:srgbClr val="C2410C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021" name="SimReal 5021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</a:t>
            </a:r>
            <a:r>
              <a:rPr lang="en-US" altLang="zh-CN" sz="40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  <a:r>
              <a:rPr lang="zh-CN" sz="40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5 open benchmarks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Days counted from founding; as of October 4, 2026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Customers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 infrastructure: more training per unit of compute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Each practice run takes a quarter of the time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+64%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More scored attempts on the same compute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Less time spent saving model checkpoints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Infrastructure figures come from separate internal tests and should not be added together.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Product   Traction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are starting to improve themselves.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now the bottleneck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have built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doing AI research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OpenAI: agents do 3.1 days of work for every researcher-day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OpenAI, Sep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SimReal-MLBench: an exam for AI research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302 GitHub 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improving itself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rewrote its own code and improved 7 times in 8 days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Weco AIDE², Sep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working in trading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trading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the bottleneck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When the environment gets noisy, top agents drop from 83.9% to 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Breaking the Environment Wall, Sep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Seven environments in 14 days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experts to build more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Our position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77440" y="5138928"/>
            <a:ext cx="90799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gate RSI; they are our core research. 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neolabs have no revenue; we hit $3M ARR in 24 days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OpenAI (Sep 6, 2026); Weco AI, arXiv 2609.26457; Breaking the Environment Wall, arXiv 2609.29773; Deedy Das neolab list (May 2026). +12% is the best of several replications.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Product   Traction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 today.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One vendor, Mercor, grew revenue 27x in 16 months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Today: training data and RL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Combined revenue of 50+ vendors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2030: the AI economy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If AI becomes a $7T economy and 10% goes to training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run-rate revenue: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$75M to $2B in 16 months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for expert data is exploding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$2B to $20B in 17 months (in talks)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Investors are paying up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AI's new data business: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growth in one year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is shifting to experts and environments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Deedy Das market map (Jul 2026); Mercor (TechCrunch, Dealroom); Snorkel AI (Sep 2026). The 2030 figure is our estimate.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Product   Traction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We sell environments, data and evals.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Frontier labs pay today; enterprise and personal agents next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14344" cy="37673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Frontier AI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Environments, verified tasks and evals to post-train their models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3108960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22960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environment and per task, on quarterly contracts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22960" y="3895344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22960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22960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$300K–$1M+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lab, per quarter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rates: $200–$2,000 a task; about $300K for a complex environment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337304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11624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11624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Enterprise agents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611624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Custom environments and tests that prove an agent can do the job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611624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611624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611624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paid pilot, then an annual license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611624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611624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611624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$200K–$800K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611624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customer, per year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611624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Pilot: $50K–$150K over 8–12 weeks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125968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8400288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Later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400288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Personal agents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400288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400288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 </a:t>
            </a:r>
            <a:r>
              <a:rPr lang="zh-CN" sz="1200" b="0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to one person‘s habits</a:t>
            </a:r>
            <a:r>
              <a:rPr lang="en-US" altLang="zh-CN" sz="1200" b="0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and strategies</a:t>
            </a:r>
            <a:r>
              <a:rPr lang="zh-CN" sz="1200" b="0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before it acts for them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400288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400288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00288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monthly subscription, direct or through agent apps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8400288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8400288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400288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$5–$10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8400288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user, per month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8400288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reference, consumer AI plans cost about $20 a month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One set of environments serves all three, 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and every new model needs new tasks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90702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Estimates, not signed prices. Lab prices are market rates from Epoch AI interviews with environment builders and AI labs (January 2026). Enterprise and personal prices are our assumptions.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Product   Traction   Market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vendors sell expert hours. </a:t>
            </a:r>
            <a:r>
              <a:rPr lang="zh-CN" sz="16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build assets that compound with every customer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035040" y="1572768"/>
            <a:ext cx="5605272" cy="3511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51460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Expert-data vendors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172200" y="1591056"/>
            <a:ext cx="54681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685800" y="188366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What compounds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514600" y="188366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hours. Each project starts from scratch.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172200" y="188366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Proprietary environments, verifiers and maps of where models fail, plus the models we train in them. Every customer and loop adds to them.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2374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85800" y="252374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Cost curve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514600" y="252374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Rises with headcount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172200" y="252374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Falls with scale: once a verifier exists, new data is generated and checked automatically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1638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685800" y="316382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Proof of quality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514600" y="316382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Spot checks and reviewer judgment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172200" y="316382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tests, out-of-sample results, hash-locked published results and measured training gains (+12%)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0390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685800" y="380390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Velocity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2514600" y="380390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 dirty="0">
                <a:solidFill>
                  <a:schemeClr val="tx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new domain means new recruiting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172200" y="380390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environments in 14 days; $3M ARR in 24 days</a:t>
            </a:r>
            <a:r>
              <a:rPr lang="en-US" altLang="zh-CN" sz="1150" b="1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. </a:t>
            </a:r>
            <a:endParaRPr lang="zh-CN" sz="1150" b="1" i="0" u="none" strike="noStrike" cap="none" dirty="0">
              <a:solidFill>
                <a:srgbClr val="11111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25" name="SimReal 5025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685800" y="444398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Network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514600" y="444398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Large expert pools, paid by the hour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172200" y="444398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Practitioners from top trading firms and 200K+ reachable experts, whose work our verifiers check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50840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/>
          <p:nvPr/>
        </p:nvSpPr>
        <p:spPr>
          <a:xfrm>
            <a:off x="548640" y="5248656"/>
            <a:ext cx="11091672" cy="5486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77240" y="5248656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In short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2286000" y="5248656"/>
            <a:ext cx="91714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They sell hours; we sell verified gains. 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Their costs rise with scale; ours fall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9713" y="1845663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56639" y="189695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99603" y="1768972"/>
            <a:ext cx="989745" cy="485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47082" y="1886053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6879" y="1885493"/>
            <a:ext cx="1368530" cy="252374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26236" y="4507992"/>
            <a:ext cx="69341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92958" y="45079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49166" y="4507992"/>
            <a:ext cx="84200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70142" y="4574186"/>
            <a:ext cx="1097280" cy="32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610219" y="450799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167366" y="4586963"/>
            <a:ext cx="1097279" cy="299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173861" y="5148072"/>
            <a:ext cx="59817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772918" y="5206989"/>
            <a:ext cx="1097280" cy="339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621530" y="5198252"/>
            <a:ext cx="1097280" cy="35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685407" y="5148072"/>
            <a:ext cx="666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318754" y="5242036"/>
            <a:ext cx="1097280" cy="269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10188321" y="5148072"/>
            <a:ext cx="10553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Product   Traction   Market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Experts from the most competitive entry-level jobs and from research,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work agents are now built to do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Practitioners in our R&amp;D come from top trading firms and markets, including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3957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/>
          <p:nvPr/>
        </p:nvSpPr>
        <p:spPr>
          <a:xfrm>
            <a:off x="548640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most competitive entry-level jobs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finance, software and more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streamline everyday work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6231636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505956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Research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05956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AI, mathematics and quantitative research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505956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automate research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011680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 experts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815584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156448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619488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universities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169664"/>
            <a:ext cx="11091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42428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Students and alumni of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work or study; no endorsement implied.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1232</TotalTime>
  <Words>2007</Words>
  <Application>Microsoft Macintosh PowerPoint</Application>
  <PresentationFormat>Widescreen</PresentationFormat>
  <Paragraphs>355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Newsreader</vt:lpstr>
      <vt:lpstr>Instrument Sans</vt:lpstr>
      <vt:lpstr>IBM Plex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6</cp:revision>
  <dcterms:modified xsi:type="dcterms:W3CDTF">2026-10-09T15:07:25Z</dcterms:modified>
</cp:coreProperties>
</file>