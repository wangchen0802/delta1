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3" r:id="rId9"/>
    <p:sldId id="264" r:id="rId10"/>
    <p:sldId id="268" r:id="rId14"/>
    <p:sldId id="279" r:id="rId46"/>
    <p:sldId id="269" r:id="rId15"/>
    <p:sldId id="270" r:id="rId16"/>
    <p:sldId id="271" r:id="rId17"/>
    <p:sldId id="267" r:id="rId13"/>
    <p:sldId id="272" r:id="rId18"/>
    <p:sldId id="273" r:id="rId19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 personal agent is trusted, it practices here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Starting with trading: training environments and data for AI labs and personal agents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builds training grounds for AI labs: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live, with results, with buyers in talks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in 14 days; 5 open-sourced; no outside funding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52544" y="160020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352544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352544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gain of an open model trained in our trading environment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156448" y="160020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156448" y="174650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 labs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156448" y="242316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purchase talks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29184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signed up, from 21 top universities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29184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$3.6M–$42M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alone, per year, built up from lab prices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8156448" y="3291840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438144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156448" y="411480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round, at a $75M post-money valuation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 2–3 paying labs in finance,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copy the method to the next domain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olympiads to Wall Street desks: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know the gap between tests and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U stablecoin from 0 to $1.4B in a year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HSBC’s HKD stablecoin; supported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 · USAMO qualifier · born 2005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roles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five benchmarks and RL environments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Math, First-Class (Scholar) · born 2005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99232"/>
            <a:ext cx="2965704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First-ever graduate hire on the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64515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736592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 &amp; Statistics · born 2005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4406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Turned down return offers from top quant firms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build this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it still can’t do real work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Passes the test, fails the job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512064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47088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1463040" y="1847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Backtest only goes up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83280" y="1847088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749040" y="1847088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5603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560320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463040" y="256032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83280" y="2560320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749040" y="2560320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273552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273552"/>
            <a:ext cx="914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463040" y="3273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Books look done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383280" y="3273552"/>
            <a:ext cx="3657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749040" y="3273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close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6309360" y="1572768"/>
            <a:ext cx="2482596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309360" y="1682496"/>
            <a:ext cx="2482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309360" y="23042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money: 6 of 32 runs made a profit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309360" y="27614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is unsolved for AI, and right or wrong is easy to check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9157716" y="1572768"/>
            <a:ext cx="2482596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157716" y="1682496"/>
            <a:ext cx="248259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9157716" y="23042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 on our multi-asset trading task (best human = 80)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157716" y="2761488"/>
            <a:ext cx="2482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environment measures that gap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place where real outcomes score every move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Alpha Arena (Nof1, May 2026); Xitadel public report.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 in the environment;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outcomes become the next training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31520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31520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047238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412998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595878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595878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 responds by real rules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911596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77356" y="1645920"/>
            <a:ext cx="2498598" cy="822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60236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60236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simulator scores the outcome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775954" y="16459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141714" y="1645920"/>
            <a:ext cx="2498598" cy="8229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324594" y="1737360"/>
            <a:ext cx="213283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324594" y="1920240"/>
            <a:ext cx="213283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High-scoring runs train the next round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10391013" y="2468880"/>
            <a:ext cx="10973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797939" y="2670048"/>
            <a:ext cx="8604047" cy="10973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1797939" y="2523744"/>
            <a:ext cx="10973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1615059" y="2432304"/>
            <a:ext cx="374904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↑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01752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products, all from the same environments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and other professional settings rebuilt by real rules, licensed to labs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52544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52544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data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352544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data and evals, produced by the environments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56448" y="329184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156448" y="3383280"/>
            <a:ext cx="348386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Iterative training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156448" y="3840480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run training for labs and deliver before/after gains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iteration today;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goal is AI that improves itself in the real world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result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open model trained in our trading environment: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up to 12% better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146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 on unseen competition trading days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80720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run; mean and confidence interval within 3 months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291840"/>
            <a:ext cx="56692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29184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trading tasks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286000" y="32918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making, baskets, options, conversion, multi-asset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767328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7673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Simulator scoring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286000" y="3767328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P&amp;L, drawdown, Sharpe; same strategy, same score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4242816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424281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 benchmark 80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286000" y="4242816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strategies from 6 competition teams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718304"/>
            <a:ext cx="566928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6675120" y="1554480"/>
            <a:ext cx="4965192" cy="33832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995160" y="1783080"/>
            <a:ext cx="4325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best model is still below humans: room to train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995160" y="215798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public preview · overall score, 7 tasks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0689336" y="2770632"/>
            <a:ext cx="13716" cy="18653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866376" y="255117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Best human 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95160" y="29718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275320" y="3017520"/>
            <a:ext cx="2331939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9967179" y="2971800"/>
            <a:ext cx="5669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995160" y="341071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275320" y="3456432"/>
            <a:ext cx="908877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39061" y="341071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95160" y="384962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8275320" y="3895344"/>
            <a:ext cx="835250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165434" y="384962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995160" y="428853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275320" y="4334256"/>
            <a:ext cx="741706" cy="20116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9071890" y="4288536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Data: IMC Prosperity competition order books (open source, MIT). Results: Xitadel-QuantBench public report.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environments in 14 days,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open-sourced, each producing training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training round done: +12%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· 102 stars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78708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research tasks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· 178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08776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37376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Prediction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37376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37376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Settles when real events resolve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Partly open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38844" y="1572768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67444" y="17373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 proofs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267444" y="1956816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267444" y="2359152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Accepts proofs, not guesses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267444" y="2816352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· 102 stars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77240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puzzles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· 17 stars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378708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07308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 close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607308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607308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Passes only with zero errors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3607308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6208776" y="3374136"/>
            <a:ext cx="2601468" cy="157276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6437376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437376" y="3758184"/>
            <a:ext cx="214426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6437376" y="4160520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Code must survive the next version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37376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038844" y="3374136"/>
            <a:ext cx="2601468" cy="15727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267444" y="3538728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environment yields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9267444" y="3776472"/>
            <a:ext cx="214426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trajectories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Expert data · evals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9267444" y="46177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built with no outside funding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Stars as of September 29, 2026.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7260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47773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6213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7664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 &amp; 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Free evals bring clients in;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paid pilots turn into annual licenses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42290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Free eval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preview, 7 tasks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Benchmarked to the best human; wins clients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971544" y="1600200"/>
            <a:ext cx="411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83024" y="1600200"/>
            <a:ext cx="3422904" cy="1554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39056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39056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$50K–$150K · 8–12 weeks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39056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tasks and held-out days; before/after gains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805928" y="1600200"/>
            <a:ext cx="411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217408" y="1600200"/>
            <a:ext cx="3422904" cy="15544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73440" y="1783080"/>
            <a:ext cx="2910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Annual license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73440" y="2221992"/>
            <a:ext cx="2910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$400K–$2M a year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73440" y="2560320"/>
            <a:ext cx="2910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Full environments and expert data; new tasks every quarter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4015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474720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 labs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03120" y="347472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Frontier labs in purchase talks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309360" y="3474720"/>
            <a:ext cx="5330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model: AfterQuery reached a $100M run-rate in 14 months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4340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Supported by practitioners at trading firms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616745" y="4709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work; they do not imply endorsement.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experts signed up from 21 top universities: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source of our expert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840480" cy="91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73352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743200" y="1673352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the waitlist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624328"/>
            <a:ext cx="38404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69748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743200" y="26974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3648456"/>
            <a:ext cx="384048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3721608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743200" y="3721608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Selected universities in the network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domain leaves expert standards and failure cases behind, </a:t>
            </a:r>
            <a:r>
              <a:rPr lang="en-US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reused in the next one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 coverage does not mean registration or delivery; logos do not imply endorsement.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already buy at set prices: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finance alone is about $3.6M–$42M a year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49808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49808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$200–$2,000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49808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price of one training task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49808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18 interviews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047238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412998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14166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14166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$450K–$4.5M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14166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US frontier lab’s annual finance spend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614166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2–5 environments + 500–1,500 tasks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11596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77356" y="1600200"/>
            <a:ext cx="2498598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78524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78524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17–24 labs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78524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Doing agent post-training, US and China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78524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Frontier, new labs, China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775954" y="1600200"/>
            <a:ext cx="36576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141714" y="1600200"/>
            <a:ext cx="2498598" cy="1783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342882" y="1783080"/>
            <a:ext cx="209626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=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342882" y="201168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$3.6M–$42M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342882" y="2514600"/>
            <a:ext cx="20962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alone, per year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9342882" y="2999232"/>
            <a:ext cx="209626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12-month goal: win 2–3 of them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365760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new domain adds another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566160" y="3657600"/>
            <a:ext cx="80741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Event prediction and AI research are live; at finance’s size, three domains reach ~$10.8M–$126M a year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4224528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Prices are already set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566160" y="4224528"/>
            <a:ext cx="80741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RL-environment contracts run six to seven figures a quarter; OpenAI pays ex-bankers $150 an hour for training data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47914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AI, An FAQ on RL environments (Jan 2026); Bloomberg (Oct 2025).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Estimates: volume per lab, tier counts (China benchmarked to UniPat orders) and the domain extrapolation are our assumptions, to be set by the first paid pilots.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do one piece;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run the whole line, from environment to scoring to training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3152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84048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do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589520" y="159105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What’s missing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31520" y="1883664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 platforms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Mercor, Surge, Handshake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840480" y="1883664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 and human grading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589520" y="1883664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Grading by people; not recomputable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4871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487168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Peers in China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UniPat, Humanlaya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840480" y="2487168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Evals and post-training data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589520" y="2487168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Mostly domestic labs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0906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3090672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trading evals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 (Alpha Arena)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840480" y="3090672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trading leaderboard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589520" y="3090672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Evaluates, doesn’t train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1520" y="3694176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in-house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840480" y="3694176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Domains they already know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589520" y="3694176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Lack rules and experts in specialist fields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297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548640" y="42976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" y="4297680"/>
            <a:ext cx="30175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840480" y="4297680"/>
            <a:ext cx="35661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+ scoring + data + training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589520" y="429768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loop done: +12%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category is priced: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Bloomberg reports Alibaba plans to lead $300M in UniPat at ~$2.5B</a:t>
            </a: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Trading’s costliest lesson is that backtests lie: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built it into the scoring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Tick-level matching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Orders queue; each fill is tied to the book at order time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spread out: GPT 6 at 77, three other frontier models at 24–30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Risk in the score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minus drawdown, times a Sharpe factor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Losses or drawdowns that eat the profit score 0: two frontier models hit 0 on 2 tasks each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600200"/>
            <a:ext cx="3514344" cy="3154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8013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gaming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7744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87752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last trading day is hidden from the agent; result hashes are published first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38328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02152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72160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strategy, same score; anyone can recompute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 from quant firms;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team designed these rules itself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Xitadel-QuantBench public report and scoring spec (REPORT, SCORING).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 &amp; use of funds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$6M at $75M post-money: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2–3 paying labs within 12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2601468" cy="8686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19456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37376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Pre-money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$69M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554480"/>
            <a:ext cx="2601468" cy="868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67444" y="1645920"/>
            <a:ext cx="21442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67444" y="1828800"/>
            <a:ext cx="21442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$75M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606040"/>
            <a:ext cx="5408676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1248" y="278892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engine · $3M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1248" y="3026664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1248" y="3502152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$1.05M · data $600K · delivery $900K · sales $450K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41248" y="390448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124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24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paid pilot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44906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44906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Second license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4056888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056888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$1M–$3M ARR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6231636" y="2606040"/>
            <a:ext cx="5408676" cy="2331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6524244" y="278892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R&amp;D engine · $3M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524244" y="3026664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Iterative training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524244" y="3502152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$1.35M · research $1.05M · live trading &amp; compliance $600K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524244" y="390448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2424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52424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gains: significance test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13206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13206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Gains in event prediction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739884" y="4023360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739884" y="4251960"/>
            <a:ext cx="14980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Small live-capital test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 references: Applied Compute $100M seed post-money (Jun 2025); Mirendil $1B seed post-money (Jun 2026).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Round: RMB 40M at RMB 500M post-money, at 6.7351 RMB/USD (Sep 30, 2026). Cayman–Hong Kong–onshore structure set up before closing.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8638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worlds.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 event prediction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AI that improves itself in the real world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Next · Personal agents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a personal agent acts for someone,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practices here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Muse · Dots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and OpenAI launched personal agents in Sep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Big tech is in; agents now act for people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Instinct’s valuation; its agent books trips and buys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that spend money are a big market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82496"/>
            <a:ext cx="348386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Practice first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3042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an agent errs, the user pays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6148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grounds: our second customer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29000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deliver it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and event prediction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Pricing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 practice round, $2–$10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156448" y="37033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8156448" y="3776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Goal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156448" y="4069080"/>
            <a:ext cx="34838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10 agent teams within 6 months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De-identified, consented practice runs become lab training data: </a:t>
            </a: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same environments, a second customer</a:t>
            </a: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Meta and OpenAI launches (Sep 2026); Instinct valuation (Reuters, Sep 28, 2026).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