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9" r:id="rId1"/>
  </p:sldMasterIdLst>
  <p:notesMasterIdLst>
    <p:notesMasterId r:id="rId24"/>
  </p:notesMasterIdLst>
  <p:sldIdLst>
    <p:sldId id="256" r:id="rId2"/>
    <p:sldId id="257" r:id="rId3"/>
    <p:sldId id="258" r:id="rId4"/>
    <p:sldId id="260" r:id="rId6"/>
    <p:sldId id="259" r:id="rId5"/>
    <p:sldId id="263" r:id="rId9"/>
    <p:sldId id="264" r:id="rId10"/>
    <p:sldId id="268" r:id="rId14"/>
    <p:sldId id="279" r:id="rId46"/>
    <p:sldId id="269" r:id="rId15"/>
    <p:sldId id="270" r:id="rId16"/>
    <p:sldId id="271" r:id="rId17"/>
    <p:sldId id="267" r:id="rId13"/>
    <p:sldId id="272" r:id="rId18"/>
    <p:sldId id="273" r:id="rId19"/>
  </p:sldIdLst>
  <p:sldSz cx="12192000" cy="6858000"/>
  <p:notesSz cx="6858000" cy="12192000"/>
  <p:embeddedFontLst>
    <p:embeddedFont>
      <p:font typeface="IBM Plex Mono" panose="020B0509050203000203" pitchFamily="49" charset="77"/>
      <p:regular r:id="rId25"/>
      <p:bold r:id="rId26"/>
      <p:italic r:id="rId27"/>
      <p:boldItalic r:id="rId28"/>
    </p:embeddedFont>
    <p:embeddedFont>
      <p:font typeface="Instrument Sans"/>
      <p:regular r:id="rId29"/>
      <p:bold r:id="rId30"/>
      <p:italic r:id="rId31"/>
      <p:boldItalic r:id="rId32"/>
    </p:embeddedFont>
    <p:embeddedFont>
      <p:font typeface="Instrument Sans SemiBold" pitchFamily="2" charset="0"/>
      <p:regular r:id="rId33"/>
      <p:bold r:id="rId34"/>
      <p:italic r:id="rId35"/>
      <p:boldItalic r:id="rId36"/>
    </p:embeddedFont>
    <p:embeddedFont>
      <p:font typeface="Newsreader" panose="02000000000000000000"/>
      <p:regular r:id="rId37"/>
      <p:bold r:id="rId38"/>
      <p:italic r:id="rId39"/>
      <p:boldItalic r:id="rId4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A870364-48A8-4773-986C-DF2669CC7B71}">
  <a:tblStyle styleId="{EA870364-48A8-4773-986C-DF2669CC7B7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78"/>
  </p:normalViewPr>
  <p:slideViewPr>
    <p:cSldViewPr snapToGrid="0">
      <p:cViewPr varScale="1">
        <p:scale>
          <a:sx n="117" d="100"/>
          <a:sy n="117" d="100"/>
        </p:scale>
        <p:origin x="38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9.xml"/><Relationship Id="rId24" Type="http://schemas.openxmlformats.org/officeDocument/2006/relationships/notesMaster" Target="notesMasters/notesMaster1.xml"/><Relationship Id="rId25" Type="http://schemas.openxmlformats.org/officeDocument/2006/relationships/font" Target="fonts/font1.fntdata"/><Relationship Id="rId26" Type="http://schemas.openxmlformats.org/officeDocument/2006/relationships/font" Target="fonts/font2.fntdata"/><Relationship Id="rId27" Type="http://schemas.openxmlformats.org/officeDocument/2006/relationships/font" Target="fonts/font3.fntdata"/><Relationship Id="rId28" Type="http://schemas.openxmlformats.org/officeDocument/2006/relationships/font" Target="fonts/font4.fntdata"/><Relationship Id="rId29" Type="http://schemas.openxmlformats.org/officeDocument/2006/relationships/font" Target="fonts/font5.fntdata"/><Relationship Id="rId30" Type="http://schemas.openxmlformats.org/officeDocument/2006/relationships/font" Target="fonts/font6.fntdata"/><Relationship Id="rId31" Type="http://schemas.openxmlformats.org/officeDocument/2006/relationships/font" Target="fonts/font7.fntdata"/><Relationship Id="rId32" Type="http://schemas.openxmlformats.org/officeDocument/2006/relationships/font" Target="fonts/font8.fntdata"/><Relationship Id="rId33" Type="http://schemas.openxmlformats.org/officeDocument/2006/relationships/font" Target="fonts/font9.fntdata"/><Relationship Id="rId34" Type="http://schemas.openxmlformats.org/officeDocument/2006/relationships/font" Target="fonts/font10.fntdata"/><Relationship Id="rId35" Type="http://schemas.openxmlformats.org/officeDocument/2006/relationships/font" Target="fonts/font11.fntdata"/><Relationship Id="rId36" Type="http://schemas.openxmlformats.org/officeDocument/2006/relationships/font" Target="fonts/font12.fntdata"/><Relationship Id="rId37" Type="http://schemas.openxmlformats.org/officeDocument/2006/relationships/font" Target="fonts/font13.fntdata"/><Relationship Id="rId38" Type="http://schemas.openxmlformats.org/officeDocument/2006/relationships/font" Target="fonts/font14.fntdata"/><Relationship Id="rId39" Type="http://schemas.openxmlformats.org/officeDocument/2006/relationships/font" Target="fonts/font15.fntdata"/><Relationship Id="rId40" Type="http://schemas.openxmlformats.org/officeDocument/2006/relationships/font" Target="fonts/font16.fntdata"/><Relationship Id="rId41" Type="http://schemas.openxmlformats.org/officeDocument/2006/relationships/presProps" Target="presProps.xml"/><Relationship Id="rId42" Type="http://schemas.openxmlformats.org/officeDocument/2006/relationships/viewProps" Target="viewProps.xml"/><Relationship Id="rId43" Type="http://schemas.openxmlformats.org/officeDocument/2006/relationships/theme" Target="theme/theme1.xml"/><Relationship Id="rId44" Type="http://schemas.openxmlformats.org/officeDocument/2006/relationships/tableStyles" Target="tableStyles.xml"/><Relationship Id="rId46" Type="http://schemas.openxmlformats.org/officeDocument/2006/relationships/slide" Target="slides/slide2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" name="Google Shape;13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" name="Google Shape;34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" name="Google Shape;35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9" name="Google Shape;69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" name="Google Shape;70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7" name="Google Shape;107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2" name="Google Shape;132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Google Shape;133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5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2" name="Google Shape;242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3" name="Google Shape;243;p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2" name="Google Shape;272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9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81" name="Google Shape;381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2" name="Google Shape;382;p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12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12" name="Google Shape;412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3" name="Google Shape;413;p1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13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47" name="Google Shape;447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8" name="Google Shape;448;p1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14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76" name="Google Shape;476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7" name="Google Shape;477;p1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15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16" name="Google Shape;516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7" name="Google Shape;517;p1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16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67" name="Google Shape;567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8" name="Google Shape;568;p1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17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12" name="Google Shape;612;p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3" name="Google Shape;613;p1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18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9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Relationship Id="rId4" Type="http://schemas.openxmlformats.org/officeDocument/2006/relationships/image" Target="../media/image10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3.jp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Relationship Id="rId7" Type="http://schemas.openxmlformats.org/officeDocument/2006/relationships/image" Target="../media/image17.png"/><Relationship Id="rId8" Type="http://schemas.openxmlformats.org/officeDocument/2006/relationships/image" Target="../media/image1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9.png"/><Relationship Id="rId4" Type="http://schemas.openxmlformats.org/officeDocument/2006/relationships/image" Target="../media/image20.png"/><Relationship Id="rId5" Type="http://schemas.openxmlformats.org/officeDocument/2006/relationships/image" Target="../media/image21.png"/><Relationship Id="rId6" Type="http://schemas.openxmlformats.org/officeDocument/2006/relationships/image" Target="../media/image22.png"/><Relationship Id="rId7" Type="http://schemas.openxmlformats.org/officeDocument/2006/relationships/image" Target="../media/image23.png"/><Relationship Id="rId8" Type="http://schemas.openxmlformats.org/officeDocument/2006/relationships/image" Target="../media/image8.png"/><Relationship Id="rId9" Type="http://schemas.openxmlformats.org/officeDocument/2006/relationships/image" Target="../media/image24.png"/><Relationship Id="rId10" Type="http://schemas.openxmlformats.org/officeDocument/2006/relationships/image" Target="../media/image25.png"/><Relationship Id="rId11" Type="http://schemas.openxmlformats.org/officeDocument/2006/relationships/image" Target="../media/image26.png"/><Relationship Id="rId12" Type="http://schemas.openxmlformats.org/officeDocument/2006/relationships/image" Target="../media/image27.png"/><Relationship Id="rId13" Type="http://schemas.openxmlformats.org/officeDocument/2006/relationships/image" Target="../media/image28.png"/><Relationship Id="rId14" Type="http://schemas.openxmlformats.org/officeDocument/2006/relationships/image" Target="../media/image29.png"/><Relationship Id="rId15" Type="http://schemas.openxmlformats.org/officeDocument/2006/relationships/image" Target="../media/image30.png"/><Relationship Id="rId16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1.png"/><Relationship Id="rId4" Type="http://schemas.openxmlformats.org/officeDocument/2006/relationships/image" Target="../media/image32.png"/><Relationship Id="rId5" Type="http://schemas.openxmlformats.org/officeDocument/2006/relationships/image" Target="../media/image33.png"/><Relationship Id="rId6" Type="http://schemas.openxmlformats.org/officeDocument/2006/relationships/image" Target="../media/image2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3" descr="orbit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80960" y="0"/>
            <a:ext cx="4507992" cy="411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17;p3" descr="SimReal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48640" y="502920"/>
            <a:ext cx="850392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1234440"/>
            <a:ext cx="7680960" cy="1737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AI that improves itself</a:t>
            </a:r>
          </a:p>
          <a:p>
            <a:pPr marL="0" marR="0" lvl="0" indent="0" algn="l" rtl="0">
              <a:lnSpc>
                <a:spcPct val="105000"/>
              </a:lnSpc>
              <a:spcBef>
                <a:spcPts val="1470"/>
              </a:spcBef>
              <a:spcAft>
                <a:spcPts val="0"/>
              </a:spcAft>
              <a:buNone/>
            </a:pPr>
            <a:r>
              <a:rPr lang="en-US" sz="42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in the real world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548640" y="3127248"/>
            <a:ext cx="8046720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Before a personal agent is trusted, it practices here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3749040"/>
            <a:ext cx="877824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Starting with trading: training environments and data for AI labs and personal agents</a:t>
            </a:r>
          </a:p>
        </p:txBody>
      </p:sp>
      <p:sp>
        <p:nvSpPr>
          <p:cNvPr id="5004" name="SimReal 5004"/>
          <p:cNvSpPr/>
          <p:nvPr/>
        </p:nvSpPr>
        <p:spPr>
          <a:xfrm>
            <a:off x="548640" y="4526280"/>
            <a:ext cx="6949440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5" name="SimReal 5005"/>
          <p:cNvSpPr txBox="1"/>
          <p:nvPr/>
        </p:nvSpPr>
        <p:spPr>
          <a:xfrm>
            <a:off x="548640" y="4681728"/>
            <a:ext cx="29260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This round</a:t>
            </a:r>
          </a:p>
        </p:txBody>
      </p:sp>
      <p:sp>
        <p:nvSpPr>
          <p:cNvPr id="5006" name="SimReal 5006"/>
          <p:cNvSpPr txBox="1"/>
          <p:nvPr/>
        </p:nvSpPr>
        <p:spPr>
          <a:xfrm>
            <a:off x="548640" y="4937760"/>
            <a:ext cx="301752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$6M seed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4206240" y="4681728"/>
            <a:ext cx="29260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Business plan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4206240" y="4937760"/>
            <a:ext cx="301752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September 2026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548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Confidential  ·  For invited investors only  ·  September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4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02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Team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Problem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Solution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Market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Traction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Raise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Overview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Professional work like trading, turned into AI training environments: </a:t>
            </a:r>
            <a:r>
              <a:rPr lang="en-US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scorable, reproducible, trainable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517904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548640" y="1645920"/>
            <a:ext cx="348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What we do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548640" y="1901952"/>
            <a:ext cx="3483864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Finance RL environments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548640" y="2505456"/>
            <a:ext cx="3483864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Starting with trading: order books, simulator scoring</a:t>
            </a:r>
          </a:p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Sold to labs: licenses, agent trajectories, evals</a:t>
            </a:r>
          </a:p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Next: open practice to personal agents</a:t>
            </a:r>
          </a:p>
        </p:txBody>
      </p:sp>
      <p:sp>
        <p:nvSpPr>
          <p:cNvPr id="5009" name="SimReal 5009"/>
          <p:cNvSpPr/>
          <p:nvPr/>
        </p:nvSpPr>
        <p:spPr>
          <a:xfrm>
            <a:off x="4352544" y="1517904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0" name="SimReal 5010"/>
          <p:cNvSpPr txBox="1"/>
          <p:nvPr/>
        </p:nvSpPr>
        <p:spPr>
          <a:xfrm>
            <a:off x="4352544" y="1645920"/>
            <a:ext cx="348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Done so far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4352544" y="1901952"/>
            <a:ext cx="3483864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7 environments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4352544" y="2505456"/>
            <a:ext cx="3483864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Trading, prediction, AI research, math, reasoning,</a:t>
            </a:r>
          </a:p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finance, software · 5 public repos · no outside funding</a:t>
            </a:r>
          </a:p>
        </p:txBody>
      </p:sp>
      <p:sp>
        <p:nvSpPr>
          <p:cNvPr id="5013" name="SimReal 5013"/>
          <p:cNvSpPr/>
          <p:nvPr/>
        </p:nvSpPr>
        <p:spPr>
          <a:xfrm>
            <a:off x="8156448" y="1517904"/>
            <a:ext cx="3483864" cy="18288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4" name="SimReal 5014"/>
          <p:cNvSpPr txBox="1"/>
          <p:nvPr/>
        </p:nvSpPr>
        <p:spPr>
          <a:xfrm>
            <a:off x="8156448" y="1645920"/>
            <a:ext cx="348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Early evidence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8156448" y="1901952"/>
            <a:ext cx="3483864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+12%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8156448" y="2505456"/>
            <a:ext cx="3483864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Qwen3.8-27B, up to 12% better on unseen</a:t>
            </a:r>
          </a:p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competition trading days; best run, not a mean</a:t>
            </a:r>
          </a:p>
        </p:txBody>
      </p:sp>
      <p:sp>
        <p:nvSpPr>
          <p:cNvPr id="5017" name="SimReal 5017"/>
          <p:cNvSpPr/>
          <p:nvPr/>
        </p:nvSpPr>
        <p:spPr>
          <a:xfrm>
            <a:off x="548640" y="3346704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8" name="SimReal 5018"/>
          <p:cNvSpPr txBox="1"/>
          <p:nvPr/>
        </p:nvSpPr>
        <p:spPr>
          <a:xfrm>
            <a:off x="548640" y="3474720"/>
            <a:ext cx="348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Team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548640" y="3730752"/>
            <a:ext cx="3483864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Quant founders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548640" y="4334256"/>
            <a:ext cx="3483864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Math at Cambridge, LSE and Duke; born 2005</a:t>
            </a:r>
          </a:p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Jane Street, Citadel, Optiver, Millennium</a:t>
            </a:r>
          </a:p>
        </p:txBody>
      </p:sp>
      <p:sp>
        <p:nvSpPr>
          <p:cNvPr id="5021" name="SimReal 5021"/>
          <p:cNvSpPr/>
          <p:nvPr/>
        </p:nvSpPr>
        <p:spPr>
          <a:xfrm>
            <a:off x="4352544" y="3346704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2" name="SimReal 5022"/>
          <p:cNvSpPr txBox="1"/>
          <p:nvPr/>
        </p:nvSpPr>
        <p:spPr>
          <a:xfrm>
            <a:off x="4352544" y="3474720"/>
            <a:ext cx="348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Market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4352544" y="3730752"/>
            <a:ext cx="3483864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$3.6M–$42M a year</a:t>
            </a:r>
          </a:p>
        </p:txBody>
      </p:sp>
      <p:sp>
        <p:nvSpPr>
          <p:cNvPr id="5024" name="SimReal 5024"/>
          <p:cNvSpPr txBox="1"/>
          <p:nvPr/>
        </p:nvSpPr>
        <p:spPr>
          <a:xfrm>
            <a:off x="4352544" y="4334256"/>
            <a:ext cx="3483864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Finance alone, 17–24 buying labs</a:t>
            </a:r>
          </a:p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Bottom-up from frontier-lab pricing</a:t>
            </a:r>
          </a:p>
        </p:txBody>
      </p:sp>
      <p:sp>
        <p:nvSpPr>
          <p:cNvPr id="5025" name="SimReal 5025"/>
          <p:cNvSpPr/>
          <p:nvPr/>
        </p:nvSpPr>
        <p:spPr>
          <a:xfrm>
            <a:off x="8156448" y="3346704"/>
            <a:ext cx="3483864" cy="18288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6" name="SimReal 5026"/>
          <p:cNvSpPr txBox="1"/>
          <p:nvPr/>
        </p:nvSpPr>
        <p:spPr>
          <a:xfrm>
            <a:off x="8156448" y="3474720"/>
            <a:ext cx="348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This round</a:t>
            </a:r>
          </a:p>
        </p:txBody>
      </p:sp>
      <p:sp>
        <p:nvSpPr>
          <p:cNvPr id="5027" name="SimReal 5027"/>
          <p:cNvSpPr txBox="1"/>
          <p:nvPr/>
        </p:nvSpPr>
        <p:spPr>
          <a:xfrm>
            <a:off x="8156448" y="3730752"/>
            <a:ext cx="3483864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$6M</a:t>
            </a:r>
          </a:p>
        </p:txBody>
      </p:sp>
      <p:sp>
        <p:nvSpPr>
          <p:cNvPr id="5028" name="SimReal 5028"/>
          <p:cNvSpPr txBox="1"/>
          <p:nvPr/>
        </p:nvSpPr>
        <p:spPr>
          <a:xfrm>
            <a:off x="8156448" y="4334256"/>
            <a:ext cx="3483864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At a $75M post-money valuation</a:t>
            </a:r>
          </a:p>
        </p:txBody>
      </p:sp>
      <p:sp>
        <p:nvSpPr>
          <p:cNvPr id="5029" name="SimReal 5029"/>
          <p:cNvSpPr txBox="1"/>
          <p:nvPr/>
        </p:nvSpPr>
        <p:spPr>
          <a:xfrm>
            <a:off x="548640" y="5394960"/>
            <a:ext cx="11091672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Win 2–3 paying labs in finance first, </a:t>
            </a:r>
            <a:r>
              <a:rPr lang="en-US" sz="18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then copy the method to the next domain.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137160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Confidential  ·  For invited investors only  ·  September 2026</a:t>
            </a:r>
          </a:p>
        </p:txBody>
      </p:sp>
      <p:sp>
        <p:nvSpPr>
          <p:cNvPr id="5031" name="SimReal 5031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74;p5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pic>
        <p:nvPicPr>
          <p:cNvPr id="78" name="Google Shape;78;p5" descr="jane-street-color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78974" y="1661532"/>
            <a:ext cx="757666" cy="297959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5" descr="citadel-color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254041" y="1719789"/>
            <a:ext cx="1244200" cy="181446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Google Shape;81;p5" descr="millennium-color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503221" y="1715056"/>
            <a:ext cx="1182510" cy="190911"/>
          </a:xfrm>
          <a:prstGeom prst="rect">
            <a:avLst/>
          </a:prstGeom>
          <a:noFill/>
          <a:ln>
            <a:noFill/>
          </a:ln>
        </p:spPr>
      </p:pic>
      <p:pic>
        <p:nvPicPr>
          <p:cNvPr id="82" name="Google Shape;82;p5" descr="optiver-color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7828759" y="1693915"/>
            <a:ext cx="968102" cy="233193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p5" descr="cambridge-ink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0216170" y="1530535"/>
            <a:ext cx="629948" cy="559953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03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Team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Problem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Solution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Market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Traction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Raise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Team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From olympiads to Wall Street’s toughest desks: </a:t>
            </a:r>
            <a:r>
              <a:rPr lang="en-US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we know the gap between tests and real work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2212848"/>
            <a:ext cx="3514344" cy="324612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822960" y="2359152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Charles</a:t>
            </a:r>
            <a:r>
              <a:rPr lang="en-US" sz="100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   CEO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822960" y="2907792"/>
            <a:ext cx="2965704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First employee at United Stables: helped take its U stablecoin from 0 to $1.4B in a year; listed on Binance in a month</a:t>
            </a:r>
          </a:p>
          <a:p>
            <a:pPr marL="0" marR="0" lvl="0" indent="0" algn="l" rtl="0">
              <a:lnSpc>
                <a:spcPct val="108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Ran institutional relations; worked on partnerships with SIG, DRW and others</a:t>
            </a:r>
          </a:p>
          <a:p>
            <a:pPr marL="0" marR="0" lvl="0" indent="0" algn="l" rtl="0">
              <a:lnSpc>
                <a:spcPct val="108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Sole intern on HSBC’s HKD stablecoin issuance; supported HKMA compliance end to end</a:t>
            </a:r>
          </a:p>
          <a:p>
            <a:pPr marL="0" marR="0" lvl="0" indent="0" algn="l" rtl="0">
              <a:lnSpc>
                <a:spcPct val="108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X (Twitter) writer with millions of views</a:t>
            </a:r>
          </a:p>
          <a:p>
            <a:pPr marL="0" marR="0" lvl="0" indent="0" algn="l" rtl="0">
              <a:lnSpc>
                <a:spcPct val="108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Hedge fund intern at Citadel, London</a:t>
            </a:r>
          </a:p>
        </p:txBody>
      </p:sp>
      <p:sp>
        <p:nvSpPr>
          <p:cNvPr id="5008" name="SimReal 5008"/>
          <p:cNvSpPr/>
          <p:nvPr/>
        </p:nvSpPr>
        <p:spPr>
          <a:xfrm>
            <a:off x="822960" y="4809744"/>
            <a:ext cx="29657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9" name="SimReal 5009"/>
          <p:cNvSpPr txBox="1"/>
          <p:nvPr/>
        </p:nvSpPr>
        <p:spPr>
          <a:xfrm>
            <a:off x="822960" y="4882896"/>
            <a:ext cx="2965704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Born 2005 · LSE, Math · SCIE (Shenzhen)</a:t>
            </a:r>
          </a:p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USAMO qualifier</a:t>
            </a:r>
          </a:p>
        </p:txBody>
      </p:sp>
      <p:sp>
        <p:nvSpPr>
          <p:cNvPr id="5010" name="SimReal 5010"/>
          <p:cNvSpPr/>
          <p:nvPr/>
        </p:nvSpPr>
        <p:spPr>
          <a:xfrm>
            <a:off x="4337304" y="2212848"/>
            <a:ext cx="3514344" cy="324612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1" name="SimReal 5011"/>
          <p:cNvSpPr txBox="1"/>
          <p:nvPr/>
        </p:nvSpPr>
        <p:spPr>
          <a:xfrm>
            <a:off x="4611624" y="2359152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Henry</a:t>
            </a:r>
            <a:r>
              <a:rPr lang="en-US" sz="100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   CTO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4611624" y="2907792"/>
            <a:ext cx="2965704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Summer ML research at Cambridge with renowned statistician Po-Ling Loh (IMS Fellow)</a:t>
            </a:r>
          </a:p>
          <a:p>
            <a:pPr marL="0" marR="0" lvl="0" indent="0" algn="l" rtl="0">
              <a:lnSpc>
                <a:spcPct val="108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Youngest undergraduate AI researcher at a Cambridge research center</a:t>
            </a:r>
          </a:p>
          <a:p>
            <a:pPr marL="0" marR="0" lvl="0" indent="0" algn="l" rtl="0">
              <a:lnSpc>
                <a:spcPct val="108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Quant roles at Jane Street, Citadel, Optiver</a:t>
            </a:r>
          </a:p>
          <a:p>
            <a:pPr marL="0" marR="0" lvl="0" indent="0" algn="l" rtl="0">
              <a:lnSpc>
                <a:spcPct val="108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Designed five benchmarks and RL environments</a:t>
            </a:r>
          </a:p>
        </p:txBody>
      </p:sp>
      <p:sp>
        <p:nvSpPr>
          <p:cNvPr id="5013" name="SimReal 5013"/>
          <p:cNvSpPr/>
          <p:nvPr/>
        </p:nvSpPr>
        <p:spPr>
          <a:xfrm>
            <a:off x="4611624" y="4809744"/>
            <a:ext cx="29657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4" name="SimReal 5014"/>
          <p:cNvSpPr txBox="1"/>
          <p:nvPr/>
        </p:nvSpPr>
        <p:spPr>
          <a:xfrm>
            <a:off x="4611624" y="4882896"/>
            <a:ext cx="2965704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Born 2005 · Cambridge Math, First-Class (Scholar)</a:t>
            </a:r>
          </a:p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Top 30 worldwide, Cambridge math contest</a:t>
            </a:r>
          </a:p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UK Physics Olympiad Super Gold · SCIE (Shenzhen)</a:t>
            </a:r>
          </a:p>
        </p:txBody>
      </p:sp>
      <p:sp>
        <p:nvSpPr>
          <p:cNvPr id="5015" name="SimReal 5015"/>
          <p:cNvSpPr/>
          <p:nvPr/>
        </p:nvSpPr>
        <p:spPr>
          <a:xfrm>
            <a:off x="8125968" y="2212848"/>
            <a:ext cx="3514344" cy="324612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6" name="SimReal 5016"/>
          <p:cNvSpPr txBox="1"/>
          <p:nvPr/>
        </p:nvSpPr>
        <p:spPr>
          <a:xfrm>
            <a:off x="8400288" y="2359152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Amaris</a:t>
            </a:r>
            <a:r>
              <a:rPr lang="en-US" sz="100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   COO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8400288" y="2907792"/>
            <a:ext cx="2965704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Data scientist at Millennium Hong Kong</a:t>
            </a:r>
          </a:p>
          <a:p>
            <a:pPr marL="0" marR="0" lvl="0" indent="0" algn="l" rtl="0">
              <a:lnSpc>
                <a:spcPct val="108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The alt-data team’s first-ever graduate hire</a:t>
            </a:r>
          </a:p>
          <a:p>
            <a:pPr marL="0" marR="0" lvl="0" indent="0" algn="l" rtl="0">
              <a:lnSpc>
                <a:spcPct val="108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Helped launch Plug and Play’s first Hong Kong event (with HK Science Park); hosted J&amp;J MedTech’s tech summit (200+ attendees each)</a:t>
            </a:r>
          </a:p>
          <a:p>
            <a:pPr marL="0" marR="0" lvl="0" indent="0" algn="l" rtl="0">
              <a:lnSpc>
                <a:spcPct val="108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Published author at 17; 100K+ engagements online</a:t>
            </a:r>
          </a:p>
        </p:txBody>
      </p:sp>
      <p:sp>
        <p:nvSpPr>
          <p:cNvPr id="5018" name="SimReal 5018"/>
          <p:cNvSpPr/>
          <p:nvPr/>
        </p:nvSpPr>
        <p:spPr>
          <a:xfrm>
            <a:off x="8400288" y="4809744"/>
            <a:ext cx="29657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9" name="SimReal 5019"/>
          <p:cNvSpPr txBox="1"/>
          <p:nvPr/>
        </p:nvSpPr>
        <p:spPr>
          <a:xfrm>
            <a:off x="8400288" y="4882896"/>
            <a:ext cx="2965704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Born 2005 · Duke, Math &amp; Statistics</a:t>
            </a:r>
          </a:p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YK Pao School (Shanghai)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548640" y="5596128"/>
            <a:ext cx="11091672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Turned down return offers from top quant firms </a:t>
            </a:r>
            <a:r>
              <a:rPr lang="en-US" sz="18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to build this</a:t>
            </a:r>
            <a:r>
              <a:rPr lang="en-US" sz="18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.</a:t>
            </a:r>
          </a:p>
        </p:txBody>
      </p:sp>
      <p:sp>
        <p:nvSpPr>
          <p:cNvPr id="5021" name="SimReal 5021"/>
          <p:cNvSpPr txBox="1"/>
          <p:nvPr/>
        </p:nvSpPr>
        <p:spPr>
          <a:xfrm>
            <a:off x="137160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Confidential  ·  For invited investors only  ·  September 2026</a:t>
            </a:r>
          </a:p>
        </p:txBody>
      </p:sp>
      <p:sp>
        <p:nvSpPr>
          <p:cNvPr id="5022" name="SimReal 5022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" name="Google Shape;126;p6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05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Team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  </a:t>
            </a:r>
            <a:r>
              <a:rPr lang="en-US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Problem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Solution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Market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Traction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Raise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Why now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Labs already pay for environments and expert data; </a:t>
            </a:r>
            <a:r>
              <a:rPr lang="en-US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frontier models still lose money trading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517904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548640" y="1645920"/>
            <a:ext cx="348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Labs are buying environments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548640" y="1883664"/>
            <a:ext cx="348386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$1.5B+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548640" y="2615184"/>
            <a:ext cx="348386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Google’s reported deal with RL-environment startup Mechanize</a:t>
            </a:r>
          </a:p>
        </p:txBody>
      </p:sp>
      <p:sp>
        <p:nvSpPr>
          <p:cNvPr id="5009" name="SimReal 5009"/>
          <p:cNvSpPr/>
          <p:nvPr/>
        </p:nvSpPr>
        <p:spPr>
          <a:xfrm>
            <a:off x="548640" y="3310128"/>
            <a:ext cx="3483864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0" name="SimReal 5010"/>
          <p:cNvSpPr txBox="1"/>
          <p:nvPr/>
        </p:nvSpPr>
        <p:spPr>
          <a:xfrm>
            <a:off x="548640" y="3383280"/>
            <a:ext cx="3483864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Jul 2026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548640" y="3712464"/>
            <a:ext cx="348386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Mercor acquired RL-environment startup Deeptune</a:t>
            </a:r>
          </a:p>
        </p:txBody>
      </p:sp>
      <p:sp>
        <p:nvSpPr>
          <p:cNvPr id="5012" name="SimReal 5012"/>
          <p:cNvSpPr/>
          <p:nvPr/>
        </p:nvSpPr>
        <p:spPr>
          <a:xfrm>
            <a:off x="4352544" y="1517904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3" name="SimReal 5013"/>
          <p:cNvSpPr txBox="1"/>
          <p:nvPr/>
        </p:nvSpPr>
        <p:spPr>
          <a:xfrm>
            <a:off x="4352544" y="1645920"/>
            <a:ext cx="348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Expert data is scaling</a:t>
            </a:r>
          </a:p>
        </p:txBody>
      </p:sp>
      <p:sp>
        <p:nvSpPr>
          <p:cNvPr id="5014" name="SimReal 5014"/>
          <p:cNvSpPr txBox="1"/>
          <p:nvPr/>
        </p:nvSpPr>
        <p:spPr>
          <a:xfrm>
            <a:off x="4352544" y="1883664"/>
            <a:ext cx="348386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27x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4352544" y="2615184"/>
            <a:ext cx="348386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Mercor gross run-rate: $75M → $2B in 16 months</a:t>
            </a:r>
          </a:p>
        </p:txBody>
      </p:sp>
      <p:sp>
        <p:nvSpPr>
          <p:cNvPr id="5016" name="SimReal 5016"/>
          <p:cNvSpPr/>
          <p:nvPr/>
        </p:nvSpPr>
        <p:spPr>
          <a:xfrm>
            <a:off x="4352544" y="3310128"/>
            <a:ext cx="3483864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7" name="SimReal 5017"/>
          <p:cNvSpPr txBox="1"/>
          <p:nvPr/>
        </p:nvSpPr>
        <p:spPr>
          <a:xfrm>
            <a:off x="4352544" y="3383280"/>
            <a:ext cx="3483864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Tens of $M</a:t>
            </a:r>
          </a:p>
        </p:txBody>
      </p:sp>
      <p:sp>
        <p:nvSpPr>
          <p:cNvPr id="5018" name="SimReal 5018"/>
          <p:cNvSpPr txBox="1"/>
          <p:nvPr/>
        </p:nvSpPr>
        <p:spPr>
          <a:xfrm>
            <a:off x="4352544" y="3712464"/>
            <a:ext cx="348386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Paid by NVIDIA to Mercor in one quarter for expert data</a:t>
            </a:r>
          </a:p>
        </p:txBody>
      </p:sp>
      <p:sp>
        <p:nvSpPr>
          <p:cNvPr id="5019" name="SimReal 5019"/>
          <p:cNvSpPr/>
          <p:nvPr/>
        </p:nvSpPr>
        <p:spPr>
          <a:xfrm>
            <a:off x="4352544" y="4041648"/>
            <a:ext cx="3483864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0" name="SimReal 5020"/>
          <p:cNvSpPr txBox="1"/>
          <p:nvPr/>
        </p:nvSpPr>
        <p:spPr>
          <a:xfrm>
            <a:off x="4352544" y="4114800"/>
            <a:ext cx="3483864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18x</a:t>
            </a:r>
          </a:p>
        </p:txBody>
      </p:sp>
      <p:sp>
        <p:nvSpPr>
          <p:cNvPr id="5021" name="SimReal 5021"/>
          <p:cNvSpPr txBox="1"/>
          <p:nvPr/>
        </p:nvSpPr>
        <p:spPr>
          <a:xfrm>
            <a:off x="4352544" y="4443984"/>
            <a:ext cx="348386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Snorkel AI run-rate growth in a year, to $375M</a:t>
            </a:r>
          </a:p>
        </p:txBody>
      </p:sp>
      <p:sp>
        <p:nvSpPr>
          <p:cNvPr id="5022" name="SimReal 5022"/>
          <p:cNvSpPr/>
          <p:nvPr/>
        </p:nvSpPr>
        <p:spPr>
          <a:xfrm>
            <a:off x="8156448" y="1517904"/>
            <a:ext cx="3483864" cy="18288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3" name="SimReal 5023"/>
          <p:cNvSpPr txBox="1"/>
          <p:nvPr/>
        </p:nvSpPr>
        <p:spPr>
          <a:xfrm>
            <a:off x="8156448" y="1645920"/>
            <a:ext cx="348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Trading still loses</a:t>
            </a:r>
          </a:p>
        </p:txBody>
      </p:sp>
      <p:sp>
        <p:nvSpPr>
          <p:cNvPr id="5024" name="SimReal 5024"/>
          <p:cNvSpPr txBox="1"/>
          <p:nvPr/>
        </p:nvSpPr>
        <p:spPr>
          <a:xfrm>
            <a:off x="8156448" y="1883664"/>
            <a:ext cx="348386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6/32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8156448" y="2615184"/>
            <a:ext cx="348386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Alpha Arena: frontier models trading live; 6 of 32 runs made money</a:t>
            </a:r>
          </a:p>
        </p:txBody>
      </p:sp>
      <p:sp>
        <p:nvSpPr>
          <p:cNvPr id="5026" name="SimReal 5026"/>
          <p:cNvSpPr/>
          <p:nvPr/>
        </p:nvSpPr>
        <p:spPr>
          <a:xfrm>
            <a:off x="8156448" y="3310128"/>
            <a:ext cx="3483864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7" name="SimReal 5027"/>
          <p:cNvSpPr txBox="1"/>
          <p:nvPr/>
        </p:nvSpPr>
        <p:spPr>
          <a:xfrm>
            <a:off x="8156448" y="3383280"/>
            <a:ext cx="3483864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2/7</a:t>
            </a:r>
          </a:p>
        </p:txBody>
      </p:sp>
      <p:sp>
        <p:nvSpPr>
          <p:cNvPr id="5028" name="SimReal 5028"/>
          <p:cNvSpPr txBox="1"/>
          <p:nvPr/>
        </p:nvSpPr>
        <p:spPr>
          <a:xfrm>
            <a:off x="8156448" y="3712464"/>
            <a:ext cx="348386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PolyBench: 2 of 7 frontier models profitable on Polymarket</a:t>
            </a:r>
          </a:p>
        </p:txBody>
      </p:sp>
      <p:sp>
        <p:nvSpPr>
          <p:cNvPr id="5029" name="SimReal 5029"/>
          <p:cNvSpPr txBox="1"/>
          <p:nvPr/>
        </p:nvSpPr>
        <p:spPr>
          <a:xfrm>
            <a:off x="548640" y="5669280"/>
            <a:ext cx="110916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Sources: Mechanize (Business Insider); Mercor (TechCrunch, Dealroom, The Information, Forbes); Snorkel AI (Reuters); Alpha Arena (Nof1); PolyBench (arXiv).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137160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Confidential  ·  For invited investors only  ·  September 2026</a:t>
            </a:r>
          </a:p>
        </p:txBody>
      </p:sp>
      <p:sp>
        <p:nvSpPr>
          <p:cNvPr id="5031" name="SimReal 5031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05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" name="Google Shape;160;p7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04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Team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  </a:t>
            </a:r>
            <a:r>
              <a:rPr lang="en-US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Problem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Solution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Market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Traction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Raise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Problem &amp; solution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AI can reason but still can’t do real work: </a:t>
            </a:r>
            <a:r>
              <a:rPr lang="en-US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make real outcomes the next training signal</a:t>
            </a:r>
          </a:p>
        </p:txBody>
      </p:sp>
      <p:sp>
        <p:nvSpPr>
          <p:cNvPr id="5005" name="SimReal 5005"/>
          <p:cNvSpPr txBox="1"/>
          <p:nvPr/>
        </p:nvSpPr>
        <p:spPr>
          <a:xfrm>
            <a:off x="548640" y="1499616"/>
            <a:ext cx="56692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Real work has no answer key, only the world’s reaction</a:t>
            </a:r>
          </a:p>
        </p:txBody>
      </p:sp>
      <p:sp>
        <p:nvSpPr>
          <p:cNvPr id="5006" name="SimReal 5006"/>
          <p:cNvSpPr/>
          <p:nvPr/>
        </p:nvSpPr>
        <p:spPr>
          <a:xfrm>
            <a:off x="3429000" y="1810512"/>
            <a:ext cx="2606040" cy="2304288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7" name="SimReal 5007"/>
          <p:cNvSpPr txBox="1"/>
          <p:nvPr/>
        </p:nvSpPr>
        <p:spPr>
          <a:xfrm>
            <a:off x="1325880" y="1828800"/>
            <a:ext cx="201168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Surface check: passed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3566160" y="1828800"/>
            <a:ext cx="237744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Real world: failed</a:t>
            </a:r>
          </a:p>
        </p:txBody>
      </p:sp>
      <p:sp>
        <p:nvSpPr>
          <p:cNvPr id="5009" name="SimReal 5009"/>
          <p:cNvSpPr/>
          <p:nvPr/>
        </p:nvSpPr>
        <p:spPr>
          <a:xfrm>
            <a:off x="548640" y="2103120"/>
            <a:ext cx="5486400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0" name="SimReal 5010"/>
          <p:cNvSpPr txBox="1"/>
          <p:nvPr/>
        </p:nvSpPr>
        <p:spPr>
          <a:xfrm>
            <a:off x="548640" y="2103120"/>
            <a:ext cx="77724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Trading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1325880" y="2103120"/>
            <a:ext cx="18288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Backtest only goes up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3154680" y="2103120"/>
            <a:ext cx="27432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13" name="SimReal 5013"/>
          <p:cNvSpPr txBox="1"/>
          <p:nvPr/>
        </p:nvSpPr>
        <p:spPr>
          <a:xfrm>
            <a:off x="3566160" y="2103120"/>
            <a:ext cx="246888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Loses on unseen live markets</a:t>
            </a:r>
          </a:p>
        </p:txBody>
      </p:sp>
      <p:sp>
        <p:nvSpPr>
          <p:cNvPr id="5014" name="SimReal 5014"/>
          <p:cNvSpPr/>
          <p:nvPr/>
        </p:nvSpPr>
        <p:spPr>
          <a:xfrm>
            <a:off x="548640" y="2606040"/>
            <a:ext cx="5486400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5" name="SimReal 5015"/>
          <p:cNvSpPr txBox="1"/>
          <p:nvPr/>
        </p:nvSpPr>
        <p:spPr>
          <a:xfrm>
            <a:off x="548640" y="2606040"/>
            <a:ext cx="77724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Software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1325880" y="2606040"/>
            <a:ext cx="18288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All tests pass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3154680" y="2606040"/>
            <a:ext cx="27432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18" name="SimReal 5018"/>
          <p:cNvSpPr txBox="1"/>
          <p:nvPr/>
        </p:nvSpPr>
        <p:spPr>
          <a:xfrm>
            <a:off x="3566160" y="2606040"/>
            <a:ext cx="246888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Breaks in production</a:t>
            </a:r>
          </a:p>
        </p:txBody>
      </p:sp>
      <p:sp>
        <p:nvSpPr>
          <p:cNvPr id="5019" name="SimReal 5019"/>
          <p:cNvSpPr/>
          <p:nvPr/>
        </p:nvSpPr>
        <p:spPr>
          <a:xfrm>
            <a:off x="548640" y="3108960"/>
            <a:ext cx="5486400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0" name="SimReal 5020"/>
          <p:cNvSpPr txBox="1"/>
          <p:nvPr/>
        </p:nvSpPr>
        <p:spPr>
          <a:xfrm>
            <a:off x="548640" y="3108960"/>
            <a:ext cx="77724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Finance</a:t>
            </a:r>
          </a:p>
        </p:txBody>
      </p:sp>
      <p:sp>
        <p:nvSpPr>
          <p:cNvPr id="5021" name="SimReal 5021"/>
          <p:cNvSpPr txBox="1"/>
          <p:nvPr/>
        </p:nvSpPr>
        <p:spPr>
          <a:xfrm>
            <a:off x="1325880" y="3108960"/>
            <a:ext cx="18288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Books look finished</a:t>
            </a:r>
          </a:p>
        </p:txBody>
      </p:sp>
      <p:sp>
        <p:nvSpPr>
          <p:cNvPr id="5022" name="SimReal 5022"/>
          <p:cNvSpPr txBox="1"/>
          <p:nvPr/>
        </p:nvSpPr>
        <p:spPr>
          <a:xfrm>
            <a:off x="3154680" y="3108960"/>
            <a:ext cx="27432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3566160" y="3108960"/>
            <a:ext cx="246888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Month-end won’t reconcile</a:t>
            </a:r>
          </a:p>
        </p:txBody>
      </p:sp>
      <p:sp>
        <p:nvSpPr>
          <p:cNvPr id="5024" name="SimReal 5024"/>
          <p:cNvSpPr/>
          <p:nvPr/>
        </p:nvSpPr>
        <p:spPr>
          <a:xfrm>
            <a:off x="548640" y="3611880"/>
            <a:ext cx="5486400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5" name="SimReal 5025"/>
          <p:cNvSpPr txBox="1"/>
          <p:nvPr/>
        </p:nvSpPr>
        <p:spPr>
          <a:xfrm>
            <a:off x="548640" y="3611880"/>
            <a:ext cx="77724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Prediction</a:t>
            </a:r>
          </a:p>
        </p:txBody>
      </p:sp>
      <p:sp>
        <p:nvSpPr>
          <p:cNvPr id="5026" name="SimReal 5026"/>
          <p:cNvSpPr txBox="1"/>
          <p:nvPr/>
        </p:nvSpPr>
        <p:spPr>
          <a:xfrm>
            <a:off x="1325880" y="3611880"/>
            <a:ext cx="18288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Analysis sounds right</a:t>
            </a:r>
          </a:p>
        </p:txBody>
      </p:sp>
      <p:sp>
        <p:nvSpPr>
          <p:cNvPr id="5027" name="SimReal 5027"/>
          <p:cNvSpPr txBox="1"/>
          <p:nvPr/>
        </p:nvSpPr>
        <p:spPr>
          <a:xfrm>
            <a:off x="3154680" y="3611880"/>
            <a:ext cx="27432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28" name="SimReal 5028"/>
          <p:cNvSpPr txBox="1"/>
          <p:nvPr/>
        </p:nvSpPr>
        <p:spPr>
          <a:xfrm>
            <a:off x="3566160" y="3611880"/>
            <a:ext cx="246888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Bets on it lose money</a:t>
            </a:r>
          </a:p>
        </p:txBody>
      </p:sp>
      <p:sp>
        <p:nvSpPr>
          <p:cNvPr id="5029" name="SimReal 5029"/>
          <p:cNvSpPr/>
          <p:nvPr/>
        </p:nvSpPr>
        <p:spPr>
          <a:xfrm>
            <a:off x="548640" y="4114800"/>
            <a:ext cx="5486400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0" name="SimReal 5030"/>
          <p:cNvSpPr txBox="1"/>
          <p:nvPr/>
        </p:nvSpPr>
        <p:spPr>
          <a:xfrm>
            <a:off x="6492240" y="1463040"/>
            <a:ext cx="51480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AI needs </a:t>
            </a:r>
            <a:r>
              <a:rPr lang="en-US" sz="13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a world where real outcomes settle every move</a:t>
            </a:r>
          </a:p>
        </p:txBody>
      </p:sp>
      <p:sp>
        <p:nvSpPr>
          <p:cNvPr id="5031" name="SimReal 5031"/>
          <p:cNvSpPr/>
          <p:nvPr/>
        </p:nvSpPr>
        <p:spPr>
          <a:xfrm>
            <a:off x="6492240" y="1874520"/>
            <a:ext cx="4846320" cy="45720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2" name="SimReal 5032"/>
          <p:cNvSpPr txBox="1"/>
          <p:nvPr/>
        </p:nvSpPr>
        <p:spPr>
          <a:xfrm>
            <a:off x="6720840" y="1874520"/>
            <a:ext cx="43891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AI acts</a:t>
            </a:r>
          </a:p>
        </p:txBody>
      </p:sp>
      <p:sp>
        <p:nvSpPr>
          <p:cNvPr id="5033" name="SimReal 5033"/>
          <p:cNvSpPr/>
          <p:nvPr/>
        </p:nvSpPr>
        <p:spPr>
          <a:xfrm>
            <a:off x="6492240" y="2532888"/>
            <a:ext cx="4846320" cy="45720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4" name="SimReal 5034"/>
          <p:cNvSpPr txBox="1"/>
          <p:nvPr/>
        </p:nvSpPr>
        <p:spPr>
          <a:xfrm>
            <a:off x="6720840" y="2532888"/>
            <a:ext cx="43891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The environment responds by the rules; results reproduce</a:t>
            </a:r>
          </a:p>
        </p:txBody>
      </p:sp>
      <p:sp>
        <p:nvSpPr>
          <p:cNvPr id="5035" name="SimReal 5035"/>
          <p:cNvSpPr/>
          <p:nvPr/>
        </p:nvSpPr>
        <p:spPr>
          <a:xfrm>
            <a:off x="6492240" y="3191256"/>
            <a:ext cx="4846320" cy="45720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6" name="SimReal 5036"/>
          <p:cNvSpPr txBox="1"/>
          <p:nvPr/>
        </p:nvSpPr>
        <p:spPr>
          <a:xfrm>
            <a:off x="6720840" y="3191256"/>
            <a:ext cx="43891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Real outcomes settle it, leaving agent trajectories</a:t>
            </a:r>
          </a:p>
        </p:txBody>
      </p:sp>
      <p:sp>
        <p:nvSpPr>
          <p:cNvPr id="5037" name="SimReal 5037"/>
          <p:cNvSpPr/>
          <p:nvPr/>
        </p:nvSpPr>
        <p:spPr>
          <a:xfrm>
            <a:off x="6492240" y="3849624"/>
            <a:ext cx="4846320" cy="457200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8" name="SimReal 5038"/>
          <p:cNvSpPr txBox="1"/>
          <p:nvPr/>
        </p:nvSpPr>
        <p:spPr>
          <a:xfrm>
            <a:off x="6720840" y="3849624"/>
            <a:ext cx="43891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FAF9F6"/>
                </a:solidFill>
                <a:latin typeface="Newsreader"/>
                <a:ea typeface="Newsreader"/>
                <a:cs typeface="Newsreader"/>
                <a:sym typeface="Newsreader"/>
              </a:rPr>
              <a:t>Next round: train on the successful trajectories</a:t>
            </a:r>
          </a:p>
        </p:txBody>
      </p:sp>
      <p:sp>
        <p:nvSpPr>
          <p:cNvPr id="5039" name="SimReal 5039"/>
          <p:cNvSpPr txBox="1"/>
          <p:nvPr/>
        </p:nvSpPr>
        <p:spPr>
          <a:xfrm>
            <a:off x="6492240" y="2331720"/>
            <a:ext cx="484632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↓</a:t>
            </a:r>
          </a:p>
        </p:txBody>
      </p:sp>
      <p:sp>
        <p:nvSpPr>
          <p:cNvPr id="5040" name="SimReal 5040"/>
          <p:cNvSpPr txBox="1"/>
          <p:nvPr/>
        </p:nvSpPr>
        <p:spPr>
          <a:xfrm>
            <a:off x="6492240" y="2990088"/>
            <a:ext cx="484632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↓</a:t>
            </a:r>
          </a:p>
        </p:txBody>
      </p:sp>
      <p:sp>
        <p:nvSpPr>
          <p:cNvPr id="5041" name="SimReal 5041"/>
          <p:cNvSpPr txBox="1"/>
          <p:nvPr/>
        </p:nvSpPr>
        <p:spPr>
          <a:xfrm>
            <a:off x="6492240" y="3648456"/>
            <a:ext cx="484632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↓</a:t>
            </a:r>
          </a:p>
        </p:txBody>
      </p:sp>
      <p:sp>
        <p:nvSpPr>
          <p:cNvPr id="5042" name="SimReal 5042"/>
          <p:cNvSpPr/>
          <p:nvPr/>
        </p:nvSpPr>
        <p:spPr>
          <a:xfrm>
            <a:off x="11338560" y="4078224"/>
            <a:ext cx="146304" cy="10973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43" name="SimReal 5043"/>
          <p:cNvSpPr/>
          <p:nvPr/>
        </p:nvSpPr>
        <p:spPr>
          <a:xfrm>
            <a:off x="11484864" y="2103120"/>
            <a:ext cx="10973" cy="197510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44" name="SimReal 5044"/>
          <p:cNvSpPr/>
          <p:nvPr/>
        </p:nvSpPr>
        <p:spPr>
          <a:xfrm>
            <a:off x="11338560" y="2103120"/>
            <a:ext cx="146304" cy="10973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45" name="SimReal 5045"/>
          <p:cNvSpPr txBox="1"/>
          <p:nvPr/>
        </p:nvSpPr>
        <p:spPr>
          <a:xfrm>
            <a:off x="11375136" y="2624328"/>
            <a:ext cx="228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↑</a:t>
            </a:r>
          </a:p>
        </p:txBody>
      </p:sp>
      <p:sp>
        <p:nvSpPr>
          <p:cNvPr id="5046" name="SimReal 5046"/>
          <p:cNvSpPr/>
          <p:nvPr/>
        </p:nvSpPr>
        <p:spPr>
          <a:xfrm>
            <a:off x="548640" y="4434840"/>
            <a:ext cx="2635758" cy="658368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47" name="SimReal 5047"/>
          <p:cNvSpPr txBox="1"/>
          <p:nvPr/>
        </p:nvSpPr>
        <p:spPr>
          <a:xfrm>
            <a:off x="731520" y="4489704"/>
            <a:ext cx="226999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01 Environments</a:t>
            </a:r>
          </a:p>
        </p:txBody>
      </p:sp>
      <p:sp>
        <p:nvSpPr>
          <p:cNvPr id="5048" name="SimReal 5048"/>
          <p:cNvSpPr txBox="1"/>
          <p:nvPr/>
        </p:nvSpPr>
        <p:spPr>
          <a:xfrm>
            <a:off x="731520" y="4764024"/>
            <a:ext cx="2269998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Professional settings rebuilt by real rules</a:t>
            </a:r>
          </a:p>
        </p:txBody>
      </p:sp>
      <p:sp>
        <p:nvSpPr>
          <p:cNvPr id="5049" name="SimReal 5049"/>
          <p:cNvSpPr/>
          <p:nvPr/>
        </p:nvSpPr>
        <p:spPr>
          <a:xfrm>
            <a:off x="3367278" y="4434840"/>
            <a:ext cx="2635758" cy="658368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50" name="SimReal 5050"/>
          <p:cNvSpPr txBox="1"/>
          <p:nvPr/>
        </p:nvSpPr>
        <p:spPr>
          <a:xfrm>
            <a:off x="3550158" y="4489704"/>
            <a:ext cx="226999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02 Scoring</a:t>
            </a:r>
          </a:p>
        </p:txBody>
      </p:sp>
      <p:sp>
        <p:nvSpPr>
          <p:cNvPr id="5051" name="SimReal 5051"/>
          <p:cNvSpPr txBox="1"/>
          <p:nvPr/>
        </p:nvSpPr>
        <p:spPr>
          <a:xfrm>
            <a:off x="3550158" y="4764024"/>
            <a:ext cx="2269998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Scored on real outcomes, not an AI’s opinion</a:t>
            </a:r>
          </a:p>
        </p:txBody>
      </p:sp>
      <p:sp>
        <p:nvSpPr>
          <p:cNvPr id="5052" name="SimReal 5052"/>
          <p:cNvSpPr/>
          <p:nvPr/>
        </p:nvSpPr>
        <p:spPr>
          <a:xfrm>
            <a:off x="6185916" y="4434840"/>
            <a:ext cx="2635758" cy="658368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53" name="SimReal 5053"/>
          <p:cNvSpPr txBox="1"/>
          <p:nvPr/>
        </p:nvSpPr>
        <p:spPr>
          <a:xfrm>
            <a:off x="6368796" y="4489704"/>
            <a:ext cx="226999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03 Expert input</a:t>
            </a:r>
          </a:p>
        </p:txBody>
      </p:sp>
      <p:sp>
        <p:nvSpPr>
          <p:cNvPr id="5054" name="SimReal 5054"/>
          <p:cNvSpPr txBox="1"/>
          <p:nvPr/>
        </p:nvSpPr>
        <p:spPr>
          <a:xfrm>
            <a:off x="6368796" y="4764024"/>
            <a:ext cx="2269998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Expert judgment and scoring standards</a:t>
            </a:r>
          </a:p>
        </p:txBody>
      </p:sp>
      <p:sp>
        <p:nvSpPr>
          <p:cNvPr id="5055" name="SimReal 5055"/>
          <p:cNvSpPr/>
          <p:nvPr/>
        </p:nvSpPr>
        <p:spPr>
          <a:xfrm>
            <a:off x="9004554" y="4434840"/>
            <a:ext cx="2635758" cy="65836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56" name="SimReal 5056"/>
          <p:cNvSpPr txBox="1"/>
          <p:nvPr/>
        </p:nvSpPr>
        <p:spPr>
          <a:xfrm>
            <a:off x="9187434" y="4489704"/>
            <a:ext cx="226999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E27A3F"/>
                </a:solidFill>
                <a:latin typeface="Newsreader"/>
                <a:ea typeface="Newsreader"/>
                <a:cs typeface="Newsreader"/>
                <a:sym typeface="Newsreader"/>
              </a:rPr>
              <a:t>SimReal</a:t>
            </a:r>
          </a:p>
        </p:txBody>
      </p:sp>
      <p:sp>
        <p:nvSpPr>
          <p:cNvPr id="5057" name="SimReal 5057"/>
          <p:cNvSpPr txBox="1"/>
          <p:nvPr/>
        </p:nvSpPr>
        <p:spPr>
          <a:xfrm>
            <a:off x="9187434" y="4764024"/>
            <a:ext cx="2269998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FAF9F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One environment for evals, data and training</a:t>
            </a:r>
          </a:p>
        </p:txBody>
      </p:sp>
      <p:sp>
        <p:nvSpPr>
          <p:cNvPr id="5058" name="SimReal 5058"/>
          <p:cNvSpPr txBox="1"/>
          <p:nvPr/>
        </p:nvSpPr>
        <p:spPr>
          <a:xfrm>
            <a:off x="548640" y="5230368"/>
            <a:ext cx="11091672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Each round keeps what real outcomes reward and retrains on it: </a:t>
            </a:r>
            <a:r>
              <a:rPr lang="en-US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expert iteration today, RSI as the long-term goal</a:t>
            </a:r>
            <a:r>
              <a:rPr lang="en-US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.</a:t>
            </a:r>
          </a:p>
        </p:txBody>
      </p:sp>
      <p:sp>
        <p:nvSpPr>
          <p:cNvPr id="5059" name="SimReal 5059"/>
          <p:cNvSpPr txBox="1"/>
          <p:nvPr/>
        </p:nvSpPr>
        <p:spPr>
          <a:xfrm>
            <a:off x="548640" y="5760720"/>
            <a:ext cx="11091672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RSI: recursive self-improvement, where AI helps improve the next AI</a:t>
            </a:r>
          </a:p>
        </p:txBody>
      </p:sp>
      <p:sp>
        <p:nvSpPr>
          <p:cNvPr id="5060" name="SimReal 5060"/>
          <p:cNvSpPr txBox="1"/>
          <p:nvPr/>
        </p:nvSpPr>
        <p:spPr>
          <a:xfrm>
            <a:off x="137160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Confidential  ·  For invited investors only  ·  September 2026</a:t>
            </a:r>
          </a:p>
        </p:txBody>
      </p:sp>
      <p:sp>
        <p:nvSpPr>
          <p:cNvPr id="5061" name="SimReal 5061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04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" name="Google Shape;266;p10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06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Team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Problem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  </a:t>
            </a:r>
            <a:r>
              <a:rPr lang="en-US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Solution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Market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Traction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Raise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Flagship proof · Xitadel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In two weeks we ran </a:t>
            </a:r>
            <a:r>
              <a:rPr lang="en-US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the iterative training loop for market making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517904"/>
            <a:ext cx="5852160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548640" y="1517904"/>
            <a:ext cx="1325880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One episode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1920240" y="1517904"/>
            <a:ext cx="4480560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Researches the order books for 6 or 12 hours with sandboxed tools, writes Trader.run(state); no resubmits</a:t>
            </a:r>
          </a:p>
        </p:txBody>
      </p:sp>
      <p:sp>
        <p:nvSpPr>
          <p:cNvPr id="5008" name="SimReal 5008"/>
          <p:cNvSpPr/>
          <p:nvPr/>
        </p:nvSpPr>
        <p:spPr>
          <a:xfrm>
            <a:off x="548640" y="1938528"/>
            <a:ext cx="5852160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9" name="SimReal 5009"/>
          <p:cNvSpPr txBox="1"/>
          <p:nvPr/>
        </p:nvSpPr>
        <p:spPr>
          <a:xfrm>
            <a:off x="548640" y="1938528"/>
            <a:ext cx="1325880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Competition market</a:t>
            </a:r>
          </a:p>
        </p:txBody>
      </p:sp>
      <p:sp>
        <p:nvSpPr>
          <p:cNvPr id="5010" name="SimReal 5010"/>
          <p:cNvSpPr txBox="1"/>
          <p:nvPr/>
        </p:nvSpPr>
        <p:spPr>
          <a:xfrm>
            <a:off x="1920240" y="1938528"/>
            <a:ext cx="4480560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Replays IMC Prosperity order books tick by tick (matching rules on page 12)</a:t>
            </a:r>
          </a:p>
        </p:txBody>
      </p:sp>
      <p:sp>
        <p:nvSpPr>
          <p:cNvPr id="5011" name="SimReal 5011"/>
          <p:cNvSpPr/>
          <p:nvPr/>
        </p:nvSpPr>
        <p:spPr>
          <a:xfrm>
            <a:off x="548640" y="2359152"/>
            <a:ext cx="5852160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2" name="SimReal 5012"/>
          <p:cNvSpPr txBox="1"/>
          <p:nvPr/>
        </p:nvSpPr>
        <p:spPr>
          <a:xfrm>
            <a:off x="548640" y="2359152"/>
            <a:ext cx="1325880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Simulator as judge</a:t>
            </a:r>
          </a:p>
        </p:txBody>
      </p:sp>
      <p:sp>
        <p:nvSpPr>
          <p:cNvPr id="5013" name="SimReal 5013"/>
          <p:cNvSpPr txBox="1"/>
          <p:nvPr/>
        </p:nvSpPr>
        <p:spPr>
          <a:xfrm>
            <a:off x="1920240" y="2359152"/>
            <a:ext cx="4480560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Scored on P&amp;L, drawdown and Sharpe; the formula is on page 12</a:t>
            </a:r>
          </a:p>
        </p:txBody>
      </p:sp>
      <p:sp>
        <p:nvSpPr>
          <p:cNvPr id="5014" name="SimReal 5014"/>
          <p:cNvSpPr/>
          <p:nvPr/>
        </p:nvSpPr>
        <p:spPr>
          <a:xfrm>
            <a:off x="548640" y="2779776"/>
            <a:ext cx="5852160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5" name="SimReal 5015"/>
          <p:cNvSpPr txBox="1"/>
          <p:nvPr/>
        </p:nvSpPr>
        <p:spPr>
          <a:xfrm>
            <a:off x="548640" y="2779776"/>
            <a:ext cx="1325880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Human benchmark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1920240" y="2779776"/>
            <a:ext cx="4480560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The best human competition strategy on the same held-out day scores 80</a:t>
            </a:r>
          </a:p>
        </p:txBody>
      </p:sp>
      <p:sp>
        <p:nvSpPr>
          <p:cNvPr id="5017" name="SimReal 5017"/>
          <p:cNvSpPr/>
          <p:nvPr/>
        </p:nvSpPr>
        <p:spPr>
          <a:xfrm>
            <a:off x="548640" y="3200400"/>
            <a:ext cx="5852160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8" name="SimReal 5018"/>
          <p:cNvSpPr txBox="1"/>
          <p:nvPr/>
        </p:nvSpPr>
        <p:spPr>
          <a:xfrm>
            <a:off x="548640" y="3291840"/>
            <a:ext cx="201168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+12%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2514600" y="3310128"/>
            <a:ext cx="388620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After training, the open model Qwen3.8-27B</a:t>
            </a:r>
            <a:br>
              <a:rPr lang="en-US" sz="1150"/>
            </a:br>
            <a:r>
              <a:rPr lang="en-US" sz="115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did up to 12% better on unseen competition days</a:t>
            </a:r>
          </a:p>
          <a:p>
            <a:pPr marL="0" marR="0" lvl="0" indent="0" algn="l" rtl="0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Best run, not a mean</a:t>
            </a:r>
          </a:p>
        </p:txBody>
      </p:sp>
      <p:sp>
        <p:nvSpPr>
          <p:cNvPr id="5020" name="SimReal 5020"/>
          <p:cNvSpPr/>
          <p:nvPr/>
        </p:nvSpPr>
        <p:spPr>
          <a:xfrm>
            <a:off x="548640" y="4114800"/>
            <a:ext cx="5852160" cy="804672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1" name="SimReal 5021"/>
          <p:cNvSpPr txBox="1"/>
          <p:nvPr/>
        </p:nvSpPr>
        <p:spPr>
          <a:xfrm>
            <a:off x="777240" y="4187952"/>
            <a:ext cx="539496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E27A3F"/>
                </a:solidFill>
                <a:latin typeface="IBM Plex Mono"/>
                <a:ea typeface="IBM Plex Mono"/>
                <a:cs typeface="IBM Plex Mono"/>
                <a:sym typeface="IBM Plex Mono"/>
              </a:rPr>
              <a:t>REPORTED WITHIN 3 MONTHS</a:t>
            </a:r>
          </a:p>
        </p:txBody>
      </p:sp>
      <p:sp>
        <p:nvSpPr>
          <p:cNvPr id="5022" name="SimReal 5022"/>
          <p:cNvSpPr txBox="1"/>
          <p:nvPr/>
        </p:nvSpPr>
        <p:spPr>
          <a:xfrm>
            <a:off x="777240" y="4389120"/>
            <a:ext cx="5394960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FAF9F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Each task × 10 seeds, paired before/after: mean, 95% CI, paired p-value, per-task change; reserve tasks as a second held-out set; event prediction checked with Brier scores</a:t>
            </a:r>
          </a:p>
        </p:txBody>
      </p:sp>
      <p:sp>
        <p:nvSpPr>
          <p:cNvPr id="5023" name="SimReal 5023"/>
          <p:cNvSpPr/>
          <p:nvPr/>
        </p:nvSpPr>
        <p:spPr>
          <a:xfrm>
            <a:off x="6812280" y="1517904"/>
            <a:ext cx="4828032" cy="3401568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4" name="SimReal 5024"/>
          <p:cNvSpPr txBox="1"/>
          <p:nvPr/>
        </p:nvSpPr>
        <p:spPr>
          <a:xfrm>
            <a:off x="7086600" y="1700784"/>
            <a:ext cx="4279392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Xitadel public preview · 7 tasks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7086600" y="1938528"/>
            <a:ext cx="427939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GPT 6 matches humans on 5 of 7 tasks; multi-asset only 51</a:t>
            </a:r>
          </a:p>
        </p:txBody>
      </p:sp>
      <p:sp>
        <p:nvSpPr>
          <p:cNvPr id="5026" name="SimReal 5026"/>
          <p:cNvSpPr/>
          <p:nvPr/>
        </p:nvSpPr>
        <p:spPr>
          <a:xfrm>
            <a:off x="10588752" y="2615184"/>
            <a:ext cx="13716" cy="1627632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7" name="SimReal 5027"/>
          <p:cNvSpPr txBox="1"/>
          <p:nvPr/>
        </p:nvSpPr>
        <p:spPr>
          <a:xfrm>
            <a:off x="9857232" y="2395728"/>
            <a:ext cx="146304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Best human 80</a:t>
            </a:r>
          </a:p>
        </p:txBody>
      </p:sp>
      <p:sp>
        <p:nvSpPr>
          <p:cNvPr id="5028" name="SimReal 5028"/>
          <p:cNvSpPr txBox="1"/>
          <p:nvPr/>
        </p:nvSpPr>
        <p:spPr>
          <a:xfrm>
            <a:off x="7086600" y="2798064"/>
            <a:ext cx="12344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GPT 6</a:t>
            </a:r>
          </a:p>
        </p:txBody>
      </p:sp>
      <p:sp>
        <p:nvSpPr>
          <p:cNvPr id="5029" name="SimReal 5029"/>
          <p:cNvSpPr/>
          <p:nvPr/>
        </p:nvSpPr>
        <p:spPr>
          <a:xfrm>
            <a:off x="8321040" y="2843784"/>
            <a:ext cx="2190610" cy="182880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0" name="SimReal 5030"/>
          <p:cNvSpPr txBox="1"/>
          <p:nvPr/>
        </p:nvSpPr>
        <p:spPr>
          <a:xfrm>
            <a:off x="9908146" y="2798064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FAF9F6"/>
                </a:solidFill>
                <a:latin typeface="IBM Plex Mono"/>
                <a:ea typeface="IBM Plex Mono"/>
                <a:cs typeface="IBM Plex Mono"/>
                <a:sym typeface="IBM Plex Mono"/>
              </a:rPr>
              <a:t>77.28</a:t>
            </a:r>
          </a:p>
        </p:txBody>
      </p:sp>
      <p:sp>
        <p:nvSpPr>
          <p:cNvPr id="5031" name="SimReal 5031"/>
          <p:cNvSpPr txBox="1"/>
          <p:nvPr/>
        </p:nvSpPr>
        <p:spPr>
          <a:xfrm>
            <a:off x="7086600" y="3182112"/>
            <a:ext cx="12344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GLM 5.3</a:t>
            </a:r>
          </a:p>
        </p:txBody>
      </p:sp>
      <p:sp>
        <p:nvSpPr>
          <p:cNvPr id="5032" name="SimReal 5032"/>
          <p:cNvSpPr/>
          <p:nvPr/>
        </p:nvSpPr>
        <p:spPr>
          <a:xfrm>
            <a:off x="8321040" y="3227832"/>
            <a:ext cx="853794" cy="182880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3" name="SimReal 5033"/>
          <p:cNvSpPr txBox="1"/>
          <p:nvPr/>
        </p:nvSpPr>
        <p:spPr>
          <a:xfrm>
            <a:off x="9229698" y="3182112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111110"/>
                </a:solidFill>
                <a:latin typeface="IBM Plex Mono"/>
                <a:ea typeface="IBM Plex Mono"/>
                <a:cs typeface="IBM Plex Mono"/>
                <a:sym typeface="IBM Plex Mono"/>
              </a:rPr>
              <a:t>30.12</a:t>
            </a:r>
          </a:p>
        </p:txBody>
      </p:sp>
      <p:sp>
        <p:nvSpPr>
          <p:cNvPr id="5034" name="SimReal 5034"/>
          <p:cNvSpPr txBox="1"/>
          <p:nvPr/>
        </p:nvSpPr>
        <p:spPr>
          <a:xfrm>
            <a:off x="7086600" y="3566160"/>
            <a:ext cx="12344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Kimi K3</a:t>
            </a:r>
          </a:p>
        </p:txBody>
      </p:sp>
      <p:sp>
        <p:nvSpPr>
          <p:cNvPr id="5035" name="SimReal 5035"/>
          <p:cNvSpPr/>
          <p:nvPr/>
        </p:nvSpPr>
        <p:spPr>
          <a:xfrm>
            <a:off x="8321040" y="3611880"/>
            <a:ext cx="784628" cy="182880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6" name="SimReal 5036"/>
          <p:cNvSpPr txBox="1"/>
          <p:nvPr/>
        </p:nvSpPr>
        <p:spPr>
          <a:xfrm>
            <a:off x="9160532" y="3566160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111110"/>
                </a:solidFill>
                <a:latin typeface="IBM Plex Mono"/>
                <a:ea typeface="IBM Plex Mono"/>
                <a:cs typeface="IBM Plex Mono"/>
                <a:sym typeface="IBM Plex Mono"/>
              </a:rPr>
              <a:t>27.68</a:t>
            </a:r>
          </a:p>
        </p:txBody>
      </p:sp>
      <p:sp>
        <p:nvSpPr>
          <p:cNvPr id="5037" name="SimReal 5037"/>
          <p:cNvSpPr txBox="1"/>
          <p:nvPr/>
        </p:nvSpPr>
        <p:spPr>
          <a:xfrm>
            <a:off x="7086600" y="3950208"/>
            <a:ext cx="12344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DeepSeek V4 Pro</a:t>
            </a:r>
          </a:p>
        </p:txBody>
      </p:sp>
      <p:sp>
        <p:nvSpPr>
          <p:cNvPr id="5038" name="SimReal 5038"/>
          <p:cNvSpPr/>
          <p:nvPr/>
        </p:nvSpPr>
        <p:spPr>
          <a:xfrm>
            <a:off x="8321040" y="3995928"/>
            <a:ext cx="696755" cy="182880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9" name="SimReal 5039"/>
          <p:cNvSpPr txBox="1"/>
          <p:nvPr/>
        </p:nvSpPr>
        <p:spPr>
          <a:xfrm>
            <a:off x="9072659" y="3950208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111110"/>
                </a:solidFill>
                <a:latin typeface="IBM Plex Mono"/>
                <a:ea typeface="IBM Plex Mono"/>
                <a:cs typeface="IBM Plex Mono"/>
                <a:sym typeface="IBM Plex Mono"/>
              </a:rPr>
              <a:t>24.58</a:t>
            </a:r>
          </a:p>
        </p:txBody>
      </p:sp>
      <p:sp>
        <p:nvSpPr>
          <p:cNvPr id="5040" name="SimReal 5040"/>
          <p:cNvSpPr txBox="1"/>
          <p:nvPr/>
        </p:nvSpPr>
        <p:spPr>
          <a:xfrm>
            <a:off x="7086600" y="4352544"/>
            <a:ext cx="4279392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task_04: GLM 5.3 96.03, GPT 6 89.53; Kimi K3 and DeepSeek V4 Pro 0</a:t>
            </a: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Overall = mean of 7 tasks; public runs used 2/4-hour pilot limits (standard 6/12)</a:t>
            </a:r>
          </a:p>
        </p:txBody>
      </p:sp>
      <p:sp>
        <p:nvSpPr>
          <p:cNvPr id="5041" name="SimReal 5041"/>
          <p:cNvSpPr txBox="1"/>
          <p:nvPr/>
        </p:nvSpPr>
        <p:spPr>
          <a:xfrm>
            <a:off x="548640" y="5047488"/>
            <a:ext cx="11091672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Limits: the competition market is made of trading bots, not exchange data; replay ignores the price impact of our orders; real market data comes next. Data: IMC Prosperity 3 and 4 open-source backtester resources (MIT).</a:t>
            </a:r>
          </a:p>
        </p:txBody>
      </p:sp>
      <p:sp>
        <p:nvSpPr>
          <p:cNvPr id="5042" name="SimReal 5042"/>
          <p:cNvSpPr txBox="1"/>
          <p:nvPr/>
        </p:nvSpPr>
        <p:spPr>
          <a:xfrm>
            <a:off x="548640" y="5358384"/>
            <a:ext cx="11091672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Only numbers that reproduce: </a:t>
            </a:r>
            <a:r>
              <a:rPr lang="en-US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raw logs, metric definitions, scripts and result hashes in diligence</a:t>
            </a:r>
            <a:r>
              <a:rPr lang="en-US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.</a:t>
            </a:r>
          </a:p>
        </p:txBody>
      </p:sp>
      <p:sp>
        <p:nvSpPr>
          <p:cNvPr id="5043" name="SimReal 5043"/>
          <p:cNvSpPr txBox="1"/>
          <p:nvPr/>
        </p:nvSpPr>
        <p:spPr>
          <a:xfrm>
            <a:off x="548640" y="5870448"/>
            <a:ext cx="11091672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Source: Xitadel-QuantBench public repo (README, REPORT, SCORING).</a:t>
            </a:r>
          </a:p>
        </p:txBody>
      </p:sp>
      <p:sp>
        <p:nvSpPr>
          <p:cNvPr id="5044" name="SimReal 5044"/>
          <p:cNvSpPr txBox="1"/>
          <p:nvPr/>
        </p:nvSpPr>
        <p:spPr>
          <a:xfrm>
            <a:off x="137160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Confidential  ·  For invited investors only  ·  September 2026</a:t>
            </a:r>
          </a:p>
        </p:txBody>
      </p:sp>
      <p:sp>
        <p:nvSpPr>
          <p:cNvPr id="5045" name="SimReal 5045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06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0" name="Google Shape;300;p11" descr="SimReal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07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Team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Problem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  </a:t>
            </a:r>
            <a:r>
              <a:rPr lang="en-US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Solution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Market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Traction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Raise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Products &amp; data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7 benchmarks and environments, from trading to software; </a:t>
            </a:r>
            <a:r>
              <a:rPr lang="en-US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5 open-sourced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517904"/>
            <a:ext cx="11091672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548640" y="1554480"/>
            <a:ext cx="22860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Product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3246120" y="1554480"/>
            <a:ext cx="22860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Domain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4434840" y="1554480"/>
            <a:ext cx="22860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What it does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9509760" y="1554480"/>
            <a:ext cx="22860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Status</a:t>
            </a:r>
          </a:p>
        </p:txBody>
      </p:sp>
      <p:sp>
        <p:nvSpPr>
          <p:cNvPr id="5010" name="SimReal 5010"/>
          <p:cNvSpPr/>
          <p:nvPr/>
        </p:nvSpPr>
        <p:spPr>
          <a:xfrm>
            <a:off x="548640" y="1810512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1" name="SimReal 5011"/>
          <p:cNvSpPr txBox="1"/>
          <p:nvPr/>
        </p:nvSpPr>
        <p:spPr>
          <a:xfrm>
            <a:off x="548640" y="1810512"/>
            <a:ext cx="265176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Xitadel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Xitadel-QuantBench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3246120" y="1810512"/>
            <a:ext cx="114300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Trading</a:t>
            </a:r>
          </a:p>
        </p:txBody>
      </p:sp>
      <p:sp>
        <p:nvSpPr>
          <p:cNvPr id="5013" name="SimReal 5013"/>
          <p:cNvSpPr txBox="1"/>
          <p:nvPr/>
        </p:nvSpPr>
        <p:spPr>
          <a:xfrm>
            <a:off x="4434840" y="1810512"/>
            <a:ext cx="502920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Flagship market-making environment (page 6)</a:t>
            </a:r>
          </a:p>
        </p:txBody>
      </p:sp>
      <p:sp>
        <p:nvSpPr>
          <p:cNvPr id="5014" name="SimReal 5014"/>
          <p:cNvSpPr txBox="1"/>
          <p:nvPr/>
        </p:nvSpPr>
        <p:spPr>
          <a:xfrm>
            <a:off x="9509760" y="1810512"/>
            <a:ext cx="2130552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Open</a:t>
            </a:r>
            <a:r>
              <a:rPr lang="en-US" sz="10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·  102 stars</a:t>
            </a:r>
          </a:p>
        </p:txBody>
      </p:sp>
      <p:sp>
        <p:nvSpPr>
          <p:cNvPr id="5015" name="SimReal 5015"/>
          <p:cNvSpPr/>
          <p:nvPr/>
        </p:nvSpPr>
        <p:spPr>
          <a:xfrm>
            <a:off x="548640" y="2194560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6" name="SimReal 5016"/>
          <p:cNvSpPr txBox="1"/>
          <p:nvPr/>
        </p:nvSpPr>
        <p:spPr>
          <a:xfrm>
            <a:off x="548640" y="2194560"/>
            <a:ext cx="265176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SimReal-MLBench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Simreal-MLBench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3246120" y="2194560"/>
            <a:ext cx="114300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AI research</a:t>
            </a:r>
          </a:p>
        </p:txBody>
      </p:sp>
      <p:sp>
        <p:nvSpPr>
          <p:cNvPr id="5018" name="SimReal 5018"/>
          <p:cNvSpPr txBox="1"/>
          <p:nvPr/>
        </p:nvSpPr>
        <p:spPr>
          <a:xfrm>
            <a:off x="4434840" y="2194560"/>
            <a:ext cx="502920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60 research tasks, 7 data types; modeled on OpenAI’s MLE-bench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9509760" y="2194560"/>
            <a:ext cx="2130552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Open</a:t>
            </a:r>
            <a:r>
              <a:rPr lang="en-US" sz="10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·  178 stars</a:t>
            </a:r>
          </a:p>
        </p:txBody>
      </p:sp>
      <p:sp>
        <p:nvSpPr>
          <p:cNvPr id="5020" name="SimReal 5020"/>
          <p:cNvSpPr/>
          <p:nvPr/>
        </p:nvSpPr>
        <p:spPr>
          <a:xfrm>
            <a:off x="548640" y="2578608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1" name="SimReal 5021"/>
          <p:cNvSpPr txBox="1"/>
          <p:nvPr/>
        </p:nvSpPr>
        <p:spPr>
          <a:xfrm>
            <a:off x="548640" y="2578608"/>
            <a:ext cx="265176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FuturePredict Bench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future-prediction-bench</a:t>
            </a:r>
          </a:p>
        </p:txBody>
      </p:sp>
      <p:sp>
        <p:nvSpPr>
          <p:cNvPr id="5022" name="SimReal 5022"/>
          <p:cNvSpPr txBox="1"/>
          <p:nvPr/>
        </p:nvSpPr>
        <p:spPr>
          <a:xfrm>
            <a:off x="3246120" y="2578608"/>
            <a:ext cx="114300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Prediction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4434840" y="2578608"/>
            <a:ext cx="502920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Predicts real events, trains on outcomes once resolved; live data</a:t>
            </a:r>
          </a:p>
        </p:txBody>
      </p:sp>
      <p:sp>
        <p:nvSpPr>
          <p:cNvPr id="5024" name="SimReal 5024"/>
          <p:cNvSpPr txBox="1"/>
          <p:nvPr/>
        </p:nvSpPr>
        <p:spPr>
          <a:xfrm>
            <a:off x="9509760" y="2578608"/>
            <a:ext cx="2130552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Partly open</a:t>
            </a:r>
          </a:p>
        </p:txBody>
      </p:sp>
      <p:sp>
        <p:nvSpPr>
          <p:cNvPr id="5025" name="SimReal 5025"/>
          <p:cNvSpPr/>
          <p:nvPr/>
        </p:nvSpPr>
        <p:spPr>
          <a:xfrm>
            <a:off x="548640" y="2962656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6" name="SimReal 5026"/>
          <p:cNvSpPr txBox="1"/>
          <p:nvPr/>
        </p:nvSpPr>
        <p:spPr>
          <a:xfrm>
            <a:off x="548640" y="2962656"/>
            <a:ext cx="265176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MathmoBench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MathmoBench</a:t>
            </a:r>
          </a:p>
        </p:txBody>
      </p:sp>
      <p:sp>
        <p:nvSpPr>
          <p:cNvPr id="5027" name="SimReal 5027"/>
          <p:cNvSpPr txBox="1"/>
          <p:nvPr/>
        </p:nvSpPr>
        <p:spPr>
          <a:xfrm>
            <a:off x="3246120" y="2962656"/>
            <a:ext cx="114300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Math proofs</a:t>
            </a:r>
          </a:p>
        </p:txBody>
      </p:sp>
      <p:sp>
        <p:nvSpPr>
          <p:cNvPr id="5028" name="SimReal 5028"/>
          <p:cNvSpPr txBox="1"/>
          <p:nvPr/>
        </p:nvSpPr>
        <p:spPr>
          <a:xfrm>
            <a:off x="4434840" y="2962656"/>
            <a:ext cx="502920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Makes AI prove answers instead of guessing them</a:t>
            </a:r>
          </a:p>
        </p:txBody>
      </p:sp>
      <p:sp>
        <p:nvSpPr>
          <p:cNvPr id="5029" name="SimReal 5029"/>
          <p:cNvSpPr txBox="1"/>
          <p:nvPr/>
        </p:nvSpPr>
        <p:spPr>
          <a:xfrm>
            <a:off x="9509760" y="2962656"/>
            <a:ext cx="2130552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Open</a:t>
            </a:r>
            <a:r>
              <a:rPr lang="en-US" sz="10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·  102 stars</a:t>
            </a:r>
          </a:p>
        </p:txBody>
      </p:sp>
      <p:sp>
        <p:nvSpPr>
          <p:cNvPr id="5030" name="SimReal 5030"/>
          <p:cNvSpPr/>
          <p:nvPr/>
        </p:nvSpPr>
        <p:spPr>
          <a:xfrm>
            <a:off x="548640" y="3346704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1" name="SimReal 5031"/>
          <p:cNvSpPr txBox="1"/>
          <p:nvPr/>
        </p:nvSpPr>
        <p:spPr>
          <a:xfrm>
            <a:off x="548640" y="3346704"/>
            <a:ext cx="265176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Puzzle Benchmark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hard-puzzle-benchmark</a:t>
            </a:r>
          </a:p>
        </p:txBody>
      </p:sp>
      <p:sp>
        <p:nvSpPr>
          <p:cNvPr id="5032" name="SimReal 5032"/>
          <p:cNvSpPr txBox="1"/>
          <p:nvPr/>
        </p:nvSpPr>
        <p:spPr>
          <a:xfrm>
            <a:off x="3246120" y="3346704"/>
            <a:ext cx="114300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Reasoning</a:t>
            </a:r>
          </a:p>
        </p:txBody>
      </p:sp>
      <p:sp>
        <p:nvSpPr>
          <p:cNvPr id="5033" name="SimReal 5033"/>
          <p:cNvSpPr txBox="1"/>
          <p:nvPr/>
        </p:nvSpPr>
        <p:spPr>
          <a:xfrm>
            <a:off x="4434840" y="3346704"/>
            <a:ext cx="502920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749 hand-written reasoning puzzles</a:t>
            </a:r>
          </a:p>
        </p:txBody>
      </p:sp>
      <p:sp>
        <p:nvSpPr>
          <p:cNvPr id="5034" name="SimReal 5034"/>
          <p:cNvSpPr txBox="1"/>
          <p:nvPr/>
        </p:nvSpPr>
        <p:spPr>
          <a:xfrm>
            <a:off x="9509760" y="3346704"/>
            <a:ext cx="2130552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Open</a:t>
            </a:r>
            <a:r>
              <a:rPr lang="en-US" sz="10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·  17 stars</a:t>
            </a:r>
          </a:p>
        </p:txBody>
      </p:sp>
      <p:sp>
        <p:nvSpPr>
          <p:cNvPr id="5035" name="SimReal 5035"/>
          <p:cNvSpPr/>
          <p:nvPr/>
        </p:nvSpPr>
        <p:spPr>
          <a:xfrm>
            <a:off x="548640" y="3730752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6" name="SimReal 5036"/>
          <p:cNvSpPr txBox="1"/>
          <p:nvPr/>
        </p:nvSpPr>
        <p:spPr>
          <a:xfrm>
            <a:off x="548640" y="3730752"/>
            <a:ext cx="265176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Month-End Close</a:t>
            </a:r>
          </a:p>
        </p:txBody>
      </p:sp>
      <p:sp>
        <p:nvSpPr>
          <p:cNvPr id="5037" name="SimReal 5037"/>
          <p:cNvSpPr txBox="1"/>
          <p:nvPr/>
        </p:nvSpPr>
        <p:spPr>
          <a:xfrm>
            <a:off x="3246120" y="3730752"/>
            <a:ext cx="114300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Finance close</a:t>
            </a:r>
          </a:p>
        </p:txBody>
      </p:sp>
      <p:sp>
        <p:nvSpPr>
          <p:cNvPr id="5038" name="SimReal 5038"/>
          <p:cNvSpPr txBox="1"/>
          <p:nvPr/>
        </p:nvSpPr>
        <p:spPr>
          <a:xfrm>
            <a:off x="4434840" y="3730752"/>
            <a:ext cx="502920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Has AI close the books with zero errors</a:t>
            </a:r>
          </a:p>
        </p:txBody>
      </p:sp>
      <p:sp>
        <p:nvSpPr>
          <p:cNvPr id="5039" name="SimReal 5039"/>
          <p:cNvSpPr txBox="1"/>
          <p:nvPr/>
        </p:nvSpPr>
        <p:spPr>
          <a:xfrm>
            <a:off x="9509760" y="3730752"/>
            <a:ext cx="2130552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Live  ·  private</a:t>
            </a:r>
          </a:p>
        </p:txBody>
      </p:sp>
      <p:sp>
        <p:nvSpPr>
          <p:cNvPr id="5040" name="SimReal 5040"/>
          <p:cNvSpPr/>
          <p:nvPr/>
        </p:nvSpPr>
        <p:spPr>
          <a:xfrm>
            <a:off x="548640" y="4114800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41" name="SimReal 5041"/>
          <p:cNvSpPr txBox="1"/>
          <p:nvPr/>
        </p:nvSpPr>
        <p:spPr>
          <a:xfrm>
            <a:off x="548640" y="4114800"/>
            <a:ext cx="265176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SWE-Forward</a:t>
            </a:r>
          </a:p>
        </p:txBody>
      </p:sp>
      <p:sp>
        <p:nvSpPr>
          <p:cNvPr id="5042" name="SimReal 5042"/>
          <p:cNvSpPr txBox="1"/>
          <p:nvPr/>
        </p:nvSpPr>
        <p:spPr>
          <a:xfrm>
            <a:off x="3246120" y="4114800"/>
            <a:ext cx="114300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Software</a:t>
            </a:r>
          </a:p>
        </p:txBody>
      </p:sp>
      <p:sp>
        <p:nvSpPr>
          <p:cNvPr id="5043" name="SimReal 5043"/>
          <p:cNvSpPr txBox="1"/>
          <p:nvPr/>
        </p:nvSpPr>
        <p:spPr>
          <a:xfrm>
            <a:off x="4434840" y="4114800"/>
            <a:ext cx="502920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Tests whether AI-written code survives the next version</a:t>
            </a:r>
          </a:p>
        </p:txBody>
      </p:sp>
      <p:sp>
        <p:nvSpPr>
          <p:cNvPr id="5044" name="SimReal 5044"/>
          <p:cNvSpPr txBox="1"/>
          <p:nvPr/>
        </p:nvSpPr>
        <p:spPr>
          <a:xfrm>
            <a:off x="9509760" y="4114800"/>
            <a:ext cx="2130552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Live  ·  private</a:t>
            </a:r>
          </a:p>
        </p:txBody>
      </p:sp>
      <p:sp>
        <p:nvSpPr>
          <p:cNvPr id="5045" name="SimReal 5045"/>
          <p:cNvSpPr/>
          <p:nvPr/>
        </p:nvSpPr>
        <p:spPr>
          <a:xfrm>
            <a:off x="548640" y="4498848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46" name="SimReal 5046"/>
          <p:cNvSpPr txBox="1"/>
          <p:nvPr/>
        </p:nvSpPr>
        <p:spPr>
          <a:xfrm>
            <a:off x="548640" y="4608576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Every environment yields three kinds of data</a:t>
            </a:r>
          </a:p>
        </p:txBody>
      </p:sp>
      <p:sp>
        <p:nvSpPr>
          <p:cNvPr id="5047" name="SimReal 5047"/>
          <p:cNvSpPr txBox="1"/>
          <p:nvPr/>
        </p:nvSpPr>
        <p:spPr>
          <a:xfrm>
            <a:off x="5120640" y="4572000"/>
            <a:ext cx="6519672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Self-extending: where the model fails, the next batch fills in</a:t>
            </a:r>
          </a:p>
        </p:txBody>
      </p:sp>
      <p:sp>
        <p:nvSpPr>
          <p:cNvPr id="5048" name="SimReal 5048"/>
          <p:cNvSpPr/>
          <p:nvPr/>
        </p:nvSpPr>
        <p:spPr>
          <a:xfrm>
            <a:off x="548640" y="4864608"/>
            <a:ext cx="3514344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49" name="SimReal 5049"/>
          <p:cNvSpPr txBox="1"/>
          <p:nvPr/>
        </p:nvSpPr>
        <p:spPr>
          <a:xfrm>
            <a:off x="548640" y="4901184"/>
            <a:ext cx="3514344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Agent trajectories</a:t>
            </a:r>
          </a:p>
        </p:txBody>
      </p:sp>
      <p:sp>
        <p:nvSpPr>
          <p:cNvPr id="5050" name="SimReal 5050"/>
          <p:cNvSpPr txBox="1"/>
          <p:nvPr/>
        </p:nvSpPr>
        <p:spPr>
          <a:xfrm>
            <a:off x="548640" y="5212080"/>
            <a:ext cx="3514344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Every action, the environment’s feedback and the outcome, labeled by real results</a:t>
            </a:r>
          </a:p>
        </p:txBody>
      </p:sp>
      <p:sp>
        <p:nvSpPr>
          <p:cNvPr id="5051" name="SimReal 5051"/>
          <p:cNvSpPr txBox="1"/>
          <p:nvPr/>
        </p:nvSpPr>
        <p:spPr>
          <a:xfrm>
            <a:off x="548640" y="5559552"/>
            <a:ext cx="351434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For fine-tuning and RL</a:t>
            </a:r>
          </a:p>
        </p:txBody>
      </p:sp>
      <p:sp>
        <p:nvSpPr>
          <p:cNvPr id="5052" name="SimReal 5052"/>
          <p:cNvSpPr/>
          <p:nvPr/>
        </p:nvSpPr>
        <p:spPr>
          <a:xfrm>
            <a:off x="4337304" y="4864608"/>
            <a:ext cx="3514344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53" name="SimReal 5053"/>
          <p:cNvSpPr txBox="1"/>
          <p:nvPr/>
        </p:nvSpPr>
        <p:spPr>
          <a:xfrm>
            <a:off x="4337304" y="4901184"/>
            <a:ext cx="3514344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Expert data</a:t>
            </a:r>
          </a:p>
        </p:txBody>
      </p:sp>
      <p:sp>
        <p:nvSpPr>
          <p:cNvPr id="5054" name="SimReal 5054"/>
          <p:cNvSpPr txBox="1"/>
          <p:nvPr/>
        </p:nvSpPr>
        <p:spPr>
          <a:xfrm>
            <a:off x="4337304" y="5212080"/>
            <a:ext cx="3514344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Demonstrations, judgments and scoring standards from real work, via our expert network (page 8)</a:t>
            </a:r>
          </a:p>
        </p:txBody>
      </p:sp>
      <p:sp>
        <p:nvSpPr>
          <p:cNvPr id="5055" name="SimReal 5055"/>
          <p:cNvSpPr txBox="1"/>
          <p:nvPr/>
        </p:nvSpPr>
        <p:spPr>
          <a:xfrm>
            <a:off x="4337304" y="5559552"/>
            <a:ext cx="351434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For alignment, reward models and grading</a:t>
            </a:r>
          </a:p>
        </p:txBody>
      </p:sp>
      <p:sp>
        <p:nvSpPr>
          <p:cNvPr id="5056" name="SimReal 5056"/>
          <p:cNvSpPr/>
          <p:nvPr/>
        </p:nvSpPr>
        <p:spPr>
          <a:xfrm>
            <a:off x="8125968" y="4864608"/>
            <a:ext cx="3514344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57" name="SimReal 5057"/>
          <p:cNvSpPr txBox="1"/>
          <p:nvPr/>
        </p:nvSpPr>
        <p:spPr>
          <a:xfrm>
            <a:off x="8125968" y="4901184"/>
            <a:ext cx="3514344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Eval data</a:t>
            </a:r>
          </a:p>
        </p:txBody>
      </p:sp>
      <p:sp>
        <p:nvSpPr>
          <p:cNvPr id="5058" name="SimReal 5058"/>
          <p:cNvSpPr txBox="1"/>
          <p:nvPr/>
        </p:nvSpPr>
        <p:spPr>
          <a:xfrm>
            <a:off x="8125968" y="5212080"/>
            <a:ext cx="3514344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Private eval and held-out sets: for testing only, never for training; red-teamed</a:t>
            </a:r>
          </a:p>
        </p:txBody>
      </p:sp>
      <p:sp>
        <p:nvSpPr>
          <p:cNvPr id="5059" name="SimReal 5059"/>
          <p:cNvSpPr txBox="1"/>
          <p:nvPr/>
        </p:nvSpPr>
        <p:spPr>
          <a:xfrm>
            <a:off x="8125968" y="5559552"/>
            <a:ext cx="351434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For model acceptance and ongoing evals</a:t>
            </a:r>
          </a:p>
        </p:txBody>
      </p:sp>
      <p:sp>
        <p:nvSpPr>
          <p:cNvPr id="5060" name="SimReal 5060"/>
          <p:cNvSpPr txBox="1"/>
          <p:nvPr/>
        </p:nvSpPr>
        <p:spPr>
          <a:xfrm>
            <a:off x="5486400" y="5870448"/>
            <a:ext cx="6153912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Stars as of September 29, 2026</a:t>
            </a:r>
          </a:p>
        </p:txBody>
      </p:sp>
      <p:sp>
        <p:nvSpPr>
          <p:cNvPr id="5061" name="SimReal 5061"/>
          <p:cNvSpPr txBox="1"/>
          <p:nvPr/>
        </p:nvSpPr>
        <p:spPr>
          <a:xfrm>
            <a:off x="137160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Confidential  ·  For invited investors only  ·  September 2026</a:t>
            </a:r>
          </a:p>
        </p:txBody>
      </p:sp>
      <p:sp>
        <p:nvSpPr>
          <p:cNvPr id="5062" name="SimReal 5062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07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1" name="Google Shape;401;p14" descr="jane-street-paper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29713" y="5210655"/>
            <a:ext cx="856188" cy="332034"/>
          </a:xfrm>
          <a:prstGeom prst="rect">
            <a:avLst/>
          </a:prstGeom>
          <a:noFill/>
          <a:ln>
            <a:noFill/>
          </a:ln>
        </p:spPr>
      </p:pic>
      <p:pic>
        <p:nvPicPr>
          <p:cNvPr id="402" name="Google Shape;402;p14" descr="imc-paper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256639" y="5261949"/>
            <a:ext cx="1239004" cy="22944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3" name="Google Shape;403;p14" descr="citadel-securities-paper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542502" y="5105959"/>
            <a:ext cx="1103947" cy="541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4" name="Google Shape;404;p14" descr="optiver-paper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747082" y="5251045"/>
            <a:ext cx="1131456" cy="251254"/>
          </a:xfrm>
          <a:prstGeom prst="rect">
            <a:avLst/>
          </a:prstGeom>
          <a:noFill/>
          <a:ln>
            <a:noFill/>
          </a:ln>
        </p:spPr>
      </p:pic>
      <p:pic>
        <p:nvPicPr>
          <p:cNvPr id="407" name="Google Shape;407;p14" descr="SimReal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13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Team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Problem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Solution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Market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  </a:t>
            </a:r>
            <a:r>
              <a:rPr lang="en-US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Traction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Raise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Business model &amp; traction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Products are public; revenue starts with paid pilots: </a:t>
            </a:r>
            <a:r>
              <a:rPr lang="en-US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the deeper the work, the bigger the contract</a:t>
            </a:r>
          </a:p>
        </p:txBody>
      </p:sp>
      <p:sp>
        <p:nvSpPr>
          <p:cNvPr id="5005" name="SimReal 5005"/>
          <p:cNvSpPr txBox="1"/>
          <p:nvPr/>
        </p:nvSpPr>
        <p:spPr>
          <a:xfrm>
            <a:off x="548640" y="1444752"/>
            <a:ext cx="173736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2</a:t>
            </a:r>
          </a:p>
        </p:txBody>
      </p:sp>
      <p:sp>
        <p:nvSpPr>
          <p:cNvPr id="5006" name="SimReal 5006"/>
          <p:cNvSpPr txBox="1"/>
          <p:nvPr/>
        </p:nvSpPr>
        <p:spPr>
          <a:xfrm>
            <a:off x="548640" y="1956816"/>
            <a:ext cx="201168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frontier labs in talks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2560320" y="1481328"/>
            <a:ext cx="9079992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Three lines   </a:t>
            </a:r>
            <a:r>
              <a:rPr lang="en-US" sz="13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Training environments  ·  AI data (agent, expert, eval)  ·  Iterative training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2560320" y="1847088"/>
            <a:ext cx="9079992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Same model: AfterQuery reached a $100M run-rate in 14 months</a:t>
            </a:r>
          </a:p>
        </p:txBody>
      </p:sp>
      <p:sp>
        <p:nvSpPr>
          <p:cNvPr id="5009" name="SimReal 5009"/>
          <p:cNvSpPr/>
          <p:nvPr/>
        </p:nvSpPr>
        <p:spPr>
          <a:xfrm>
            <a:off x="548640" y="2286000"/>
            <a:ext cx="11091672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0" name="SimReal 5010"/>
          <p:cNvSpPr txBox="1"/>
          <p:nvPr/>
        </p:nvSpPr>
        <p:spPr>
          <a:xfrm>
            <a:off x="548640" y="2304288"/>
            <a:ext cx="132588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Stage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1920240" y="2304288"/>
            <a:ext cx="36576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What the client buys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5669280" y="2304288"/>
            <a:ext cx="105156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Length</a:t>
            </a:r>
          </a:p>
        </p:txBody>
      </p:sp>
      <p:sp>
        <p:nvSpPr>
          <p:cNvPr id="5013" name="SimReal 5013"/>
          <p:cNvSpPr txBox="1"/>
          <p:nvPr/>
        </p:nvSpPr>
        <p:spPr>
          <a:xfrm>
            <a:off x="6766560" y="2304288"/>
            <a:ext cx="123444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Price</a:t>
            </a:r>
          </a:p>
        </p:txBody>
      </p:sp>
      <p:sp>
        <p:nvSpPr>
          <p:cNvPr id="5014" name="SimReal 5014"/>
          <p:cNvSpPr txBox="1"/>
          <p:nvPr/>
        </p:nvSpPr>
        <p:spPr>
          <a:xfrm>
            <a:off x="8092440" y="2304288"/>
            <a:ext cx="3547872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Why they keep buying</a:t>
            </a:r>
          </a:p>
        </p:txBody>
      </p:sp>
      <p:sp>
        <p:nvSpPr>
          <p:cNvPr id="5015" name="SimReal 5015"/>
          <p:cNvSpPr/>
          <p:nvPr/>
        </p:nvSpPr>
        <p:spPr>
          <a:xfrm>
            <a:off x="548640" y="2560320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6" name="SimReal 5016"/>
          <p:cNvSpPr txBox="1"/>
          <p:nvPr/>
        </p:nvSpPr>
        <p:spPr>
          <a:xfrm>
            <a:off x="548640" y="2560320"/>
            <a:ext cx="132588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Free eval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1920240" y="2560320"/>
            <a:ext cx="365760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Public preview: 7 tasks, training data, SDK, scoring rules</a:t>
            </a:r>
          </a:p>
        </p:txBody>
      </p:sp>
      <p:sp>
        <p:nvSpPr>
          <p:cNvPr id="5018" name="SimReal 5018"/>
          <p:cNvSpPr txBox="1"/>
          <p:nvPr/>
        </p:nvSpPr>
        <p:spPr>
          <a:xfrm>
            <a:off x="5669280" y="2560320"/>
            <a:ext cx="105156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1–2 weeks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6766560" y="2560320"/>
            <a:ext cx="123444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Free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8092440" y="2560320"/>
            <a:ext cx="347472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Scores win clients; benchmarked to the best human</a:t>
            </a:r>
          </a:p>
        </p:txBody>
      </p:sp>
      <p:sp>
        <p:nvSpPr>
          <p:cNvPr id="5021" name="SimReal 5021"/>
          <p:cNvSpPr/>
          <p:nvPr/>
        </p:nvSpPr>
        <p:spPr>
          <a:xfrm>
            <a:off x="548640" y="3035808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2" name="SimReal 5022"/>
          <p:cNvSpPr txBox="1"/>
          <p:nvPr/>
        </p:nvSpPr>
        <p:spPr>
          <a:xfrm>
            <a:off x="548640" y="3035808"/>
            <a:ext cx="132588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Paid pilot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1920240" y="3035808"/>
            <a:ext cx="365760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Custom tasks, held-out days, reward API; data with a license chain</a:t>
            </a:r>
          </a:p>
        </p:txBody>
      </p:sp>
      <p:sp>
        <p:nvSpPr>
          <p:cNvPr id="5024" name="SimReal 5024"/>
          <p:cNvSpPr txBox="1"/>
          <p:nvPr/>
        </p:nvSpPr>
        <p:spPr>
          <a:xfrm>
            <a:off x="5669280" y="3035808"/>
            <a:ext cx="105156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8–12 weeks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6766560" y="3035808"/>
            <a:ext cx="123444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$50K–$150K</a:t>
            </a:r>
          </a:p>
        </p:txBody>
      </p:sp>
      <p:sp>
        <p:nvSpPr>
          <p:cNvPr id="5026" name="SimReal 5026"/>
          <p:cNvSpPr txBox="1"/>
          <p:nvPr/>
        </p:nvSpPr>
        <p:spPr>
          <a:xfrm>
            <a:off x="8092440" y="3035808"/>
            <a:ext cx="347472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Before/after training results on agreed metrics</a:t>
            </a:r>
          </a:p>
        </p:txBody>
      </p:sp>
      <p:sp>
        <p:nvSpPr>
          <p:cNvPr id="5027" name="SimReal 5027"/>
          <p:cNvSpPr/>
          <p:nvPr/>
        </p:nvSpPr>
        <p:spPr>
          <a:xfrm>
            <a:off x="548640" y="3511296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8" name="SimReal 5028"/>
          <p:cNvSpPr txBox="1"/>
          <p:nvPr/>
        </p:nvSpPr>
        <p:spPr>
          <a:xfrm>
            <a:off x="548640" y="3511296"/>
            <a:ext cx="132588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Annual license</a:t>
            </a:r>
          </a:p>
        </p:txBody>
      </p:sp>
      <p:sp>
        <p:nvSpPr>
          <p:cNvPr id="5029" name="SimReal 5029"/>
          <p:cNvSpPr txBox="1"/>
          <p:nvPr/>
        </p:nvSpPr>
        <p:spPr>
          <a:xfrm>
            <a:off x="1920240" y="3511296"/>
            <a:ext cx="365760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Full environments, matching engine, counterparty models, reserve tasks, expert data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5669280" y="3511296"/>
            <a:ext cx="105156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12 months</a:t>
            </a:r>
          </a:p>
        </p:txBody>
      </p:sp>
      <p:sp>
        <p:nvSpPr>
          <p:cNvPr id="5031" name="SimReal 5031"/>
          <p:cNvSpPr txBox="1"/>
          <p:nvPr/>
        </p:nvSpPr>
        <p:spPr>
          <a:xfrm>
            <a:off x="6766560" y="3511296"/>
            <a:ext cx="123444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$400K–$2M</a:t>
            </a:r>
          </a:p>
        </p:txBody>
      </p:sp>
      <p:sp>
        <p:nvSpPr>
          <p:cNvPr id="5032" name="SimReal 5032"/>
          <p:cNvSpPr txBox="1"/>
          <p:nvPr/>
        </p:nvSpPr>
        <p:spPr>
          <a:xfrm>
            <a:off x="8092440" y="3511296"/>
            <a:ext cx="347472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Tasks and held-out sets refresh quarterly; old tasks saturate</a:t>
            </a:r>
          </a:p>
        </p:txBody>
      </p:sp>
      <p:sp>
        <p:nvSpPr>
          <p:cNvPr id="5033" name="SimReal 5033"/>
          <p:cNvSpPr/>
          <p:nvPr/>
        </p:nvSpPr>
        <p:spPr>
          <a:xfrm>
            <a:off x="548640" y="3986784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4" name="SimReal 5034"/>
          <p:cNvSpPr/>
          <p:nvPr/>
        </p:nvSpPr>
        <p:spPr>
          <a:xfrm>
            <a:off x="548640" y="3986784"/>
            <a:ext cx="11091672" cy="4754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5" name="SimReal 5035"/>
          <p:cNvSpPr txBox="1"/>
          <p:nvPr/>
        </p:nvSpPr>
        <p:spPr>
          <a:xfrm>
            <a:off x="685800" y="3986784"/>
            <a:ext cx="132588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0" i="0" u="none" strike="noStrike" cap="none">
                <a:solidFill>
                  <a:srgbClr val="FAF9F6"/>
                </a:solidFill>
                <a:latin typeface="Newsreader"/>
                <a:ea typeface="Newsreader"/>
                <a:cs typeface="Newsreader"/>
                <a:sym typeface="Newsreader"/>
              </a:rPr>
              <a:t>Joint training</a:t>
            </a:r>
          </a:p>
        </p:txBody>
      </p:sp>
      <p:sp>
        <p:nvSpPr>
          <p:cNvPr id="5036" name="SimReal 5036"/>
          <p:cNvSpPr txBox="1"/>
          <p:nvPr/>
        </p:nvSpPr>
        <p:spPr>
          <a:xfrm>
            <a:off x="1920240" y="3986784"/>
            <a:ext cx="365760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C4C0B7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Training runs, ablations, transfer tests, managed runs</a:t>
            </a:r>
          </a:p>
        </p:txBody>
      </p:sp>
      <p:sp>
        <p:nvSpPr>
          <p:cNvPr id="5037" name="SimReal 5037"/>
          <p:cNvSpPr txBox="1"/>
          <p:nvPr/>
        </p:nvSpPr>
        <p:spPr>
          <a:xfrm>
            <a:off x="5669280" y="3986784"/>
            <a:ext cx="233172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C4C0B7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Project or ongoing service contract</a:t>
            </a:r>
          </a:p>
        </p:txBody>
      </p:sp>
      <p:sp>
        <p:nvSpPr>
          <p:cNvPr id="5038" name="SimReal 5038"/>
          <p:cNvSpPr txBox="1"/>
          <p:nvPr/>
        </p:nvSpPr>
        <p:spPr>
          <a:xfrm>
            <a:off x="8092440" y="3986784"/>
            <a:ext cx="347472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1" i="0" u="none" strike="noStrike" cap="none">
                <a:solidFill>
                  <a:srgbClr val="E27A3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Solves the client’s next capability gap</a:t>
            </a:r>
          </a:p>
        </p:txBody>
      </p:sp>
      <p:sp>
        <p:nvSpPr>
          <p:cNvPr id="5039" name="SimReal 5039"/>
          <p:cNvSpPr txBox="1"/>
          <p:nvPr/>
        </p:nvSpPr>
        <p:spPr>
          <a:xfrm>
            <a:off x="548640" y="4535424"/>
            <a:ext cx="11091672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Unit economics (est.): a public environment takes about 6 person-days; from the second lab on, it is reused as is. Buyer concentration: extend to trading firms.</a:t>
            </a:r>
          </a:p>
        </p:txBody>
      </p:sp>
      <p:sp>
        <p:nvSpPr>
          <p:cNvPr id="5040" name="SimReal 5040"/>
          <p:cNvSpPr txBox="1"/>
          <p:nvPr/>
        </p:nvSpPr>
        <p:spPr>
          <a:xfrm>
            <a:off x="548640" y="4882896"/>
            <a:ext cx="73152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Supported by practitioners at trading firms</a:t>
            </a:r>
          </a:p>
        </p:txBody>
      </p:sp>
      <p:sp>
        <p:nvSpPr>
          <p:cNvPr id="5041" name="SimReal 5041"/>
          <p:cNvSpPr txBox="1"/>
          <p:nvPr/>
        </p:nvSpPr>
        <p:spPr>
          <a:xfrm>
            <a:off x="9616745" y="5193792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Polymarket</a:t>
            </a:r>
          </a:p>
        </p:txBody>
      </p:sp>
      <p:sp>
        <p:nvSpPr>
          <p:cNvPr id="5042" name="SimReal 5042"/>
          <p:cNvSpPr txBox="1"/>
          <p:nvPr/>
        </p:nvSpPr>
        <p:spPr>
          <a:xfrm>
            <a:off x="548640" y="5760720"/>
            <a:ext cx="110916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Logos show where supporters work; they do not imply endorsement by the firms.</a:t>
            </a:r>
          </a:p>
        </p:txBody>
      </p:sp>
      <p:sp>
        <p:nvSpPr>
          <p:cNvPr id="5043" name="SimReal 5043"/>
          <p:cNvSpPr txBox="1"/>
          <p:nvPr/>
        </p:nvSpPr>
        <p:spPr>
          <a:xfrm>
            <a:off x="137160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Confidential  ·  For invited investors only  ·  September 2026</a:t>
            </a:r>
          </a:p>
        </p:txBody>
      </p:sp>
      <p:sp>
        <p:nvSpPr>
          <p:cNvPr id="5044" name="SimReal 5044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13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9" name="Google Shape;429;p15" descr="harvard-ink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198059" y="2529597"/>
            <a:ext cx="675667" cy="445495"/>
          </a:xfrm>
          <a:prstGeom prst="rect">
            <a:avLst/>
          </a:prstGeom>
          <a:noFill/>
          <a:ln>
            <a:noFill/>
          </a:ln>
        </p:spPr>
      </p:pic>
      <p:pic>
        <p:nvPicPr>
          <p:cNvPr id="430" name="Google Shape;430;p15" descr="stanford-ink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006476" y="2478024"/>
            <a:ext cx="548640" cy="54864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1" name="Google Shape;431;p15" descr="mit-ink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653425" y="2550204"/>
            <a:ext cx="744548" cy="40428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2" name="Google Shape;432;p15" descr="oxford-ink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0266406" y="2603094"/>
            <a:ext cx="1008395" cy="298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3" name="Google Shape;433;p15" descr="cambridge-ink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244932" y="3572705"/>
            <a:ext cx="581921" cy="517263"/>
          </a:xfrm>
          <a:prstGeom prst="rect">
            <a:avLst/>
          </a:prstGeom>
          <a:noFill/>
          <a:ln>
            <a:noFill/>
          </a:ln>
        </p:spPr>
      </p:pic>
      <p:pic>
        <p:nvPicPr>
          <p:cNvPr id="434" name="Google Shape;434;p15" descr="princeton-ink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755513" y="3688077"/>
            <a:ext cx="1050566" cy="286518"/>
          </a:xfrm>
          <a:prstGeom prst="rect">
            <a:avLst/>
          </a:prstGeom>
          <a:noFill/>
          <a:ln>
            <a:noFill/>
          </a:ln>
        </p:spPr>
      </p:pic>
      <p:pic>
        <p:nvPicPr>
          <p:cNvPr id="435" name="Google Shape;435;p15" descr="yale-ink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8711926" y="3591509"/>
            <a:ext cx="627548" cy="479654"/>
          </a:xfrm>
          <a:prstGeom prst="rect">
            <a:avLst/>
          </a:prstGeom>
          <a:noFill/>
          <a:ln>
            <a:noFill/>
          </a:ln>
        </p:spPr>
      </p:pic>
      <p:pic>
        <p:nvPicPr>
          <p:cNvPr id="436" name="Google Shape;436;p15" descr="berkeley-ink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10277336" y="3678779"/>
            <a:ext cx="986535" cy="305114"/>
          </a:xfrm>
          <a:prstGeom prst="rect">
            <a:avLst/>
          </a:prstGeom>
          <a:noFill/>
          <a:ln>
            <a:noFill/>
          </a:ln>
        </p:spPr>
      </p:pic>
      <p:pic>
        <p:nvPicPr>
          <p:cNvPr id="437" name="Google Shape;437;p15" descr="tsinghua-ink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5054853" y="4753893"/>
            <a:ext cx="962077" cy="312871"/>
          </a:xfrm>
          <a:prstGeom prst="rect">
            <a:avLst/>
          </a:prstGeom>
          <a:noFill/>
          <a:ln>
            <a:noFill/>
          </a:ln>
        </p:spPr>
      </p:pic>
      <p:pic>
        <p:nvPicPr>
          <p:cNvPr id="438" name="Google Shape;438;p15" descr="columbia-ink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6949523" y="4683169"/>
            <a:ext cx="662546" cy="454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439" name="Google Shape;439;p15" descr="uchicago-ink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8471940" y="4774436"/>
            <a:ext cx="1107519" cy="271784"/>
          </a:xfrm>
          <a:prstGeom prst="rect">
            <a:avLst/>
          </a:prstGeom>
          <a:noFill/>
          <a:ln>
            <a:noFill/>
          </a:ln>
        </p:spPr>
      </p:pic>
      <p:pic>
        <p:nvPicPr>
          <p:cNvPr id="440" name="Google Shape;440;p15" descr="duke-ink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10353823" y="4729774"/>
            <a:ext cx="833560" cy="361109"/>
          </a:xfrm>
          <a:prstGeom prst="rect">
            <a:avLst/>
          </a:prstGeom>
          <a:noFill/>
          <a:ln>
            <a:noFill/>
          </a:ln>
        </p:spPr>
      </p:pic>
      <p:pic>
        <p:nvPicPr>
          <p:cNvPr id="442" name="Google Shape;442;p15" descr="SimReal"/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08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Team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Problem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  </a:t>
            </a:r>
            <a:r>
              <a:rPr lang="en-US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Solution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Market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Traction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Raise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Expert network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7,000+ experts on the waitlist, students and alumni of 21 top universities: </a:t>
            </a:r>
            <a:r>
              <a:rPr lang="en-US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our expert data source</a:t>
            </a:r>
          </a:p>
        </p:txBody>
      </p:sp>
      <p:sp>
        <p:nvSpPr>
          <p:cNvPr id="5005" name="SimReal 5005"/>
          <p:cNvSpPr txBox="1"/>
          <p:nvPr/>
        </p:nvSpPr>
        <p:spPr>
          <a:xfrm>
            <a:off x="548640" y="1572768"/>
            <a:ext cx="201168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7,000+</a:t>
            </a:r>
          </a:p>
        </p:txBody>
      </p:sp>
      <p:sp>
        <p:nvSpPr>
          <p:cNvPr id="5006" name="SimReal 5006"/>
          <p:cNvSpPr txBox="1"/>
          <p:nvPr/>
        </p:nvSpPr>
        <p:spPr>
          <a:xfrm>
            <a:off x="548640" y="2304288"/>
            <a:ext cx="201168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On the waitlist (200K+ reachable)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2606040" y="1572768"/>
            <a:ext cx="201168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21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2606040" y="2304288"/>
            <a:ext cx="201168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Top universities</a:t>
            </a:r>
          </a:p>
        </p:txBody>
      </p:sp>
      <p:sp>
        <p:nvSpPr>
          <p:cNvPr id="5009" name="SimReal 5009"/>
          <p:cNvSpPr/>
          <p:nvPr/>
        </p:nvSpPr>
        <p:spPr>
          <a:xfrm>
            <a:off x="548640" y="2743200"/>
            <a:ext cx="3931920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0" name="SimReal 5010"/>
          <p:cNvSpPr txBox="1"/>
          <p:nvPr/>
        </p:nvSpPr>
        <p:spPr>
          <a:xfrm>
            <a:off x="548640" y="2852928"/>
            <a:ext cx="1097280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Entry roles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1691640" y="2852928"/>
            <a:ext cx="2788920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The work AI takes over first, in every industry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548640" y="3255264"/>
            <a:ext cx="1097280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Top research</a:t>
            </a:r>
          </a:p>
        </p:txBody>
      </p:sp>
      <p:sp>
        <p:nvSpPr>
          <p:cNvPr id="5013" name="SimReal 5013"/>
          <p:cNvSpPr txBox="1"/>
          <p:nvPr/>
        </p:nvSpPr>
        <p:spPr>
          <a:xfrm>
            <a:off x="1691640" y="3255264"/>
            <a:ext cx="2788920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The hardest problems and judgment calls</a:t>
            </a:r>
          </a:p>
        </p:txBody>
      </p:sp>
      <p:sp>
        <p:nvSpPr>
          <p:cNvPr id="5014" name="SimReal 5014"/>
          <p:cNvSpPr txBox="1"/>
          <p:nvPr/>
        </p:nvSpPr>
        <p:spPr>
          <a:xfrm>
            <a:off x="548640" y="3657600"/>
            <a:ext cx="1097280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Moving up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1691640" y="3657600"/>
            <a:ext cx="2788920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Members get promoted; the network climbs to senior levels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5056632" y="2057400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Selected universities in the network</a:t>
            </a:r>
          </a:p>
        </p:txBody>
      </p:sp>
      <p:sp>
        <p:nvSpPr>
          <p:cNvPr id="5017" name="SimReal 5017"/>
          <p:cNvSpPr/>
          <p:nvPr/>
        </p:nvSpPr>
        <p:spPr>
          <a:xfrm>
            <a:off x="548640" y="5413248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8" name="SimReal 5018"/>
          <p:cNvSpPr txBox="1"/>
          <p:nvPr/>
        </p:nvSpPr>
        <p:spPr>
          <a:xfrm>
            <a:off x="548640" y="5486400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Each domain leaves assets behind: </a:t>
            </a:r>
            <a:r>
              <a:rPr lang="en-US" sz="1200" b="0" i="0" u="none" strike="noStrike" cap="none">
                <a:solidFill>
                  <a:srgbClr val="33322F"/>
                </a:solidFill>
                <a:latin typeface="Newsreader"/>
                <a:ea typeface="Newsreader"/>
                <a:cs typeface="Newsreader"/>
                <a:sym typeface="Newsreader"/>
              </a:rPr>
              <a:t>experts → data and standards → environments and verifiers → failure library → </a:t>
            </a:r>
            <a:r>
              <a:rPr lang="en-US" sz="12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reuse in the next domain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548640" y="5943600"/>
            <a:ext cx="110916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Network coverage does not mean registration or delivery; university logos do not imply endorsement.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137160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Confidential  ·  For invited investors only  ·  September 2026</a:t>
            </a:r>
          </a:p>
        </p:txBody>
      </p:sp>
      <p:sp>
        <p:nvSpPr>
          <p:cNvPr id="5021" name="SimReal 5021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08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0" name="Google Shape;470;p16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10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Team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Problem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Solution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  </a:t>
            </a:r>
            <a:r>
              <a:rPr lang="en-US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Market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Traction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Raise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Market size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Bottom-up from frontier-lab pricing: finance alone is </a:t>
            </a:r>
            <a:r>
              <a:rPr lang="en-US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about $3.6M–$42M a year</a:t>
            </a:r>
          </a:p>
        </p:txBody>
      </p:sp>
      <p:sp>
        <p:nvSpPr>
          <p:cNvPr id="5005" name="SimReal 5005"/>
          <p:cNvSpPr txBox="1"/>
          <p:nvPr/>
        </p:nvSpPr>
        <p:spPr>
          <a:xfrm>
            <a:off x="3941064" y="1883664"/>
            <a:ext cx="4572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06" name="SimReal 5006"/>
          <p:cNvSpPr txBox="1"/>
          <p:nvPr/>
        </p:nvSpPr>
        <p:spPr>
          <a:xfrm>
            <a:off x="7790688" y="1883664"/>
            <a:ext cx="4572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07" name="SimReal 5007"/>
          <p:cNvSpPr/>
          <p:nvPr/>
        </p:nvSpPr>
        <p:spPr>
          <a:xfrm>
            <a:off x="548640" y="1517904"/>
            <a:ext cx="339242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8" name="SimReal 5008"/>
          <p:cNvSpPr txBox="1"/>
          <p:nvPr/>
        </p:nvSpPr>
        <p:spPr>
          <a:xfrm>
            <a:off x="548640" y="1645920"/>
            <a:ext cx="339242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① Epoch prices × one lab’s volume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548640" y="1901952"/>
            <a:ext cx="3392424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$200–$2,000</a:t>
            </a:r>
          </a:p>
        </p:txBody>
      </p:sp>
      <p:sp>
        <p:nvSpPr>
          <p:cNvPr id="5010" name="SimReal 5010"/>
          <p:cNvSpPr txBox="1"/>
          <p:nvPr/>
        </p:nvSpPr>
        <p:spPr>
          <a:xfrm>
            <a:off x="548640" y="2505456"/>
            <a:ext cx="3392424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Per task; environments $20K–$300K each, finance priced at the upper-middle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548640" y="2935224"/>
            <a:ext cx="2157984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Finance envs: 2–5 × $100K–$300K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2706624" y="2935224"/>
            <a:ext cx="123444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$200K–$1.5M</a:t>
            </a:r>
          </a:p>
        </p:txBody>
      </p:sp>
      <p:sp>
        <p:nvSpPr>
          <p:cNvPr id="5013" name="SimReal 5013"/>
          <p:cNvSpPr/>
          <p:nvPr/>
        </p:nvSpPr>
        <p:spPr>
          <a:xfrm>
            <a:off x="548640" y="3319272"/>
            <a:ext cx="3392424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4" name="SimReal 5014"/>
          <p:cNvSpPr txBox="1"/>
          <p:nvPr/>
        </p:nvSpPr>
        <p:spPr>
          <a:xfrm>
            <a:off x="548640" y="3319272"/>
            <a:ext cx="2157984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Tasks: 500–1,500 × $500–$2,000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2706624" y="3319272"/>
            <a:ext cx="123444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$250K–$3M</a:t>
            </a:r>
          </a:p>
        </p:txBody>
      </p:sp>
      <p:sp>
        <p:nvSpPr>
          <p:cNvPr id="5016" name="SimReal 5016"/>
          <p:cNvSpPr/>
          <p:nvPr/>
        </p:nvSpPr>
        <p:spPr>
          <a:xfrm>
            <a:off x="548640" y="3703320"/>
            <a:ext cx="3392424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7" name="SimReal 5017"/>
          <p:cNvSpPr txBox="1"/>
          <p:nvPr/>
        </p:nvSpPr>
        <p:spPr>
          <a:xfrm>
            <a:off x="548640" y="3703320"/>
            <a:ext cx="2157984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= Per US frontier lab, per year</a:t>
            </a:r>
          </a:p>
        </p:txBody>
      </p:sp>
      <p:sp>
        <p:nvSpPr>
          <p:cNvPr id="5018" name="SimReal 5018"/>
          <p:cNvSpPr txBox="1"/>
          <p:nvPr/>
        </p:nvSpPr>
        <p:spPr>
          <a:xfrm>
            <a:off x="2706624" y="3703320"/>
            <a:ext cx="123444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$450K–$4.5M</a:t>
            </a:r>
          </a:p>
        </p:txBody>
      </p:sp>
      <p:sp>
        <p:nvSpPr>
          <p:cNvPr id="5019" name="SimReal 5019"/>
          <p:cNvSpPr/>
          <p:nvPr/>
        </p:nvSpPr>
        <p:spPr>
          <a:xfrm>
            <a:off x="4398264" y="1517904"/>
            <a:ext cx="339242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0" name="SimReal 5020"/>
          <p:cNvSpPr txBox="1"/>
          <p:nvPr/>
        </p:nvSpPr>
        <p:spPr>
          <a:xfrm>
            <a:off x="4398264" y="1645920"/>
            <a:ext cx="339242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② Buyers × annual spend per lab</a:t>
            </a:r>
          </a:p>
        </p:txBody>
      </p:sp>
      <p:sp>
        <p:nvSpPr>
          <p:cNvPr id="5021" name="SimReal 5021"/>
          <p:cNvSpPr txBox="1"/>
          <p:nvPr/>
        </p:nvSpPr>
        <p:spPr>
          <a:xfrm>
            <a:off x="4398264" y="1901952"/>
            <a:ext cx="3392424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17–24 labs</a:t>
            </a:r>
          </a:p>
        </p:txBody>
      </p:sp>
      <p:sp>
        <p:nvSpPr>
          <p:cNvPr id="5022" name="SimReal 5022"/>
          <p:cNvSpPr txBox="1"/>
          <p:nvPr/>
        </p:nvSpPr>
        <p:spPr>
          <a:xfrm>
            <a:off x="4398264" y="2505456"/>
            <a:ext cx="3392424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Labs doing agent post-training, in three budget tiers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4398264" y="2935224"/>
            <a:ext cx="2157984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US frontier: 4–7 × $450K–$4.5M</a:t>
            </a:r>
          </a:p>
        </p:txBody>
      </p:sp>
      <p:sp>
        <p:nvSpPr>
          <p:cNvPr id="5024" name="SimReal 5024"/>
          <p:cNvSpPr txBox="1"/>
          <p:nvPr/>
        </p:nvSpPr>
        <p:spPr>
          <a:xfrm>
            <a:off x="6556248" y="2935224"/>
            <a:ext cx="123444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$1.8M–$31.5M</a:t>
            </a:r>
          </a:p>
        </p:txBody>
      </p:sp>
      <p:sp>
        <p:nvSpPr>
          <p:cNvPr id="5025" name="SimReal 5025"/>
          <p:cNvSpPr/>
          <p:nvPr/>
        </p:nvSpPr>
        <p:spPr>
          <a:xfrm>
            <a:off x="4398264" y="3319272"/>
            <a:ext cx="3392424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6" name="SimReal 5026"/>
          <p:cNvSpPr txBox="1"/>
          <p:nvPr/>
        </p:nvSpPr>
        <p:spPr>
          <a:xfrm>
            <a:off x="4398264" y="3319272"/>
            <a:ext cx="2157984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New labs: 5–7 × $200K–$800K</a:t>
            </a:r>
          </a:p>
        </p:txBody>
      </p:sp>
      <p:sp>
        <p:nvSpPr>
          <p:cNvPr id="5027" name="SimReal 5027"/>
          <p:cNvSpPr txBox="1"/>
          <p:nvPr/>
        </p:nvSpPr>
        <p:spPr>
          <a:xfrm>
            <a:off x="6556248" y="3319272"/>
            <a:ext cx="123444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$1M–$5.6M</a:t>
            </a:r>
          </a:p>
        </p:txBody>
      </p:sp>
      <p:sp>
        <p:nvSpPr>
          <p:cNvPr id="5028" name="SimReal 5028"/>
          <p:cNvSpPr/>
          <p:nvPr/>
        </p:nvSpPr>
        <p:spPr>
          <a:xfrm>
            <a:off x="4398264" y="3703320"/>
            <a:ext cx="3392424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9" name="SimReal 5029"/>
          <p:cNvSpPr txBox="1"/>
          <p:nvPr/>
        </p:nvSpPr>
        <p:spPr>
          <a:xfrm>
            <a:off x="4398264" y="3703320"/>
            <a:ext cx="2157984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China: 8–10 × $100K–$500K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6556248" y="3703320"/>
            <a:ext cx="123444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$800K–$5M</a:t>
            </a:r>
          </a:p>
        </p:txBody>
      </p:sp>
      <p:sp>
        <p:nvSpPr>
          <p:cNvPr id="5031" name="SimReal 5031"/>
          <p:cNvSpPr/>
          <p:nvPr/>
        </p:nvSpPr>
        <p:spPr>
          <a:xfrm>
            <a:off x="4398264" y="4087368"/>
            <a:ext cx="3392424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2" name="SimReal 5032"/>
          <p:cNvSpPr txBox="1"/>
          <p:nvPr/>
        </p:nvSpPr>
        <p:spPr>
          <a:xfrm>
            <a:off x="4398264" y="4087368"/>
            <a:ext cx="2157984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≈ Finance alone, per year</a:t>
            </a:r>
          </a:p>
        </p:txBody>
      </p:sp>
      <p:sp>
        <p:nvSpPr>
          <p:cNvPr id="5033" name="SimReal 5033"/>
          <p:cNvSpPr txBox="1"/>
          <p:nvPr/>
        </p:nvSpPr>
        <p:spPr>
          <a:xfrm>
            <a:off x="6556248" y="4087368"/>
            <a:ext cx="123444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$3.6M–$42M</a:t>
            </a:r>
          </a:p>
        </p:txBody>
      </p:sp>
      <p:sp>
        <p:nvSpPr>
          <p:cNvPr id="5034" name="SimReal 5034"/>
          <p:cNvSpPr/>
          <p:nvPr/>
        </p:nvSpPr>
        <p:spPr>
          <a:xfrm>
            <a:off x="8247888" y="1517904"/>
            <a:ext cx="3392424" cy="3474720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5" name="SimReal 5035"/>
          <p:cNvSpPr txBox="1"/>
          <p:nvPr/>
        </p:nvSpPr>
        <p:spPr>
          <a:xfrm>
            <a:off x="8485632" y="1645920"/>
            <a:ext cx="2916936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E27A3F"/>
                </a:solidFill>
                <a:latin typeface="IBM Plex Mono"/>
                <a:ea typeface="IBM Plex Mono"/>
                <a:cs typeface="IBM Plex Mono"/>
                <a:sym typeface="IBM Plex Mono"/>
              </a:rPr>
              <a:t>③ If 2 more domains match finance (est.)</a:t>
            </a:r>
          </a:p>
        </p:txBody>
      </p:sp>
      <p:sp>
        <p:nvSpPr>
          <p:cNvPr id="5036" name="SimReal 5036"/>
          <p:cNvSpPr txBox="1"/>
          <p:nvPr/>
        </p:nvSpPr>
        <p:spPr>
          <a:xfrm>
            <a:off x="8485632" y="1901952"/>
            <a:ext cx="2916936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0" i="0" u="none" strike="noStrike" cap="none">
                <a:solidFill>
                  <a:srgbClr val="E27A3F"/>
                </a:solidFill>
                <a:latin typeface="Newsreader"/>
                <a:ea typeface="Newsreader"/>
                <a:cs typeface="Newsreader"/>
                <a:sym typeface="Newsreader"/>
              </a:rPr>
              <a:t>$10.8M–$126M</a:t>
            </a:r>
          </a:p>
        </p:txBody>
      </p:sp>
      <p:sp>
        <p:nvSpPr>
          <p:cNvPr id="5037" name="SimReal 5037"/>
          <p:cNvSpPr txBox="1"/>
          <p:nvPr/>
        </p:nvSpPr>
        <p:spPr>
          <a:xfrm>
            <a:off x="8485632" y="2542032"/>
            <a:ext cx="1682496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C4C0B7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Finance alone, per year</a:t>
            </a:r>
          </a:p>
        </p:txBody>
      </p:sp>
      <p:sp>
        <p:nvSpPr>
          <p:cNvPr id="5038" name="SimReal 5038"/>
          <p:cNvSpPr txBox="1"/>
          <p:nvPr/>
        </p:nvSpPr>
        <p:spPr>
          <a:xfrm>
            <a:off x="10168128" y="2542032"/>
            <a:ext cx="123444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0" i="0" u="none" strike="noStrike" cap="none">
                <a:solidFill>
                  <a:srgbClr val="FAF9F6"/>
                </a:solidFill>
                <a:latin typeface="Newsreader"/>
                <a:ea typeface="Newsreader"/>
                <a:cs typeface="Newsreader"/>
                <a:sym typeface="Newsreader"/>
              </a:rPr>
              <a:t>$3.6M–$42M</a:t>
            </a:r>
          </a:p>
        </p:txBody>
      </p:sp>
      <p:sp>
        <p:nvSpPr>
          <p:cNvPr id="5039" name="SimReal 5039"/>
          <p:cNvSpPr/>
          <p:nvPr/>
        </p:nvSpPr>
        <p:spPr>
          <a:xfrm>
            <a:off x="8485632" y="2926080"/>
            <a:ext cx="2916936" cy="9144"/>
          </a:xfrm>
          <a:prstGeom prst="rect">
            <a:avLst/>
          </a:prstGeom>
          <a:solidFill>
            <a:srgbClr val="3A393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40" name="SimReal 5040"/>
          <p:cNvSpPr txBox="1"/>
          <p:nvPr/>
        </p:nvSpPr>
        <p:spPr>
          <a:xfrm>
            <a:off x="8485632" y="2926080"/>
            <a:ext cx="1682496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C4C0B7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Trading + prediction + AI research</a:t>
            </a:r>
          </a:p>
        </p:txBody>
      </p:sp>
      <p:sp>
        <p:nvSpPr>
          <p:cNvPr id="5041" name="SimReal 5041"/>
          <p:cNvSpPr txBox="1"/>
          <p:nvPr/>
        </p:nvSpPr>
        <p:spPr>
          <a:xfrm>
            <a:off x="10168128" y="2926080"/>
            <a:ext cx="123444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0" i="0" u="none" strike="noStrike" cap="none">
                <a:solidFill>
                  <a:srgbClr val="FAF9F6"/>
                </a:solidFill>
                <a:latin typeface="Newsreader"/>
                <a:ea typeface="Newsreader"/>
                <a:cs typeface="Newsreader"/>
                <a:sym typeface="Newsreader"/>
              </a:rPr>
              <a:t>× 3</a:t>
            </a:r>
          </a:p>
        </p:txBody>
      </p:sp>
      <p:sp>
        <p:nvSpPr>
          <p:cNvPr id="5042" name="SimReal 5042"/>
          <p:cNvSpPr/>
          <p:nvPr/>
        </p:nvSpPr>
        <p:spPr>
          <a:xfrm>
            <a:off x="8485632" y="3310128"/>
            <a:ext cx="2916936" cy="9144"/>
          </a:xfrm>
          <a:prstGeom prst="rect">
            <a:avLst/>
          </a:prstGeom>
          <a:solidFill>
            <a:srgbClr val="3A393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43" name="SimReal 5043"/>
          <p:cNvSpPr txBox="1"/>
          <p:nvPr/>
        </p:nvSpPr>
        <p:spPr>
          <a:xfrm>
            <a:off x="8485632" y="3310128"/>
            <a:ext cx="1682496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FAF9F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= Three domains, per year</a:t>
            </a:r>
          </a:p>
        </p:txBody>
      </p:sp>
      <p:sp>
        <p:nvSpPr>
          <p:cNvPr id="5044" name="SimReal 5044"/>
          <p:cNvSpPr txBox="1"/>
          <p:nvPr/>
        </p:nvSpPr>
        <p:spPr>
          <a:xfrm>
            <a:off x="10168128" y="3310128"/>
            <a:ext cx="123444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0" i="0" u="none" strike="noStrike" cap="none">
                <a:solidFill>
                  <a:srgbClr val="E27A3F"/>
                </a:solidFill>
                <a:latin typeface="Newsreader"/>
                <a:ea typeface="Newsreader"/>
                <a:cs typeface="Newsreader"/>
                <a:sym typeface="Newsreader"/>
              </a:rPr>
              <a:t>$10.8M–$126M</a:t>
            </a:r>
          </a:p>
        </p:txBody>
      </p:sp>
      <p:sp>
        <p:nvSpPr>
          <p:cNvPr id="5045" name="SimReal 5045"/>
          <p:cNvSpPr txBox="1"/>
          <p:nvPr/>
        </p:nvSpPr>
        <p:spPr>
          <a:xfrm>
            <a:off x="8485632" y="3840480"/>
            <a:ext cx="2916936" cy="118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C4C0B7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Context: training-data and RL-environment</a:t>
            </a:r>
            <a:br>
              <a:rPr lang="en-US" sz="950"/>
            </a:br>
            <a:r>
              <a:rPr lang="en-US" sz="950" b="0" i="0" u="none" strike="noStrike" cap="none">
                <a:solidFill>
                  <a:srgbClr val="C4C0B7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vendors earn about $8.5B a year</a:t>
            </a:r>
            <a:br>
              <a:rPr lang="en-US" sz="950"/>
            </a:br>
            <a:r>
              <a:rPr lang="en-US" sz="950" b="0" i="0" u="none" strike="noStrike" cap="none">
                <a:solidFill>
                  <a:srgbClr val="C4C0B7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Source: Deedy Das, Jul 2026</a:t>
            </a:r>
          </a:p>
        </p:txBody>
      </p:sp>
      <p:sp>
        <p:nvSpPr>
          <p:cNvPr id="5046" name="SimReal 5046"/>
          <p:cNvSpPr txBox="1"/>
          <p:nvPr/>
        </p:nvSpPr>
        <p:spPr>
          <a:xfrm>
            <a:off x="548640" y="5138928"/>
            <a:ext cx="11091672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One domain is worth millions to tens of millions a year; </a:t>
            </a:r>
            <a:r>
              <a:rPr lang="en-US" sz="18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each new scorable domain adds another</a:t>
            </a:r>
            <a:r>
              <a:rPr lang="en-US" sz="18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.</a:t>
            </a:r>
          </a:p>
        </p:txBody>
      </p:sp>
      <p:sp>
        <p:nvSpPr>
          <p:cNvPr id="5047" name="SimReal 5047"/>
          <p:cNvSpPr txBox="1"/>
          <p:nvPr/>
        </p:nvSpPr>
        <p:spPr>
          <a:xfrm>
            <a:off x="548640" y="5669280"/>
            <a:ext cx="11091672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Sources: task and environment prices and contract sizes (six to seven figures a quarter): Epoch AI (Jan 2026, 18 interviews), SemiAnalysis (Jan 2026); vendor revenue: Deedy Das (Jul 2026), context only.</a:t>
            </a:r>
          </a:p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Estimates: finance priced at the upper-middle (task floor ~$500, per Mechanize’s ~$2,400 of training compute per task); volume per lab (China benchmarked to UniPat orders), tier counts and the three-domain extrapolation are our assumptions.</a:t>
            </a:r>
          </a:p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Buyers: OpenAI, Google DeepMind, Meta, xAI and other US frontier labs; Thinking Machines, Reflection AI and other new labs; Alibaba, ByteDance, DeepSeek, Moonshot and other Chinese labs.</a:t>
            </a:r>
          </a:p>
        </p:txBody>
      </p:sp>
      <p:sp>
        <p:nvSpPr>
          <p:cNvPr id="5048" name="SimReal 5048"/>
          <p:cNvSpPr txBox="1"/>
          <p:nvPr/>
        </p:nvSpPr>
        <p:spPr>
          <a:xfrm>
            <a:off x="137160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Confidential  ·  For invited investors only  ·  September 2026</a:t>
            </a:r>
          </a:p>
        </p:txBody>
      </p:sp>
      <p:sp>
        <p:nvSpPr>
          <p:cNvPr id="5049" name="SimReal 5049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10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1" name="Google Shape;511;p17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11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Team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Problem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Solution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  </a:t>
            </a:r>
            <a:r>
              <a:rPr lang="en-US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Market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Traction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Raise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Competition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Others build one piece; </a:t>
            </a:r>
            <a:r>
              <a:rPr lang="en-US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we build the full loop that keeps AI improving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517904"/>
            <a:ext cx="6400800" cy="676656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777240" y="1591056"/>
            <a:ext cx="24688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Expert data platforms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777240" y="1938528"/>
            <a:ext cx="25146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Mercor, Surge, Handshake, AfterQuery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3383280" y="1517904"/>
            <a:ext cx="3383280" cy="676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Expert demos and judgment, scored by human opinion</a:t>
            </a:r>
          </a:p>
          <a:p>
            <a:pPr marL="0" marR="0" lvl="0" indent="0" algn="l" rtl="0">
              <a:lnSpc>
                <a:spcPct val="110000"/>
              </a:lnSpc>
              <a:spcBef>
                <a:spcPts val="367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Moving into RL environments</a:t>
            </a:r>
          </a:p>
        </p:txBody>
      </p:sp>
      <p:sp>
        <p:nvSpPr>
          <p:cNvPr id="5009" name="SimReal 5009"/>
          <p:cNvSpPr/>
          <p:nvPr/>
        </p:nvSpPr>
        <p:spPr>
          <a:xfrm>
            <a:off x="548640" y="2286000"/>
            <a:ext cx="6400800" cy="676656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0" name="SimReal 5010"/>
          <p:cNvSpPr txBox="1"/>
          <p:nvPr/>
        </p:nvSpPr>
        <p:spPr>
          <a:xfrm>
            <a:off x="777240" y="2359152"/>
            <a:ext cx="24688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Peers in China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777240" y="2706624"/>
            <a:ext cx="25146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UniPat, Humanlaya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3383280" y="2286000"/>
            <a:ext cx="3383280" cy="676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Expert data, eval environments and benchmarks; mainly domestic labs</a:t>
            </a:r>
          </a:p>
        </p:txBody>
      </p:sp>
      <p:sp>
        <p:nvSpPr>
          <p:cNvPr id="5013" name="SimReal 5013"/>
          <p:cNvSpPr/>
          <p:nvPr/>
        </p:nvSpPr>
        <p:spPr>
          <a:xfrm>
            <a:off x="548640" y="3054096"/>
            <a:ext cx="6400800" cy="676656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4" name="SimReal 5014"/>
          <p:cNvSpPr txBox="1"/>
          <p:nvPr/>
        </p:nvSpPr>
        <p:spPr>
          <a:xfrm>
            <a:off x="777240" y="3127248"/>
            <a:ext cx="24688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AI trading evals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777240" y="3474720"/>
            <a:ext cx="25146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Nof1 (Alpha Arena)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3383280" y="3054096"/>
            <a:ext cx="3383280" cy="676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Live trading leaderboard: evaluates, doesn’t train</a:t>
            </a:r>
          </a:p>
        </p:txBody>
      </p:sp>
      <p:sp>
        <p:nvSpPr>
          <p:cNvPr id="5017" name="SimReal 5017"/>
          <p:cNvSpPr/>
          <p:nvPr/>
        </p:nvSpPr>
        <p:spPr>
          <a:xfrm>
            <a:off x="548640" y="3822192"/>
            <a:ext cx="6400800" cy="676656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8" name="SimReal 5018"/>
          <p:cNvSpPr txBox="1"/>
          <p:nvPr/>
        </p:nvSpPr>
        <p:spPr>
          <a:xfrm>
            <a:off x="777240" y="4041648"/>
            <a:ext cx="24688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Labs in-house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3383280" y="3822192"/>
            <a:ext cx="3383280" cy="676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Only the domains they know</a:t>
            </a:r>
          </a:p>
        </p:txBody>
      </p:sp>
      <p:sp>
        <p:nvSpPr>
          <p:cNvPr id="5020" name="SimReal 5020"/>
          <p:cNvSpPr/>
          <p:nvPr/>
        </p:nvSpPr>
        <p:spPr>
          <a:xfrm>
            <a:off x="548640" y="4590288"/>
            <a:ext cx="6400800" cy="676656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1" name="SimReal 5021"/>
          <p:cNvSpPr txBox="1"/>
          <p:nvPr/>
        </p:nvSpPr>
        <p:spPr>
          <a:xfrm>
            <a:off x="777240" y="4663440"/>
            <a:ext cx="24688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FAF9F6"/>
                </a:solidFill>
                <a:latin typeface="Newsreader"/>
                <a:ea typeface="Newsreader"/>
                <a:cs typeface="Newsreader"/>
                <a:sym typeface="Newsreader"/>
              </a:rPr>
              <a:t>SimReal</a:t>
            </a:r>
          </a:p>
        </p:txBody>
      </p:sp>
      <p:sp>
        <p:nvSpPr>
          <p:cNvPr id="5022" name="SimReal 5022"/>
          <p:cNvSpPr txBox="1"/>
          <p:nvPr/>
        </p:nvSpPr>
        <p:spPr>
          <a:xfrm>
            <a:off x="777240" y="5010912"/>
            <a:ext cx="25146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E27A3F"/>
                </a:solidFill>
                <a:latin typeface="IBM Plex Mono"/>
                <a:ea typeface="IBM Plex Mono"/>
                <a:cs typeface="IBM Plex Mono"/>
                <a:sym typeface="IBM Plex Mono"/>
              </a:rPr>
              <a:t>Environments, data, scoring, training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3383280" y="4590288"/>
            <a:ext cx="3383280" cy="676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FAF9F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Every result feeds the next round; AI keeps improving</a:t>
            </a:r>
          </a:p>
        </p:txBody>
      </p:sp>
      <p:sp>
        <p:nvSpPr>
          <p:cNvPr id="5024" name="SimReal 5024"/>
          <p:cNvSpPr txBox="1"/>
          <p:nvPr/>
        </p:nvSpPr>
        <p:spPr>
          <a:xfrm>
            <a:off x="7315200" y="1517904"/>
            <a:ext cx="4325112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Our edge</a:t>
            </a:r>
          </a:p>
        </p:txBody>
      </p:sp>
      <p:sp>
        <p:nvSpPr>
          <p:cNvPr id="5025" name="SimReal 5025"/>
          <p:cNvSpPr/>
          <p:nvPr/>
        </p:nvSpPr>
        <p:spPr>
          <a:xfrm>
            <a:off x="7315200" y="1810512"/>
            <a:ext cx="432511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6" name="SimReal 5026"/>
          <p:cNvSpPr txBox="1"/>
          <p:nvPr/>
        </p:nvSpPr>
        <p:spPr>
          <a:xfrm>
            <a:off x="7315200" y="1901952"/>
            <a:ext cx="4325112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Finance know-how</a:t>
            </a:r>
          </a:p>
        </p:txBody>
      </p:sp>
      <p:sp>
        <p:nvSpPr>
          <p:cNvPr id="5027" name="SimReal 5027"/>
          <p:cNvSpPr txBox="1"/>
          <p:nvPr/>
        </p:nvSpPr>
        <p:spPr>
          <a:xfrm>
            <a:off x="7315200" y="2249424"/>
            <a:ext cx="4325112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 quant team designs the matching and the reward: trading discipline written into the scorer (next page)</a:t>
            </a:r>
          </a:p>
        </p:txBody>
      </p:sp>
      <p:sp>
        <p:nvSpPr>
          <p:cNvPr id="5028" name="SimReal 5028"/>
          <p:cNvSpPr/>
          <p:nvPr/>
        </p:nvSpPr>
        <p:spPr>
          <a:xfrm>
            <a:off x="7315200" y="2706624"/>
            <a:ext cx="432511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9" name="SimReal 5029"/>
          <p:cNvSpPr txBox="1"/>
          <p:nvPr/>
        </p:nvSpPr>
        <p:spPr>
          <a:xfrm>
            <a:off x="7315200" y="2798064"/>
            <a:ext cx="4325112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Verifiable scoring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7315200" y="3145536"/>
            <a:ext cx="4325112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Scored by the simulator, not by opinion; human benchmark from 6 competition teams’ public submissions</a:t>
            </a:r>
          </a:p>
        </p:txBody>
      </p:sp>
      <p:sp>
        <p:nvSpPr>
          <p:cNvPr id="5031" name="SimReal 5031"/>
          <p:cNvSpPr/>
          <p:nvPr/>
        </p:nvSpPr>
        <p:spPr>
          <a:xfrm>
            <a:off x="7315200" y="3602736"/>
            <a:ext cx="432511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2" name="SimReal 5032"/>
          <p:cNvSpPr txBox="1"/>
          <p:nvPr/>
        </p:nvSpPr>
        <p:spPr>
          <a:xfrm>
            <a:off x="7315200" y="3694176"/>
            <a:ext cx="4325112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Evaluate and train</a:t>
            </a:r>
          </a:p>
        </p:txBody>
      </p:sp>
      <p:sp>
        <p:nvSpPr>
          <p:cNvPr id="5033" name="SimReal 5033"/>
          <p:cNvSpPr txBox="1"/>
          <p:nvPr/>
        </p:nvSpPr>
        <p:spPr>
          <a:xfrm>
            <a:off x="7315200" y="4041648"/>
            <a:ext cx="4325112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One environment for evals and training: Qwen3.8-27B up to 12% better after training (page 6)</a:t>
            </a:r>
          </a:p>
        </p:txBody>
      </p:sp>
      <p:sp>
        <p:nvSpPr>
          <p:cNvPr id="5034" name="SimReal 5034"/>
          <p:cNvSpPr/>
          <p:nvPr/>
        </p:nvSpPr>
        <p:spPr>
          <a:xfrm>
            <a:off x="7315200" y="4498848"/>
            <a:ext cx="432511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5" name="SimReal 5035"/>
          <p:cNvSpPr txBox="1"/>
          <p:nvPr/>
        </p:nvSpPr>
        <p:spPr>
          <a:xfrm>
            <a:off x="7315200" y="4590288"/>
            <a:ext cx="4325112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Own assets</a:t>
            </a:r>
          </a:p>
        </p:txBody>
      </p:sp>
      <p:sp>
        <p:nvSpPr>
          <p:cNvPr id="5036" name="SimReal 5036"/>
          <p:cNvSpPr txBox="1"/>
          <p:nvPr/>
        </p:nvSpPr>
        <p:spPr>
          <a:xfrm>
            <a:off x="7315200" y="4937760"/>
            <a:ext cx="4325112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Matching and scoring on our own engine; a 7,000+ expert waitlist (page 8)</a:t>
            </a:r>
          </a:p>
        </p:txBody>
      </p:sp>
      <p:sp>
        <p:nvSpPr>
          <p:cNvPr id="5037" name="SimReal 5037"/>
          <p:cNvSpPr txBox="1"/>
          <p:nvPr/>
        </p:nvSpPr>
        <p:spPr>
          <a:xfrm>
            <a:off x="548640" y="5577840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In China  </a:t>
            </a:r>
            <a:r>
              <a:rPr lang="en-US" sz="9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Bloomberg reports Alibaba plans to lead a $300M round in UniPat at a $2.5B valuation; Humanlaya closed a pre-A of several hundred million RMB led by CDH; Alibaba, ByteDance, DeepSeek and others have bought data or services from both.</a:t>
            </a:r>
          </a:p>
        </p:txBody>
      </p:sp>
      <p:sp>
        <p:nvSpPr>
          <p:cNvPr id="5038" name="SimReal 5038"/>
          <p:cNvSpPr txBox="1"/>
          <p:nvPr/>
        </p:nvSpPr>
        <p:spPr>
          <a:xfrm>
            <a:off x="137160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Confidential  ·  For invited investors only  ·  September 2026</a:t>
            </a:r>
          </a:p>
        </p:txBody>
      </p:sp>
      <p:sp>
        <p:nvSpPr>
          <p:cNvPr id="5039" name="SimReal 5039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11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2" name="Google Shape;562;p18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12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Team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Problem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Solution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  </a:t>
            </a:r>
            <a:r>
              <a:rPr lang="en-US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Market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Traction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Raise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Why us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Labs buy finance know-how by the hour; </a:t>
            </a:r>
            <a:r>
              <a:rPr lang="en-US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we built it into the environment and the score</a:t>
            </a:r>
          </a:p>
        </p:txBody>
      </p:sp>
      <p:sp>
        <p:nvSpPr>
          <p:cNvPr id="5005" name="SimReal 5005"/>
          <p:cNvSpPr txBox="1"/>
          <p:nvPr/>
        </p:nvSpPr>
        <p:spPr>
          <a:xfrm>
            <a:off x="548640" y="1499616"/>
            <a:ext cx="11091672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OpenAI pays ex-bankers $150 an hour; xAI hires quant-trading experts (Bloomberg, xAI job posts)</a:t>
            </a:r>
          </a:p>
        </p:txBody>
      </p:sp>
      <p:sp>
        <p:nvSpPr>
          <p:cNvPr id="5006" name="SimReal 5006"/>
          <p:cNvSpPr/>
          <p:nvPr/>
        </p:nvSpPr>
        <p:spPr>
          <a:xfrm>
            <a:off x="548640" y="1755648"/>
            <a:ext cx="3514344" cy="201168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7" name="SimReal 5007"/>
          <p:cNvSpPr txBox="1"/>
          <p:nvPr/>
        </p:nvSpPr>
        <p:spPr>
          <a:xfrm>
            <a:off x="822960" y="1938528"/>
            <a:ext cx="2965704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Realistic matching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822960" y="2487168"/>
            <a:ext cx="2965704" cy="118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Naive backtests assume resting orders fill,</a:t>
            </a:r>
          </a:p>
          <a:p>
            <a:pPr marL="0" marR="0" lvl="0" indent="0" algn="l" rtl="0">
              <a:lnSpc>
                <a:spcPct val="114999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so models learn the backtest’s loopholes.</a:t>
            </a:r>
          </a:p>
          <a:p>
            <a:pPr marL="0" marR="0" lvl="0" indent="0" algn="l" rtl="0">
              <a:lnSpc>
                <a:spcPct val="114999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We queue orders, split crossing and resting</a:t>
            </a:r>
          </a:p>
          <a:p>
            <a:pPr marL="0" marR="0" lvl="0" indent="0" algn="l" rtl="0">
              <a:lnSpc>
                <a:spcPct val="114999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fills, and attribute each fill to the book.</a:t>
            </a:r>
          </a:p>
        </p:txBody>
      </p:sp>
      <p:sp>
        <p:nvSpPr>
          <p:cNvPr id="5009" name="SimReal 5009"/>
          <p:cNvSpPr/>
          <p:nvPr/>
        </p:nvSpPr>
        <p:spPr>
          <a:xfrm>
            <a:off x="4337304" y="1755648"/>
            <a:ext cx="3514344" cy="201168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0" name="SimReal 5010"/>
          <p:cNvSpPr txBox="1"/>
          <p:nvPr/>
        </p:nvSpPr>
        <p:spPr>
          <a:xfrm>
            <a:off x="4611624" y="1938528"/>
            <a:ext cx="2965704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Risk in the reward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4611624" y="2487168"/>
            <a:ext cx="2965704" cy="118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 = max(0, P&amp;L − 0.1×DD) × Sharpe factor</a:t>
            </a:r>
          </a:p>
          <a:p>
            <a:pPr marL="0" marR="0" lvl="0" indent="0" algn="l" rtl="0">
              <a:lnSpc>
                <a:spcPct val="114999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After fixing 3 flaws in a human strategy,</a:t>
            </a:r>
          </a:p>
          <a:p>
            <a:pPr marL="0" marR="0" lvl="0" indent="0" algn="l" rtl="0">
              <a:lnSpc>
                <a:spcPct val="114999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P&amp;L rose 63% but Sharpe fell 7.27 → 3.03:</a:t>
            </a:r>
          </a:p>
          <a:p>
            <a:pPr marL="0" marR="0" lvl="0" indent="0" algn="l" rtl="0">
              <a:lnSpc>
                <a:spcPct val="114999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return and risk diverge; the reward counts both</a:t>
            </a:r>
          </a:p>
        </p:txBody>
      </p:sp>
      <p:sp>
        <p:nvSpPr>
          <p:cNvPr id="5012" name="SimReal 5012"/>
          <p:cNvSpPr/>
          <p:nvPr/>
        </p:nvSpPr>
        <p:spPr>
          <a:xfrm>
            <a:off x="8125968" y="1755648"/>
            <a:ext cx="3514344" cy="201168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3" name="SimReal 5013"/>
          <p:cNvSpPr txBox="1"/>
          <p:nvPr/>
        </p:nvSpPr>
        <p:spPr>
          <a:xfrm>
            <a:off x="8400288" y="1938528"/>
            <a:ext cx="2965704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No gaming</a:t>
            </a:r>
          </a:p>
        </p:txBody>
      </p:sp>
      <p:sp>
        <p:nvSpPr>
          <p:cNvPr id="5014" name="SimReal 5014"/>
          <p:cNvSpPr txBox="1"/>
          <p:nvPr/>
        </p:nvSpPr>
        <p:spPr>
          <a:xfrm>
            <a:off x="8400288" y="2487168"/>
            <a:ext cx="2965704" cy="118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The last full day is hidden from the agent;</a:t>
            </a:r>
          </a:p>
          <a:p>
            <a:pPr marL="0" marR="0" lvl="0" indent="0" algn="l" rtl="0">
              <a:lnSpc>
                <a:spcPct val="114999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the full report’s hash is published up front;</a:t>
            </a:r>
          </a:p>
          <a:p>
            <a:pPr marL="0" marR="0" lvl="0" indent="0" algn="l" rtl="0">
              <a:lnSpc>
                <a:spcPct val="114999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deterministic: same strategy, same score;</a:t>
            </a:r>
          </a:p>
          <a:p>
            <a:pPr marL="0" marR="0" lvl="0" indent="0" algn="l" rtl="0">
              <a:lnSpc>
                <a:spcPct val="114999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private reserve tasks replace exposed days</a:t>
            </a:r>
          </a:p>
        </p:txBody>
      </p:sp>
      <p:sp>
        <p:nvSpPr>
          <p:cNvPr id="5015" name="SimReal 5015"/>
          <p:cNvSpPr/>
          <p:nvPr/>
        </p:nvSpPr>
        <p:spPr>
          <a:xfrm>
            <a:off x="548640" y="4005072"/>
            <a:ext cx="3514344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6" name="SimReal 5016"/>
          <p:cNvSpPr txBox="1"/>
          <p:nvPr/>
        </p:nvSpPr>
        <p:spPr>
          <a:xfrm>
            <a:off x="548640" y="4078224"/>
            <a:ext cx="3514344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Quant experience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548640" y="4443984"/>
            <a:ext cx="351434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All three founders have quant-firm experience (page 3);</a:t>
            </a: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the team designed the three rules above</a:t>
            </a:r>
          </a:p>
        </p:txBody>
      </p:sp>
      <p:sp>
        <p:nvSpPr>
          <p:cNvPr id="5018" name="SimReal 5018"/>
          <p:cNvSpPr/>
          <p:nvPr/>
        </p:nvSpPr>
        <p:spPr>
          <a:xfrm>
            <a:off x="4337304" y="4005072"/>
            <a:ext cx="3514344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9" name="SimReal 5019"/>
          <p:cNvSpPr txBox="1"/>
          <p:nvPr/>
        </p:nvSpPr>
        <p:spPr>
          <a:xfrm>
            <a:off x="4337304" y="4078224"/>
            <a:ext cx="3514344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What buyers want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4337304" y="4443984"/>
            <a:ext cx="351434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Interviewees repeatedly name it a key quality test: no high score by gaming</a:t>
            </a: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Epoch AI, 18 interviews</a:t>
            </a:r>
          </a:p>
        </p:txBody>
      </p:sp>
      <p:sp>
        <p:nvSpPr>
          <p:cNvPr id="5021" name="SimReal 5021"/>
          <p:cNvSpPr/>
          <p:nvPr/>
        </p:nvSpPr>
        <p:spPr>
          <a:xfrm>
            <a:off x="8125968" y="4005072"/>
            <a:ext cx="3514344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2" name="SimReal 5022"/>
          <p:cNvSpPr txBox="1"/>
          <p:nvPr/>
        </p:nvSpPr>
        <p:spPr>
          <a:xfrm>
            <a:off x="8125968" y="4078224"/>
            <a:ext cx="3514344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Speed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8125968" y="4443984"/>
            <a:ext cx="351434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7 environments in 14 days, no outside funding</a:t>
            </a:r>
          </a:p>
        </p:txBody>
      </p:sp>
      <p:sp>
        <p:nvSpPr>
          <p:cNvPr id="5024" name="SimReal 5024"/>
          <p:cNvSpPr txBox="1"/>
          <p:nvPr/>
        </p:nvSpPr>
        <p:spPr>
          <a:xfrm>
            <a:off x="548640" y="5349240"/>
            <a:ext cx="11091672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Spotting the loophole in a backtest </a:t>
            </a:r>
            <a:r>
              <a:rPr lang="en-US" sz="20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is basic quant discipline</a:t>
            </a:r>
            <a:r>
              <a:rPr lang="en-US" sz="2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.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137160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Confidential  ·  For invited investors only  ·  September 2026</a:t>
            </a:r>
          </a:p>
        </p:txBody>
      </p:sp>
      <p:sp>
        <p:nvSpPr>
          <p:cNvPr id="5026" name="SimReal 5026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12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7" name="Google Shape;607;p19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14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Team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Problem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Solution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Market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Traction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  </a:t>
            </a:r>
            <a:r>
              <a:rPr lang="en-US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Raise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The round &amp; use of funds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Two engines: revenue earns today’s money; </a:t>
            </a:r>
            <a:r>
              <a:rPr lang="en-US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R&amp;D makes the training gains solid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463040"/>
            <a:ext cx="2601468" cy="713232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749808" y="1517904"/>
            <a:ext cx="2235708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E27A3F"/>
                </a:solidFill>
                <a:latin typeface="IBM Plex Mono"/>
                <a:ea typeface="IBM Plex Mono"/>
                <a:cs typeface="IBM Plex Mono"/>
                <a:sym typeface="IBM Plex Mono"/>
              </a:rPr>
              <a:t>Raising (seed)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749808" y="1700784"/>
            <a:ext cx="2235708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E27A3F"/>
                </a:solidFill>
                <a:latin typeface="Newsreader"/>
                <a:ea typeface="Newsreader"/>
                <a:cs typeface="Newsreader"/>
                <a:sym typeface="Newsreader"/>
              </a:rPr>
              <a:t>$6M</a:t>
            </a:r>
          </a:p>
        </p:txBody>
      </p:sp>
      <p:sp>
        <p:nvSpPr>
          <p:cNvPr id="5008" name="SimReal 5008"/>
          <p:cNvSpPr/>
          <p:nvPr/>
        </p:nvSpPr>
        <p:spPr>
          <a:xfrm>
            <a:off x="3378708" y="1463040"/>
            <a:ext cx="2601468" cy="713232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9" name="SimReal 5009"/>
          <p:cNvSpPr txBox="1"/>
          <p:nvPr/>
        </p:nvSpPr>
        <p:spPr>
          <a:xfrm>
            <a:off x="3579876" y="1517904"/>
            <a:ext cx="2235708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Dilution</a:t>
            </a:r>
          </a:p>
        </p:txBody>
      </p:sp>
      <p:sp>
        <p:nvSpPr>
          <p:cNvPr id="5010" name="SimReal 5010"/>
          <p:cNvSpPr txBox="1"/>
          <p:nvPr/>
        </p:nvSpPr>
        <p:spPr>
          <a:xfrm>
            <a:off x="3579876" y="1700784"/>
            <a:ext cx="2235708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8%</a:t>
            </a:r>
          </a:p>
        </p:txBody>
      </p:sp>
      <p:sp>
        <p:nvSpPr>
          <p:cNvPr id="5011" name="SimReal 5011"/>
          <p:cNvSpPr/>
          <p:nvPr/>
        </p:nvSpPr>
        <p:spPr>
          <a:xfrm>
            <a:off x="6208776" y="1463040"/>
            <a:ext cx="2601468" cy="713232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2" name="SimReal 5012"/>
          <p:cNvSpPr txBox="1"/>
          <p:nvPr/>
        </p:nvSpPr>
        <p:spPr>
          <a:xfrm>
            <a:off x="6409944" y="1517904"/>
            <a:ext cx="2235708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Pre-money</a:t>
            </a:r>
          </a:p>
        </p:txBody>
      </p:sp>
      <p:sp>
        <p:nvSpPr>
          <p:cNvPr id="5013" name="SimReal 5013"/>
          <p:cNvSpPr txBox="1"/>
          <p:nvPr/>
        </p:nvSpPr>
        <p:spPr>
          <a:xfrm>
            <a:off x="6409944" y="1700784"/>
            <a:ext cx="2235708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$69M</a:t>
            </a:r>
          </a:p>
        </p:txBody>
      </p:sp>
      <p:sp>
        <p:nvSpPr>
          <p:cNvPr id="5014" name="SimReal 5014"/>
          <p:cNvSpPr/>
          <p:nvPr/>
        </p:nvSpPr>
        <p:spPr>
          <a:xfrm>
            <a:off x="9038844" y="1463040"/>
            <a:ext cx="2601468" cy="713232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5" name="SimReal 5015"/>
          <p:cNvSpPr txBox="1"/>
          <p:nvPr/>
        </p:nvSpPr>
        <p:spPr>
          <a:xfrm>
            <a:off x="9240012" y="1517904"/>
            <a:ext cx="2235708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Post-money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9240012" y="1700784"/>
            <a:ext cx="2235708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$75M</a:t>
            </a:r>
          </a:p>
        </p:txBody>
      </p:sp>
      <p:sp>
        <p:nvSpPr>
          <p:cNvPr id="5017" name="SimReal 5017"/>
          <p:cNvSpPr/>
          <p:nvPr/>
        </p:nvSpPr>
        <p:spPr>
          <a:xfrm>
            <a:off x="548640" y="2286000"/>
            <a:ext cx="5408676" cy="2670048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8" name="SimReal 5018"/>
          <p:cNvSpPr txBox="1"/>
          <p:nvPr/>
        </p:nvSpPr>
        <p:spPr>
          <a:xfrm>
            <a:off x="822960" y="2414016"/>
            <a:ext cx="4860036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01  Revenue engine  ·  $3M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822960" y="2633472"/>
            <a:ext cx="4860036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Environments &amp; data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822960" y="3017520"/>
            <a:ext cx="4860036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Build once, license to many labs; data billed by volume</a:t>
            </a:r>
          </a:p>
        </p:txBody>
      </p:sp>
      <p:sp>
        <p:nvSpPr>
          <p:cNvPr id="5021" name="SimReal 5021"/>
          <p:cNvSpPr txBox="1"/>
          <p:nvPr/>
        </p:nvSpPr>
        <p:spPr>
          <a:xfrm>
            <a:off x="822960" y="3310128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$1.05M</a:t>
            </a:r>
          </a:p>
        </p:txBody>
      </p:sp>
      <p:sp>
        <p:nvSpPr>
          <p:cNvPr id="5022" name="SimReal 5022"/>
          <p:cNvSpPr txBox="1"/>
          <p:nvPr/>
        </p:nvSpPr>
        <p:spPr>
          <a:xfrm>
            <a:off x="1572768" y="3310128"/>
            <a:ext cx="164363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Environments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3252978" y="3310128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$600K</a:t>
            </a:r>
          </a:p>
        </p:txBody>
      </p:sp>
      <p:sp>
        <p:nvSpPr>
          <p:cNvPr id="5024" name="SimReal 5024"/>
          <p:cNvSpPr txBox="1"/>
          <p:nvPr/>
        </p:nvSpPr>
        <p:spPr>
          <a:xfrm>
            <a:off x="4002786" y="3310128"/>
            <a:ext cx="164363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Data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822960" y="3602736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$900K</a:t>
            </a:r>
          </a:p>
        </p:txBody>
      </p:sp>
      <p:sp>
        <p:nvSpPr>
          <p:cNvPr id="5026" name="SimReal 5026"/>
          <p:cNvSpPr txBox="1"/>
          <p:nvPr/>
        </p:nvSpPr>
        <p:spPr>
          <a:xfrm>
            <a:off x="1572768" y="3602736"/>
            <a:ext cx="164363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Delivery</a:t>
            </a:r>
          </a:p>
        </p:txBody>
      </p:sp>
      <p:sp>
        <p:nvSpPr>
          <p:cNvPr id="5027" name="SimReal 5027"/>
          <p:cNvSpPr txBox="1"/>
          <p:nvPr/>
        </p:nvSpPr>
        <p:spPr>
          <a:xfrm>
            <a:off x="3252978" y="3602736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$450K</a:t>
            </a:r>
          </a:p>
        </p:txBody>
      </p:sp>
      <p:sp>
        <p:nvSpPr>
          <p:cNvPr id="5028" name="SimReal 5028"/>
          <p:cNvSpPr txBox="1"/>
          <p:nvPr/>
        </p:nvSpPr>
        <p:spPr>
          <a:xfrm>
            <a:off x="4002786" y="3602736"/>
            <a:ext cx="164363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Sales &amp; ops</a:t>
            </a:r>
          </a:p>
        </p:txBody>
      </p:sp>
      <p:sp>
        <p:nvSpPr>
          <p:cNvPr id="5029" name="SimReal 5029"/>
          <p:cNvSpPr txBox="1"/>
          <p:nvPr/>
        </p:nvSpPr>
        <p:spPr>
          <a:xfrm>
            <a:off x="822960" y="3931920"/>
            <a:ext cx="4860036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5 environment engineers · 3 delivery · 2 sales; 24-month runway</a:t>
            </a:r>
          </a:p>
        </p:txBody>
      </p:sp>
      <p:sp>
        <p:nvSpPr>
          <p:cNvPr id="5030" name="SimReal 5030"/>
          <p:cNvSpPr/>
          <p:nvPr/>
        </p:nvSpPr>
        <p:spPr>
          <a:xfrm>
            <a:off x="822960" y="4224528"/>
            <a:ext cx="4860036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1" name="SimReal 5031"/>
          <p:cNvSpPr txBox="1"/>
          <p:nvPr/>
        </p:nvSpPr>
        <p:spPr>
          <a:xfrm>
            <a:off x="822960" y="4279392"/>
            <a:ext cx="1528572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3 months</a:t>
            </a:r>
          </a:p>
        </p:txBody>
      </p:sp>
      <p:sp>
        <p:nvSpPr>
          <p:cNvPr id="5032" name="SimReal 5032"/>
          <p:cNvSpPr txBox="1"/>
          <p:nvPr/>
        </p:nvSpPr>
        <p:spPr>
          <a:xfrm>
            <a:off x="822960" y="4443984"/>
            <a:ext cx="151028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First paid pilot</a:t>
            </a:r>
          </a:p>
        </p:txBody>
      </p:sp>
      <p:sp>
        <p:nvSpPr>
          <p:cNvPr id="5033" name="SimReal 5033"/>
          <p:cNvSpPr txBox="1"/>
          <p:nvPr/>
        </p:nvSpPr>
        <p:spPr>
          <a:xfrm>
            <a:off x="2442972" y="4279392"/>
            <a:ext cx="1528572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6 months</a:t>
            </a:r>
          </a:p>
        </p:txBody>
      </p:sp>
      <p:sp>
        <p:nvSpPr>
          <p:cNvPr id="5034" name="SimReal 5034"/>
          <p:cNvSpPr txBox="1"/>
          <p:nvPr/>
        </p:nvSpPr>
        <p:spPr>
          <a:xfrm>
            <a:off x="2442972" y="4443984"/>
            <a:ext cx="151028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Second license</a:t>
            </a:r>
          </a:p>
        </p:txBody>
      </p:sp>
      <p:sp>
        <p:nvSpPr>
          <p:cNvPr id="5035" name="SimReal 5035"/>
          <p:cNvSpPr txBox="1"/>
          <p:nvPr/>
        </p:nvSpPr>
        <p:spPr>
          <a:xfrm>
            <a:off x="4062984" y="4279392"/>
            <a:ext cx="1528572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12 months</a:t>
            </a:r>
          </a:p>
        </p:txBody>
      </p:sp>
      <p:sp>
        <p:nvSpPr>
          <p:cNvPr id="5036" name="SimReal 5036"/>
          <p:cNvSpPr txBox="1"/>
          <p:nvPr/>
        </p:nvSpPr>
        <p:spPr>
          <a:xfrm>
            <a:off x="4062984" y="4443984"/>
            <a:ext cx="151028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2–3 paying labs</a:t>
            </a:r>
          </a:p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$1M–$3M ARR</a:t>
            </a:r>
          </a:p>
        </p:txBody>
      </p:sp>
      <p:sp>
        <p:nvSpPr>
          <p:cNvPr id="5037" name="SimReal 5037"/>
          <p:cNvSpPr/>
          <p:nvPr/>
        </p:nvSpPr>
        <p:spPr>
          <a:xfrm>
            <a:off x="6231636" y="2286000"/>
            <a:ext cx="5408676" cy="267004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8" name="SimReal 5038"/>
          <p:cNvSpPr txBox="1"/>
          <p:nvPr/>
        </p:nvSpPr>
        <p:spPr>
          <a:xfrm>
            <a:off x="6505956" y="2414016"/>
            <a:ext cx="4860036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1" i="0" u="none" strike="noStrike" cap="none">
                <a:solidFill>
                  <a:srgbClr val="E27A3F"/>
                </a:solidFill>
                <a:latin typeface="IBM Plex Mono"/>
                <a:ea typeface="IBM Plex Mono"/>
                <a:cs typeface="IBM Plex Mono"/>
                <a:sym typeface="IBM Plex Mono"/>
              </a:rPr>
              <a:t>02  R&amp;D engine  ·  $3M</a:t>
            </a:r>
          </a:p>
        </p:txBody>
      </p:sp>
      <p:sp>
        <p:nvSpPr>
          <p:cNvPr id="5039" name="SimReal 5039"/>
          <p:cNvSpPr txBox="1"/>
          <p:nvPr/>
        </p:nvSpPr>
        <p:spPr>
          <a:xfrm>
            <a:off x="6505956" y="2633472"/>
            <a:ext cx="4860036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b="0" i="0" u="none" strike="noStrike" cap="none">
                <a:solidFill>
                  <a:srgbClr val="E27A3F"/>
                </a:solidFill>
                <a:latin typeface="Newsreader"/>
                <a:ea typeface="Newsreader"/>
                <a:cs typeface="Newsreader"/>
                <a:sym typeface="Newsreader"/>
              </a:rPr>
              <a:t>Iterative training</a:t>
            </a:r>
          </a:p>
        </p:txBody>
      </p:sp>
      <p:sp>
        <p:nvSpPr>
          <p:cNvPr id="5040" name="SimReal 5040"/>
          <p:cNvSpPr txBox="1"/>
          <p:nvPr/>
        </p:nvSpPr>
        <p:spPr>
          <a:xfrm>
            <a:off x="6505956" y="3017520"/>
            <a:ext cx="4860036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FAF9F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Trading → prediction → finance close: prove the gain, then scale</a:t>
            </a:r>
          </a:p>
        </p:txBody>
      </p:sp>
      <p:sp>
        <p:nvSpPr>
          <p:cNvPr id="5041" name="SimReal 5041"/>
          <p:cNvSpPr txBox="1"/>
          <p:nvPr/>
        </p:nvSpPr>
        <p:spPr>
          <a:xfrm>
            <a:off x="6505956" y="3310128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0" i="0" u="none" strike="noStrike" cap="none">
                <a:solidFill>
                  <a:srgbClr val="E27A3F"/>
                </a:solidFill>
                <a:latin typeface="Newsreader"/>
                <a:ea typeface="Newsreader"/>
                <a:cs typeface="Newsreader"/>
                <a:sym typeface="Newsreader"/>
              </a:rPr>
              <a:t>$1.35M</a:t>
            </a:r>
          </a:p>
        </p:txBody>
      </p:sp>
      <p:sp>
        <p:nvSpPr>
          <p:cNvPr id="5042" name="SimReal 5042"/>
          <p:cNvSpPr txBox="1"/>
          <p:nvPr/>
        </p:nvSpPr>
        <p:spPr>
          <a:xfrm>
            <a:off x="7255764" y="3310128"/>
            <a:ext cx="164363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FAF9F6"/>
                </a:solidFill>
                <a:latin typeface="Newsreader"/>
                <a:ea typeface="Newsreader"/>
                <a:cs typeface="Newsreader"/>
                <a:sym typeface="Newsreader"/>
              </a:rPr>
              <a:t>Compute</a:t>
            </a:r>
          </a:p>
        </p:txBody>
      </p:sp>
      <p:sp>
        <p:nvSpPr>
          <p:cNvPr id="5043" name="SimReal 5043"/>
          <p:cNvSpPr txBox="1"/>
          <p:nvPr/>
        </p:nvSpPr>
        <p:spPr>
          <a:xfrm>
            <a:off x="8935974" y="3310128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0" i="0" u="none" strike="noStrike" cap="none">
                <a:solidFill>
                  <a:srgbClr val="E27A3F"/>
                </a:solidFill>
                <a:latin typeface="Newsreader"/>
                <a:ea typeface="Newsreader"/>
                <a:cs typeface="Newsreader"/>
                <a:sym typeface="Newsreader"/>
              </a:rPr>
              <a:t>$1.05M</a:t>
            </a:r>
          </a:p>
        </p:txBody>
      </p:sp>
      <p:sp>
        <p:nvSpPr>
          <p:cNvPr id="5044" name="SimReal 5044"/>
          <p:cNvSpPr txBox="1"/>
          <p:nvPr/>
        </p:nvSpPr>
        <p:spPr>
          <a:xfrm>
            <a:off x="9685782" y="3310128"/>
            <a:ext cx="164363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FAF9F6"/>
                </a:solidFill>
                <a:latin typeface="Newsreader"/>
                <a:ea typeface="Newsreader"/>
                <a:cs typeface="Newsreader"/>
                <a:sym typeface="Newsreader"/>
              </a:rPr>
              <a:t>Research team</a:t>
            </a:r>
          </a:p>
        </p:txBody>
      </p:sp>
      <p:sp>
        <p:nvSpPr>
          <p:cNvPr id="5045" name="SimReal 5045"/>
          <p:cNvSpPr txBox="1"/>
          <p:nvPr/>
        </p:nvSpPr>
        <p:spPr>
          <a:xfrm>
            <a:off x="6505956" y="3602736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0" i="0" u="none" strike="noStrike" cap="none">
                <a:solidFill>
                  <a:srgbClr val="E27A3F"/>
                </a:solidFill>
                <a:latin typeface="Newsreader"/>
                <a:ea typeface="Newsreader"/>
                <a:cs typeface="Newsreader"/>
                <a:sym typeface="Newsreader"/>
              </a:rPr>
              <a:t>$600K</a:t>
            </a:r>
          </a:p>
        </p:txBody>
      </p:sp>
      <p:sp>
        <p:nvSpPr>
          <p:cNvPr id="5046" name="SimReal 5046"/>
          <p:cNvSpPr txBox="1"/>
          <p:nvPr/>
        </p:nvSpPr>
        <p:spPr>
          <a:xfrm>
            <a:off x="7255764" y="3602736"/>
            <a:ext cx="164363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FAF9F6"/>
                </a:solidFill>
                <a:latin typeface="Newsreader"/>
                <a:ea typeface="Newsreader"/>
                <a:cs typeface="Newsreader"/>
                <a:sym typeface="Newsreader"/>
              </a:rPr>
              <a:t>Live trading, compliance</a:t>
            </a:r>
          </a:p>
        </p:txBody>
      </p:sp>
      <p:sp>
        <p:nvSpPr>
          <p:cNvPr id="5047" name="SimReal 5047"/>
          <p:cNvSpPr txBox="1"/>
          <p:nvPr/>
        </p:nvSpPr>
        <p:spPr>
          <a:xfrm>
            <a:off x="6505956" y="3931920"/>
            <a:ext cx="4860036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FAF9F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3 researchers · ~600K GPU hours</a:t>
            </a:r>
          </a:p>
        </p:txBody>
      </p:sp>
      <p:sp>
        <p:nvSpPr>
          <p:cNvPr id="5048" name="SimReal 5048"/>
          <p:cNvSpPr/>
          <p:nvPr/>
        </p:nvSpPr>
        <p:spPr>
          <a:xfrm>
            <a:off x="6505956" y="4224528"/>
            <a:ext cx="4860036" cy="9144"/>
          </a:xfrm>
          <a:prstGeom prst="rect">
            <a:avLst/>
          </a:prstGeom>
          <a:solidFill>
            <a:srgbClr val="3A393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49" name="SimReal 5049"/>
          <p:cNvSpPr txBox="1"/>
          <p:nvPr/>
        </p:nvSpPr>
        <p:spPr>
          <a:xfrm>
            <a:off x="6505956" y="4279392"/>
            <a:ext cx="1528572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0" i="0" u="none" strike="noStrike" cap="none">
                <a:solidFill>
                  <a:srgbClr val="E27A3F"/>
                </a:solidFill>
                <a:latin typeface="IBM Plex Mono"/>
                <a:ea typeface="IBM Plex Mono"/>
                <a:cs typeface="IBM Plex Mono"/>
                <a:sym typeface="IBM Plex Mono"/>
              </a:rPr>
              <a:t>3 months</a:t>
            </a:r>
          </a:p>
        </p:txBody>
      </p:sp>
      <p:sp>
        <p:nvSpPr>
          <p:cNvPr id="5050" name="SimReal 5050"/>
          <p:cNvSpPr txBox="1"/>
          <p:nvPr/>
        </p:nvSpPr>
        <p:spPr>
          <a:xfrm>
            <a:off x="6505956" y="4443984"/>
            <a:ext cx="151028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FAF9F6"/>
                </a:solidFill>
                <a:latin typeface="Newsreader"/>
                <a:ea typeface="Newsreader"/>
                <a:cs typeface="Newsreader"/>
                <a:sym typeface="Newsreader"/>
              </a:rPr>
              <a:t>Significance test, trading</a:t>
            </a:r>
          </a:p>
        </p:txBody>
      </p:sp>
      <p:sp>
        <p:nvSpPr>
          <p:cNvPr id="5051" name="SimReal 5051"/>
          <p:cNvSpPr txBox="1"/>
          <p:nvPr/>
        </p:nvSpPr>
        <p:spPr>
          <a:xfrm>
            <a:off x="8125968" y="4279392"/>
            <a:ext cx="1528572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0" i="0" u="none" strike="noStrike" cap="none">
                <a:solidFill>
                  <a:srgbClr val="E27A3F"/>
                </a:solidFill>
                <a:latin typeface="IBM Plex Mono"/>
                <a:ea typeface="IBM Plex Mono"/>
                <a:cs typeface="IBM Plex Mono"/>
                <a:sym typeface="IBM Plex Mono"/>
              </a:rPr>
              <a:t>6 months</a:t>
            </a:r>
          </a:p>
        </p:txBody>
      </p:sp>
      <p:sp>
        <p:nvSpPr>
          <p:cNvPr id="5052" name="SimReal 5052"/>
          <p:cNvSpPr txBox="1"/>
          <p:nvPr/>
        </p:nvSpPr>
        <p:spPr>
          <a:xfrm>
            <a:off x="8125968" y="4443984"/>
            <a:ext cx="151028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FAF9F6"/>
                </a:solidFill>
                <a:latin typeface="Newsreader"/>
                <a:ea typeface="Newsreader"/>
                <a:cs typeface="Newsreader"/>
                <a:sym typeface="Newsreader"/>
              </a:rPr>
              <a:t>Gains in event prediction</a:t>
            </a:r>
          </a:p>
        </p:txBody>
      </p:sp>
      <p:sp>
        <p:nvSpPr>
          <p:cNvPr id="5053" name="SimReal 5053"/>
          <p:cNvSpPr txBox="1"/>
          <p:nvPr/>
        </p:nvSpPr>
        <p:spPr>
          <a:xfrm>
            <a:off x="9745980" y="4279392"/>
            <a:ext cx="1528572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0" i="0" u="none" strike="noStrike" cap="none">
                <a:solidFill>
                  <a:srgbClr val="E27A3F"/>
                </a:solidFill>
                <a:latin typeface="IBM Plex Mono"/>
                <a:ea typeface="IBM Plex Mono"/>
                <a:cs typeface="IBM Plex Mono"/>
                <a:sym typeface="IBM Plex Mono"/>
              </a:rPr>
              <a:t>12 months</a:t>
            </a:r>
          </a:p>
        </p:txBody>
      </p:sp>
      <p:sp>
        <p:nvSpPr>
          <p:cNvPr id="5054" name="SimReal 5054"/>
          <p:cNvSpPr txBox="1"/>
          <p:nvPr/>
        </p:nvSpPr>
        <p:spPr>
          <a:xfrm>
            <a:off x="9745980" y="4443984"/>
            <a:ext cx="151028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FAF9F6"/>
                </a:solidFill>
                <a:latin typeface="Newsreader"/>
                <a:ea typeface="Newsreader"/>
                <a:cs typeface="Newsreader"/>
                <a:sym typeface="Newsreader"/>
              </a:rPr>
              <a:t>Small live-capital test</a:t>
            </a:r>
          </a:p>
        </p:txBody>
      </p:sp>
      <p:sp>
        <p:nvSpPr>
          <p:cNvPr id="5055" name="SimReal 5055"/>
          <p:cNvSpPr txBox="1"/>
          <p:nvPr/>
        </p:nvSpPr>
        <p:spPr>
          <a:xfrm>
            <a:off x="548640" y="5047488"/>
            <a:ext cx="82296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Valuation references: seed-stage peers at $100M–$1B post-money</a:t>
            </a:r>
          </a:p>
        </p:txBody>
      </p:sp>
      <p:sp>
        <p:nvSpPr>
          <p:cNvPr id="5056" name="SimReal 5056"/>
          <p:cNvSpPr/>
          <p:nvPr/>
        </p:nvSpPr>
        <p:spPr>
          <a:xfrm>
            <a:off x="548640" y="5266944"/>
            <a:ext cx="2601468" cy="54864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57" name="SimReal 5057"/>
          <p:cNvSpPr txBox="1"/>
          <p:nvPr/>
        </p:nvSpPr>
        <p:spPr>
          <a:xfrm>
            <a:off x="731520" y="5285232"/>
            <a:ext cx="2327148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Applied Compute  </a:t>
            </a:r>
            <a:r>
              <a:rPr lang="en-US" sz="1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$100M</a:t>
            </a:r>
          </a:p>
        </p:txBody>
      </p:sp>
      <p:sp>
        <p:nvSpPr>
          <p:cNvPr id="5058" name="SimReal 5058"/>
          <p:cNvSpPr txBox="1"/>
          <p:nvPr/>
        </p:nvSpPr>
        <p:spPr>
          <a:xfrm>
            <a:off x="731520" y="5577840"/>
            <a:ext cx="2327148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Seed post-money · Jun 2025</a:t>
            </a:r>
          </a:p>
        </p:txBody>
      </p:sp>
      <p:sp>
        <p:nvSpPr>
          <p:cNvPr id="5059" name="SimReal 5059"/>
          <p:cNvSpPr/>
          <p:nvPr/>
        </p:nvSpPr>
        <p:spPr>
          <a:xfrm>
            <a:off x="3378708" y="5266944"/>
            <a:ext cx="2601468" cy="54864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60" name="SimReal 5060"/>
          <p:cNvSpPr txBox="1"/>
          <p:nvPr/>
        </p:nvSpPr>
        <p:spPr>
          <a:xfrm>
            <a:off x="3561588" y="5285232"/>
            <a:ext cx="2327148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Mirendil  </a:t>
            </a:r>
            <a:r>
              <a:rPr lang="en-US" sz="1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$1B</a:t>
            </a:r>
          </a:p>
        </p:txBody>
      </p:sp>
      <p:sp>
        <p:nvSpPr>
          <p:cNvPr id="5061" name="SimReal 5061"/>
          <p:cNvSpPr txBox="1"/>
          <p:nvPr/>
        </p:nvSpPr>
        <p:spPr>
          <a:xfrm>
            <a:off x="3561588" y="5577840"/>
            <a:ext cx="2327148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Seed post-money · Jun 2026</a:t>
            </a:r>
          </a:p>
        </p:txBody>
      </p:sp>
      <p:sp>
        <p:nvSpPr>
          <p:cNvPr id="5062" name="SimReal 5062"/>
          <p:cNvSpPr/>
          <p:nvPr/>
        </p:nvSpPr>
        <p:spPr>
          <a:xfrm>
            <a:off x="6208776" y="5266944"/>
            <a:ext cx="2601468" cy="54864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63" name="SimReal 5063"/>
          <p:cNvSpPr txBox="1"/>
          <p:nvPr/>
        </p:nvSpPr>
        <p:spPr>
          <a:xfrm>
            <a:off x="6391656" y="5285232"/>
            <a:ext cx="2327148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Nof1  </a:t>
            </a:r>
            <a:r>
              <a:rPr lang="en-US" sz="1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$15M</a:t>
            </a:r>
          </a:p>
        </p:txBody>
      </p:sp>
      <p:sp>
        <p:nvSpPr>
          <p:cNvPr id="5064" name="SimReal 5064"/>
          <p:cNvSpPr txBox="1"/>
          <p:nvPr/>
        </p:nvSpPr>
        <p:spPr>
          <a:xfrm>
            <a:off x="6391656" y="5577840"/>
            <a:ext cx="2327148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Raised · May 2026</a:t>
            </a:r>
          </a:p>
        </p:txBody>
      </p:sp>
      <p:sp>
        <p:nvSpPr>
          <p:cNvPr id="5065" name="SimReal 5065"/>
          <p:cNvSpPr/>
          <p:nvPr/>
        </p:nvSpPr>
        <p:spPr>
          <a:xfrm>
            <a:off x="9038844" y="5266944"/>
            <a:ext cx="2601468" cy="54864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66" name="SimReal 5066"/>
          <p:cNvSpPr txBox="1"/>
          <p:nvPr/>
        </p:nvSpPr>
        <p:spPr>
          <a:xfrm>
            <a:off x="9221724" y="5285232"/>
            <a:ext cx="2327148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Chaoyan 超衍智能  </a:t>
            </a:r>
            <a:r>
              <a:rPr lang="en-US" sz="1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~$59M</a:t>
            </a:r>
          </a:p>
        </p:txBody>
      </p:sp>
      <p:sp>
        <p:nvSpPr>
          <p:cNvPr id="5067" name="SimReal 5067"/>
          <p:cNvSpPr txBox="1"/>
          <p:nvPr/>
        </p:nvSpPr>
        <p:spPr>
          <a:xfrm>
            <a:off x="9221724" y="5577840"/>
            <a:ext cx="2327148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Angel rounds raised · Sep 2026</a:t>
            </a:r>
          </a:p>
        </p:txBody>
      </p:sp>
      <p:sp>
        <p:nvSpPr>
          <p:cNvPr id="5068" name="SimReal 5068"/>
          <p:cNvSpPr txBox="1"/>
          <p:nvPr/>
        </p:nvSpPr>
        <p:spPr>
          <a:xfrm>
            <a:off x="548640" y="5870448"/>
            <a:ext cx="1109167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Applied Compute, Mirendil: post-money; Nof1, Chaoyan: amount raised. Round: RMB 40M at RMB 500M post-money, at 6.7351 RMB/USD (Sep 30, 2026 central parity). Data stored and delivered by client region; Cayman–Hong Kong–onshore structure before closing.</a:t>
            </a:r>
          </a:p>
        </p:txBody>
      </p:sp>
      <p:sp>
        <p:nvSpPr>
          <p:cNvPr id="5069" name="SimReal 5069"/>
          <p:cNvSpPr txBox="1"/>
          <p:nvPr/>
        </p:nvSpPr>
        <p:spPr>
          <a:xfrm>
            <a:off x="137160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Confidential  ·  For invited investors only  ·  September 2026</a:t>
            </a:r>
          </a:p>
        </p:txBody>
      </p:sp>
      <p:sp>
        <p:nvSpPr>
          <p:cNvPr id="5070" name="SimReal 5070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14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5" name="Google Shape;615;p20" descr="orbit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137160"/>
            <a:ext cx="1737360" cy="1645920"/>
          </a:xfrm>
          <a:prstGeom prst="rect">
            <a:avLst/>
          </a:prstGeom>
          <a:noFill/>
          <a:ln>
            <a:noFill/>
          </a:ln>
        </p:spPr>
      </p:pic>
      <p:pic>
        <p:nvPicPr>
          <p:cNvPr id="616" name="Google Shape;616;p20" descr="orbit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863840" y="914400"/>
            <a:ext cx="4325112" cy="5852160"/>
          </a:xfrm>
          <a:prstGeom prst="rect">
            <a:avLst/>
          </a:prstGeom>
          <a:noFill/>
          <a:ln>
            <a:noFill/>
          </a:ln>
        </p:spPr>
      </p:pic>
      <p:pic>
        <p:nvPicPr>
          <p:cNvPr id="617" name="Google Shape;617;p20" descr="SimReal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48640" y="1572768"/>
            <a:ext cx="365760" cy="452628"/>
          </a:xfrm>
          <a:prstGeom prst="rect">
            <a:avLst/>
          </a:prstGeom>
          <a:noFill/>
          <a:ln>
            <a:noFill/>
          </a:ln>
        </p:spPr>
      </p:pic>
      <p:pic>
        <p:nvPicPr>
          <p:cNvPr id="623" name="Google Shape;623;p20" descr="SimReal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2194560"/>
            <a:ext cx="7680960" cy="1554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Every industry’s best AI</a:t>
            </a:r>
          </a:p>
          <a:p>
            <a:pPr marL="0" marR="0" lvl="0" indent="0" algn="l" rtl="0">
              <a:lnSpc>
                <a:spcPct val="10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-US" sz="4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will come from our worlds.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548640" y="4023360"/>
            <a:ext cx="713232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Three worlds live: trading, AI research, event prediction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4425696"/>
            <a:ext cx="76809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SimReal  ·  AI that improves itself in the real world</a:t>
            </a:r>
          </a:p>
        </p:txBody>
      </p:sp>
      <p:sp>
        <p:nvSpPr>
          <p:cNvPr id="5004" name="SimReal 5004"/>
          <p:cNvSpPr/>
          <p:nvPr/>
        </p:nvSpPr>
        <p:spPr>
          <a:xfrm>
            <a:off x="548640" y="5074920"/>
            <a:ext cx="5120640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5" name="SimReal 5005"/>
          <p:cNvSpPr txBox="1"/>
          <p:nvPr/>
        </p:nvSpPr>
        <p:spPr>
          <a:xfrm>
            <a:off x="548640" y="5212080"/>
            <a:ext cx="71323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111110"/>
                </a:solidFill>
                <a:latin typeface="IBM Plex Mono"/>
                <a:ea typeface="IBM Plex Mono"/>
                <a:cs typeface="IBM Plex Mono"/>
                <a:sym typeface="IBM Plex Mono"/>
              </a:rPr>
              <a:t>business@simreal.co  ·  simreal.co  ·  x.com/simrealhq</a:t>
            </a:r>
          </a:p>
        </p:txBody>
      </p:sp>
      <p:sp>
        <p:nvSpPr>
          <p:cNvPr id="5006" name="SimReal 5006"/>
          <p:cNvSpPr txBox="1"/>
          <p:nvPr/>
        </p:nvSpPr>
        <p:spPr>
          <a:xfrm>
            <a:off x="137160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Confidential  ·  For invited investors only  ·  September 2026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640080" cy="172822"/>
          </a:xfrm>
          <a:prstGeom prst="rect">
            <a:avLst/>
          </a:prstGeom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09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Team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Problem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  </a:t>
            </a:r>
            <a:r>
              <a:rPr lang="en-US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Solution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Market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Traction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Raise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Next · Personal agents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Before an agent acts for someone, </a:t>
            </a:r>
            <a:r>
              <a:rPr lang="en-US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it should practice somewhere real</a:t>
            </a:r>
          </a:p>
        </p:txBody>
      </p:sp>
      <p:sp>
        <p:nvSpPr>
          <p:cNvPr id="5005" name="SimReal 5005"/>
          <p:cNvSpPr txBox="1"/>
          <p:nvPr/>
        </p:nvSpPr>
        <p:spPr>
          <a:xfrm>
            <a:off x="548640" y="1499616"/>
            <a:ext cx="11091672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Sep 2026: personal agents start spending for people (Instinct’s founder cites $1B+ a year, about half travel) and making mistakes for them</a:t>
            </a:r>
          </a:p>
        </p:txBody>
      </p:sp>
      <p:sp>
        <p:nvSpPr>
          <p:cNvPr id="5006" name="SimReal 5006"/>
          <p:cNvSpPr/>
          <p:nvPr/>
        </p:nvSpPr>
        <p:spPr>
          <a:xfrm>
            <a:off x="548640" y="1755648"/>
            <a:ext cx="2567178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7" name="SimReal 5007"/>
          <p:cNvSpPr txBox="1"/>
          <p:nvPr/>
        </p:nvSpPr>
        <p:spPr>
          <a:xfrm>
            <a:off x="548640" y="1865376"/>
            <a:ext cx="2567178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Muse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548640" y="2523744"/>
            <a:ext cx="2567178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Meta, launched Sep 8;</a:t>
            </a: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No. 1 on the US App Store in 10 days</a:t>
            </a:r>
          </a:p>
        </p:txBody>
      </p:sp>
      <p:sp>
        <p:nvSpPr>
          <p:cNvPr id="5009" name="SimReal 5009"/>
          <p:cNvSpPr/>
          <p:nvPr/>
        </p:nvSpPr>
        <p:spPr>
          <a:xfrm>
            <a:off x="3390138" y="1755648"/>
            <a:ext cx="2567178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0" name="SimReal 5010"/>
          <p:cNvSpPr txBox="1"/>
          <p:nvPr/>
        </p:nvSpPr>
        <p:spPr>
          <a:xfrm>
            <a:off x="3390138" y="1865376"/>
            <a:ext cx="2567178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Dots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3390138" y="2523744"/>
            <a:ext cx="2567178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OpenAI, unveiled Sep 29;</a:t>
            </a: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always on in the cloud, working for you</a:t>
            </a:r>
          </a:p>
        </p:txBody>
      </p:sp>
      <p:sp>
        <p:nvSpPr>
          <p:cNvPr id="5012" name="SimReal 5012"/>
          <p:cNvSpPr/>
          <p:nvPr/>
        </p:nvSpPr>
        <p:spPr>
          <a:xfrm>
            <a:off x="6231636" y="1755648"/>
            <a:ext cx="2567178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3" name="SimReal 5013"/>
          <p:cNvSpPr txBox="1"/>
          <p:nvPr/>
        </p:nvSpPr>
        <p:spPr>
          <a:xfrm>
            <a:off x="6231636" y="1865376"/>
            <a:ext cx="2567178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$10B</a:t>
            </a:r>
          </a:p>
        </p:txBody>
      </p:sp>
      <p:sp>
        <p:nvSpPr>
          <p:cNvPr id="5014" name="SimReal 5014"/>
          <p:cNvSpPr txBox="1"/>
          <p:nvPr/>
        </p:nvSpPr>
        <p:spPr>
          <a:xfrm>
            <a:off x="6231636" y="2523744"/>
            <a:ext cx="2567178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Instinct’s valuation, 4x in 33 days;</a:t>
            </a: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Sequoia, Benchmark, Coatue</a:t>
            </a:r>
          </a:p>
        </p:txBody>
      </p:sp>
      <p:sp>
        <p:nvSpPr>
          <p:cNvPr id="5015" name="SimReal 5015"/>
          <p:cNvSpPr/>
          <p:nvPr/>
        </p:nvSpPr>
        <p:spPr>
          <a:xfrm>
            <a:off x="9073134" y="1755648"/>
            <a:ext cx="2567178" cy="18288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6" name="SimReal 5016"/>
          <p:cNvSpPr txBox="1"/>
          <p:nvPr/>
        </p:nvSpPr>
        <p:spPr>
          <a:xfrm>
            <a:off x="9073134" y="1865376"/>
            <a:ext cx="2567178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$200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9073134" y="2523744"/>
            <a:ext cx="2567178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Cancellation fee a user paid after</a:t>
            </a: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Instinct booked without asking</a:t>
            </a:r>
          </a:p>
        </p:txBody>
      </p:sp>
      <p:sp>
        <p:nvSpPr>
          <p:cNvPr id="5018" name="SimReal 5018"/>
          <p:cNvSpPr txBox="1"/>
          <p:nvPr/>
        </p:nvSpPr>
        <p:spPr>
          <a:xfrm>
            <a:off x="548640" y="3200400"/>
            <a:ext cx="82296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How we serve them: the same environments, a second customer</a:t>
            </a:r>
          </a:p>
        </p:txBody>
      </p:sp>
      <p:sp>
        <p:nvSpPr>
          <p:cNvPr id="5019" name="SimReal 5019"/>
          <p:cNvSpPr/>
          <p:nvPr/>
        </p:nvSpPr>
        <p:spPr>
          <a:xfrm>
            <a:off x="548640" y="3456432"/>
            <a:ext cx="11091672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0" name="SimReal 5020"/>
          <p:cNvSpPr txBox="1"/>
          <p:nvPr/>
        </p:nvSpPr>
        <p:spPr>
          <a:xfrm>
            <a:off x="548640" y="3456432"/>
            <a:ext cx="146304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What opens</a:t>
            </a:r>
          </a:p>
        </p:txBody>
      </p:sp>
      <p:sp>
        <p:nvSpPr>
          <p:cNvPr id="5021" name="SimReal 5021"/>
          <p:cNvSpPr txBox="1"/>
          <p:nvPr/>
        </p:nvSpPr>
        <p:spPr>
          <a:xfrm>
            <a:off x="2103120" y="3456432"/>
            <a:ext cx="9537192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Trading and event prediction; held-out sets stay closed to practice</a:t>
            </a:r>
          </a:p>
        </p:txBody>
      </p:sp>
      <p:sp>
        <p:nvSpPr>
          <p:cNvPr id="5022" name="SimReal 5022"/>
          <p:cNvSpPr/>
          <p:nvPr/>
        </p:nvSpPr>
        <p:spPr>
          <a:xfrm>
            <a:off x="548640" y="3840480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3" name="SimReal 5023"/>
          <p:cNvSpPr txBox="1"/>
          <p:nvPr/>
        </p:nvSpPr>
        <p:spPr>
          <a:xfrm>
            <a:off x="548640" y="3840480"/>
            <a:ext cx="146304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Pricing</a:t>
            </a:r>
          </a:p>
        </p:txBody>
      </p:sp>
      <p:sp>
        <p:nvSpPr>
          <p:cNvPr id="5024" name="SimReal 5024"/>
          <p:cNvSpPr txBox="1"/>
          <p:nvPr/>
        </p:nvSpPr>
        <p:spPr>
          <a:xfrm>
            <a:off x="2103120" y="3840480"/>
            <a:ext cx="9537192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Per practice round, $2–$10 by task difficulty and length; private by default</a:t>
            </a:r>
          </a:p>
        </p:txBody>
      </p:sp>
      <p:sp>
        <p:nvSpPr>
          <p:cNvPr id="5025" name="SimReal 5025"/>
          <p:cNvSpPr/>
          <p:nvPr/>
        </p:nvSpPr>
        <p:spPr>
          <a:xfrm>
            <a:off x="548640" y="4224528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6" name="SimReal 5026"/>
          <p:cNvSpPr txBox="1"/>
          <p:nvPr/>
        </p:nvSpPr>
        <p:spPr>
          <a:xfrm>
            <a:off x="548640" y="4224528"/>
            <a:ext cx="146304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Data rules</a:t>
            </a:r>
          </a:p>
        </p:txBody>
      </p:sp>
      <p:sp>
        <p:nvSpPr>
          <p:cNvPr id="5027" name="SimReal 5027"/>
          <p:cNvSpPr txBox="1"/>
          <p:nvPr/>
        </p:nvSpPr>
        <p:spPr>
          <a:xfrm>
            <a:off x="2103120" y="4224528"/>
            <a:ext cx="9537192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De-identified trajectories can be shared for credits and revenue share; data sent to labs carries consent records</a:t>
            </a:r>
          </a:p>
        </p:txBody>
      </p:sp>
      <p:sp>
        <p:nvSpPr>
          <p:cNvPr id="5028" name="SimReal 5028"/>
          <p:cNvSpPr/>
          <p:nvPr/>
        </p:nvSpPr>
        <p:spPr>
          <a:xfrm>
            <a:off x="548640" y="4608576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9" name="SimReal 5029"/>
          <p:cNvSpPr txBox="1"/>
          <p:nvPr/>
        </p:nvSpPr>
        <p:spPr>
          <a:xfrm>
            <a:off x="548640" y="4608576"/>
            <a:ext cx="146304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Milestone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2103120" y="4608576"/>
            <a:ext cx="9537192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First 10 agent teams onboarded within 6 months</a:t>
            </a:r>
          </a:p>
        </p:txBody>
      </p:sp>
      <p:sp>
        <p:nvSpPr>
          <p:cNvPr id="5031" name="SimReal 5031"/>
          <p:cNvSpPr/>
          <p:nvPr/>
        </p:nvSpPr>
        <p:spPr>
          <a:xfrm>
            <a:off x="548640" y="4992624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2" name="SimReal 5032"/>
          <p:cNvSpPr txBox="1"/>
          <p:nvPr/>
        </p:nvSpPr>
        <p:spPr>
          <a:xfrm>
            <a:off x="548640" y="5230368"/>
            <a:ext cx="11091672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Sandboxes keep agents out of trouble. </a:t>
            </a:r>
            <a:r>
              <a:rPr lang="en-US" sz="22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We teach them to get it right</a:t>
            </a:r>
            <a:r>
              <a:rPr lang="en-US" sz="22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.</a:t>
            </a:r>
          </a:p>
        </p:txBody>
      </p:sp>
      <p:sp>
        <p:nvSpPr>
          <p:cNvPr id="5033" name="SimReal 5033"/>
          <p:cNvSpPr txBox="1"/>
          <p:nvPr/>
        </p:nvSpPr>
        <p:spPr>
          <a:xfrm>
            <a:off x="548640" y="5852160"/>
            <a:ext cx="110916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Sources: Meta and OpenAI launches (Sep 2026); TechCrunch (Sep 25, 2026); Instinct (founder podcast, Sep 2026; Reuters, Sep 28, 2026; The Atlantic, CNN, Sep 2026).</a:t>
            </a:r>
          </a:p>
        </p:txBody>
      </p:sp>
      <p:sp>
        <p:nvSpPr>
          <p:cNvPr id="5034" name="SimReal 5034"/>
          <p:cNvSpPr txBox="1"/>
          <p:nvPr/>
        </p:nvSpPr>
        <p:spPr>
          <a:xfrm>
            <a:off x="137160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Confidential  ·  For invited investors only  ·  September 2026</a:t>
            </a:r>
          </a:p>
        </p:txBody>
      </p:sp>
      <p:sp>
        <p:nvSpPr>
          <p:cNvPr id="5035" name="SimReal 5035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3802</Words>
  <Application>Microsoft Macintosh PowerPoint</Application>
  <PresentationFormat>Widescreen</PresentationFormat>
  <Paragraphs>542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8" baseType="lpstr">
      <vt:lpstr>Instrument Sans</vt:lpstr>
      <vt:lpstr>Newsreader</vt:lpstr>
      <vt:lpstr>Arial</vt:lpstr>
      <vt:lpstr>IBM Plex Mono</vt:lpstr>
      <vt:lpstr>Instrument Sans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chern wong</cp:lastModifiedBy>
  <cp:revision>2</cp:revision>
  <dcterms:modified xsi:type="dcterms:W3CDTF">2026-09-26T15:07:34Z</dcterms:modified>
</cp:coreProperties>
</file>