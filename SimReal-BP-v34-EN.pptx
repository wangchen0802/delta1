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60" r:id="rId6"/>
    <p:sldId id="259" r:id="rId5"/>
    <p:sldId id="263" r:id="rId9"/>
    <p:sldId id="264" r:id="rId10"/>
    <p:sldId id="268" r:id="rId14"/>
    <p:sldId id="279" r:id="rId46"/>
    <p:sldId id="269" r:id="rId15"/>
    <p:sldId id="270" r:id="rId16"/>
    <p:sldId id="271" r:id="rId17"/>
    <p:sldId id="267" r:id="rId13"/>
    <p:sldId id="272" r:id="rId18"/>
    <p:sldId id="273" r:id="rId19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9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font" Target="fonts/font9.fntdata"/><Relationship Id="rId34" Type="http://schemas.openxmlformats.org/officeDocument/2006/relationships/font" Target="fonts/font10.fntdata"/><Relationship Id="rId35" Type="http://schemas.openxmlformats.org/officeDocument/2006/relationships/font" Target="fonts/font11.fntdata"/><Relationship Id="rId36" Type="http://schemas.openxmlformats.org/officeDocument/2006/relationships/font" Target="fonts/font12.fntdata"/><Relationship Id="rId37" Type="http://schemas.openxmlformats.org/officeDocument/2006/relationships/font" Target="fonts/font13.fntdata"/><Relationship Id="rId38" Type="http://schemas.openxmlformats.org/officeDocument/2006/relationships/font" Target="fonts/font14.fntdata"/><Relationship Id="rId39" Type="http://schemas.openxmlformats.org/officeDocument/2006/relationships/font" Target="fonts/font15.fntdata"/><Relationship Id="rId40" Type="http://schemas.openxmlformats.org/officeDocument/2006/relationships/font" Target="fonts/font16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6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8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1234440"/>
            <a:ext cx="768096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that improves itself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47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in the real world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3127248"/>
            <a:ext cx="804672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Before a personal agent is trusted, it practices here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3749040"/>
            <a:ext cx="8778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Starting with trading: training environments and data for AI labs and personal agents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4526280"/>
            <a:ext cx="69494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This round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$6M seed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4206240" y="46817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 plan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206240" y="4937760"/>
            <a:ext cx="3017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September 2026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Overview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Professional work like trading, turned into AI training environments: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scorable, reproducible, trainable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What we do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Finance RL environments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Professional work like trading, made scorable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Sold to labs: licenses, agent trajectories, evals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Next: open practice to personal agents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Done so far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352544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 environments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352544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Trading, prediction, AI research, math, reasoning,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finance, software · 5 public repos · no outside funding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Early evidence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8156448" y="19019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8156448" y="25054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Qwen3.8-27B, up to 12% better on unseen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competition trading days; best run, not a mean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Team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Quant founders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Math at Cambridge, LSE and Duke; born 2005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Street, Citadel, Optiver, Millennium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4352544" y="33467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4352544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Market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52544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$3.6M–$42M a year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352544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Finance alone, 17–24 buying labs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Bottom-up from frontier-lab pricing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8156448" y="33467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8156448" y="34747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This round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8156448" y="3730752"/>
            <a:ext cx="3483864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$6M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156448" y="4334256"/>
            <a:ext cx="3483864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At a $75M post-money valuation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548640" y="539496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Win 2–3 paying labs in finance first, </a:t>
            </a:r>
            <a:r>
              <a:rPr lang="en-US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then copy the method to the next domain.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78974" y="1661532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4041" y="1719789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503221" y="1715056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28759" y="1693915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216170" y="1530535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Team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From olympiads to Wall Street’s toughest desks: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we know the gap between tests and real work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822960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822960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First employee at United Stables: helped take its U stablecoin from 0 to $1.4B in a year; listed on Binance in a month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Ran institutional relations; worked on partnerships with SIG, DRW and others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Sole intern on HSBC’s HKD stablecoin issuance; supported HKMA compliance end to end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 (Twitter) writer with millions of views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Hedge fund intern at Citadel, London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822960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822960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Born 2005 · LSE, Math · SCIE (Shenzhen)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 qualifier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4337304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4611624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Summer ML research at Cambridge with renowned statistician Po-Ling Loh (IMS Fellow)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Youngest undergraduate AI researcher at a Cambridge research center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Quant roles at Jane Street, Citadel, Optiver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Designed five benchmarks and RL environments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4611624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4611624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Born 2005 · Cambridge Math, First-Class (Scholar)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Top 30 worldwide, Cambridge math contest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UK Physics Olympiad Super Gold · SCIE (Shenzhen)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8125968" y="2212848"/>
            <a:ext cx="3514344" cy="32461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8400288" y="2359152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8400288" y="2907792"/>
            <a:ext cx="2965704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Data scientist at Millennium Hong Kong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alt-data team’s first-ever graduate hire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Helped launch Plug and Play’s first Hong Kong event (with HK Science Park); hosted J&amp;J MedTech’s tech summit (200+ attendees each)</a:t>
            </a:r>
          </a:p>
          <a:p>
            <a:pPr marL="0" marR="0" lvl="0" indent="0" algn="l" rtl="0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Published author at 17; 100K+ engagements online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8400288" y="4809744"/>
            <a:ext cx="2965704" cy="914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8400288" y="4882896"/>
            <a:ext cx="2965704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Born 2005 · Duke, Math &amp; Statistics</a:t>
            </a: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YK Pao School (Shanghai)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548640" y="55961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Turned down return offers from top quant firms </a:t>
            </a:r>
            <a:r>
              <a:rPr lang="en-US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to build this</a:t>
            </a: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Why now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Labs already pay for environments and expert data;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frontier models still lose money trading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Labs are buying environments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$1.5B+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615184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Google’s reported deal with RL-environment startup Mechanize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3310128"/>
            <a:ext cx="348386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3383280"/>
            <a:ext cx="348386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Jul 2026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3712464"/>
            <a:ext cx="348386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acquired RL-environment startup Deeptune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4352544" y="1517904"/>
            <a:ext cx="348386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4352544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Expert data is scaling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4352544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27x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4352544" y="2615184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 gross run-rate: $75M → $2B in 16 months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4352544" y="3310128"/>
            <a:ext cx="348386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4352544" y="3383280"/>
            <a:ext cx="348386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Tens of $M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352544" y="3712464"/>
            <a:ext cx="348386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Paid by NVIDIA to Mercor in one quarter for expert data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4352544" y="4041648"/>
            <a:ext cx="348386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4352544" y="4114800"/>
            <a:ext cx="348386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18x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4352544" y="4443984"/>
            <a:ext cx="348386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 run-rate growth in a year, to $375M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8156448" y="1517904"/>
            <a:ext cx="3483864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8156448" y="1645920"/>
            <a:ext cx="348386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Trading still loses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8156448" y="1883664"/>
            <a:ext cx="34838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6/32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156448" y="2615184"/>
            <a:ext cx="348386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Alpha Arena: frontier models trading live; 6 of 32 runs made money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8156448" y="3310128"/>
            <a:ext cx="348386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8156448" y="3383280"/>
            <a:ext cx="348386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2/7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8156448" y="3712464"/>
            <a:ext cx="348386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PolyBench: 2 of 7 frontier models profitable on Polymarket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548640" y="566928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Sources: Mechanize (Business Insider); Mercor (TechCrunch, Dealroom, The Information, Forbes); Snorkel AI (Reuters); Alpha Arena (Nof1); PolyBench (arXiv).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Problem &amp; solution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can reason but still can’t do real work: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make real outcomes the next training signal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work has no answer key, only the world’s reaction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3429000" y="1810512"/>
            <a:ext cx="2606040" cy="230428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1325880" y="1828800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Surface check: passed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566160" y="1828800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Real world: failed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103120"/>
            <a:ext cx="548640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103120"/>
            <a:ext cx="7772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Trading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325880" y="21031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Backtest only goes up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154680" y="2103120"/>
            <a:ext cx="274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3566160" y="210312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Loses on unseen live markets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606040"/>
            <a:ext cx="54864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606040"/>
            <a:ext cx="7772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Software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1325880" y="260604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All tests pass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154680" y="2606040"/>
            <a:ext cx="274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3566160" y="260604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Breaks in production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108960"/>
            <a:ext cx="54864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108960"/>
            <a:ext cx="7772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Finance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325880" y="310896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Books look finished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154680" y="3108960"/>
            <a:ext cx="274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3566160" y="310896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won’t reconcile</a:t>
            </a:r>
          </a:p>
        </p:txBody>
      </p:sp>
      <p:sp>
        <p:nvSpPr>
          <p:cNvPr id="5024" name="SimReal 5024"/>
          <p:cNvSpPr/>
          <p:nvPr/>
        </p:nvSpPr>
        <p:spPr>
          <a:xfrm>
            <a:off x="548640" y="3611880"/>
            <a:ext cx="54864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5" name="SimReal 5025"/>
          <p:cNvSpPr txBox="1"/>
          <p:nvPr/>
        </p:nvSpPr>
        <p:spPr>
          <a:xfrm>
            <a:off x="548640" y="3611880"/>
            <a:ext cx="7772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Prediction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325880" y="361188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Analysis sounds right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154680" y="3611880"/>
            <a:ext cx="274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3566160" y="361188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Bets on it lose money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548640" y="4114800"/>
            <a:ext cx="548640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6492240" y="1463040"/>
            <a:ext cx="51480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needs </a:t>
            </a: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 world where real outcomes settle every move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6492240" y="1874520"/>
            <a:ext cx="4846320" cy="457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6720840" y="1874520"/>
            <a:ext cx="43891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acts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6492240" y="2532888"/>
            <a:ext cx="4846320" cy="457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 txBox="1"/>
          <p:nvPr/>
        </p:nvSpPr>
        <p:spPr>
          <a:xfrm>
            <a:off x="6720840" y="2532888"/>
            <a:ext cx="43891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environment responds by the rules; results reproduce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6492240" y="3191256"/>
            <a:ext cx="4846320" cy="45720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6720840" y="3191256"/>
            <a:ext cx="43891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Real outcomes settle it, leaving agent trajectories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6492240" y="3849624"/>
            <a:ext cx="4846320" cy="4572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6720840" y="3849624"/>
            <a:ext cx="43891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Next round: train on the successful trajectories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6492240" y="2331720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6492240" y="2990088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6492240" y="3648456"/>
            <a:ext cx="48463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↓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11338560" y="4078224"/>
            <a:ext cx="146304" cy="10973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/>
          <p:nvPr/>
        </p:nvSpPr>
        <p:spPr>
          <a:xfrm>
            <a:off x="11484864" y="2103120"/>
            <a:ext cx="10973" cy="1975104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4" name="SimReal 5044"/>
          <p:cNvSpPr/>
          <p:nvPr/>
        </p:nvSpPr>
        <p:spPr>
          <a:xfrm>
            <a:off x="11338560" y="2103120"/>
            <a:ext cx="146304" cy="10973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5" name="SimReal 5045"/>
          <p:cNvSpPr txBox="1"/>
          <p:nvPr/>
        </p:nvSpPr>
        <p:spPr>
          <a:xfrm>
            <a:off x="11375136" y="2624328"/>
            <a:ext cx="228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↑</a:t>
            </a:r>
          </a:p>
        </p:txBody>
      </p:sp>
      <p:sp>
        <p:nvSpPr>
          <p:cNvPr id="5046" name="SimReal 5046"/>
          <p:cNvSpPr/>
          <p:nvPr/>
        </p:nvSpPr>
        <p:spPr>
          <a:xfrm>
            <a:off x="548640" y="4434840"/>
            <a:ext cx="2635758" cy="65836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7" name="SimReal 5047"/>
          <p:cNvSpPr txBox="1"/>
          <p:nvPr/>
        </p:nvSpPr>
        <p:spPr>
          <a:xfrm>
            <a:off x="731520" y="4489704"/>
            <a:ext cx="226999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01 Environments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731520" y="4764024"/>
            <a:ext cx="226999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Professional settings rebuilt by real rules</a:t>
            </a:r>
          </a:p>
        </p:txBody>
      </p:sp>
      <p:sp>
        <p:nvSpPr>
          <p:cNvPr id="5049" name="SimReal 5049"/>
          <p:cNvSpPr/>
          <p:nvPr/>
        </p:nvSpPr>
        <p:spPr>
          <a:xfrm>
            <a:off x="3367278" y="4434840"/>
            <a:ext cx="2635758" cy="65836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0" name="SimReal 5050"/>
          <p:cNvSpPr txBox="1"/>
          <p:nvPr/>
        </p:nvSpPr>
        <p:spPr>
          <a:xfrm>
            <a:off x="3550158" y="4489704"/>
            <a:ext cx="226999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02 Scoring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3550158" y="4764024"/>
            <a:ext cx="226999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Scored on real outcomes, not an AI’s opinion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6185916" y="4434840"/>
            <a:ext cx="2635758" cy="65836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6368796" y="4489704"/>
            <a:ext cx="226999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03 Expert input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6368796" y="4764024"/>
            <a:ext cx="226999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Expert judgment and scoring standards</a:t>
            </a:r>
          </a:p>
        </p:txBody>
      </p:sp>
      <p:sp>
        <p:nvSpPr>
          <p:cNvPr id="5055" name="SimReal 5055"/>
          <p:cNvSpPr/>
          <p:nvPr/>
        </p:nvSpPr>
        <p:spPr>
          <a:xfrm>
            <a:off x="9004554" y="4434840"/>
            <a:ext cx="2635758" cy="65836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6" name="SimReal 5056"/>
          <p:cNvSpPr txBox="1"/>
          <p:nvPr/>
        </p:nvSpPr>
        <p:spPr>
          <a:xfrm>
            <a:off x="9187434" y="4489704"/>
            <a:ext cx="226999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</a:p>
        </p:txBody>
      </p:sp>
      <p:sp>
        <p:nvSpPr>
          <p:cNvPr id="5057" name="SimReal 5057"/>
          <p:cNvSpPr txBox="1"/>
          <p:nvPr/>
        </p:nvSpPr>
        <p:spPr>
          <a:xfrm>
            <a:off x="9187434" y="4764024"/>
            <a:ext cx="226999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One environment for evals, data and training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Each round keeps what real outcomes reward and retrains on it: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expert iteration today, RSI as the long-term goal</a:t>
            </a: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548640" y="5760720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RSI: recursive self-improvement, where AI helps improve the next AI and each round’s real outcomes become the next round’s training data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Flagship proof · Xitadel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In two weeks we ran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iterative training loop for market making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5852160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17904"/>
            <a:ext cx="1325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One episode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1920240" y="1517904"/>
            <a:ext cx="448056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Gets historical order books and product rules, researches for 6 or 12 hours with sandboxed tools, writes Trader.run(state); submissions are final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548640" y="1938528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548640" y="1938528"/>
            <a:ext cx="1325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Competition market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1920240" y="1938528"/>
            <a:ext cx="448056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Replays IMC Prosperity order books tick by tick; each fill is attributed to the book at order time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548640" y="2359152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548640" y="2359152"/>
            <a:ext cx="1325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Simulator as judge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920240" y="2359152"/>
            <a:ext cx="448056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Scored on P&amp;L, drawdown and Sharpe; the formula is on page 12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548640" y="2779776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548640" y="2779776"/>
            <a:ext cx="13258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Human benchmark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1920240" y="2779776"/>
            <a:ext cx="448056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best human competition strategy on the same held-out day scores 80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200400"/>
            <a:ext cx="5852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91840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+12%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2514600" y="3310128"/>
            <a:ext cx="38862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 training, the open model Qwen3.8-27B</a:t>
            </a:r>
            <a:br>
              <a:rPr lang="en-US" sz="1150"/>
            </a:br>
            <a:r>
              <a:rPr lang="en-US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did up to 12% better on unseen competition days</a:t>
            </a:r>
          </a:p>
          <a:p>
            <a:pPr marL="0" marR="0" lvl="0" indent="0" algn="l" rtl="0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Best run, not a mean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4114800"/>
            <a:ext cx="5852160" cy="80467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77240" y="4187952"/>
            <a:ext cx="53949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REPORTED WITHIN 3 MONTHS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77240" y="4389120"/>
            <a:ext cx="53949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Each task × 10 seeds, paired before/after: mean, 95% CI, paired p-value, per-task change; reserve tasks as a second held-out set; event prediction checked with Brier scores</a:t>
            </a:r>
          </a:p>
        </p:txBody>
      </p:sp>
      <p:sp>
        <p:nvSpPr>
          <p:cNvPr id="5023" name="SimReal 5023"/>
          <p:cNvSpPr/>
          <p:nvPr/>
        </p:nvSpPr>
        <p:spPr>
          <a:xfrm>
            <a:off x="6812280" y="1517904"/>
            <a:ext cx="4828032" cy="340156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4" name="SimReal 5024"/>
          <p:cNvSpPr txBox="1"/>
          <p:nvPr/>
        </p:nvSpPr>
        <p:spPr>
          <a:xfrm>
            <a:off x="7086600" y="1700784"/>
            <a:ext cx="42793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 public preview · 7 tasks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7086600" y="1938528"/>
            <a:ext cx="427939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GPT 6 matches humans on 5 of 7 tasks; multi-asset only 51</a:t>
            </a:r>
          </a:p>
        </p:txBody>
      </p:sp>
      <p:sp>
        <p:nvSpPr>
          <p:cNvPr id="5026" name="SimReal 5026"/>
          <p:cNvSpPr/>
          <p:nvPr/>
        </p:nvSpPr>
        <p:spPr>
          <a:xfrm>
            <a:off x="10588752" y="2615184"/>
            <a:ext cx="13716" cy="1627632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7" name="SimReal 5027"/>
          <p:cNvSpPr txBox="1"/>
          <p:nvPr/>
        </p:nvSpPr>
        <p:spPr>
          <a:xfrm>
            <a:off x="9857232" y="2395728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Best human 80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7086600" y="2798064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GPT 6</a:t>
            </a:r>
          </a:p>
        </p:txBody>
      </p:sp>
      <p:sp>
        <p:nvSpPr>
          <p:cNvPr id="5029" name="SimReal 5029"/>
          <p:cNvSpPr/>
          <p:nvPr/>
        </p:nvSpPr>
        <p:spPr>
          <a:xfrm>
            <a:off x="8321040" y="2843784"/>
            <a:ext cx="2190610" cy="1828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0" name="SimReal 5030"/>
          <p:cNvSpPr txBox="1"/>
          <p:nvPr/>
        </p:nvSpPr>
        <p:spPr>
          <a:xfrm>
            <a:off x="9908146" y="2798064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77.28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7086600" y="3182112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GLM 5.3</a:t>
            </a:r>
          </a:p>
        </p:txBody>
      </p:sp>
      <p:sp>
        <p:nvSpPr>
          <p:cNvPr id="5032" name="SimReal 5032"/>
          <p:cNvSpPr/>
          <p:nvPr/>
        </p:nvSpPr>
        <p:spPr>
          <a:xfrm>
            <a:off x="8321040" y="3227832"/>
            <a:ext cx="853794" cy="1828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3" name="SimReal 5033"/>
          <p:cNvSpPr txBox="1"/>
          <p:nvPr/>
        </p:nvSpPr>
        <p:spPr>
          <a:xfrm>
            <a:off x="9229698" y="318211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30.12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7086600" y="356616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Kimi K3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8321040" y="3611880"/>
            <a:ext cx="784628" cy="1828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9160532" y="356616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27.68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7086600" y="3950208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DeepSeek V4 Pro</a:t>
            </a:r>
          </a:p>
        </p:txBody>
      </p:sp>
      <p:sp>
        <p:nvSpPr>
          <p:cNvPr id="5038" name="SimReal 5038"/>
          <p:cNvSpPr/>
          <p:nvPr/>
        </p:nvSpPr>
        <p:spPr>
          <a:xfrm>
            <a:off x="8321040" y="3995928"/>
            <a:ext cx="696755" cy="1828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9" name="SimReal 5039"/>
          <p:cNvSpPr txBox="1"/>
          <p:nvPr/>
        </p:nvSpPr>
        <p:spPr>
          <a:xfrm>
            <a:off x="9072659" y="3950208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24.58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7086600" y="4352544"/>
            <a:ext cx="427939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task_04: GLM 5.3 96.03, GPT 6 89.53; Kimi K3 and DeepSeek V4 Pro 0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Overall = mean of 7 tasks; public runs used 2/4-hour pilot limits (standard 6/12)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548640" y="4974336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Limits: the competition market is made of trading bots, not exchange data; replay ignores the price impact of our orders; real market data comes next. Data: IMC Prosperity 3 and 4 open-source backtester resources (MIT).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548640" y="5358384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Only numbers that reproduce: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raw logs, metric definitions, scripts and result hashes in diligence</a:t>
            </a: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548640" y="5870448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Source: Xitadel-QuantBench public repo (README, REPORT, SCORING).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Products &amp; data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 benchmarks and environments in 14 days, 5 public repos;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no outside funding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5486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Product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324612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Domain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443484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What it does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9509760" y="1554480"/>
            <a:ext cx="22860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Status</a:t>
            </a:r>
          </a:p>
        </p:txBody>
      </p:sp>
      <p:sp>
        <p:nvSpPr>
          <p:cNvPr id="5010" name="SimReal 5010"/>
          <p:cNvSpPr/>
          <p:nvPr/>
        </p:nvSpPr>
        <p:spPr>
          <a:xfrm>
            <a:off x="548640" y="181051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1" name="SimReal 5011"/>
          <p:cNvSpPr txBox="1"/>
          <p:nvPr/>
        </p:nvSpPr>
        <p:spPr>
          <a:xfrm>
            <a:off x="548640" y="1810512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Xitadel-QuantBench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246120" y="1810512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Trading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4434840" y="18105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Replays competition order books; scores P&amp;L, drawdown, Sharpe; training loop run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9509760" y="1810512"/>
            <a:ext cx="21305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</a:t>
            </a: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 stars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19456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194560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Simreal-MLBench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3246120" y="2194560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 research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4434840" y="2194560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60 research tasks, 7 data types; modeled on OpenAI’s MLE-bench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9509760" y="2194560"/>
            <a:ext cx="21305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</a:t>
            </a: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178 stars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25786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548640" y="2578608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FuturePredict 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future-prediction-bench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3246120" y="2578608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Prediction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434840" y="2578608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Predicts real events, trains on outcomes once resolved; live data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9509760" y="2578608"/>
            <a:ext cx="21305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Partly open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296265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2962656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MathmoBench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246120" y="2962656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Math proofs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434840" y="2962656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Makes AI prove answers instead of guessing them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9509760" y="2962656"/>
            <a:ext cx="21305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</a:t>
            </a: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102 stars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548640" y="334670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548640" y="3346704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Puzzle Benchmark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hard-puzzle-benchmark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3246120" y="3346704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Reasoning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4434840" y="3346704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 hand-written reasoning puzzles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9509760" y="3346704"/>
            <a:ext cx="21305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</a:t>
            </a: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·  17 stars</a:t>
            </a:r>
          </a:p>
        </p:txBody>
      </p:sp>
      <p:sp>
        <p:nvSpPr>
          <p:cNvPr id="5035" name="SimReal 5035"/>
          <p:cNvSpPr/>
          <p:nvPr/>
        </p:nvSpPr>
        <p:spPr>
          <a:xfrm>
            <a:off x="548640" y="373075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6" name="SimReal 5036"/>
          <p:cNvSpPr txBox="1"/>
          <p:nvPr/>
        </p:nvSpPr>
        <p:spPr>
          <a:xfrm>
            <a:off x="548640" y="3730752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Month-End Close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3246120" y="3730752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Finance close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4434840" y="373075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Has AI close the books with zero errors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9509760" y="3730752"/>
            <a:ext cx="21305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Live  ·  private</a:t>
            </a:r>
          </a:p>
        </p:txBody>
      </p:sp>
      <p:sp>
        <p:nvSpPr>
          <p:cNvPr id="5040" name="SimReal 5040"/>
          <p:cNvSpPr/>
          <p:nvPr/>
        </p:nvSpPr>
        <p:spPr>
          <a:xfrm>
            <a:off x="548640" y="411480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1" name="SimReal 5041"/>
          <p:cNvSpPr txBox="1"/>
          <p:nvPr/>
        </p:nvSpPr>
        <p:spPr>
          <a:xfrm>
            <a:off x="548640" y="4114800"/>
            <a:ext cx="265176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SWE-Forward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3246120" y="4114800"/>
            <a:ext cx="1143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Software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4434840" y="4114800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Tests whether AI-written code survives the next version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509760" y="4114800"/>
            <a:ext cx="213055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Live  ·  private</a:t>
            </a:r>
          </a:p>
        </p:txBody>
      </p:sp>
      <p:sp>
        <p:nvSpPr>
          <p:cNvPr id="5045" name="SimReal 5045"/>
          <p:cNvSpPr/>
          <p:nvPr/>
        </p:nvSpPr>
        <p:spPr>
          <a:xfrm>
            <a:off x="548640" y="44988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6" name="SimReal 5046"/>
          <p:cNvSpPr txBox="1"/>
          <p:nvPr/>
        </p:nvSpPr>
        <p:spPr>
          <a:xfrm>
            <a:off x="548640" y="4608576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Every environment yields three kinds of data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5120640" y="4572000"/>
            <a:ext cx="651967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Self-extending: where the model fails, the next batch fills in</a:t>
            </a:r>
          </a:p>
        </p:txBody>
      </p:sp>
      <p:sp>
        <p:nvSpPr>
          <p:cNvPr id="5048" name="SimReal 5048"/>
          <p:cNvSpPr/>
          <p:nvPr/>
        </p:nvSpPr>
        <p:spPr>
          <a:xfrm>
            <a:off x="548640" y="4864608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9" name="SimReal 5049"/>
          <p:cNvSpPr txBox="1"/>
          <p:nvPr/>
        </p:nvSpPr>
        <p:spPr>
          <a:xfrm>
            <a:off x="548640" y="4901184"/>
            <a:ext cx="3514344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Agent trajectories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548640" y="5212080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 action, the environment’s feedback and the outcome, labeled by real results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548640" y="5559552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fine-tuning and RL</a:t>
            </a:r>
          </a:p>
        </p:txBody>
      </p:sp>
      <p:sp>
        <p:nvSpPr>
          <p:cNvPr id="5052" name="SimReal 5052"/>
          <p:cNvSpPr/>
          <p:nvPr/>
        </p:nvSpPr>
        <p:spPr>
          <a:xfrm>
            <a:off x="4337304" y="4864608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3" name="SimReal 5053"/>
          <p:cNvSpPr txBox="1"/>
          <p:nvPr/>
        </p:nvSpPr>
        <p:spPr>
          <a:xfrm>
            <a:off x="4337304" y="4901184"/>
            <a:ext cx="3514344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data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4337304" y="5212080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Demonstrations, judgments and scoring standards from real work, entry roles to top research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4337304" y="5559552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alignment, reward models and grading</a:t>
            </a:r>
          </a:p>
        </p:txBody>
      </p:sp>
      <p:sp>
        <p:nvSpPr>
          <p:cNvPr id="5056" name="SimReal 5056"/>
          <p:cNvSpPr/>
          <p:nvPr/>
        </p:nvSpPr>
        <p:spPr>
          <a:xfrm>
            <a:off x="8125968" y="4864608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7" name="SimReal 5057"/>
          <p:cNvSpPr txBox="1"/>
          <p:nvPr/>
        </p:nvSpPr>
        <p:spPr>
          <a:xfrm>
            <a:off x="8125968" y="4901184"/>
            <a:ext cx="3514344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Eval data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8125968" y="5212080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Private eval and held-out sets, never used in training; red-teamed before release</a:t>
            </a:r>
          </a:p>
        </p:txBody>
      </p:sp>
      <p:sp>
        <p:nvSpPr>
          <p:cNvPr id="5059" name="SimReal 5059"/>
          <p:cNvSpPr txBox="1"/>
          <p:nvPr/>
        </p:nvSpPr>
        <p:spPr>
          <a:xfrm>
            <a:off x="8125968" y="5559552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model acceptance and ongoing evals</a:t>
            </a:r>
          </a:p>
        </p:txBody>
      </p:sp>
      <p:sp>
        <p:nvSpPr>
          <p:cNvPr id="5060" name="SimReal 5060"/>
          <p:cNvSpPr txBox="1"/>
          <p:nvPr/>
        </p:nvSpPr>
        <p:spPr>
          <a:xfrm>
            <a:off x="5486400" y="5870448"/>
            <a:ext cx="61539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Stars as of September 29, 2026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62" name="SimReal 5062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713" y="52106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6639" y="52619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42502" y="5105959"/>
            <a:ext cx="1103947" cy="54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082" y="5251045"/>
            <a:ext cx="1131456" cy="251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Business model &amp; traction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Products are public; revenue starts with paid pilots: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the deeper the work, the bigger the contract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44752"/>
            <a:ext cx="1737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1956816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frontier labs in talks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560320" y="1481328"/>
            <a:ext cx="90799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Three lines   </a:t>
            </a:r>
            <a:r>
              <a:rPr lang="en-US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Training environments  ·  AI data (agent, expert, eval)  ·  Iterative training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560320" y="1847088"/>
            <a:ext cx="907999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Same model: AfterQuery reached a $100M run-rate in 14 months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286000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304288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Stage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920240" y="23042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What the client buys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669280" y="230428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Length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766560" y="230428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Price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092440" y="2304288"/>
            <a:ext cx="354787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Why they keep buying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25603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2560320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Free eval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1920240" y="2560320"/>
            <a:ext cx="3657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Public preview: 7 tasks, training data, SDK, scoring rules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669280" y="2560320"/>
            <a:ext cx="1051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1–2 weeks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6766560" y="2560320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Free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8092440" y="2560320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Scores win clients; benchmarked to the best human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548640" y="303580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548640" y="3035808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Paid pilot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1920240" y="3035808"/>
            <a:ext cx="3657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Custom tasks, held-out days, reward API; own or licensed data with a license chain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5669280" y="3035808"/>
            <a:ext cx="1051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8–12 weeks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6766560" y="3035808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$50K–$150K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8092440" y="3035808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Before/after training results on agreed metrics</a:t>
            </a:r>
          </a:p>
        </p:txBody>
      </p:sp>
      <p:sp>
        <p:nvSpPr>
          <p:cNvPr id="5027" name="SimReal 5027"/>
          <p:cNvSpPr/>
          <p:nvPr/>
        </p:nvSpPr>
        <p:spPr>
          <a:xfrm>
            <a:off x="548640" y="351129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8" name="SimReal 5028"/>
          <p:cNvSpPr txBox="1"/>
          <p:nvPr/>
        </p:nvSpPr>
        <p:spPr>
          <a:xfrm>
            <a:off x="548640" y="351129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Annual license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1920240" y="3511296"/>
            <a:ext cx="3657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Full environments, matching engine, counterparty models, reserve tasks, trajectories, expert data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5669280" y="3511296"/>
            <a:ext cx="1051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 months</a:t>
            </a:r>
          </a:p>
        </p:txBody>
      </p:sp>
      <p:sp>
        <p:nvSpPr>
          <p:cNvPr id="5031" name="SimReal 5031"/>
          <p:cNvSpPr txBox="1"/>
          <p:nvPr/>
        </p:nvSpPr>
        <p:spPr>
          <a:xfrm>
            <a:off x="6766560" y="3511296"/>
            <a:ext cx="12344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$400K–$2M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8092440" y="3511296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Tasks and held-out sets refresh quarterly; old tasks saturate</a:t>
            </a:r>
          </a:p>
        </p:txBody>
      </p:sp>
      <p:sp>
        <p:nvSpPr>
          <p:cNvPr id="5033" name="SimReal 5033"/>
          <p:cNvSpPr/>
          <p:nvPr/>
        </p:nvSpPr>
        <p:spPr>
          <a:xfrm>
            <a:off x="548640" y="398678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4" name="SimReal 5034"/>
          <p:cNvSpPr/>
          <p:nvPr/>
        </p:nvSpPr>
        <p:spPr>
          <a:xfrm>
            <a:off x="548640" y="3986784"/>
            <a:ext cx="11091672" cy="4754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685800" y="3986784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Joint training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1920240" y="3986784"/>
            <a:ext cx="3657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Training runs, ablations, transfer tests, managed runs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5669280" y="3986784"/>
            <a:ext cx="23317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Project or ongoing service contract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8092440" y="3986784"/>
            <a:ext cx="34747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Solves the client’s next capability gap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548640" y="4535424"/>
            <a:ext cx="1109167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 economics (est.): a public environment takes about 6 person-days; a second lab reuses the same environment. Buyer concentration: license each environment to many labs and to trading firms.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548640" y="488289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Supported by practitioners at trading firms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9616745" y="5193792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Polymarket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548640" y="576072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Logos show where supporters work; they do not imply endorsement by the firms.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network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 experts on the waitlist, students and alumni of 21 top universities: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our expert data source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7,000+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5486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On the waitlist (200K+ reachable)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2606040" y="1572768"/>
            <a:ext cx="2011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2606040" y="2304288"/>
            <a:ext cx="201168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Top universities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743200"/>
            <a:ext cx="393192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548640" y="2852928"/>
            <a:ext cx="10972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Entry roles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1691640" y="2852928"/>
            <a:ext cx="27889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work AI takes over first, in every industry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548640" y="3255264"/>
            <a:ext cx="10972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Top research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1691640" y="3255264"/>
            <a:ext cx="27889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hardest problems and judgment calls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548640" y="3657600"/>
            <a:ext cx="10972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Moving up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1691640" y="3657600"/>
            <a:ext cx="27889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Members get promoted; the network climbs to senior levels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5056632" y="205740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Selected universities in the network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54132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548640" y="548640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Each domain leaves assets behind: </a:t>
            </a:r>
            <a:r>
              <a:rPr lang="en-US" sz="1200" b="0" i="0" u="none" strike="noStrike" cap="none">
                <a:solidFill>
                  <a:srgbClr val="33322F"/>
                </a:solidFill>
                <a:latin typeface="Newsreader"/>
                <a:ea typeface="Newsreader"/>
                <a:cs typeface="Newsreader"/>
                <a:sym typeface="Newsreader"/>
              </a:rPr>
              <a:t>experts → data and standards → environments and verifiers → failure library → </a:t>
            </a:r>
            <a:r>
              <a:rPr lang="en-US" sz="1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reuse in the next domain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548640" y="594360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Network coverage does not mean registration or delivery; university logos do not imply endorsement.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Market size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Bottom-up from frontier-lab pricing: finance alone is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about $3.6M–$42M a year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3941064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7790688" y="1883664"/>
            <a:ext cx="457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5007" name="SimReal 5007"/>
          <p:cNvSpPr/>
          <p:nvPr/>
        </p:nvSpPr>
        <p:spPr>
          <a:xfrm>
            <a:off x="548640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8" name="SimReal 5008"/>
          <p:cNvSpPr txBox="1"/>
          <p:nvPr/>
        </p:nvSpPr>
        <p:spPr>
          <a:xfrm>
            <a:off x="548640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① Epoch prices × one lab’s volume</a:t>
            </a:r>
          </a:p>
        </p:txBody>
      </p:sp>
      <p:sp>
        <p:nvSpPr>
          <p:cNvPr id="5009" name="SimReal 5009"/>
          <p:cNvSpPr txBox="1"/>
          <p:nvPr/>
        </p:nvSpPr>
        <p:spPr>
          <a:xfrm>
            <a:off x="548640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$200–$2,000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548640" y="2505456"/>
            <a:ext cx="33924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Per task; environments $20K–$300K each, finance priced at the upper-middle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548640" y="2935224"/>
            <a:ext cx="21579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Finance envs: 2–5 × $100K–$300K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2706624" y="293522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$200K–$1.5M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31927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548640" y="3319272"/>
            <a:ext cx="21579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Tasks: 500–1,500 × $500–$2,000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2706624" y="331927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$250K–$3M</a:t>
            </a:r>
          </a:p>
        </p:txBody>
      </p:sp>
      <p:sp>
        <p:nvSpPr>
          <p:cNvPr id="5016" name="SimReal 5016"/>
          <p:cNvSpPr/>
          <p:nvPr/>
        </p:nvSpPr>
        <p:spPr>
          <a:xfrm>
            <a:off x="548640" y="3703320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7" name="SimReal 5017"/>
          <p:cNvSpPr txBox="1"/>
          <p:nvPr/>
        </p:nvSpPr>
        <p:spPr>
          <a:xfrm>
            <a:off x="548640" y="3703320"/>
            <a:ext cx="21579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Per US frontier lab, per year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2706624" y="370332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$450K–$4.5M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4398264" y="1517904"/>
            <a:ext cx="339242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4398264" y="1645920"/>
            <a:ext cx="3392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② Buyers × annual spend per lab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4398264" y="1901952"/>
            <a:ext cx="339242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17–24 labs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4398264" y="2505456"/>
            <a:ext cx="33924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Labs doing agent post-training, in three budget tiers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4398264" y="2935224"/>
            <a:ext cx="21579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 frontier: 4–7 × $450K–$4.5M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6556248" y="2935224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$1.8M–$31.5M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4398264" y="3319272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4398264" y="3319272"/>
            <a:ext cx="21579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New labs: 5–7 × $200K–$800K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6556248" y="331927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$1M–$5.6M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4398264" y="3703320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4398264" y="3703320"/>
            <a:ext cx="21579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China: 8–10 × $100K–$500K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6556248" y="370332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$800K–$5M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4398264" y="4087368"/>
            <a:ext cx="339242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4398264" y="4087368"/>
            <a:ext cx="21579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≈ Finance alone, per year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6556248" y="408736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$3.6M–$42M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8247888" y="1517904"/>
            <a:ext cx="3392424" cy="347472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8485632" y="1645920"/>
            <a:ext cx="29169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③ Three live domains · per year (est.)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8485632" y="1901952"/>
            <a:ext cx="291693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$10.8M–$126M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8485632" y="2542032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Finance alone, per year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0168128" y="2542032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$3.6M–$42M</a:t>
            </a:r>
          </a:p>
        </p:txBody>
      </p:sp>
      <p:sp>
        <p:nvSpPr>
          <p:cNvPr id="5039" name="SimReal 5039"/>
          <p:cNvSpPr/>
          <p:nvPr/>
        </p:nvSpPr>
        <p:spPr>
          <a:xfrm>
            <a:off x="8485632" y="2926080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0" name="SimReal 5040"/>
          <p:cNvSpPr txBox="1"/>
          <p:nvPr/>
        </p:nvSpPr>
        <p:spPr>
          <a:xfrm>
            <a:off x="8485632" y="2926080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Event prediction, AI research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10168128" y="2926080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× 3</a:t>
            </a:r>
          </a:p>
        </p:txBody>
      </p:sp>
      <p:sp>
        <p:nvSpPr>
          <p:cNvPr id="5042" name="SimReal 5042"/>
          <p:cNvSpPr/>
          <p:nvPr/>
        </p:nvSpPr>
        <p:spPr>
          <a:xfrm>
            <a:off x="8485632" y="3310128"/>
            <a:ext cx="29169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3" name="SimReal 5043"/>
          <p:cNvSpPr txBox="1"/>
          <p:nvPr/>
        </p:nvSpPr>
        <p:spPr>
          <a:xfrm>
            <a:off x="8485632" y="3310128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Three domains, per year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10168128" y="3310128"/>
            <a:ext cx="12344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$10.8M–$126M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8485632" y="3840480"/>
            <a:ext cx="29169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Context: training-data and RL-environment</a:t>
            </a:r>
            <a:br>
              <a:rPr lang="en-US" sz="950"/>
            </a:b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vendors earn about $8.5B a year</a:t>
            </a:r>
            <a:br>
              <a:rPr lang="en-US" sz="950"/>
            </a:br>
            <a:r>
              <a:rPr lang="en-US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(Deedy Das, Jul 2026)</a:t>
            </a:r>
            <a:br>
              <a:rPr lang="en-US" sz="950"/>
            </a:br>
            <a:r>
              <a:rPr lang="en-US" sz="95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Finance is only the first domain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548640" y="513892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One domain is worth millions to tens of millions a year; </a:t>
            </a:r>
            <a:r>
              <a:rPr lang="en-US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each new scorable domain multiplies it</a:t>
            </a:r>
            <a:r>
              <a:rPr lang="en-US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548640" y="5669280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Sources: task and environment prices and contract sizes (six to seven figures a quarter): Epoch AI (Jan 2026, 18 interviews), SemiAnalysis (Jan 2026); vendor revenue: Deedy Das (Jul 2026), context only.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Estimates: finance priced at the upper-middle (task floor ~$500, per Mechanize’s ~$2,400 of training compute per task); volume per lab, tier counts (China benchmarked to UniPat orders) and the three-domain extrapolation are our assumptions.</a:t>
            </a: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Buyers: OpenAI, Google DeepMind, Meta, xAI and other US frontier labs; Thinking Machines, Reflection AI and other new labs; Alibaba, ByteDance, DeepSeek, Moonshot and other Chinese labs.</a:t>
            </a:r>
          </a:p>
        </p:txBody>
      </p:sp>
      <p:sp>
        <p:nvSpPr>
          <p:cNvPr id="5048" name="SimReal 504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49" name="SimReal 504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Competition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Others build one piece;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we build the full loop that keeps AI improving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517904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77240" y="159105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Expert data platforms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77240" y="1938528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Mercor, Surge, Handshake, AfterQuery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3383280" y="1517904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Expert demos and judgment, scored by human opinion</a:t>
            </a:r>
          </a:p>
          <a:p>
            <a:pPr marL="0" marR="0" lvl="0" indent="0" algn="l" rtl="0">
              <a:lnSpc>
                <a:spcPct val="110000"/>
              </a:lnSpc>
              <a:spcBef>
                <a:spcPts val="367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Moving into RL environments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548640" y="2286000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777240" y="2359152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Peers in China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777240" y="2706624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UniPat, Humanlaya</a:t>
            </a:r>
          </a:p>
        </p:txBody>
      </p:sp>
      <p:sp>
        <p:nvSpPr>
          <p:cNvPr id="5012" name="SimReal 5012"/>
          <p:cNvSpPr txBox="1"/>
          <p:nvPr/>
        </p:nvSpPr>
        <p:spPr>
          <a:xfrm>
            <a:off x="3383280" y="2286000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Expert data, eval environments and benchmarks; mainly domestic labs</a:t>
            </a:r>
          </a:p>
        </p:txBody>
      </p:sp>
      <p:sp>
        <p:nvSpPr>
          <p:cNvPr id="5013" name="SimReal 5013"/>
          <p:cNvSpPr/>
          <p:nvPr/>
        </p:nvSpPr>
        <p:spPr>
          <a:xfrm>
            <a:off x="548640" y="3054096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4" name="SimReal 5014"/>
          <p:cNvSpPr txBox="1"/>
          <p:nvPr/>
        </p:nvSpPr>
        <p:spPr>
          <a:xfrm>
            <a:off x="777240" y="3127248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 trading evals</a:t>
            </a:r>
          </a:p>
        </p:txBody>
      </p:sp>
      <p:sp>
        <p:nvSpPr>
          <p:cNvPr id="5015" name="SimReal 5015"/>
          <p:cNvSpPr txBox="1"/>
          <p:nvPr/>
        </p:nvSpPr>
        <p:spPr>
          <a:xfrm>
            <a:off x="777240" y="3474720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Nof1 (Alpha Arena)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3383280" y="3054096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Live trading leaderboard: evaluates, doesn’t train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3822192"/>
            <a:ext cx="6400800" cy="676656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777240" y="4041648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Labs in-house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3383280" y="3822192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Only the domains they know</a:t>
            </a:r>
          </a:p>
        </p:txBody>
      </p:sp>
      <p:sp>
        <p:nvSpPr>
          <p:cNvPr id="5020" name="SimReal 5020"/>
          <p:cNvSpPr/>
          <p:nvPr/>
        </p:nvSpPr>
        <p:spPr>
          <a:xfrm>
            <a:off x="548640" y="4590288"/>
            <a:ext cx="6400800" cy="6766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1" name="SimReal 5021"/>
          <p:cNvSpPr txBox="1"/>
          <p:nvPr/>
        </p:nvSpPr>
        <p:spPr>
          <a:xfrm>
            <a:off x="777240" y="466344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777240" y="5010912"/>
            <a:ext cx="2514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Environments, data, scoring, training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3383280" y="4590288"/>
            <a:ext cx="3383280" cy="676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 result feeds the next round; AI keeps improving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7315200" y="1517904"/>
            <a:ext cx="432511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Our edge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7315200" y="1810512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7315200" y="1901952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Finance know-how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7315200" y="2249424"/>
            <a:ext cx="43251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quant team designs the matching and the reward: trading discipline written into the scorer (next page)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7315200" y="2706624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7315200" y="2798064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Verifiable scoring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7315200" y="3145536"/>
            <a:ext cx="43251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Scored by the simulator, not by opinion; human benchmark from 6 competition teams’ public submissions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7315200" y="3602736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7315200" y="3694176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Evaluate and train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7315200" y="4041648"/>
            <a:ext cx="43251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One environment for evals and training: eval data, agent trajectories and iterative training, delivered together</a:t>
            </a:r>
          </a:p>
        </p:txBody>
      </p:sp>
      <p:sp>
        <p:nvSpPr>
          <p:cNvPr id="5034" name="SimReal 5034"/>
          <p:cNvSpPr/>
          <p:nvPr/>
        </p:nvSpPr>
        <p:spPr>
          <a:xfrm>
            <a:off x="7315200" y="4498848"/>
            <a:ext cx="432511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5" name="SimReal 5035"/>
          <p:cNvSpPr txBox="1"/>
          <p:nvPr/>
        </p:nvSpPr>
        <p:spPr>
          <a:xfrm>
            <a:off x="7315200" y="4590288"/>
            <a:ext cx="432511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Own assets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7315200" y="4937760"/>
            <a:ext cx="432511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Matching and scoring on our own engine; reserve tasks and unpublished held-out days; 7 environments live</a:t>
            </a:r>
          </a:p>
        </p:txBody>
      </p:sp>
      <p:sp>
        <p:nvSpPr>
          <p:cNvPr id="5037" name="SimReal 5037"/>
          <p:cNvSpPr txBox="1"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 China  </a:t>
            </a: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Bloomberg reports Alibaba plans to lead a $300M round in UniPat at a $2.5B valuation; Humanlaya closed a pre-A of several hundred million RMB led by CDH; Alibaba, ByteDance, DeepSeek and others have bought data or services from both.</a:t>
            </a:r>
          </a:p>
        </p:txBody>
      </p:sp>
      <p:sp>
        <p:nvSpPr>
          <p:cNvPr id="5038" name="SimReal 503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Why us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Labs buy finance know-how by the hour;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we built it into the environment and the score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OpenAI pays ex-bankers $150 an hour; xAI hires quant-trading experts (Bloomberg, xAI job posts)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822960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Realistic matching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822960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Naive backtests assume resting orders fill,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 models learn the backtest’s loopholes.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We queue orders, split crossing and resting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fills, and attribute each fill to the book.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4337304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4611624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Risk in the reward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4611624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Score = max(0, P&amp;L − 0.1×DD) × Sharpe factor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 fixing 3 flaws in a human strategy,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P&amp;L rose 63% but Sharpe fell 7.27 → 3.03: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return and risk diverge, so risk is priced in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8125968" y="1755648"/>
            <a:ext cx="3514344" cy="201168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8400288" y="1938528"/>
            <a:ext cx="296570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No gaming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8400288" y="2487168"/>
            <a:ext cx="2965704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last full day is hidden from the agent;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full report’s hash is published up front;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deterministic: same strategy, same score;</a:t>
            </a:r>
          </a:p>
          <a:p>
            <a:pPr marL="0" marR="0" lvl="0" indent="0" algn="l" rtl="0">
              <a:lnSpc>
                <a:spcPct val="114999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private reserve tasks replace exposed days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548640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548640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Quant experience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548640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Street, Citadel, Optiver (quant);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 data science; Cambridge, LSE, Duke math</a:t>
            </a:r>
          </a:p>
        </p:txBody>
      </p:sp>
      <p:sp>
        <p:nvSpPr>
          <p:cNvPr id="5018" name="SimReal 5018"/>
          <p:cNvSpPr/>
          <p:nvPr/>
        </p:nvSpPr>
        <p:spPr>
          <a:xfrm>
            <a:off x="4337304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9" name="SimReal 5019"/>
          <p:cNvSpPr txBox="1"/>
          <p:nvPr/>
        </p:nvSpPr>
        <p:spPr>
          <a:xfrm>
            <a:off x="4337304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What buyers want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4337304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Labs choosing environments keep citing one key test: no high score by gaming (Epoch AI, 18 interviews)</a:t>
            </a:r>
          </a:p>
        </p:txBody>
      </p:sp>
      <p:sp>
        <p:nvSpPr>
          <p:cNvPr id="5021" name="SimReal 5021"/>
          <p:cNvSpPr/>
          <p:nvPr/>
        </p:nvSpPr>
        <p:spPr>
          <a:xfrm>
            <a:off x="8125968" y="4005072"/>
            <a:ext cx="3514344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2" name="SimReal 5022"/>
          <p:cNvSpPr txBox="1"/>
          <p:nvPr/>
        </p:nvSpPr>
        <p:spPr>
          <a:xfrm>
            <a:off x="8125968" y="4078224"/>
            <a:ext cx="351434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Speed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8125968" y="4443984"/>
            <a:ext cx="351434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 environments in 14 days, no outside funding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548640" y="5349240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Spotting the loophole in a backtest </a:t>
            </a:r>
            <a:r>
              <a:rPr lang="en-US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is basic quant discipline</a:t>
            </a:r>
            <a:r>
              <a:rPr lang="en-US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The round &amp; use of funds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Two engines: revenue earns today’s money;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R&amp;D makes the training gains solid</a:t>
            </a:r>
          </a:p>
        </p:txBody>
      </p:sp>
      <p:sp>
        <p:nvSpPr>
          <p:cNvPr id="5005" name="SimReal 5005"/>
          <p:cNvSpPr/>
          <p:nvPr/>
        </p:nvSpPr>
        <p:spPr>
          <a:xfrm>
            <a:off x="548640" y="1463040"/>
            <a:ext cx="2601468" cy="71323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6" name="SimReal 5006"/>
          <p:cNvSpPr txBox="1"/>
          <p:nvPr/>
        </p:nvSpPr>
        <p:spPr>
          <a:xfrm>
            <a:off x="749808" y="1517904"/>
            <a:ext cx="223570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Raising (seed)</a:t>
            </a:r>
          </a:p>
        </p:txBody>
      </p:sp>
      <p:sp>
        <p:nvSpPr>
          <p:cNvPr id="5007" name="SimReal 5007"/>
          <p:cNvSpPr txBox="1"/>
          <p:nvPr/>
        </p:nvSpPr>
        <p:spPr>
          <a:xfrm>
            <a:off x="749808" y="1700784"/>
            <a:ext cx="22357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$6M</a:t>
            </a:r>
          </a:p>
        </p:txBody>
      </p:sp>
      <p:sp>
        <p:nvSpPr>
          <p:cNvPr id="5008" name="SimReal 5008"/>
          <p:cNvSpPr/>
          <p:nvPr/>
        </p:nvSpPr>
        <p:spPr>
          <a:xfrm>
            <a:off x="3378708" y="1463040"/>
            <a:ext cx="2601468" cy="71323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9" name="SimReal 5009"/>
          <p:cNvSpPr txBox="1"/>
          <p:nvPr/>
        </p:nvSpPr>
        <p:spPr>
          <a:xfrm>
            <a:off x="3579876" y="1517904"/>
            <a:ext cx="223570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Dilution</a:t>
            </a:r>
          </a:p>
        </p:txBody>
      </p:sp>
      <p:sp>
        <p:nvSpPr>
          <p:cNvPr id="5010" name="SimReal 5010"/>
          <p:cNvSpPr txBox="1"/>
          <p:nvPr/>
        </p:nvSpPr>
        <p:spPr>
          <a:xfrm>
            <a:off x="3579876" y="1700784"/>
            <a:ext cx="22357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8%</a:t>
            </a:r>
          </a:p>
        </p:txBody>
      </p:sp>
      <p:sp>
        <p:nvSpPr>
          <p:cNvPr id="5011" name="SimReal 5011"/>
          <p:cNvSpPr/>
          <p:nvPr/>
        </p:nvSpPr>
        <p:spPr>
          <a:xfrm>
            <a:off x="6208776" y="1463040"/>
            <a:ext cx="2601468" cy="71323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2" name="SimReal 5012"/>
          <p:cNvSpPr txBox="1"/>
          <p:nvPr/>
        </p:nvSpPr>
        <p:spPr>
          <a:xfrm>
            <a:off x="6409944" y="1517904"/>
            <a:ext cx="223570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Pre-money</a:t>
            </a:r>
          </a:p>
        </p:txBody>
      </p:sp>
      <p:sp>
        <p:nvSpPr>
          <p:cNvPr id="5013" name="SimReal 5013"/>
          <p:cNvSpPr txBox="1"/>
          <p:nvPr/>
        </p:nvSpPr>
        <p:spPr>
          <a:xfrm>
            <a:off x="6409944" y="1700784"/>
            <a:ext cx="22357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$69M</a:t>
            </a:r>
          </a:p>
        </p:txBody>
      </p:sp>
      <p:sp>
        <p:nvSpPr>
          <p:cNvPr id="5014" name="SimReal 5014"/>
          <p:cNvSpPr/>
          <p:nvPr/>
        </p:nvSpPr>
        <p:spPr>
          <a:xfrm>
            <a:off x="9038844" y="1463040"/>
            <a:ext cx="2601468" cy="71323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5" name="SimReal 5015"/>
          <p:cNvSpPr txBox="1"/>
          <p:nvPr/>
        </p:nvSpPr>
        <p:spPr>
          <a:xfrm>
            <a:off x="9240012" y="1517904"/>
            <a:ext cx="2235708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Post-money</a:t>
            </a:r>
          </a:p>
        </p:txBody>
      </p:sp>
      <p:sp>
        <p:nvSpPr>
          <p:cNvPr id="5016" name="SimReal 5016"/>
          <p:cNvSpPr txBox="1"/>
          <p:nvPr/>
        </p:nvSpPr>
        <p:spPr>
          <a:xfrm>
            <a:off x="9240012" y="1700784"/>
            <a:ext cx="22357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$75M</a:t>
            </a:r>
          </a:p>
        </p:txBody>
      </p:sp>
      <p:sp>
        <p:nvSpPr>
          <p:cNvPr id="5017" name="SimReal 5017"/>
          <p:cNvSpPr/>
          <p:nvPr/>
        </p:nvSpPr>
        <p:spPr>
          <a:xfrm>
            <a:off x="548640" y="2286000"/>
            <a:ext cx="5408676" cy="256032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8" name="SimReal 5018"/>
          <p:cNvSpPr txBox="1"/>
          <p:nvPr/>
        </p:nvSpPr>
        <p:spPr>
          <a:xfrm>
            <a:off x="822960" y="2414016"/>
            <a:ext cx="48600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Revenue engine  ·  $3M</a:t>
            </a:r>
          </a:p>
        </p:txBody>
      </p:sp>
      <p:sp>
        <p:nvSpPr>
          <p:cNvPr id="5019" name="SimReal 5019"/>
          <p:cNvSpPr txBox="1"/>
          <p:nvPr/>
        </p:nvSpPr>
        <p:spPr>
          <a:xfrm>
            <a:off x="822960" y="2633472"/>
            <a:ext cx="48600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Environments &amp; data</a:t>
            </a:r>
          </a:p>
        </p:txBody>
      </p:sp>
      <p:sp>
        <p:nvSpPr>
          <p:cNvPr id="5020" name="SimReal 5020"/>
          <p:cNvSpPr txBox="1"/>
          <p:nvPr/>
        </p:nvSpPr>
        <p:spPr>
          <a:xfrm>
            <a:off x="822960" y="3017520"/>
            <a:ext cx="486003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Build once, license to many labs; data billed by volume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822960" y="331012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$1.05M</a:t>
            </a:r>
          </a:p>
        </p:txBody>
      </p:sp>
      <p:sp>
        <p:nvSpPr>
          <p:cNvPr id="5022" name="SimReal 5022"/>
          <p:cNvSpPr txBox="1"/>
          <p:nvPr/>
        </p:nvSpPr>
        <p:spPr>
          <a:xfrm>
            <a:off x="1572768" y="3310128"/>
            <a:ext cx="164363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Environments</a:t>
            </a:r>
          </a:p>
        </p:txBody>
      </p:sp>
      <p:sp>
        <p:nvSpPr>
          <p:cNvPr id="5023" name="SimReal 5023"/>
          <p:cNvSpPr txBox="1"/>
          <p:nvPr/>
        </p:nvSpPr>
        <p:spPr>
          <a:xfrm>
            <a:off x="3252978" y="331012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$600K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4002786" y="3310128"/>
            <a:ext cx="164363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Data</a:t>
            </a:r>
          </a:p>
        </p:txBody>
      </p:sp>
      <p:sp>
        <p:nvSpPr>
          <p:cNvPr id="5025" name="SimReal 5025"/>
          <p:cNvSpPr txBox="1"/>
          <p:nvPr/>
        </p:nvSpPr>
        <p:spPr>
          <a:xfrm>
            <a:off x="822960" y="360273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$900K</a:t>
            </a:r>
          </a:p>
        </p:txBody>
      </p:sp>
      <p:sp>
        <p:nvSpPr>
          <p:cNvPr id="5026" name="SimReal 5026"/>
          <p:cNvSpPr txBox="1"/>
          <p:nvPr/>
        </p:nvSpPr>
        <p:spPr>
          <a:xfrm>
            <a:off x="1572768" y="3602736"/>
            <a:ext cx="164363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Delivery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3252978" y="360273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$450K</a:t>
            </a:r>
          </a:p>
        </p:txBody>
      </p:sp>
      <p:sp>
        <p:nvSpPr>
          <p:cNvPr id="5028" name="SimReal 5028"/>
          <p:cNvSpPr txBox="1"/>
          <p:nvPr/>
        </p:nvSpPr>
        <p:spPr>
          <a:xfrm>
            <a:off x="4002786" y="3602736"/>
            <a:ext cx="164363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Sales &amp; ops</a:t>
            </a:r>
          </a:p>
        </p:txBody>
      </p:sp>
      <p:sp>
        <p:nvSpPr>
          <p:cNvPr id="5029" name="SimReal 5029"/>
          <p:cNvSpPr txBox="1"/>
          <p:nvPr/>
        </p:nvSpPr>
        <p:spPr>
          <a:xfrm>
            <a:off x="822960" y="3931920"/>
            <a:ext cx="486003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 environment engineers · 3 delivery · 2 sales; 24-month runway</a:t>
            </a:r>
          </a:p>
        </p:txBody>
      </p:sp>
      <p:sp>
        <p:nvSpPr>
          <p:cNvPr id="5030" name="SimReal 5030"/>
          <p:cNvSpPr/>
          <p:nvPr/>
        </p:nvSpPr>
        <p:spPr>
          <a:xfrm>
            <a:off x="822960" y="4224528"/>
            <a:ext cx="4860036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1" name="SimReal 5031"/>
          <p:cNvSpPr txBox="1"/>
          <p:nvPr/>
        </p:nvSpPr>
        <p:spPr>
          <a:xfrm>
            <a:off x="822960" y="4279392"/>
            <a:ext cx="15285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 months</a:t>
            </a:r>
          </a:p>
        </p:txBody>
      </p:sp>
      <p:sp>
        <p:nvSpPr>
          <p:cNvPr id="5032" name="SimReal 5032"/>
          <p:cNvSpPr txBox="1"/>
          <p:nvPr/>
        </p:nvSpPr>
        <p:spPr>
          <a:xfrm>
            <a:off x="822960" y="4443984"/>
            <a:ext cx="15102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First paid pilot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2442972" y="4279392"/>
            <a:ext cx="15285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 months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2442972" y="4443984"/>
            <a:ext cx="15102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Second license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4062984" y="4279392"/>
            <a:ext cx="15285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 months</a:t>
            </a:r>
          </a:p>
        </p:txBody>
      </p:sp>
      <p:sp>
        <p:nvSpPr>
          <p:cNvPr id="5036" name="SimReal 5036"/>
          <p:cNvSpPr txBox="1"/>
          <p:nvPr/>
        </p:nvSpPr>
        <p:spPr>
          <a:xfrm>
            <a:off x="4062984" y="4443984"/>
            <a:ext cx="15102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2–3 paying labs, $1M–$3M ARR</a:t>
            </a:r>
          </a:p>
        </p:txBody>
      </p:sp>
      <p:sp>
        <p:nvSpPr>
          <p:cNvPr id="5037" name="SimReal 5037"/>
          <p:cNvSpPr/>
          <p:nvPr/>
        </p:nvSpPr>
        <p:spPr>
          <a:xfrm>
            <a:off x="6231636" y="2286000"/>
            <a:ext cx="5408676" cy="256032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8" name="SimReal 5038"/>
          <p:cNvSpPr txBox="1"/>
          <p:nvPr/>
        </p:nvSpPr>
        <p:spPr>
          <a:xfrm>
            <a:off x="6505956" y="2414016"/>
            <a:ext cx="486003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R&amp;D engine  ·  $3M</a:t>
            </a:r>
          </a:p>
        </p:txBody>
      </p:sp>
      <p:sp>
        <p:nvSpPr>
          <p:cNvPr id="5039" name="SimReal 5039"/>
          <p:cNvSpPr txBox="1"/>
          <p:nvPr/>
        </p:nvSpPr>
        <p:spPr>
          <a:xfrm>
            <a:off x="6505956" y="2633472"/>
            <a:ext cx="48600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Iterative training</a:t>
            </a:r>
          </a:p>
        </p:txBody>
      </p:sp>
      <p:sp>
        <p:nvSpPr>
          <p:cNvPr id="5040" name="SimReal 5040"/>
          <p:cNvSpPr txBox="1"/>
          <p:nvPr/>
        </p:nvSpPr>
        <p:spPr>
          <a:xfrm>
            <a:off x="6505956" y="3017520"/>
            <a:ext cx="486003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Trading → prediction → finance close: prove the gain, then scale</a:t>
            </a:r>
          </a:p>
        </p:txBody>
      </p:sp>
      <p:sp>
        <p:nvSpPr>
          <p:cNvPr id="5041" name="SimReal 5041"/>
          <p:cNvSpPr txBox="1"/>
          <p:nvPr/>
        </p:nvSpPr>
        <p:spPr>
          <a:xfrm>
            <a:off x="6505956" y="331012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$1.35M</a:t>
            </a:r>
          </a:p>
        </p:txBody>
      </p:sp>
      <p:sp>
        <p:nvSpPr>
          <p:cNvPr id="5042" name="SimReal 5042"/>
          <p:cNvSpPr txBox="1"/>
          <p:nvPr/>
        </p:nvSpPr>
        <p:spPr>
          <a:xfrm>
            <a:off x="7255764" y="3310128"/>
            <a:ext cx="164363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Compute</a:t>
            </a:r>
          </a:p>
        </p:txBody>
      </p:sp>
      <p:sp>
        <p:nvSpPr>
          <p:cNvPr id="5043" name="SimReal 5043"/>
          <p:cNvSpPr txBox="1"/>
          <p:nvPr/>
        </p:nvSpPr>
        <p:spPr>
          <a:xfrm>
            <a:off x="8935974" y="331012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$1.05M</a:t>
            </a:r>
          </a:p>
        </p:txBody>
      </p:sp>
      <p:sp>
        <p:nvSpPr>
          <p:cNvPr id="5044" name="SimReal 5044"/>
          <p:cNvSpPr txBox="1"/>
          <p:nvPr/>
        </p:nvSpPr>
        <p:spPr>
          <a:xfrm>
            <a:off x="9685782" y="3310128"/>
            <a:ext cx="164363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Research team</a:t>
            </a:r>
          </a:p>
        </p:txBody>
      </p:sp>
      <p:sp>
        <p:nvSpPr>
          <p:cNvPr id="5045" name="SimReal 5045"/>
          <p:cNvSpPr txBox="1"/>
          <p:nvPr/>
        </p:nvSpPr>
        <p:spPr>
          <a:xfrm>
            <a:off x="6505956" y="360273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$600K</a:t>
            </a:r>
          </a:p>
        </p:txBody>
      </p:sp>
      <p:sp>
        <p:nvSpPr>
          <p:cNvPr id="5046" name="SimReal 5046"/>
          <p:cNvSpPr txBox="1"/>
          <p:nvPr/>
        </p:nvSpPr>
        <p:spPr>
          <a:xfrm>
            <a:off x="7255764" y="3602736"/>
            <a:ext cx="164363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Live trading, compliance</a:t>
            </a:r>
          </a:p>
        </p:txBody>
      </p:sp>
      <p:sp>
        <p:nvSpPr>
          <p:cNvPr id="5047" name="SimReal 5047"/>
          <p:cNvSpPr txBox="1"/>
          <p:nvPr/>
        </p:nvSpPr>
        <p:spPr>
          <a:xfrm>
            <a:off x="6505956" y="3931920"/>
            <a:ext cx="486003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 researchers · ~600K GPU hours</a:t>
            </a:r>
          </a:p>
        </p:txBody>
      </p:sp>
      <p:sp>
        <p:nvSpPr>
          <p:cNvPr id="5048" name="SimReal 5048"/>
          <p:cNvSpPr/>
          <p:nvPr/>
        </p:nvSpPr>
        <p:spPr>
          <a:xfrm>
            <a:off x="6505956" y="4224528"/>
            <a:ext cx="486003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49" name="SimReal 5049"/>
          <p:cNvSpPr txBox="1"/>
          <p:nvPr/>
        </p:nvSpPr>
        <p:spPr>
          <a:xfrm>
            <a:off x="6505956" y="4279392"/>
            <a:ext cx="15285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 months</a:t>
            </a:r>
          </a:p>
        </p:txBody>
      </p:sp>
      <p:sp>
        <p:nvSpPr>
          <p:cNvPr id="5050" name="SimReal 5050"/>
          <p:cNvSpPr txBox="1"/>
          <p:nvPr/>
        </p:nvSpPr>
        <p:spPr>
          <a:xfrm>
            <a:off x="6505956" y="4443984"/>
            <a:ext cx="15102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Significance test, trading</a:t>
            </a:r>
          </a:p>
        </p:txBody>
      </p:sp>
      <p:sp>
        <p:nvSpPr>
          <p:cNvPr id="5051" name="SimReal 5051"/>
          <p:cNvSpPr txBox="1"/>
          <p:nvPr/>
        </p:nvSpPr>
        <p:spPr>
          <a:xfrm>
            <a:off x="8125968" y="4279392"/>
            <a:ext cx="15285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 months</a:t>
            </a:r>
          </a:p>
        </p:txBody>
      </p:sp>
      <p:sp>
        <p:nvSpPr>
          <p:cNvPr id="5052" name="SimReal 5052"/>
          <p:cNvSpPr txBox="1"/>
          <p:nvPr/>
        </p:nvSpPr>
        <p:spPr>
          <a:xfrm>
            <a:off x="8125968" y="4443984"/>
            <a:ext cx="15102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Gains in event prediction</a:t>
            </a:r>
          </a:p>
        </p:txBody>
      </p:sp>
      <p:sp>
        <p:nvSpPr>
          <p:cNvPr id="5053" name="SimReal 5053"/>
          <p:cNvSpPr txBox="1"/>
          <p:nvPr/>
        </p:nvSpPr>
        <p:spPr>
          <a:xfrm>
            <a:off x="9745980" y="4279392"/>
            <a:ext cx="15285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 months</a:t>
            </a:r>
          </a:p>
        </p:txBody>
      </p:sp>
      <p:sp>
        <p:nvSpPr>
          <p:cNvPr id="5054" name="SimReal 5054"/>
          <p:cNvSpPr txBox="1"/>
          <p:nvPr/>
        </p:nvSpPr>
        <p:spPr>
          <a:xfrm>
            <a:off x="9745980" y="4443984"/>
            <a:ext cx="1510284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Small live-capital test</a:t>
            </a:r>
          </a:p>
        </p:txBody>
      </p:sp>
      <p:sp>
        <p:nvSpPr>
          <p:cNvPr id="5055" name="SimReal 5055"/>
          <p:cNvSpPr txBox="1"/>
          <p:nvPr/>
        </p:nvSpPr>
        <p:spPr>
          <a:xfrm>
            <a:off x="548640" y="4919472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Valuation references: seed-stage peers at $100M–$1B post-money</a:t>
            </a:r>
          </a:p>
        </p:txBody>
      </p:sp>
      <p:sp>
        <p:nvSpPr>
          <p:cNvPr id="5056" name="SimReal 5056"/>
          <p:cNvSpPr/>
          <p:nvPr/>
        </p:nvSpPr>
        <p:spPr>
          <a:xfrm>
            <a:off x="548640" y="5138928"/>
            <a:ext cx="2601468" cy="548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57" name="SimReal 5057"/>
          <p:cNvSpPr txBox="1"/>
          <p:nvPr/>
        </p:nvSpPr>
        <p:spPr>
          <a:xfrm>
            <a:off x="731520" y="5157216"/>
            <a:ext cx="232714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  </a:t>
            </a: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$100M</a:t>
            </a:r>
          </a:p>
        </p:txBody>
      </p:sp>
      <p:sp>
        <p:nvSpPr>
          <p:cNvPr id="5058" name="SimReal 5058"/>
          <p:cNvSpPr txBox="1"/>
          <p:nvPr/>
        </p:nvSpPr>
        <p:spPr>
          <a:xfrm>
            <a:off x="731520" y="5449824"/>
            <a:ext cx="232714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Seed post-money · Jun 2025</a:t>
            </a:r>
          </a:p>
        </p:txBody>
      </p:sp>
      <p:sp>
        <p:nvSpPr>
          <p:cNvPr id="5059" name="SimReal 5059"/>
          <p:cNvSpPr/>
          <p:nvPr/>
        </p:nvSpPr>
        <p:spPr>
          <a:xfrm>
            <a:off x="3378708" y="5138928"/>
            <a:ext cx="2601468" cy="548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60" name="SimReal 5060"/>
          <p:cNvSpPr txBox="1"/>
          <p:nvPr/>
        </p:nvSpPr>
        <p:spPr>
          <a:xfrm>
            <a:off x="3561588" y="5157216"/>
            <a:ext cx="232714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Mirendil  </a:t>
            </a: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$1B</a:t>
            </a:r>
          </a:p>
        </p:txBody>
      </p:sp>
      <p:sp>
        <p:nvSpPr>
          <p:cNvPr id="5061" name="SimReal 5061"/>
          <p:cNvSpPr txBox="1"/>
          <p:nvPr/>
        </p:nvSpPr>
        <p:spPr>
          <a:xfrm>
            <a:off x="3561588" y="5449824"/>
            <a:ext cx="232714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Seed post-money · Jun 2026</a:t>
            </a:r>
          </a:p>
        </p:txBody>
      </p:sp>
      <p:sp>
        <p:nvSpPr>
          <p:cNvPr id="5062" name="SimReal 5062"/>
          <p:cNvSpPr/>
          <p:nvPr/>
        </p:nvSpPr>
        <p:spPr>
          <a:xfrm>
            <a:off x="6208776" y="5138928"/>
            <a:ext cx="2601468" cy="548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63" name="SimReal 5063"/>
          <p:cNvSpPr txBox="1"/>
          <p:nvPr/>
        </p:nvSpPr>
        <p:spPr>
          <a:xfrm>
            <a:off x="6391656" y="5157216"/>
            <a:ext cx="232714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Nof1  </a:t>
            </a: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$15M</a:t>
            </a:r>
          </a:p>
        </p:txBody>
      </p:sp>
      <p:sp>
        <p:nvSpPr>
          <p:cNvPr id="5064" name="SimReal 5064"/>
          <p:cNvSpPr txBox="1"/>
          <p:nvPr/>
        </p:nvSpPr>
        <p:spPr>
          <a:xfrm>
            <a:off x="6391656" y="5449824"/>
            <a:ext cx="232714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Raised · May 2026</a:t>
            </a:r>
          </a:p>
        </p:txBody>
      </p:sp>
      <p:sp>
        <p:nvSpPr>
          <p:cNvPr id="5065" name="SimReal 5065"/>
          <p:cNvSpPr/>
          <p:nvPr/>
        </p:nvSpPr>
        <p:spPr>
          <a:xfrm>
            <a:off x="9038844" y="5138928"/>
            <a:ext cx="2601468" cy="548640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66" name="SimReal 5066"/>
          <p:cNvSpPr txBox="1"/>
          <p:nvPr/>
        </p:nvSpPr>
        <p:spPr>
          <a:xfrm>
            <a:off x="9221724" y="5157216"/>
            <a:ext cx="232714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Chaoyan 超衍智能  </a:t>
            </a:r>
            <a:r>
              <a:rPr lang="en-US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~$59M</a:t>
            </a:r>
          </a:p>
        </p:txBody>
      </p:sp>
      <p:sp>
        <p:nvSpPr>
          <p:cNvPr id="5067" name="SimReal 5067"/>
          <p:cNvSpPr txBox="1"/>
          <p:nvPr/>
        </p:nvSpPr>
        <p:spPr>
          <a:xfrm>
            <a:off x="9221724" y="5449824"/>
            <a:ext cx="232714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Angel rounds raised · Sep 2026</a:t>
            </a:r>
          </a:p>
        </p:txBody>
      </p:sp>
      <p:sp>
        <p:nvSpPr>
          <p:cNvPr id="5068" name="SimReal 5068"/>
          <p:cNvSpPr txBox="1"/>
          <p:nvPr/>
        </p:nvSpPr>
        <p:spPr>
          <a:xfrm>
            <a:off x="548640" y="5742432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Compute, Mirendil: post-money; Nof1, Chaoyan: amount raised. Round: RMB 40M at RMB 500M post-money, at 6.7351 RMB/USD (Sep 30, 2026 central parity). Data stored and delivered by client region; Cayman–Hong Kong–onshore structure before closing.</a:t>
            </a:r>
          </a:p>
        </p:txBody>
      </p:sp>
      <p:sp>
        <p:nvSpPr>
          <p:cNvPr id="5069" name="SimReal 506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70" name="SimReal 5070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13716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001" name="SimReal 5001"/>
          <p:cNvSpPr txBox="1"/>
          <p:nvPr/>
        </p:nvSpPr>
        <p:spPr>
          <a:xfrm>
            <a:off x="548640" y="2194560"/>
            <a:ext cx="7680960" cy="155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Every industry’s best AI</a:t>
            </a:r>
          </a:p>
          <a:p>
            <a:pPr marL="0" marR="0" lvl="0" indent="0" algn="l" rtl="0">
              <a:lnSpc>
                <a:spcPct val="10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will come from our worlds.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548640" y="402336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Three worlds live: trading, AI research, event prediction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4425696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 that improves itself in the real world</a:t>
            </a:r>
          </a:p>
        </p:txBody>
      </p:sp>
      <p:sp>
        <p:nvSpPr>
          <p:cNvPr id="5004" name="SimReal 5004"/>
          <p:cNvSpPr/>
          <p:nvPr/>
        </p:nvSpPr>
        <p:spPr>
          <a:xfrm>
            <a:off x="548640" y="5074920"/>
            <a:ext cx="512064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5" name="SimReal 5005"/>
          <p:cNvSpPr txBox="1"/>
          <p:nvPr/>
        </p:nvSpPr>
        <p:spPr>
          <a:xfrm>
            <a:off x="548640" y="521208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</a:p>
        </p:txBody>
      </p:sp>
      <p:sp>
        <p:nvSpPr>
          <p:cNvPr id="5006" name="SimReal 500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5001" name="SimReal 5001"/>
          <p:cNvSpPr txBox="1"/>
          <p:nvPr/>
        </p:nvSpPr>
        <p:spPr>
          <a:xfrm>
            <a:off x="548640" y="384048"/>
            <a:ext cx="27432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  <p:sp>
        <p:nvSpPr>
          <p:cNvPr id="5002" name="SimReal 5002"/>
          <p:cNvSpPr txBox="1"/>
          <p:nvPr/>
        </p:nvSpPr>
        <p:spPr>
          <a:xfrm>
            <a:off x="6035040" y="384048"/>
            <a:ext cx="56052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Team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Problem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Solution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Market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Traction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 </a:t>
            </a:r>
            <a:r>
              <a:rPr lang="en-US" sz="850" b="0" i="0" u="none" strike="noStrike" cap="none">
                <a:solidFill>
                  <a:srgbClr val="9A978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Raise</a:t>
            </a:r>
          </a:p>
        </p:txBody>
      </p:sp>
      <p:sp>
        <p:nvSpPr>
          <p:cNvPr id="5003" name="SimReal 5003"/>
          <p:cNvSpPr txBox="1"/>
          <p:nvPr/>
        </p:nvSpPr>
        <p:spPr>
          <a:xfrm>
            <a:off x="548640" y="548640"/>
            <a:ext cx="11091672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Next · Personal agents</a:t>
            </a:r>
          </a:p>
        </p:txBody>
      </p:sp>
      <p:sp>
        <p:nvSpPr>
          <p:cNvPr id="5004" name="SimReal 5004"/>
          <p:cNvSpPr txBox="1"/>
          <p:nvPr/>
        </p:nvSpPr>
        <p:spPr>
          <a:xfrm>
            <a:off x="548640" y="1024128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Before an agent acts for someone, </a:t>
            </a:r>
            <a:r>
              <a:rPr lang="en-US" sz="1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it should practice somewhere real</a:t>
            </a:r>
          </a:p>
        </p:txBody>
      </p:sp>
      <p:sp>
        <p:nvSpPr>
          <p:cNvPr id="5005" name="SimReal 5005"/>
          <p:cNvSpPr txBox="1"/>
          <p:nvPr/>
        </p:nvSpPr>
        <p:spPr>
          <a:xfrm>
            <a:off x="548640" y="1499616"/>
            <a:ext cx="1109167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Sep 2026: personal agents start spending for people (Instinct’s founder cites $1B+ a year, about half travel) and making mistakes for them</a:t>
            </a:r>
          </a:p>
        </p:txBody>
      </p:sp>
      <p:sp>
        <p:nvSpPr>
          <p:cNvPr id="5006" name="SimReal 5006"/>
          <p:cNvSpPr/>
          <p:nvPr/>
        </p:nvSpPr>
        <p:spPr>
          <a:xfrm>
            <a:off x="548640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07" name="SimReal 5007"/>
          <p:cNvSpPr txBox="1"/>
          <p:nvPr/>
        </p:nvSpPr>
        <p:spPr>
          <a:xfrm>
            <a:off x="548640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Muse</a:t>
            </a:r>
          </a:p>
        </p:txBody>
      </p:sp>
      <p:sp>
        <p:nvSpPr>
          <p:cNvPr id="5008" name="SimReal 5008"/>
          <p:cNvSpPr txBox="1"/>
          <p:nvPr/>
        </p:nvSpPr>
        <p:spPr>
          <a:xfrm>
            <a:off x="548640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Meta, launched Sep 8;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No. 1 on the US App Store in 10 days</a:t>
            </a:r>
          </a:p>
        </p:txBody>
      </p:sp>
      <p:sp>
        <p:nvSpPr>
          <p:cNvPr id="5009" name="SimReal 5009"/>
          <p:cNvSpPr/>
          <p:nvPr/>
        </p:nvSpPr>
        <p:spPr>
          <a:xfrm>
            <a:off x="3390138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0" name="SimReal 5010"/>
          <p:cNvSpPr txBox="1"/>
          <p:nvPr/>
        </p:nvSpPr>
        <p:spPr>
          <a:xfrm>
            <a:off x="3390138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Dots</a:t>
            </a:r>
          </a:p>
        </p:txBody>
      </p:sp>
      <p:sp>
        <p:nvSpPr>
          <p:cNvPr id="5011" name="SimReal 5011"/>
          <p:cNvSpPr txBox="1"/>
          <p:nvPr/>
        </p:nvSpPr>
        <p:spPr>
          <a:xfrm>
            <a:off x="3390138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OpenAI, unveiled Sep 29;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always on in the cloud, working for you</a:t>
            </a:r>
          </a:p>
        </p:txBody>
      </p:sp>
      <p:sp>
        <p:nvSpPr>
          <p:cNvPr id="5012" name="SimReal 5012"/>
          <p:cNvSpPr/>
          <p:nvPr/>
        </p:nvSpPr>
        <p:spPr>
          <a:xfrm>
            <a:off x="6231636" y="1755648"/>
            <a:ext cx="2567178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3" name="SimReal 5013"/>
          <p:cNvSpPr txBox="1"/>
          <p:nvPr/>
        </p:nvSpPr>
        <p:spPr>
          <a:xfrm>
            <a:off x="6231636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</a:p>
        </p:txBody>
      </p:sp>
      <p:sp>
        <p:nvSpPr>
          <p:cNvPr id="5014" name="SimReal 5014"/>
          <p:cNvSpPr txBox="1"/>
          <p:nvPr/>
        </p:nvSpPr>
        <p:spPr>
          <a:xfrm>
            <a:off x="6231636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Instinct’s valuation, 4x in 33 days;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Sequoia, Benchmark, Coatue</a:t>
            </a:r>
          </a:p>
        </p:txBody>
      </p:sp>
      <p:sp>
        <p:nvSpPr>
          <p:cNvPr id="5015" name="SimReal 5015"/>
          <p:cNvSpPr/>
          <p:nvPr/>
        </p:nvSpPr>
        <p:spPr>
          <a:xfrm>
            <a:off x="9073134" y="1755648"/>
            <a:ext cx="2567178" cy="182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16" name="SimReal 5016"/>
          <p:cNvSpPr txBox="1"/>
          <p:nvPr/>
        </p:nvSpPr>
        <p:spPr>
          <a:xfrm>
            <a:off x="9073134" y="1865376"/>
            <a:ext cx="2567178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$200</a:t>
            </a:r>
          </a:p>
        </p:txBody>
      </p:sp>
      <p:sp>
        <p:nvSpPr>
          <p:cNvPr id="5017" name="SimReal 5017"/>
          <p:cNvSpPr txBox="1"/>
          <p:nvPr/>
        </p:nvSpPr>
        <p:spPr>
          <a:xfrm>
            <a:off x="9073134" y="2523744"/>
            <a:ext cx="256717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Cancellation fee a user paid after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Instinct booked without asking</a:t>
            </a:r>
          </a:p>
        </p:txBody>
      </p:sp>
      <p:sp>
        <p:nvSpPr>
          <p:cNvPr id="5018" name="SimReal 5018"/>
          <p:cNvSpPr txBox="1"/>
          <p:nvPr/>
        </p:nvSpPr>
        <p:spPr>
          <a:xfrm>
            <a:off x="548640" y="3200400"/>
            <a:ext cx="8229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How we serve them: the same environments, a second customer</a:t>
            </a:r>
          </a:p>
        </p:txBody>
      </p:sp>
      <p:sp>
        <p:nvSpPr>
          <p:cNvPr id="5019" name="SimReal 5019"/>
          <p:cNvSpPr/>
          <p:nvPr/>
        </p:nvSpPr>
        <p:spPr>
          <a:xfrm>
            <a:off x="548640" y="345643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0" name="SimReal 5020"/>
          <p:cNvSpPr txBox="1"/>
          <p:nvPr/>
        </p:nvSpPr>
        <p:spPr>
          <a:xfrm>
            <a:off x="548640" y="3456432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What opens</a:t>
            </a:r>
          </a:p>
        </p:txBody>
      </p:sp>
      <p:sp>
        <p:nvSpPr>
          <p:cNvPr id="5021" name="SimReal 5021"/>
          <p:cNvSpPr txBox="1"/>
          <p:nvPr/>
        </p:nvSpPr>
        <p:spPr>
          <a:xfrm>
            <a:off x="2103120" y="3456432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Trading and event prediction; held-out sets stay closed to practice</a:t>
            </a:r>
          </a:p>
        </p:txBody>
      </p:sp>
      <p:sp>
        <p:nvSpPr>
          <p:cNvPr id="5022" name="SimReal 5022"/>
          <p:cNvSpPr/>
          <p:nvPr/>
        </p:nvSpPr>
        <p:spPr>
          <a:xfrm>
            <a:off x="548640" y="384048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3" name="SimReal 5023"/>
          <p:cNvSpPr txBox="1"/>
          <p:nvPr/>
        </p:nvSpPr>
        <p:spPr>
          <a:xfrm>
            <a:off x="548640" y="3840480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Pricing</a:t>
            </a:r>
          </a:p>
        </p:txBody>
      </p:sp>
      <p:sp>
        <p:nvSpPr>
          <p:cNvPr id="5024" name="SimReal 5024"/>
          <p:cNvSpPr txBox="1"/>
          <p:nvPr/>
        </p:nvSpPr>
        <p:spPr>
          <a:xfrm>
            <a:off x="2103120" y="3840480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Per practice round, $2–$10 by task difficulty and length; private by default</a:t>
            </a:r>
          </a:p>
        </p:txBody>
      </p:sp>
      <p:sp>
        <p:nvSpPr>
          <p:cNvPr id="5025" name="SimReal 5025"/>
          <p:cNvSpPr/>
          <p:nvPr/>
        </p:nvSpPr>
        <p:spPr>
          <a:xfrm>
            <a:off x="548640" y="422452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6" name="SimReal 5026"/>
          <p:cNvSpPr txBox="1"/>
          <p:nvPr/>
        </p:nvSpPr>
        <p:spPr>
          <a:xfrm>
            <a:off x="548640" y="4224528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Data rules</a:t>
            </a:r>
          </a:p>
        </p:txBody>
      </p:sp>
      <p:sp>
        <p:nvSpPr>
          <p:cNvPr id="5027" name="SimReal 5027"/>
          <p:cNvSpPr txBox="1"/>
          <p:nvPr/>
        </p:nvSpPr>
        <p:spPr>
          <a:xfrm>
            <a:off x="2103120" y="4224528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De-identified trajectories can be shared for credits and revenue share; data sent to labs carries consent records</a:t>
            </a:r>
          </a:p>
        </p:txBody>
      </p:sp>
      <p:sp>
        <p:nvSpPr>
          <p:cNvPr id="5028" name="SimReal 5028"/>
          <p:cNvSpPr/>
          <p:nvPr/>
        </p:nvSpPr>
        <p:spPr>
          <a:xfrm>
            <a:off x="548640" y="4608576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29" name="SimReal 5029"/>
          <p:cNvSpPr txBox="1"/>
          <p:nvPr/>
        </p:nvSpPr>
        <p:spPr>
          <a:xfrm>
            <a:off x="548640" y="4608576"/>
            <a:ext cx="1463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Milestone</a:t>
            </a:r>
          </a:p>
        </p:txBody>
      </p:sp>
      <p:sp>
        <p:nvSpPr>
          <p:cNvPr id="5030" name="SimReal 5030"/>
          <p:cNvSpPr txBox="1"/>
          <p:nvPr/>
        </p:nvSpPr>
        <p:spPr>
          <a:xfrm>
            <a:off x="2103120" y="4608576"/>
            <a:ext cx="9537192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First 10 agent teams onboarded within 6 months</a:t>
            </a:r>
          </a:p>
        </p:txBody>
      </p:sp>
      <p:sp>
        <p:nvSpPr>
          <p:cNvPr id="5031" name="SimReal 5031"/>
          <p:cNvSpPr/>
          <p:nvPr/>
        </p:nvSpPr>
        <p:spPr>
          <a:xfrm>
            <a:off x="548640" y="499262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32" name="SimReal 5032"/>
          <p:cNvSpPr txBox="1"/>
          <p:nvPr/>
        </p:nvSpPr>
        <p:spPr>
          <a:xfrm>
            <a:off x="548640" y="5230368"/>
            <a:ext cx="11091672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Sandboxes keep agents out of trouble. </a:t>
            </a:r>
            <a:r>
              <a:rPr lang="en-US" sz="22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We teach them to get it right</a:t>
            </a:r>
            <a:r>
              <a:rPr lang="en-US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.</a:t>
            </a:r>
          </a:p>
        </p:txBody>
      </p:sp>
      <p:sp>
        <p:nvSpPr>
          <p:cNvPr id="5033" name="SimReal 5033"/>
          <p:cNvSpPr txBox="1"/>
          <p:nvPr/>
        </p:nvSpPr>
        <p:spPr>
          <a:xfrm>
            <a:off x="548640" y="5852160"/>
            <a:ext cx="11091672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Sources: Meta and OpenAI launches (Sep 2026); TechCrunch (Sep 25, 2026); Instinct (founder podcast, Sep 2026; Reuters, Sep 28, 2026; The Atlantic, CNN, Sep 2026).</a:t>
            </a:r>
          </a:p>
        </p:txBody>
      </p:sp>
      <p:sp>
        <p:nvSpPr>
          <p:cNvPr id="5034" name="SimReal 503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Confidential  ·  For invited investors only  ·  September 2026</a:t>
            </a:r>
          </a:p>
        </p:txBody>
      </p:sp>
      <p:sp>
        <p:nvSpPr>
          <p:cNvPr id="5035" name="SimReal 503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