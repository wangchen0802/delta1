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$8.5B→$150–400B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实验室今天每年买85亿美元训练数据与RL环境；2030年训练层每年1,500–4,000亿美元，服务7万亿美元的AI经济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 dirty="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altLang="en-US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我们的优势</a:t>
            </a:r>
            <a:endParaRPr sz="13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红队测试记录可在尽调中提供。算力估算：Mechanize，引自Epoch AI《An FAQ on RL environments》（2026年1月）。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0" dirty="0" err="1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AI作弊不了：</a:t>
            </a:r>
            <a:r>
              <a:rPr sz="2800" b="0" dirty="0" err="1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每一分算力，都用在真进化上</a:t>
            </a:r>
            <a:endParaRPr sz="2800" b="0" dirty="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340" name="Rectangle 339"/>
          <p:cNvSpPr/>
          <p:nvPr/>
        </p:nvSpPr>
        <p:spPr>
          <a:xfrm>
            <a:off x="548640" y="1554480"/>
            <a:ext cx="4160520" cy="42062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1" name="TextBox 340"/>
          <p:cNvSpPr txBox="1"/>
          <p:nvPr/>
        </p:nvSpPr>
        <p:spPr>
          <a:xfrm>
            <a:off x="868680" y="1783080"/>
            <a:ext cx="35661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0" b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0 / 400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868680" y="297180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次作弊攻击成功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868680" y="3607117"/>
            <a:ext cx="3520440" cy="9525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4" name="TextBox 343"/>
          <p:cNvSpPr txBox="1"/>
          <p:nvPr/>
        </p:nvSpPr>
        <p:spPr>
          <a:xfrm>
            <a:off x="868680" y="374903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Puzzle Benchmark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68680" y="4069080"/>
            <a:ext cx="3520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749道题，上线前逐题攻击</a:t>
            </a:r>
            <a:b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空子先被我们找到、补上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5120640" y="1554480"/>
            <a:ext cx="65196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实验室为什么需要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5120640" y="1869757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8" name="TextBox 347"/>
          <p:cNvSpPr txBox="1"/>
          <p:nvPr/>
        </p:nvSpPr>
        <p:spPr>
          <a:xfrm>
            <a:off x="5120640" y="1874519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~$2,400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589520" y="1874519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每个RL任务的算力成本（Mechanize估算）</a:t>
            </a:r>
            <a:b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被钻空子，钱就白花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5120640" y="2893885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1" name="TextBox 350"/>
          <p:cNvSpPr txBox="1"/>
          <p:nvPr/>
        </p:nvSpPr>
        <p:spPr>
          <a:xfrm>
            <a:off x="5120640" y="2898648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6 </a:t>
            </a:r>
            <a:r>
              <a:rPr sz="320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7589520" y="2898648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Month-End Close两轮受控对比：评分漏洞6个降到0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120640" y="3918013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4" name="TextBox 353"/>
          <p:cNvSpPr txBox="1"/>
          <p:nvPr/>
        </p:nvSpPr>
        <p:spPr>
          <a:xfrm>
            <a:off x="5120640" y="3922776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不靠AI打分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7589520" y="3922776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只认真实结果：盈亏、账目、代码能否运行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5120640" y="4942141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7" name="TextBox 356"/>
          <p:cNvSpPr txBox="1"/>
          <p:nvPr/>
        </p:nvSpPr>
        <p:spPr>
          <a:xfrm>
            <a:off x="5120640" y="5029200"/>
            <a:ext cx="651967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作弊不了，分数才可信；分数可信，AI才能进化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我们让每一次训练都算数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 / 每份合同 / 每季度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独家4–5倍（Epoch AI）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目标第3个月首单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每个训练世界，都能最快找到对的评分人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2030年：AI经济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，训练市场数千亿美元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1,500–4,000亿美元/年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AI基础设施支出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3–4万亿美元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训练层占比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5–10%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337304" y="332841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今天约1%。数据与算力互补：算力越多，训练越值钱。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38" name="SimReal 3038"/>
          <p:cNvSpPr/>
          <p:nvPr/>
        </p:nvSpPr>
        <p:spPr>
          <a:xfrm>
            <a:off x="8363712" y="360273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9" name="SimReal 3039"/>
          <p:cNvSpPr txBox="1"/>
          <p:nvPr/>
        </p:nvSpPr>
        <p:spPr>
          <a:xfrm>
            <a:off x="8363712" y="360273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40" name="SimReal 3040"/>
          <p:cNvSpPr txBox="1"/>
          <p:nvPr/>
        </p:nvSpPr>
        <p:spPr>
          <a:xfrm>
            <a:off x="1021384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8363712" y="4133088"/>
            <a:ext cx="30388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训练层 = AI经济的2–6%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Ventures（2026.7）；Mercor年化毛营收（2026.7）、Surge收入（2024）、Snorkel年化收入（2026.9）；黄仁勋（2026.9）；CNBC（2026.2）；Mechanize；麦肯锡（2025.11）；IMF（2026.4）。训练层占比、美国以外渗透率为假设。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74650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13055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2642616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29718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2642616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3685032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014215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3685032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727448"/>
            <a:ext cx="6400800" cy="932688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312663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727448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环境、评分体系、每次运行的结果数据，都归我们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据报道，加入YC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四位量化人，均21岁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6个月年化1亿美元，12个月3亿美元；AfterQuery做到1亿美元用了13个月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709道无法作弊的谜题；400次作弊攻击0次成功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训练层推算：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黄仁勋，高盛Communacopia大会（2026年9月）：2030年全球AI基础设施支出每年3–4万亿美元；CNBC（2026年2月）：四大云厂商2026年资本开支约7,000亿美元；训练层占比5–10%为推算假设；Mechanize《Cheap RL tasks will waste compute》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2,000万美元用在前6个月：年化收入做到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收入公式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56816"/>
            <a:ext cx="30175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年化收入 =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环境数 × 卖出次数 × 单价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724912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2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2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511296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每年2轮迭代（6个月5家，12个月6家）；单价区间2万–30万美元（Epoch AI）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资金用途（前6个月）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600万美元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897880" y="1737360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 7→50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7635240" y="1737360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环境数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专家、环境工程、攻防测试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22199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221992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400万美元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897880" y="2221992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7635240" y="2221992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驻场工程师、沙箱集群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70662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706624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400万美元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897880" y="2706624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7635240" y="2706624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单价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上线前实测训练提升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1912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191256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450万美元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897880" y="3191256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 4→30人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7635240" y="3191256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量化、RL研究、环境工程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367588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4526280" y="3675888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150万美元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5897880" y="3675888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运营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7635240" y="3675888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法务、财务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526280" y="416052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548640" y="444398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资金对应的里程碑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548640" y="4700016"/>
            <a:ext cx="342290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786384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786384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首个付费实验室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971544" y="4700016"/>
            <a:ext cx="4114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4383024" y="4700016"/>
            <a:ext cx="342290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4620768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4620768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50个环境 · 年化1亿美元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805928" y="4700016"/>
            <a:ext cx="4114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217408" y="4700016"/>
            <a:ext cx="342290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8455152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8455152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100+个环境 · 年化3亿美元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6个月后，扩张由收入支撑。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