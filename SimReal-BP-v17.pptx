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AI经济的引擎：以数据、环境与自我进化，推动AI的下一次跃迁。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都会来自我们搭建的世界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给AI真实的工作环境，让他重复：犯错，学习，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</a:t>
            </a: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提供Benchmark, 数据和</a:t>
            </a: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高质量数据提升AI表现，独家训练环境完成AI自我进化（RSI)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成立14天，7款产品</a:t>
            </a:r>
            <a: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，包括机器学习，事件预测，做市交易的Benchmark，强化学习环境和RSI环境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旗舰产品Xitadel已在交易上跑通自我进化</a:t>
            </a:r>
            <a: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开源模型Qwen3.8-27B在Xitadel训练后，在从未见过的真实市场数据上交易表现</a:t>
            </a:r>
            <a: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最高</a:t>
            </a: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提升12%，多次独立运行均复现。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本科来自</a:t>
            </a:r>
            <a:r>
              <a:rPr lang="zh-CN" sz="1200" b="1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有</a:t>
            </a:r>
            <a:r>
              <a:rPr lang="zh-CN" sz="1200" b="1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剑桥研究中心AI(ML)最年轻本科研究员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工作经历包括</a:t>
            </a:r>
            <a:r>
              <a:rPr lang="zh-CN" sz="1200" b="1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$8.5B→$150–400B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向AI实验室出售训练数据和RL环境的50余家公司，年收入合计已达约85亿美元；2030年训练层每年1,500–4,000亿美元，服务7万亿美元的AI经济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种子轮2,000万美元，投后估值1.5亿美元；6个月年化收入1亿美元，12个月3亿美元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谁拥有最好的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，谁就拥有该行业最好的AI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AI自我进化，从交易出发，我们走向整个世界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奥赛&amp;世界名校  →  华尔街最残酷的交易台: 我们最知道做题和做事的差距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稳定币公司United Stables首位员工：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从0持续搭建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U稳定币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到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14亿美元，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一个月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 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LLC对冲基金实习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经历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Newbold奖得主）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千禧年（全球第一对冲基金）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另类数据团队史上第一位应届招聘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AI、Mercor、AfterQuery的创始人，都在20岁上下</a:t>
            </a: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他们的首轮投资人回报：17,000倍; 40倍; 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</a:t>
            </a:r>
            <a:r>
              <a:rPr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个月内</a:t>
            </a:r>
            <a:r>
              <a:rPr lang="en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收入涨</a:t>
            </a:r>
            <a:r>
              <a:rPr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27倍、估值涨10倍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</a:t>
            </a:r>
            <a:r>
              <a:rPr sz="2800" b="0" dirty="0" err="1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增长</a:t>
            </a:r>
            <a:r>
              <a:rPr lang="en-CN" sz="2800" b="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却</a:t>
            </a:r>
            <a:r>
              <a:rPr sz="2800" b="0" dirty="0" err="1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才刚刚开始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数据公司</a:t>
            </a: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Mercor年化毛营收，16个月从7,500万到20亿美元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AI年化收入一年增长，达3.75亿美元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数据公司</a:t>
            </a: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Mercor估值，18个月从20亿到200亿美元（洽谈中）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同赛道</a:t>
            </a: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AfterQuery估值从3亿美元到32亿美元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AI智能体市场，</a:t>
            </a:r>
            <a:r>
              <a:rPr lang="en-US" altLang="zh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</a:t>
            </a: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年从79亿到约1,110亿美元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AI新数据训练项目已涉及强化学习环境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当</a:t>
            </a:r>
            <a:r>
              <a:rPr lang="en-US" altLang="zh-CN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会做题后：谁拥有最好的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，谁才能拥有每个领域最好的</a:t>
            </a:r>
            <a:r>
              <a:rPr lang="en-US" altLang="zh-CN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接管经济活动，必须有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海量真实可靠有效的数据环境；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越独立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接管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；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有了准确标准和真实环境，我们让</a:t>
            </a:r>
            <a:r>
              <a:rPr lang="en-US" altLang="zh-CN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考满分的AI，</a:t>
            </a:r>
            <a:r>
              <a:rPr lang="zh-CN" sz="15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无法被放心交付</a:t>
            </a: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：真实工作没有</a:t>
            </a:r>
            <a:r>
              <a:rPr lang="zh-CN" sz="15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标准答案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AI真正走入现实与经济</a:t>
            </a:r>
            <a:r>
              <a:rPr lang="zh-CN" altLang="en-US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活动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AI的下一代反馈信号扎根于现实世界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行为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</a:t>
            </a:r>
            <a:r>
              <a:rPr lang="zh-CN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</a:t>
            </a:r>
            <a:r>
              <a:rPr lang="zh-CN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实现AI自我持续进化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训练环境、结果评分、专家判断合为一体：AI练习真实工作，从每次结果中学习。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还原真实工作，供AI练习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让AI从每次结果中学习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更强的模型再次行动：每一轮都从上一轮出发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AI进入真实市场，和顶尖交易员同场比赛</a:t>
            </a:r>
            <a:r>
              <a:rPr lang="zh-CN" altLang="en-US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。使用</a:t>
            </a:r>
            <a:r>
              <a:rPr lang="en-US" alt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IMC</a:t>
            </a:r>
            <a:r>
              <a:rPr lang="zh-CN" altLang="en-US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r>
              <a:rPr lang="en-US" alt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Trading</a:t>
            </a:r>
            <a:r>
              <a:rPr lang="zh-CN" altLang="en-US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AI从每天的盈亏</a:t>
            </a:r>
            <a:r>
              <a:rPr lang="zh-CN" altLang="en-US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和订单</a:t>
            </a: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中复盘，每一轮都让下一轮更强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我们把开源模型Qwen3.8-27B放进Xitadel训练。在从未见过的真实市场数据上，它的交易表现提升12%，在多次独立运行中得到复现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我们已经证明，AI可以在真实</a:t>
            </a:r>
            <a:r>
              <a:rPr lang="zh-CN" sz="17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</a:t>
            </a: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下一步：扩展到多策略、多市场</a:t>
            </a:r>
            <a:r>
              <a:rPr lang="zh-CN" sz="17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，多行业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每一轮，都从上一轮</a:t>
            </a:r>
            <a:r>
              <a:rPr lang="zh-CN" sz="1200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反馈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出发，</a:t>
            </a:r>
            <a:r>
              <a:rPr lang="zh-CN" sz="1200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自我进化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交易表现以基础模型=100计；多次独立运行均复现（受控实验，Qwen3.8-27B）。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跑通了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世界第一个做市交易的自我进化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的方法，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也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在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机器学习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事件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预测上运转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让AI独立完成整个研究项目，从数据、实验</a:t>
            </a:r>
            <a:r>
              <a:rPr lang="zh-CN" sz="13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到</a:t>
            </a: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结果：60个真实任务，覆盖7类数据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目标：AI改进AI，进化越来越快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让AI对真实世界的事件提前下判断，从体育赛事到地震活动，事件揭晓后按结果打分。</a:t>
            </a:r>
            <a:r>
              <a:rPr lang="zh-CN" sz="13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根据结果，持续进化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目标：做出经得起现实检验的判断。</a:t>
            </a:r>
            <a:r>
              <a:rPr lang="zh-CN" altLang="en-US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并根据每一个结果自我提升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14天做出7款产品，零外部融资。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 dirty="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altLang="en-US" sz="1100" b="1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我们的优势</a:t>
            </a:r>
            <a:endParaRPr sz="13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5" name="Google Shape;335;p12"/>
          <p:cNvSpPr txBox="1"/>
          <p:nvPr/>
        </p:nvSpPr>
        <p:spPr>
          <a:xfrm>
            <a:off x="548640" y="5943600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红队测试记录可在尽调中提供。算力估算：Mechanize，引自Epoch AI《An FAQ on RL environments》（2026年1月）。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9" name="TextBox 33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0" dirty="0" err="1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AI无法作弊的</a:t>
            </a:r>
            <a:r>
              <a:rPr lang="en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高质量</a:t>
            </a:r>
            <a:r>
              <a:rPr sz="2800" b="0" dirty="0" err="1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训练环境：</a:t>
            </a:r>
            <a:r>
              <a:rPr sz="2800" b="0" dirty="0" err="1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每一分算力，都用在真正的进化上</a:t>
            </a:r>
            <a:endParaRPr sz="2800" b="0" dirty="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340" name="Rectangle 339"/>
          <p:cNvSpPr/>
          <p:nvPr/>
        </p:nvSpPr>
        <p:spPr>
          <a:xfrm>
            <a:off x="548640" y="1554480"/>
            <a:ext cx="4160520" cy="42062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1" name="TextBox 340"/>
          <p:cNvSpPr txBox="1"/>
          <p:nvPr/>
        </p:nvSpPr>
        <p:spPr>
          <a:xfrm>
            <a:off x="868680" y="1783080"/>
            <a:ext cx="35661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0" b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0 / 400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868680" y="297180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次作弊攻击成功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868680" y="3607117"/>
            <a:ext cx="3520440" cy="9525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4" name="TextBox 343"/>
          <p:cNvSpPr txBox="1"/>
          <p:nvPr/>
        </p:nvSpPr>
        <p:spPr>
          <a:xfrm>
            <a:off x="868680" y="3749039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Puzzle Benchmark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68680" y="4069080"/>
            <a:ext cx="3520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749道题，每一道上线前我们都先攻击一遍：模型能钻的空子，我们先找到、先补上。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5120640" y="1554480"/>
            <a:ext cx="65196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实验室为什么需要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5120640" y="1869757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8" name="TextBox 347"/>
          <p:cNvSpPr txBox="1"/>
          <p:nvPr/>
        </p:nvSpPr>
        <p:spPr>
          <a:xfrm>
            <a:off x="5120640" y="1874519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~$2,400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7589520" y="1874519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实验室每个强化学习任务要花的算力（Mechanize估算）。任务被钻空子，这笔钱就白花了。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5120640" y="2893885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1" name="TextBox 350"/>
          <p:cNvSpPr txBox="1"/>
          <p:nvPr/>
        </p:nvSpPr>
        <p:spPr>
          <a:xfrm>
            <a:off x="5120640" y="2898648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6 </a:t>
            </a:r>
            <a:r>
              <a:rPr sz="320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7589520" y="2898648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Month-End Close两轮受控对比：评分漏洞从6个降到0个。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5120640" y="3918013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4" name="TextBox 353"/>
          <p:cNvSpPr txBox="1"/>
          <p:nvPr/>
        </p:nvSpPr>
        <p:spPr>
          <a:xfrm>
            <a:off x="5120640" y="3922776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不靠AI打分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7589520" y="3922776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只认真实结果：盈亏、账目、代码能不能跑。没有能被糊弄的裁判。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5120640" y="4942141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7" name="TextBox 356"/>
          <p:cNvSpPr txBox="1"/>
          <p:nvPr/>
        </p:nvSpPr>
        <p:spPr>
          <a:xfrm>
            <a:off x="5120640" y="5029200"/>
            <a:ext cx="6519672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评分作弊不了，分数才可信；分数可信，AI才能真正进化；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我们让每一次训练都算数。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训练环境与专家数据打开合作，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实验室每训练一个新模型，都会回来再买一轮。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六到七位数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 / 每份实验室合同 / 每季度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独家4–5倍（行业参考，Epoch AI）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环境授权；独家授权价格4–5倍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真实工作里的示范与判断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模型每次升级，都回到我们的环境再训练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持续收费，随客户的模型升级增长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家前沿AI实验室正在洽谈，目标第3个月签下首个付费客户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名专家在候补名单上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位硅谷顶级天使主动接洽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全球顶级交易公司的从业者，</a:t>
            </a:r>
            <a:r>
              <a:rPr lang="zh-CN" altLang="en-US" sz="2200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正在支持</a:t>
            </a: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的产品与研发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每个训练世界的评分标准，</a:t>
            </a:r>
            <a:r>
              <a:rPr lang="zh-CN" altLang="en-US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我们都能帮你最快找到对的人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的AI经济，数千亿美元的训练市场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实验室已经在付费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68880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50余家公司向AI实验室出售训练数据和RL环境的年收入合计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3163824"/>
            <a:ext cx="10972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548640" y="339242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7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年化毛营收，2026年7月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1645920" y="3218688"/>
            <a:ext cx="1691640" cy="25603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3410712" y="321868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548640" y="3675888"/>
            <a:ext cx="10972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548640" y="3904488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7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</a:t>
            </a:r>
          </a:p>
        </p:txBody>
      </p:sp>
      <p:sp>
        <p:nvSpPr>
          <p:cNvPr id="3015" name="SimReal 3015"/>
          <p:cNvSpPr/>
          <p:nvPr/>
        </p:nvSpPr>
        <p:spPr>
          <a:xfrm>
            <a:off x="1645920" y="3730752"/>
            <a:ext cx="1014984" cy="256032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6" name="SimReal 3016"/>
          <p:cNvSpPr txBox="1"/>
          <p:nvPr/>
        </p:nvSpPr>
        <p:spPr>
          <a:xfrm>
            <a:off x="2734056" y="3730752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548640" y="4187952"/>
            <a:ext cx="10972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548640" y="441655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7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年化收入，2026年9月</a:t>
            </a:r>
          </a:p>
        </p:txBody>
      </p:sp>
      <p:sp>
        <p:nvSpPr>
          <p:cNvPr id="3019" name="SimReal 3019"/>
          <p:cNvSpPr/>
          <p:nvPr/>
        </p:nvSpPr>
        <p:spPr>
          <a:xfrm>
            <a:off x="1645920" y="4242816"/>
            <a:ext cx="317183" cy="256032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0" name="SimReal 3020"/>
          <p:cNvSpPr txBox="1"/>
          <p:nvPr/>
        </p:nvSpPr>
        <p:spPr>
          <a:xfrm>
            <a:off x="2036254" y="4242816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337304" y="1481328"/>
            <a:ext cx="3514344" cy="274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训练层：我们的市场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1,500–4,000亿美元/年</a:t>
            </a:r>
          </a:p>
        </p:txBody>
      </p:sp>
      <p:sp>
        <p:nvSpPr>
          <p:cNvPr id="3024" name="SimReal 3024"/>
          <p:cNvSpPr/>
          <p:nvPr/>
        </p:nvSpPr>
        <p:spPr>
          <a:xfrm>
            <a:off x="4337304" y="2505456"/>
            <a:ext cx="3514344" cy="93268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5" name="SimReal 3025"/>
          <p:cNvSpPr txBox="1"/>
          <p:nvPr/>
        </p:nvSpPr>
        <p:spPr>
          <a:xfrm>
            <a:off x="4520184" y="2578608"/>
            <a:ext cx="177698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全球AI基础设施支出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6251448" y="2578608"/>
            <a:ext cx="1417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3–4万亿美元/年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4520184" y="2907792"/>
            <a:ext cx="177698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训练数据与环境的占比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6251448" y="2907792"/>
            <a:ext cx="1417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5–10%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4520184" y="3218688"/>
            <a:ext cx="314858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今天约1%：85亿美元对四大云厂商约7,000亿美元资本开支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4337304" y="3639312"/>
            <a:ext cx="3514344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为什么占比会升</a:t>
            </a:r>
          </a:p>
          <a:p>
            <a:pPr marL="0" marR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数据和算力是互补品：每个RL任务约2,400美元算力，任务质量差，算力就白烧（Mechanize）。算力投得越多，高质量训练世界越值钱。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8125968" y="1481328"/>
            <a:ext cx="3514344" cy="36576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训练层服务的AI经济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8363712" y="2505456"/>
            <a:ext cx="21244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美国：智能体与机器人每年释放的价值（麦肯锡）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10488168" y="2505456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8363712" y="2871216"/>
            <a:ext cx="21244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美国占全球GDP（IMF）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10488168" y="2871216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8363712" y="3236976"/>
            <a:ext cx="21244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按美国渗透率外推到全球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10488168" y="3236976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42" name="SimReal 3042"/>
          <p:cNvSpPr/>
          <p:nvPr/>
        </p:nvSpPr>
        <p:spPr>
          <a:xfrm>
            <a:off x="8363712" y="360273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3" name="SimReal 3043"/>
          <p:cNvSpPr txBox="1"/>
          <p:nvPr/>
        </p:nvSpPr>
        <p:spPr>
          <a:xfrm>
            <a:off x="8363712" y="3602736"/>
            <a:ext cx="21244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美国以外只按一半渗透率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488168" y="3602736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约7.1万亿</a:t>
            </a:r>
          </a:p>
        </p:txBody>
      </p:sp>
      <p:sp>
        <p:nvSpPr>
          <p:cNvPr id="3045" name="SimReal 3045"/>
          <p:cNvSpPr txBox="1"/>
          <p:nvPr/>
        </p:nvSpPr>
        <p:spPr>
          <a:xfrm>
            <a:off x="8363712" y="4133088"/>
            <a:ext cx="3038856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训练层只相当于它创造价值的2–6%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每一份交给AI的工作，都要先在训练世界里练过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548640" y="5358384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整个AI经济的训练层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：它只占AI创造价值的2–6%。</a:t>
            </a:r>
          </a:p>
        </p:txBody>
      </p:sp>
      <p:sp>
        <p:nvSpPr>
          <p:cNvPr id="3047" name="SimReal 3047"/>
          <p:cNvSpPr txBox="1"/>
          <p:nvPr/>
        </p:nvSpPr>
        <p:spPr>
          <a:xfrm>
            <a:off x="548640" y="587044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Ventures（2026年7月）；黄仁勋，高盛Communacopia大会（2026年9月）；CNBC（2026年2月）；Mechanize；麦肯锡《Agents, robots, and us》（2025年11月）；IMF《世界经济展望》（2026年4月）。5–10%占比、美国以外按一半渗透率为推算假设。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其中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一环，我们提供让AI持续进步的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</a:t>
            </a:r>
            <a:r>
              <a:rPr lang="en-US" altLang="zh-CN" sz="2800" b="0" i="0" u="none" strike="noStrike" cap="none" dirty="0" err="1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r>
              <a:rPr lang="zh-CN" altLang="en-US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生态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74650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130552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2642616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29718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2642616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测出模型今天的水平，分数就是产品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3685032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014215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3685032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727448"/>
            <a:ext cx="6400800" cy="932688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312663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727448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不只测出AI</a:t>
            </a:r>
            <a:r>
              <a:rPr lang="zh-CN" altLang="en-US" sz="13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分数</a:t>
            </a: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，还让它</a:t>
            </a:r>
            <a:r>
              <a:rPr lang="zh-CN" altLang="en-US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可以</a:t>
            </a: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每一次打分，都变成下一轮训练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训练环境、评分体系和每次运行产生的结果数据，都是我们自己的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模型每次升级，都要在同一套环境里对比和再训练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14天做出7款产品。AI变化越快，我们越有利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每家实验室都能放心采购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这个赛道的突围者，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起步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年轻、跑得很快。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而</a:t>
            </a:r>
            <a:r>
              <a:rPr lang="zh-CN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的加速度最快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22岁成为最年轻的白手起家亿万富翁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据报道，加入YC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两位高中好友约21岁创立，当时仍在读大学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联合创始人曾在Citadel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1600200"/>
            <a:ext cx="2636444" cy="361188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做出7款产品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和世界第一个自我进化做市环境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四位量化人，均21岁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量化经历：Jane Street、Citadel、D. E. Shaw、Optiver</a:t>
            </a:r>
            <a:r>
              <a:rPr lang="en-US" alt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r>
              <a:rPr lang="zh-CN" altLang="en-US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、</a:t>
            </a:r>
            <a:r>
              <a:rPr lang="en-US" alt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同样的起点，同一个赛道。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在这里，感受到比他们当年快得多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投后估值1.5亿美元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为什么是这个价格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Compute种子轮：成立一个月融资2,000万美元，投后1亿美元；4个月后5亿美元，14个月后约30亿美元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产品迭代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E轮（估值35亿美元）：同样覆盖专家数据、RL训练环境和评测，我们还有自我进化服务；14天做出7款产品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收入目标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6个月年化1亿美元，12个月3亿美元。AfterQuery从加入YC到年化1亿美元用了约13个月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投后1.5亿美元，是AfterQuery同等收入时A轮估值（3亿美元）的一半；6个月后按其A轮价约2倍，按其最新价约20倍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估值为投后估值。来源：Upstarts、The Information、TechCrunch、Business Wire、福布斯、彭博。AfterQuery 9月收入未公开，“约20倍”为上限。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3913632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三个世界已经上线：交易、AI研究、未来预测。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315968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4956048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084064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回放真实交易日，包含真实订单簿；每一笔交易由市场结算。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开源模型Qwen3.8-27B，对比其在Xitadel训练前后的表现。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模型从未见过的真实交易日。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，多次独立运行均复现（受控实验）。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Xitadel公开预览版：人类参考分80；前沿模型最高77.28（GPT 6），尚无模型越过人类水平线。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完整运行记录、指标定义与脚本，可在尽调中提供。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709道无法作弊的谜题；400次作弊攻击0次成功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训练层推算：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黄仁勋，高盛Communacopia大会（2026年9月）：2030年全球AI基础设施支出每年3–4万亿美元；CNBC（2026年2月）：四大云厂商2026年资本开支约7,000亿美元；训练层占比5–10%为推算假设；Mechanize《Cheap RL tasks will waste compute》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让AI反复做真实工作、并按结果打分的系统。行业里常称“RL环境”。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用真实结果（盈亏、账目是否对平、代码能否运行）打分，不靠另一个AI的主观判断。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AI用自己在真实环境中的结果训练自己，每一轮都比上一轮更强。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上线前模拟各种作弊和攻击，找出评分漏洞并修复。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只改变一个条件（是否在Xitadel训练），比较前后表现的实验。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按当前收入推算的全年收入，含支付给专家的部分。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2,000万美元用在前6个月：年化收入做到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收入公式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56816"/>
            <a:ext cx="30175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年化收入 =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环境数 × 每年卖出次数 × 单价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724912"/>
            <a:ext cx="3017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2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2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511296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每年卖出次数 = 实验室数 × 每年约2轮模型迭代；单价：一个环境2万–30万美元，独家4–5倍（Epoch AI）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资金用途（前6个月）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600万美元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897880" y="1737360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 7→50个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7635240" y="1737360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推动环境数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行业专家、环境工程、上线前攻防测试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22199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221992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400万美元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897880" y="2221992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实验室交付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7635240" y="2221992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推动卖出次数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驻场工程师接入实验室训练管线，加沙箱集群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70662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706624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400万美元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897880" y="2706624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7635240" y="2706624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推动单价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每个环境上线前实测训练提升，作为报价依据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1912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191256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450万美元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897880" y="3191256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 4→30人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7635240" y="3191256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量化、强化学习研究、环境工程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367588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4526280" y="3675888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150万美元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5897880" y="3675888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运营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7635240" y="3675888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法务、财务、办公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526280" y="416052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548640" y="444398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资金对应的里程碑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548640" y="4700016"/>
            <a:ext cx="342290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786384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786384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首个付费实验室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971544" y="4700016"/>
            <a:ext cx="4114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4383024" y="4700016"/>
            <a:ext cx="342290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4620768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4620768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50个环境 · 年化1亿美元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805928" y="4700016"/>
            <a:ext cx="4114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217408" y="4700016"/>
            <a:ext cx="342290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8455152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8455152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100+个环境 · 年化3亿美元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6个月之后，从年化1亿美元到3亿美元的扩张由收入支撑。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