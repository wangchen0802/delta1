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9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8" r:id="rId45"/>
    <p:sldId id="273" r:id="rId19"/>
    <p:sldId id="274" r:id="rId20"/>
    <p:sldId id="275" r:id="rId21"/>
    <p:sldId id="276" r:id="rId22"/>
    <p:sldId id="277" r:id="rId23"/>
  </p:sldIdLst>
  <p:sldSz cx="12192000" cy="6858000"/>
  <p:notesSz cx="6858000" cy="12192000"/>
  <p:embeddedFontLst>
    <p:embeddedFont>
      <p:font typeface="IBM Plex Mono" panose="020B0509050203000203" pitchFamily="49" charset="77"/>
      <p:regular r:id="rId25"/>
      <p:bold r:id="rId26"/>
      <p:italic r:id="rId27"/>
      <p:boldItalic r:id="rId28"/>
    </p:embeddedFont>
    <p:embeddedFont>
      <p:font typeface="Instrument Sans"/>
      <p:regular r:id="rId29"/>
      <p:bold r:id="rId30"/>
      <p:italic r:id="rId31"/>
      <p:boldItalic r:id="rId32"/>
    </p:embeddedFont>
    <p:embeddedFont>
      <p:font typeface="Instrument Sans SemiBold" pitchFamily="2" charset="0"/>
      <p:regular r:id="rId33"/>
      <p:bold r:id="rId34"/>
      <p:italic r:id="rId35"/>
      <p:boldItalic r:id="rId36"/>
    </p:embeddedFont>
    <p:embeddedFont>
      <p:font typeface="Newsreader" panose="02000000000000000000"/>
      <p:regular r:id="rId37"/>
      <p:bold r:id="rId38"/>
      <p:italic r:id="rId39"/>
      <p:bold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A870364-48A8-4773-986C-DF2669CC7B71}">
  <a:tblStyle styleId="{EA870364-48A8-4773-986C-DF2669CC7B7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8"/>
  </p:normalViewPr>
  <p:slideViewPr>
    <p:cSldViewPr snapToGrid="0">
      <p:cViewPr varScale="1">
        <p:scale>
          <a:sx n="117" d="100"/>
          <a:sy n="117" d="100"/>
        </p:scale>
        <p:origin x="3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9" Type="http://schemas.openxmlformats.org/officeDocument/2006/relationships/font" Target="fonts/font15.fntdata"/><Relationship Id="rId21" Type="http://schemas.openxmlformats.org/officeDocument/2006/relationships/slide" Target="slides/slide20.xml"/><Relationship Id="rId34" Type="http://schemas.openxmlformats.org/officeDocument/2006/relationships/font" Target="fonts/font10.fntdata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5.fntdata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font" Target="fonts/font8.fntdata"/><Relationship Id="rId37" Type="http://schemas.openxmlformats.org/officeDocument/2006/relationships/font" Target="fonts/font13.fntdata"/><Relationship Id="rId40" Type="http://schemas.openxmlformats.org/officeDocument/2006/relationships/font" Target="fonts/font1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36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7.fntdata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font" Target="fonts/font6.fntdata"/><Relationship Id="rId35" Type="http://schemas.openxmlformats.org/officeDocument/2006/relationships/font" Target="fonts/font11.fntdata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33" Type="http://schemas.openxmlformats.org/officeDocument/2006/relationships/font" Target="fonts/font9.fntdata"/><Relationship Id="rId38" Type="http://schemas.openxmlformats.org/officeDocument/2006/relationships/font" Target="fonts/font14.fntdata"/>  <Relationship Id="rId45" Type="http://schemas.openxmlformats.org/officeDocument/2006/relationships/slide" Target="slides/slide23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 sz="1200" b="0" i="0" u="none" strike="noStrike" cap="non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" name="Google Shape;3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" name="Google Shape;69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2" name="Google Shape;132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5" name="Google Shape;16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3" name="Google Shape;203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2" name="Google Shape;272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1" name="Google Shape;341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1" name="Google Shape;381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2" name="Google Shape;382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2" name="Google Shape;412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7" name="Google Shape;447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8" name="Google Shape;448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6" name="Google Shape;476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7" name="Google Shape;477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6" name="Google Shape;516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7" name="Google Shape;517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67" name="Google Shape;56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2" name="Google Shape;612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3" name="Google Shape;613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7" name="Google Shape;627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8" name="Google Shape;628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60" name="Google Shape;660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1" name="Google Shape;661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1" name="Google Shape;671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2" name="Google Shape;672;p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87" name="Google Shape;687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8" name="Google Shape;688;p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jp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28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26.png"/><Relationship Id="rId5" Type="http://schemas.openxmlformats.org/officeDocument/2006/relationships/image" Target="../media/image21.png"/><Relationship Id="rId15" Type="http://schemas.openxmlformats.org/officeDocument/2006/relationships/image" Target="../media/image30.png"/><Relationship Id="rId10" Type="http://schemas.openxmlformats.org/officeDocument/2006/relationships/image" Target="../media/image25.png"/><Relationship Id="rId4" Type="http://schemas.openxmlformats.org/officeDocument/2006/relationships/image" Target="../media/image20.png"/><Relationship Id="rId9" Type="http://schemas.openxmlformats.org/officeDocument/2006/relationships/image" Target="../media/image24.png"/><Relationship Id="rId1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3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80960" y="0"/>
            <a:ext cx="4507992" cy="411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3" descr="SimReal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48640" y="502920"/>
            <a:ext cx="850392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/>
        </p:nvSpPr>
        <p:spPr>
          <a:xfrm>
            <a:off x="548640" y="1389888"/>
            <a:ext cx="82296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n-CN" b="1" dirty="0">
                <a:solidFill>
                  <a:schemeClr val="accent2">
                    <a:lumMod val="75000"/>
                  </a:schemeClr>
                </a:solidFill>
              </a:rPr>
              <a:t>AI经济的引擎：用数据、环境与自我进化，推动AI下一次跃迁</a:t>
            </a:r>
            <a:br>
              <a:rPr lang="en-CN" b="1" dirty="0">
                <a:solidFill>
                  <a:schemeClr val="accent2">
                    <a:lumMod val="75000"/>
                  </a:schemeClr>
                </a:solidFill>
              </a:rPr>
            </a:br>
            <a:br>
              <a:rPr lang="en-CN" b="1" dirty="0">
                <a:solidFill>
                  <a:schemeClr val="accent2">
                    <a:lumMod val="75000"/>
                  </a:schemeClr>
                </a:solidFill>
              </a:rPr>
            </a:br>
            <a:endParaRPr lang="en-CN" sz="1600" dirty="0">
              <a:solidFill>
                <a:schemeClr val="accent2">
                  <a:lumMod val="75000"/>
                </a:schemeClr>
              </a:solidFill>
            </a:endParaRPr>
          </a:p>
          <a:p>
            <a:br>
              <a:rPr lang="en-CN" sz="1600" dirty="0">
                <a:solidFill>
                  <a:schemeClr val="accent2">
                    <a:lumMod val="75000"/>
                  </a:schemeClr>
                </a:solidFill>
              </a:rPr>
            </a:br>
            <a:endParaRPr sz="1500" b="0" i="0" u="none" strike="noStrike" cap="none" dirty="0">
              <a:solidFill>
                <a:schemeClr val="accent2">
                  <a:lumMod val="75000"/>
                </a:schemeClr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" name="Google Shape;19;p3"/>
          <p:cNvSpPr txBox="1"/>
          <p:nvPr/>
        </p:nvSpPr>
        <p:spPr>
          <a:xfrm>
            <a:off x="548640" y="1810512"/>
            <a:ext cx="10515600" cy="1737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5400"/>
              <a:buFont typeface="Newsreader"/>
              <a:buNone/>
            </a:pPr>
            <a:r>
              <a:rPr lang="zh-CN" sz="54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每个行业最强的AI</a:t>
            </a:r>
            <a:endParaRPr sz="5400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l" rtl="0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5400"/>
              <a:buFont typeface="Newsreader"/>
              <a:buNone/>
            </a:pPr>
            <a:r>
              <a:rPr lang="zh-CN" sz="54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都来自我们搭建的世界</a:t>
            </a:r>
            <a:endParaRPr sz="5400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  <p:sp>
        <p:nvSpPr>
          <p:cNvPr id="20" name="Google Shape;20;p3"/>
          <p:cNvSpPr txBox="1"/>
          <p:nvPr/>
        </p:nvSpPr>
        <p:spPr>
          <a:xfrm>
            <a:off x="548654" y="3849638"/>
            <a:ext cx="114453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000"/>
              <a:buFont typeface="Newsreader"/>
              <a:buNone/>
            </a:pPr>
            <a:r>
              <a:rPr lang="zh-CN" sz="2000" b="0" i="0" u="none" strike="noStrike" cap="none" dirty="0">
                <a:solidFill>
                  <a:srgbClr val="6E6C66"/>
                </a:solidFill>
                <a:latin typeface="Newsreader"/>
                <a:ea typeface="Newsreader"/>
                <a:cs typeface="Newsreader"/>
                <a:sym typeface="Newsreader"/>
              </a:rPr>
              <a:t>SimReal 商业计划书</a:t>
            </a:r>
            <a:endParaRPr sz="2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1" name="Google Shape;21;p3"/>
          <p:cNvCxnSpPr/>
          <p:nvPr/>
        </p:nvCxnSpPr>
        <p:spPr>
          <a:xfrm>
            <a:off x="548640" y="4681728"/>
            <a:ext cx="11094415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2" name="Google Shape;22;p3"/>
          <p:cNvSpPr txBox="1"/>
          <p:nvPr/>
        </p:nvSpPr>
        <p:spPr>
          <a:xfrm>
            <a:off x="548640" y="4828032"/>
            <a:ext cx="342381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成立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3" name="Google Shape;23;p3"/>
          <p:cNvSpPr txBox="1"/>
          <p:nvPr/>
        </p:nvSpPr>
        <p:spPr>
          <a:xfrm>
            <a:off x="548640" y="5084064"/>
            <a:ext cx="3423818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2026年9月10日</a:t>
            </a:r>
            <a:endParaRPr sz="15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4" name="Google Shape;24;p3"/>
          <p:cNvCxnSpPr/>
          <p:nvPr/>
        </p:nvCxnSpPr>
        <p:spPr>
          <a:xfrm>
            <a:off x="4246778" y="4681728"/>
            <a:ext cx="0" cy="786384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" name="Google Shape;25;p3"/>
          <p:cNvSpPr txBox="1"/>
          <p:nvPr/>
        </p:nvSpPr>
        <p:spPr>
          <a:xfrm>
            <a:off x="4429658" y="4828032"/>
            <a:ext cx="342381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本轮融资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" name="Google Shape;26;p3"/>
          <p:cNvSpPr txBox="1"/>
          <p:nvPr/>
        </p:nvSpPr>
        <p:spPr>
          <a:xfrm>
            <a:off x="4429658" y="5084064"/>
            <a:ext cx="3423818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2,000万美元  ·  投后估值1.5亿美元</a:t>
            </a:r>
            <a:endParaRPr sz="15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7" name="Google Shape;27;p3"/>
          <p:cNvCxnSpPr/>
          <p:nvPr/>
        </p:nvCxnSpPr>
        <p:spPr>
          <a:xfrm>
            <a:off x="7944917" y="4681728"/>
            <a:ext cx="0" cy="786384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" name="Google Shape;28;p3"/>
          <p:cNvSpPr txBox="1"/>
          <p:nvPr/>
        </p:nvSpPr>
        <p:spPr>
          <a:xfrm>
            <a:off x="8127797" y="4828032"/>
            <a:ext cx="342381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联系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" name="Google Shape;29;p3"/>
          <p:cNvSpPr txBox="1"/>
          <p:nvPr/>
        </p:nvSpPr>
        <p:spPr>
          <a:xfrm>
            <a:off x="8127797" y="5084064"/>
            <a:ext cx="3423818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business@simreal.co</a:t>
            </a:r>
            <a:endParaRPr sz="15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0" name="Google Shape;30;p3"/>
          <p:cNvCxnSpPr/>
          <p:nvPr/>
        </p:nvCxnSpPr>
        <p:spPr>
          <a:xfrm>
            <a:off x="548640" y="5468112"/>
            <a:ext cx="110944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1" name="Google Shape;31;p3"/>
          <p:cNvSpPr txBox="1"/>
          <p:nvPr/>
        </p:nvSpPr>
        <p:spPr>
          <a:xfrm>
            <a:off x="548640" y="6382512"/>
            <a:ext cx="82296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项目概述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8" name="Google Shape;38;p4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给AI真实的工作环境，让它反复犯错、学习、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  <a:endParaRPr sz="2800" b="0" i="0" u="none" strike="noStrike" cap="none">
              <a:solidFill>
                <a:srgbClr val="C2410C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" name="Google Shape;39;p4"/>
          <p:cNvCxnSpPr/>
          <p:nvPr/>
        </p:nvCxnSpPr>
        <p:spPr>
          <a:xfrm>
            <a:off x="548640" y="157276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0" name="Google Shape;40;p4"/>
          <p:cNvSpPr txBox="1"/>
          <p:nvPr/>
        </p:nvSpPr>
        <p:spPr>
          <a:xfrm>
            <a:off x="548640" y="170078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做什么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1" name="Google Shape;41;p4"/>
          <p:cNvSpPr txBox="1"/>
          <p:nvPr/>
        </p:nvSpPr>
        <p:spPr>
          <a:xfrm>
            <a:off x="548640" y="195681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</a:t>
            </a:r>
            <a:r>
              <a:rPr lang="zh-CN" sz="3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数据与</a:t>
            </a: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2" name="Google Shape;42;p4"/>
          <p:cNvSpPr txBox="1"/>
          <p:nvPr/>
        </p:nvSpPr>
        <p:spPr>
          <a:xfrm>
            <a:off x="548640" y="256032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为AI实验室和企业提供评测、数据与训练环境</a:t>
            </a:r>
            <a:b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独家环境让AI自我进化（RSI）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3" name="Google Shape;43;p4"/>
          <p:cNvCxnSpPr/>
          <p:nvPr/>
        </p:nvCxnSpPr>
        <p:spPr>
          <a:xfrm>
            <a:off x="4368698" y="157276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4"/>
          <p:cNvSpPr txBox="1"/>
          <p:nvPr/>
        </p:nvSpPr>
        <p:spPr>
          <a:xfrm>
            <a:off x="4368698" y="170078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已做到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5" name="Google Shape;45;p4"/>
          <p:cNvSpPr txBox="1"/>
          <p:nvPr/>
        </p:nvSpPr>
        <p:spPr>
          <a:xfrm>
            <a:off x="4368698" y="195681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14天7款</a:t>
            </a:r>
            <a:r>
              <a:rPr lang="zh-CN" sz="3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6" name="Google Shape;46;p4"/>
          <p:cNvSpPr txBox="1"/>
          <p:nvPr/>
        </p:nvSpPr>
        <p:spPr>
          <a:xfrm>
            <a:off x="4368698" y="256032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机器学习、事件预测、做市交易的评测与RL环境</a:t>
            </a:r>
            <a:br>
              <a:rPr lang="zh-CN" sz="12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endParaRPr sz="12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旗舰Xitadel已跑通自我进化（RSI）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7" name="Google Shape;47;p4"/>
          <p:cNvCxnSpPr/>
          <p:nvPr/>
        </p:nvCxnSpPr>
        <p:spPr>
          <a:xfrm>
            <a:off x="8188757" y="1572768"/>
            <a:ext cx="3454298" cy="0"/>
          </a:xfrm>
          <a:prstGeom prst="straightConnector1">
            <a:avLst/>
          </a:prstGeom>
          <a:noFill/>
          <a:ln w="19050" cap="flat" cmpd="sng">
            <a:solidFill>
              <a:srgbClr val="C2410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8" name="Google Shape;48;p4"/>
          <p:cNvSpPr txBox="1"/>
          <p:nvPr/>
        </p:nvSpPr>
        <p:spPr>
          <a:xfrm>
            <a:off x="8188757" y="170078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核心</a:t>
            </a:r>
            <a:r>
              <a:rPr lang="zh-CN" sz="1000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成果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" name="Google Shape;49;p4"/>
          <p:cNvSpPr txBox="1"/>
          <p:nvPr/>
        </p:nvSpPr>
        <p:spPr>
          <a:xfrm>
            <a:off x="8188757" y="195681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3000"/>
              <a:buFont typeface="Instrument Sans"/>
              <a:buNone/>
            </a:pPr>
            <a:r>
              <a:rPr lang="zh-CN" sz="3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r>
              <a:rPr lang="zh-CN" sz="3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12%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" name="Google Shape;50;p4"/>
          <p:cNvSpPr txBox="1"/>
          <p:nvPr/>
        </p:nvSpPr>
        <p:spPr>
          <a:xfrm>
            <a:off x="8188757" y="256032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Qwen3.8-27B在Xitadel训练后，在未见过的真实行情上交易表现最高提升12%，多次独立复现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1" name="Google Shape;51;p4"/>
          <p:cNvCxnSpPr/>
          <p:nvPr/>
        </p:nvCxnSpPr>
        <p:spPr>
          <a:xfrm>
            <a:off x="548640" y="349300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2" name="Google Shape;52;p4"/>
          <p:cNvSpPr txBox="1"/>
          <p:nvPr/>
        </p:nvSpPr>
        <p:spPr>
          <a:xfrm>
            <a:off x="548640" y="362102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团队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3" name="Google Shape;53;p4"/>
          <p:cNvSpPr txBox="1"/>
          <p:nvPr/>
        </p:nvSpPr>
        <p:spPr>
          <a:xfrm>
            <a:off x="548640" y="387705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4位</a:t>
            </a: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21岁05</a:t>
            </a:r>
            <a:r>
              <a:rPr lang="zh-CN" sz="3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后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4" name="Google Shape;54;p4"/>
          <p:cNvSpPr txBox="1"/>
          <p:nvPr/>
        </p:nvSpPr>
        <p:spPr>
          <a:xfrm>
            <a:off x="548640" y="448056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b="1"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剑桥、LSE、杜克</a:t>
            </a:r>
            <a:r>
              <a:rPr b="0"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</a:t>
            </a:r>
            <a:b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b="1"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剑桥研究中心AI最年轻本科研究员</a:t>
            </a:r>
            <a:b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b="1"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Street、Citadel、D. E. Shaw、</a:t>
            </a:r>
            <a:b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b="1"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Millennium、Optiver</a:t>
            </a:r>
            <a:endParaRPr sz="1200" b="1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5" name="Google Shape;55;p4"/>
          <p:cNvCxnSpPr/>
          <p:nvPr/>
        </p:nvCxnSpPr>
        <p:spPr>
          <a:xfrm>
            <a:off x="4368698" y="349300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6" name="Google Shape;56;p4"/>
          <p:cNvSpPr txBox="1"/>
          <p:nvPr/>
        </p:nvSpPr>
        <p:spPr>
          <a:xfrm>
            <a:off x="4368698" y="362102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 dirty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市场</a:t>
            </a:r>
            <a:endParaRPr sz="1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7" name="Google Shape;57;p4"/>
          <p:cNvSpPr txBox="1"/>
          <p:nvPr/>
        </p:nvSpPr>
        <p:spPr>
          <a:xfrm>
            <a:off x="4368698" y="387705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$8.5B→$700B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8" name="Google Shape;58;p4"/>
          <p:cNvSpPr txBox="1"/>
          <p:nvPr/>
        </p:nvSpPr>
        <p:spPr>
          <a:xfrm>
            <a:off x="4368698" y="448056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今天实验室每年买85亿美元训练数据与RL环境；2030年AI经济7万亿美元，训练占10%：7,000亿美元，82倍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9" name="Google Shape;59;p4"/>
          <p:cNvCxnSpPr/>
          <p:nvPr/>
        </p:nvCxnSpPr>
        <p:spPr>
          <a:xfrm>
            <a:off x="8188757" y="3493008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0" name="Google Shape;60;p4"/>
          <p:cNvSpPr txBox="1"/>
          <p:nvPr/>
        </p:nvSpPr>
        <p:spPr>
          <a:xfrm>
            <a:off x="8188757" y="3621024"/>
            <a:ext cx="345429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本轮融资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1" name="Google Shape;61;p4"/>
          <p:cNvSpPr txBox="1"/>
          <p:nvPr/>
        </p:nvSpPr>
        <p:spPr>
          <a:xfrm>
            <a:off x="8188757" y="3877056"/>
            <a:ext cx="345429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000"/>
              <a:buFont typeface="Newsreader"/>
              <a:buNone/>
            </a:pPr>
            <a:r>
              <a:rPr lang="zh-CN" sz="3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$20M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2" name="Google Shape;62;p4"/>
          <p:cNvSpPr txBox="1"/>
          <p:nvPr/>
        </p:nvSpPr>
        <p:spPr>
          <a:xfrm>
            <a:off x="8188757" y="4480560"/>
            <a:ext cx="3454298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种子轮2,000万美元，投后1.5亿美元；6个月年化收入1亿美元，12个月3亿美元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3" name="Google Shape;63;p4"/>
          <p:cNvSpPr txBox="1"/>
          <p:nvPr/>
        </p:nvSpPr>
        <p:spPr>
          <a:xfrm>
            <a:off x="548640" y="5486400"/>
            <a:ext cx="110943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谁有最好的</a:t>
            </a:r>
            <a:r>
              <a:rPr lang="zh-CN" sz="26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训练世界</a:t>
            </a:r>
            <a:r>
              <a:rPr lang="zh-CN" sz="2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，谁就有该行业最好的AI</a:t>
            </a:r>
            <a:endParaRPr sz="2600" b="0" i="0" u="none" strike="noStrike" cap="none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6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从交易出发，让AI自我进化，走向整个世界</a:t>
            </a:r>
            <a:endParaRPr sz="26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4" name="Google Shape;64;p4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4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6" name="Google Shape;66;p4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5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团队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3" name="Google Shape;73;p5"/>
          <p:cNvSpPr txBox="1"/>
          <p:nvPr/>
        </p:nvSpPr>
        <p:spPr>
          <a:xfrm>
            <a:off x="548565" y="811781"/>
            <a:ext cx="110943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7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奥赛与名校 → 华尔街最残酷的交易台：我们最懂做题与做事的差距</a:t>
            </a:r>
            <a:endParaRPr sz="2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74" name="Google Shape;74;p5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5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6" name="Google Shape;76;p5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7" name="Google Shape;77;p5"/>
          <p:cNvSpPr/>
          <p:nvPr/>
        </p:nvSpPr>
        <p:spPr>
          <a:xfrm>
            <a:off x="548815" y="1546574"/>
            <a:ext cx="11094300" cy="822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8" name="Google Shape;78;p5" descr="jane-street-colo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94515" y="1809074"/>
            <a:ext cx="757666" cy="297959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5" descr="citadel-color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700320" y="1867331"/>
            <a:ext cx="1244200" cy="181446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5" descr="de-shaw-color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682436" y="1830821"/>
            <a:ext cx="978105" cy="254466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5" descr="millennium-color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29302" y="1862597"/>
            <a:ext cx="1182510" cy="190911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5" descr="optiver-color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385575" y="1841457"/>
            <a:ext cx="968102" cy="233193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5" descr="cambridge-ink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0403722" y="1678077"/>
            <a:ext cx="629948" cy="559953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5"/>
          <p:cNvSpPr/>
          <p:nvPr/>
        </p:nvSpPr>
        <p:spPr>
          <a:xfrm>
            <a:off x="548815" y="2534126"/>
            <a:ext cx="2636400" cy="2816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5"/>
          <p:cNvSpPr txBox="1"/>
          <p:nvPr/>
        </p:nvSpPr>
        <p:spPr>
          <a:xfrm>
            <a:off x="786559" y="2680430"/>
            <a:ext cx="21609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Charles</a:t>
            </a:r>
            <a:r>
              <a:rPr lang="zh-CN" sz="11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CEO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86" name="Google Shape;86;p5"/>
          <p:cNvSpPr txBox="1"/>
          <p:nvPr/>
        </p:nvSpPr>
        <p:spPr>
          <a:xfrm>
            <a:off x="786559" y="3320510"/>
            <a:ext cx="2160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United Stables首位员工：U稳定币从0做到14亿美元，一个月上线Binance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汇丰港元稳定币发行项目唯一实习生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Citadel对冲基金实习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87" name="Google Shape;87;p5"/>
          <p:cNvCxnSpPr/>
          <p:nvPr/>
        </p:nvCxnSpPr>
        <p:spPr>
          <a:xfrm>
            <a:off x="786559" y="4765262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8" name="Google Shape;88;p5"/>
          <p:cNvSpPr txBox="1"/>
          <p:nvPr/>
        </p:nvSpPr>
        <p:spPr>
          <a:xfrm>
            <a:off x="786559" y="4838414"/>
            <a:ext cx="21609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LSE数学</a:t>
            </a: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本科; 深国交</a:t>
            </a:r>
            <a:endParaRPr sz="1100">
              <a:solidFill>
                <a:srgbClr val="11111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USAMO入围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89" name="Google Shape;89;p5"/>
          <p:cNvSpPr/>
          <p:nvPr/>
        </p:nvSpPr>
        <p:spPr>
          <a:xfrm>
            <a:off x="3368139" y="2534126"/>
            <a:ext cx="2636400" cy="2816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5"/>
          <p:cNvSpPr txBox="1"/>
          <p:nvPr/>
        </p:nvSpPr>
        <p:spPr>
          <a:xfrm>
            <a:off x="3605883" y="2680430"/>
            <a:ext cx="21609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Henry</a:t>
            </a:r>
            <a:r>
              <a:rPr lang="zh-CN" sz="1100" b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CTO</a:t>
            </a:r>
            <a:endParaRPr sz="1300" b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1" name="Google Shape;91;p5"/>
          <p:cNvSpPr txBox="1"/>
          <p:nvPr/>
        </p:nvSpPr>
        <p:spPr>
          <a:xfrm>
            <a:off x="3605883" y="3320510"/>
            <a:ext cx="2160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师从剑桥统计学教授Po-Ling Loh（国际数理统计学会会士，2025年Ethel Newbold奖）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剑桥研究中心AI最年轻本科研究员（2026）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Street、D. E. Shaw量化实习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92" name="Google Shape;92;p5"/>
          <p:cNvCxnSpPr/>
          <p:nvPr/>
        </p:nvCxnSpPr>
        <p:spPr>
          <a:xfrm>
            <a:off x="3605883" y="4765262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3" name="Google Shape;93;p5"/>
          <p:cNvSpPr txBox="1"/>
          <p:nvPr/>
        </p:nvSpPr>
        <p:spPr>
          <a:xfrm>
            <a:off x="3605883" y="4838414"/>
            <a:ext cx="21609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剑桥数学</a:t>
            </a: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本科(奖学金); 深国交</a:t>
            </a: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</a:t>
            </a:r>
            <a:endParaRPr sz="1100">
              <a:solidFill>
                <a:srgbClr val="11111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剑桥数学竞赛全球前30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4" name="Google Shape;94;p5"/>
          <p:cNvSpPr/>
          <p:nvPr/>
        </p:nvSpPr>
        <p:spPr>
          <a:xfrm>
            <a:off x="6187463" y="2534126"/>
            <a:ext cx="2636400" cy="2816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5"/>
          <p:cNvSpPr txBox="1"/>
          <p:nvPr/>
        </p:nvSpPr>
        <p:spPr>
          <a:xfrm>
            <a:off x="6425207" y="2680430"/>
            <a:ext cx="21609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Amaris</a:t>
            </a:r>
            <a:r>
              <a:rPr lang="zh-CN" sz="1100" b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COO</a:t>
            </a:r>
            <a:endParaRPr sz="1300" b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6" name="Google Shape;96;p5"/>
          <p:cNvSpPr txBox="1"/>
          <p:nvPr/>
        </p:nvSpPr>
        <p:spPr>
          <a:xfrm>
            <a:off x="6425207" y="3320510"/>
            <a:ext cx="2160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Millennium香港数据科学家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Millennium另类数据团队史上首位应届招聘</a:t>
            </a:r>
            <a:endParaRPr sz="1100" b="0" i="0" u="none" strike="noStrike" cap="none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17岁成为出版作家</a:t>
            </a:r>
            <a:endParaRPr sz="1100">
              <a:solidFill>
                <a:srgbClr val="33322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97" name="Google Shape;97;p5"/>
          <p:cNvCxnSpPr/>
          <p:nvPr/>
        </p:nvCxnSpPr>
        <p:spPr>
          <a:xfrm>
            <a:off x="6425207" y="4765262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8" name="Google Shape;98;p5"/>
          <p:cNvSpPr txBox="1"/>
          <p:nvPr/>
        </p:nvSpPr>
        <p:spPr>
          <a:xfrm>
            <a:off x="6425207" y="4838414"/>
            <a:ext cx="21609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杜克数学与统计</a:t>
            </a: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本科; 上海包玉刚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9" name="Google Shape;99;p5"/>
          <p:cNvSpPr/>
          <p:nvPr/>
        </p:nvSpPr>
        <p:spPr>
          <a:xfrm>
            <a:off x="9006786" y="2534126"/>
            <a:ext cx="2636400" cy="2816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5"/>
          <p:cNvSpPr txBox="1"/>
          <p:nvPr/>
        </p:nvSpPr>
        <p:spPr>
          <a:xfrm>
            <a:off x="9244530" y="2680430"/>
            <a:ext cx="2160900" cy="5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James</a:t>
            </a:r>
            <a:r>
              <a:rPr lang="zh-CN" sz="1100" b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CPO</a:t>
            </a:r>
            <a:endParaRPr sz="1300" b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1" name="Google Shape;101;p5"/>
          <p:cNvSpPr txBox="1"/>
          <p:nvPr/>
        </p:nvSpPr>
        <p:spPr>
          <a:xfrm>
            <a:off x="9244530" y="3320510"/>
            <a:ext cx="21609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Optiver</a:t>
            </a: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阿姆斯特丹</a:t>
            </a: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量化</a:t>
            </a:r>
            <a:r>
              <a:rPr lang="zh-CN" sz="110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交易实习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富达股票研究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02" name="Google Shape;102;p5"/>
          <p:cNvCxnSpPr/>
          <p:nvPr/>
        </p:nvCxnSpPr>
        <p:spPr>
          <a:xfrm>
            <a:off x="9244530" y="4765262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3" name="Google Shape;103;p5"/>
          <p:cNvSpPr txBox="1"/>
          <p:nvPr/>
        </p:nvSpPr>
        <p:spPr>
          <a:xfrm>
            <a:off x="9244530" y="4838414"/>
            <a:ext cx="21609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LSE数学</a:t>
            </a:r>
            <a:r>
              <a:rPr lang="zh-CN" sz="110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本科; 深国交</a:t>
            </a:r>
            <a:endParaRPr sz="11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4" name="Google Shape;104;p5"/>
          <p:cNvSpPr txBox="1"/>
          <p:nvPr/>
        </p:nvSpPr>
        <p:spPr>
          <a:xfrm>
            <a:off x="548815" y="5701831"/>
            <a:ext cx="110943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Scale AI、Mercor、AfterQuery创始人都在20岁左右起步</a:t>
            </a:r>
            <a:endParaRPr sz="200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首轮投资人回报：17,000倍、40倍、1,800倍</a:t>
            </a:r>
            <a:endParaRPr sz="200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endParaRPr sz="2000">
              <a:solidFill>
                <a:srgbClr val="C2410C"/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6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为什么是现在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126" name="Google Shape;126;p6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6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8" name="Google Shape;128;p6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9" name="TextBox 128"/>
          <p:cNvSpPr txBox="1"/>
          <p:nvPr/>
        </p:nvSpPr>
        <p:spPr>
          <a:xfrm>
            <a:off x="548640" y="744676"/>
            <a:ext cx="11091672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altLang="zh-CN" sz="2800" b="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18个月内收入涨27倍、估值涨10倍：</a:t>
            </a:r>
            <a:r>
              <a:rPr lang="zh-CN" altLang="en-US" sz="2800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赛道才刚开始</a:t>
            </a:r>
            <a:endParaRPr sz="2800" b="0" dirty="0">
              <a:solidFill>
                <a:schemeClr val="accent2">
                  <a:lumMod val="75000"/>
                </a:schemeClr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  <p:sp>
        <p:nvSpPr>
          <p:cNvPr id="130" name="Rectangle 129"/>
          <p:cNvSpPr/>
          <p:nvPr/>
        </p:nvSpPr>
        <p:spPr>
          <a:xfrm>
            <a:off x="548640" y="1474978"/>
            <a:ext cx="3483864" cy="12700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548640" y="1588713"/>
            <a:ext cx="3483864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dirty="0" err="1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收入增长</a:t>
            </a:r>
            <a:endParaRPr sz="1100" b="0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548640" y="1810512"/>
            <a:ext cx="3483864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800" b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27倍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2395728"/>
            <a:ext cx="3392424" cy="3421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lang="en-CN" sz="105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Mercor年化毛营收：16个月，7,500万→20亿美元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705413" y="3970782"/>
            <a:ext cx="383225" cy="3429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431093" y="3751326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$75M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31093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dirty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2025.2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402186" y="3776472"/>
            <a:ext cx="383225" cy="22860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1127866" y="3557015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$500M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27866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2025.9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2098959" y="3657600"/>
            <a:ext cx="383225" cy="347472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1824639" y="3438144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$760M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824639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2025.12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2795732" y="3547872"/>
            <a:ext cx="383225" cy="45720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2521412" y="3328415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$1B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521412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2026.2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3492505" y="3090672"/>
            <a:ext cx="383225" cy="9144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3218185" y="2871215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$2B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218185" y="4050791"/>
            <a:ext cx="93186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2026.6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548640" y="4000309"/>
            <a:ext cx="3483864" cy="9525"/>
          </a:xfrm>
          <a:prstGeom prst="rect">
            <a:avLst/>
          </a:prstGeom>
          <a:solidFill>
            <a:srgbClr val="6E6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Rectangle 149"/>
          <p:cNvSpPr/>
          <p:nvPr/>
        </p:nvSpPr>
        <p:spPr>
          <a:xfrm>
            <a:off x="548640" y="4549512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548640" y="4554275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18倍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645919" y="4554275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Snorkel AI年化收入一年增至3.75亿美元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548640" y="5025000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548640" y="5029763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14个月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645919" y="5029763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AfterQuery年化收入突破1亿美元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352544" y="1474978"/>
            <a:ext cx="3483864" cy="12700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4352544" y="1588713"/>
            <a:ext cx="3483864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dirty="0" err="1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融资速度</a:t>
            </a:r>
            <a:endParaRPr sz="1100" b="0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4352544" y="1810512"/>
            <a:ext cx="3483864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800" b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10倍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352544" y="2395728"/>
            <a:ext cx="3392424" cy="3421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lang="en-CN" sz="105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Mercor估值：18个月，20亿→200亿美元（洽谈中）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681728" y="3913632"/>
            <a:ext cx="502920" cy="9144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4407408" y="3694176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$2B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407408" y="4050791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2025.2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5843016" y="3547872"/>
            <a:ext cx="502920" cy="457200"/>
          </a:xfrm>
          <a:prstGeom prst="rect">
            <a:avLst/>
          </a:prstGeom>
          <a:solidFill>
            <a:srgbClr val="D9D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TextBox 167"/>
          <p:cNvSpPr txBox="1"/>
          <p:nvPr/>
        </p:nvSpPr>
        <p:spPr>
          <a:xfrm>
            <a:off x="5568696" y="3328415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$10B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568696" y="4050791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2025.10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7004304" y="3090672"/>
            <a:ext cx="502920" cy="9144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6729984" y="2871215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00" b="0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$20B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729984" y="4050791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2026.7 洽谈中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4352544" y="4000309"/>
            <a:ext cx="3483864" cy="9525"/>
          </a:xfrm>
          <a:prstGeom prst="rect">
            <a:avLst/>
          </a:prstGeom>
          <a:solidFill>
            <a:srgbClr val="6E6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Rectangle 173"/>
          <p:cNvSpPr/>
          <p:nvPr/>
        </p:nvSpPr>
        <p:spPr>
          <a:xfrm>
            <a:off x="4352544" y="4549512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TextBox 174"/>
          <p:cNvSpPr txBox="1"/>
          <p:nvPr/>
        </p:nvSpPr>
        <p:spPr>
          <a:xfrm>
            <a:off x="4352544" y="4554275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5个月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449824" y="4635822"/>
            <a:ext cx="2386584" cy="31239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CN" sz="100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AfterQuery估值：3亿→32亿美元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4352544" y="5025000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TextBox 177"/>
          <p:cNvSpPr txBox="1"/>
          <p:nvPr/>
        </p:nvSpPr>
        <p:spPr>
          <a:xfrm>
            <a:off x="4352544" y="5029763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290亿美元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5449824" y="5029763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Scale AI估值，Meta以143亿美元入股49%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156448" y="1471803"/>
            <a:ext cx="3483864" cy="19050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TextBox 184"/>
          <p:cNvSpPr txBox="1"/>
          <p:nvPr/>
        </p:nvSpPr>
        <p:spPr>
          <a:xfrm>
            <a:off x="8156448" y="1588713"/>
            <a:ext cx="3483864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1100" dirty="0" err="1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需求</a:t>
            </a:r>
            <a:endParaRPr sz="1100" b="0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6" name="TextBox 185"/>
          <p:cNvSpPr txBox="1"/>
          <p:nvPr/>
        </p:nvSpPr>
        <p:spPr>
          <a:xfrm>
            <a:off x="8156448" y="1810512"/>
            <a:ext cx="3483864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800" b="0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14倍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156448" y="2395728"/>
            <a:ext cx="3392424" cy="1644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AI智能体市场：7年，79亿→约1,110亿美元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548640" y="6100410"/>
            <a:ext cx="11091672" cy="62646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>
              <a:lnSpc>
                <a:spcPct val="110000"/>
              </a:lnSpc>
            </a:pPr>
            <a:r>
              <a:rPr sz="400" b="0" dirty="0" err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Mercor：TechCrunch、Sacra、Dealroom（年化毛营收</a:t>
            </a:r>
            <a:r>
              <a:rPr sz="400" b="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）、彭博（2026年7月，估值洽谈）；</a:t>
            </a:r>
            <a:r>
              <a:rPr sz="400" b="0" dirty="0" err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AfterQuery：Business</a:t>
            </a:r>
            <a:r>
              <a:rPr sz="400" b="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Wire（2026年4月）、福布斯（2026年9月）；Snorkel AI：公司公告（2026年9月）；Prime Intellect：公司公告（2026年7月）；Scale AI：路透社（2025年6月）、Scale AI博客（2026年2月）；UniPat：彭博（2026年9月）；</a:t>
            </a:r>
            <a:r>
              <a:rPr sz="400" b="0" dirty="0" err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AI智能体：Precedence</a:t>
            </a:r>
            <a:r>
              <a:rPr sz="400" b="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Research，2025年79亿美元、年复合增长45.8%；</a:t>
            </a:r>
            <a:r>
              <a:rPr sz="400" b="0" dirty="0" err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合同金额与文本存量：Epoch</a:t>
            </a:r>
            <a:r>
              <a:rPr sz="400" b="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AI。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9A0AD78-A40E-5E2E-7EAB-0162F6C92D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6448" y="3034053"/>
            <a:ext cx="3483864" cy="961874"/>
          </a:xfrm>
          <a:prstGeom prst="rect">
            <a:avLst/>
          </a:prstGeom>
        </p:spPr>
      </p:pic>
      <p:sp>
        <p:nvSpPr>
          <p:cNvPr id="209" name="Rectangle 208"/>
          <p:cNvSpPr/>
          <p:nvPr/>
        </p:nvSpPr>
        <p:spPr>
          <a:xfrm>
            <a:off x="8156448" y="3991165"/>
            <a:ext cx="3483864" cy="9525"/>
          </a:xfrm>
          <a:prstGeom prst="rect">
            <a:avLst/>
          </a:prstGeom>
          <a:solidFill>
            <a:srgbClr val="6E6C6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10" name="Rectangle 209"/>
          <p:cNvSpPr/>
          <p:nvPr/>
        </p:nvSpPr>
        <p:spPr>
          <a:xfrm>
            <a:off x="8156448" y="4548949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11" name="TextBox 210"/>
          <p:cNvSpPr txBox="1"/>
          <p:nvPr/>
        </p:nvSpPr>
        <p:spPr>
          <a:xfrm>
            <a:off x="8156448" y="4553712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近一半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9253728" y="4553712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Scale AI新训练项目已涉及RL环境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8156448" y="5024437"/>
            <a:ext cx="3483864" cy="9525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14" name="TextBox 213"/>
          <p:cNvSpPr txBox="1"/>
          <p:nvPr/>
        </p:nvSpPr>
        <p:spPr>
          <a:xfrm>
            <a:off x="8156448" y="5029200"/>
            <a:ext cx="10515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2032年前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9253728" y="5029200"/>
            <a:ext cx="23865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公开的人类文本预计被用尽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7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问题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36" name="Google Shape;136;p7"/>
          <p:cNvSpPr txBox="1"/>
          <p:nvPr/>
        </p:nvSpPr>
        <p:spPr>
          <a:xfrm>
            <a:off x="548792" y="899123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>
              <a:buClr>
                <a:srgbClr val="111110"/>
              </a:buClr>
              <a:buSzPts val="2800"/>
            </a:pP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AI会做题了：谁有最好的</a:t>
            </a:r>
            <a:r>
              <a:rPr lang="zh-CN" altLang="en-US" sz="2800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训练世界</a:t>
            </a: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，谁就有每个领域最好的AI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38" name="Google Shape;138;p7"/>
          <p:cNvSpPr/>
          <p:nvPr/>
        </p:nvSpPr>
        <p:spPr>
          <a:xfrm>
            <a:off x="6309360" y="1624510"/>
            <a:ext cx="5333695" cy="3154680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7"/>
          <p:cNvSpPr txBox="1"/>
          <p:nvPr/>
        </p:nvSpPr>
        <p:spPr>
          <a:xfrm>
            <a:off x="1417320" y="176167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考试过关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40" name="Google Shape;140;p7"/>
          <p:cNvSpPr txBox="1"/>
          <p:nvPr/>
        </p:nvSpPr>
        <p:spPr>
          <a:xfrm>
            <a:off x="6583680" y="176167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实战失手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41" name="Google Shape;141;p7"/>
          <p:cNvCxnSpPr>
            <a:cxnSpLocks/>
          </p:cNvCxnSpPr>
          <p:nvPr/>
        </p:nvCxnSpPr>
        <p:spPr>
          <a:xfrm>
            <a:off x="548640" y="2081710"/>
            <a:ext cx="5577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42" name="Google Shape;142;p7"/>
          <p:cNvCxnSpPr>
            <a:cxnSpLocks/>
          </p:cNvCxnSpPr>
          <p:nvPr/>
        </p:nvCxnSpPr>
        <p:spPr>
          <a:xfrm>
            <a:off x="6309360" y="2081710"/>
            <a:ext cx="5333695" cy="0"/>
          </a:xfrm>
          <a:prstGeom prst="straightConnector1">
            <a:avLst/>
          </a:prstGeom>
          <a:noFill/>
          <a:ln w="9525" cap="flat" cmpd="sng">
            <a:solidFill>
              <a:srgbClr val="D9D6CE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3" name="Google Shape;143;p7"/>
          <p:cNvSpPr txBox="1"/>
          <p:nvPr/>
        </p:nvSpPr>
        <p:spPr>
          <a:xfrm>
            <a:off x="548640" y="2264590"/>
            <a:ext cx="822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978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9A978F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44" name="Google Shape;144;p7"/>
          <p:cNvSpPr txBox="1"/>
          <p:nvPr/>
        </p:nvSpPr>
        <p:spPr>
          <a:xfrm>
            <a:off x="1417320" y="2081710"/>
            <a:ext cx="4297680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700"/>
              <a:buFont typeface="Instrument Sans"/>
              <a:buNone/>
            </a:pPr>
            <a:r>
              <a:rPr lang="zh-CN" sz="170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</a:t>
            </a:r>
            <a:r>
              <a:rPr lang="zh-CN" sz="17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策略看起来很专业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45" name="Google Shape;145;p7"/>
          <p:cNvCxnSpPr>
            <a:cxnSpLocks/>
          </p:cNvCxnSpPr>
          <p:nvPr/>
        </p:nvCxnSpPr>
        <p:spPr>
          <a:xfrm>
            <a:off x="5669280" y="2529766"/>
            <a:ext cx="411480" cy="0"/>
          </a:xfrm>
          <a:prstGeom prst="straightConnector1">
            <a:avLst/>
          </a:prstGeom>
          <a:noFill/>
          <a:ln w="12700" cap="flat" cmpd="sng">
            <a:solidFill>
              <a:srgbClr val="6E6C66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46" name="Google Shape;146;p7"/>
          <p:cNvSpPr txBox="1"/>
          <p:nvPr/>
        </p:nvSpPr>
        <p:spPr>
          <a:xfrm>
            <a:off x="6583680" y="2081710"/>
            <a:ext cx="4876495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100"/>
              <a:buFont typeface="Newsreader"/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真实交易日一上场就亏钱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47" name="Google Shape;147;p7"/>
          <p:cNvCxnSpPr>
            <a:cxnSpLocks/>
          </p:cNvCxnSpPr>
          <p:nvPr/>
        </p:nvCxnSpPr>
        <p:spPr>
          <a:xfrm>
            <a:off x="548640" y="2977822"/>
            <a:ext cx="5577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48" name="Google Shape;148;p7"/>
          <p:cNvCxnSpPr>
            <a:cxnSpLocks/>
          </p:cNvCxnSpPr>
          <p:nvPr/>
        </p:nvCxnSpPr>
        <p:spPr>
          <a:xfrm>
            <a:off x="6309360" y="2977822"/>
            <a:ext cx="5333695" cy="0"/>
          </a:xfrm>
          <a:prstGeom prst="straightConnector1">
            <a:avLst/>
          </a:prstGeom>
          <a:noFill/>
          <a:ln w="9525" cap="flat" cmpd="sng">
            <a:solidFill>
              <a:srgbClr val="D9D6CE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9" name="Google Shape;149;p7"/>
          <p:cNvSpPr txBox="1"/>
          <p:nvPr/>
        </p:nvSpPr>
        <p:spPr>
          <a:xfrm>
            <a:off x="548640" y="3160702"/>
            <a:ext cx="822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978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9A978F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财务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50" name="Google Shape;150;p7"/>
          <p:cNvSpPr txBox="1"/>
          <p:nvPr/>
        </p:nvSpPr>
        <p:spPr>
          <a:xfrm>
            <a:off x="1417320" y="2977822"/>
            <a:ext cx="4297680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700"/>
              <a:buFont typeface="Instrument Sans"/>
              <a:buNone/>
            </a:pPr>
            <a:r>
              <a:rPr lang="zh-CN" sz="17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做账看起来已经完成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51" name="Google Shape;151;p7"/>
          <p:cNvCxnSpPr>
            <a:cxnSpLocks/>
          </p:cNvCxnSpPr>
          <p:nvPr/>
        </p:nvCxnSpPr>
        <p:spPr>
          <a:xfrm>
            <a:off x="5669280" y="3425878"/>
            <a:ext cx="411480" cy="0"/>
          </a:xfrm>
          <a:prstGeom prst="straightConnector1">
            <a:avLst/>
          </a:prstGeom>
          <a:noFill/>
          <a:ln w="12700" cap="flat" cmpd="sng">
            <a:solidFill>
              <a:srgbClr val="6E6C66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52" name="Google Shape;152;p7"/>
          <p:cNvSpPr txBox="1"/>
          <p:nvPr/>
        </p:nvSpPr>
        <p:spPr>
          <a:xfrm>
            <a:off x="6583680" y="2977822"/>
            <a:ext cx="4876495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100"/>
              <a:buFont typeface="Newsreader"/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账却对不平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53" name="Google Shape;153;p7"/>
          <p:cNvCxnSpPr>
            <a:cxnSpLocks/>
          </p:cNvCxnSpPr>
          <p:nvPr/>
        </p:nvCxnSpPr>
        <p:spPr>
          <a:xfrm>
            <a:off x="548640" y="3873934"/>
            <a:ext cx="5577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54" name="Google Shape;154;p7"/>
          <p:cNvCxnSpPr>
            <a:cxnSpLocks/>
          </p:cNvCxnSpPr>
          <p:nvPr/>
        </p:nvCxnSpPr>
        <p:spPr>
          <a:xfrm>
            <a:off x="6309360" y="3873934"/>
            <a:ext cx="5333695" cy="0"/>
          </a:xfrm>
          <a:prstGeom prst="straightConnector1">
            <a:avLst/>
          </a:prstGeom>
          <a:noFill/>
          <a:ln w="9525" cap="flat" cmpd="sng">
            <a:solidFill>
              <a:srgbClr val="D9D6CE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5" name="Google Shape;155;p7"/>
          <p:cNvSpPr txBox="1"/>
          <p:nvPr/>
        </p:nvSpPr>
        <p:spPr>
          <a:xfrm>
            <a:off x="548640" y="4056814"/>
            <a:ext cx="822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A978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9A978F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软件工程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56" name="Google Shape;156;p7"/>
          <p:cNvSpPr txBox="1"/>
          <p:nvPr/>
        </p:nvSpPr>
        <p:spPr>
          <a:xfrm>
            <a:off x="1417320" y="3873934"/>
            <a:ext cx="4297680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700"/>
              <a:buFont typeface="Instrument Sans"/>
              <a:buNone/>
            </a:pPr>
            <a:r>
              <a:rPr lang="zh-CN" sz="17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代码通过了今天的测试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57" name="Google Shape;157;p7"/>
          <p:cNvCxnSpPr>
            <a:cxnSpLocks/>
          </p:cNvCxnSpPr>
          <p:nvPr/>
        </p:nvCxnSpPr>
        <p:spPr>
          <a:xfrm>
            <a:off x="5669280" y="4321990"/>
            <a:ext cx="411480" cy="0"/>
          </a:xfrm>
          <a:prstGeom prst="straightConnector1">
            <a:avLst/>
          </a:prstGeom>
          <a:noFill/>
          <a:ln w="12700" cap="flat" cmpd="sng">
            <a:solidFill>
              <a:srgbClr val="6E6C66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158" name="Google Shape;158;p7"/>
          <p:cNvSpPr txBox="1"/>
          <p:nvPr/>
        </p:nvSpPr>
        <p:spPr>
          <a:xfrm>
            <a:off x="6583680" y="3873934"/>
            <a:ext cx="4876495" cy="896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100"/>
              <a:buFont typeface="Newsreader"/>
              <a:buNone/>
            </a:pPr>
            <a:r>
              <a:rPr lang="zh-CN" sz="170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真实迭代掉链子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59" name="Google Shape;159;p7"/>
          <p:cNvSpPr txBox="1"/>
          <p:nvPr/>
        </p:nvSpPr>
        <p:spPr>
          <a:xfrm>
            <a:off x="579272" y="5402542"/>
            <a:ext cx="1109441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en-US" alt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AI越独立接管经济活动，</a:t>
            </a:r>
            <a:r>
              <a:rPr lang="zh-CN" sz="2000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判断对错的标准</a:t>
            </a:r>
            <a:r>
              <a:rPr lang="en-US" alt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就越重要</a:t>
            </a:r>
            <a:endParaRPr lang="en-US" altLang="zh-CN" sz="2000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altLang="en-US" sz="2000" dirty="0">
                <a:solidFill>
                  <a:schemeClr val="tx1"/>
                </a:solidFill>
                <a:latin typeface="Newsreader"/>
                <a:ea typeface="Newsreader"/>
                <a:cs typeface="Newsreader"/>
                <a:sym typeface="Newsreader"/>
              </a:rPr>
              <a:t>有了真实环境和准确标准，AI才能</a:t>
            </a:r>
            <a:r>
              <a:rPr lang="zh-CN" altLang="en-US" sz="2000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  <a:br>
              <a:rPr lang="en-US" altLang="zh-CN" sz="2000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</a:br>
            <a:endParaRPr sz="2000" b="0" i="0" u="none" strike="noStrike" cap="none" dirty="0">
              <a:solidFill>
                <a:schemeClr val="accent2">
                  <a:lumMod val="75000"/>
                </a:schemeClr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160" name="Google Shape;160;p7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7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2" name="Google Shape;162;p7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8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核心洞察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169" name="Google Shape;169;p8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8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1" name="Google Shape;171;p8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2" name="Google Shape;172;p8"/>
          <p:cNvSpPr txBox="1"/>
          <p:nvPr/>
        </p:nvSpPr>
        <p:spPr>
          <a:xfrm>
            <a:off x="548840" y="804806"/>
            <a:ext cx="110943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AI的每一次跃迁，都来自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反馈信号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的升级</a:t>
            </a:r>
            <a:endParaRPr sz="20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3" name="Google Shape;173;p8"/>
          <p:cNvSpPr txBox="1"/>
          <p:nvPr/>
        </p:nvSpPr>
        <p:spPr>
          <a:xfrm>
            <a:off x="548840" y="1408310"/>
            <a:ext cx="11094300" cy="2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真实工作没有标准答案：考满分的AI，未必能放心交付</a:t>
            </a:r>
            <a:endParaRPr sz="15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4" name="Google Shape;174;p8"/>
          <p:cNvSpPr/>
          <p:nvPr/>
        </p:nvSpPr>
        <p:spPr>
          <a:xfrm>
            <a:off x="548640" y="1810512"/>
            <a:ext cx="2636400" cy="2834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8"/>
          <p:cNvSpPr txBox="1"/>
          <p:nvPr/>
        </p:nvSpPr>
        <p:spPr>
          <a:xfrm>
            <a:off x="786384" y="2029968"/>
            <a:ext cx="21609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第一代    互联网数据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6" name="Google Shape;176;p8"/>
          <p:cNvSpPr txBox="1"/>
          <p:nvPr/>
        </p:nvSpPr>
        <p:spPr>
          <a:xfrm>
            <a:off x="786459" y="2308825"/>
            <a:ext cx="21609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200"/>
              <a:buFont typeface="Newsreader"/>
              <a:buNone/>
            </a:pPr>
            <a:r>
              <a:rPr lang="zh-CN" sz="3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模仿</a:t>
            </a:r>
            <a:endParaRPr sz="32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7" name="Google Shape;177;p8"/>
          <p:cNvSpPr txBox="1"/>
          <p:nvPr/>
        </p:nvSpPr>
        <p:spPr>
          <a:xfrm>
            <a:off x="786384" y="2953517"/>
            <a:ext cx="2160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</a:t>
            </a:r>
            <a:r>
              <a:rPr lang="zh-CN" sz="130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学会</a:t>
            </a:r>
            <a:r>
              <a:rPr lang="zh-CN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抄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78" name="Google Shape;178;p8"/>
          <p:cNvCxnSpPr/>
          <p:nvPr/>
        </p:nvCxnSpPr>
        <p:spPr>
          <a:xfrm>
            <a:off x="786384" y="3328416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9" name="Google Shape;179;p8"/>
          <p:cNvSpPr txBox="1"/>
          <p:nvPr/>
        </p:nvSpPr>
        <p:spPr>
          <a:xfrm>
            <a:off x="786384" y="3694176"/>
            <a:ext cx="21609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会说话的AI</a:t>
            </a:r>
            <a:endParaRPr sz="1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0" name="Google Shape;180;p8"/>
          <p:cNvSpPr/>
          <p:nvPr/>
        </p:nvSpPr>
        <p:spPr>
          <a:xfrm>
            <a:off x="3367964" y="1810512"/>
            <a:ext cx="2636400" cy="2834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8"/>
          <p:cNvSpPr txBox="1"/>
          <p:nvPr/>
        </p:nvSpPr>
        <p:spPr>
          <a:xfrm>
            <a:off x="3605708" y="2029968"/>
            <a:ext cx="21609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第二代    人类偏好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2" name="Google Shape;182;p8"/>
          <p:cNvSpPr txBox="1"/>
          <p:nvPr/>
        </p:nvSpPr>
        <p:spPr>
          <a:xfrm>
            <a:off x="3605721" y="2308825"/>
            <a:ext cx="21609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200"/>
              <a:buFont typeface="Newsreader"/>
              <a:buNone/>
            </a:pPr>
            <a:r>
              <a:rPr lang="zh-CN" sz="3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对齐</a:t>
            </a:r>
            <a:endParaRPr sz="32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3" name="Google Shape;183;p8"/>
          <p:cNvSpPr txBox="1"/>
          <p:nvPr/>
        </p:nvSpPr>
        <p:spPr>
          <a:xfrm>
            <a:off x="3605696" y="2953517"/>
            <a:ext cx="2160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人打分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84" name="Google Shape;184;p8"/>
          <p:cNvCxnSpPr/>
          <p:nvPr/>
        </p:nvCxnSpPr>
        <p:spPr>
          <a:xfrm>
            <a:off x="3605708" y="3328416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85" name="Google Shape;185;p8"/>
          <p:cNvSpPr txBox="1"/>
          <p:nvPr/>
        </p:nvSpPr>
        <p:spPr>
          <a:xfrm>
            <a:off x="3605708" y="3694176"/>
            <a:ext cx="21609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好用的AI助手</a:t>
            </a:r>
            <a:endParaRPr sz="1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6" name="Google Shape;186;p8"/>
          <p:cNvSpPr/>
          <p:nvPr/>
        </p:nvSpPr>
        <p:spPr>
          <a:xfrm>
            <a:off x="6187276" y="1810512"/>
            <a:ext cx="2636400" cy="28347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8"/>
          <p:cNvSpPr txBox="1"/>
          <p:nvPr/>
        </p:nvSpPr>
        <p:spPr>
          <a:xfrm>
            <a:off x="6425032" y="2029968"/>
            <a:ext cx="21609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3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第三代    答案</a:t>
            </a:r>
            <a:endParaRPr sz="13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8" name="Google Shape;188;p8"/>
          <p:cNvSpPr txBox="1"/>
          <p:nvPr/>
        </p:nvSpPr>
        <p:spPr>
          <a:xfrm>
            <a:off x="6425057" y="2308825"/>
            <a:ext cx="21609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3200"/>
              <a:buFont typeface="Newsreader"/>
              <a:buNone/>
            </a:pPr>
            <a:r>
              <a:rPr lang="zh-CN" sz="3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验证</a:t>
            </a:r>
            <a:endParaRPr sz="32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9" name="Google Shape;189;p8"/>
          <p:cNvSpPr txBox="1"/>
          <p:nvPr/>
        </p:nvSpPr>
        <p:spPr>
          <a:xfrm>
            <a:off x="6425020" y="2953517"/>
            <a:ext cx="2160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规则</a:t>
            </a:r>
            <a:r>
              <a:rPr lang="zh-CN" sz="1300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下</a:t>
            </a:r>
            <a:r>
              <a:rPr lang="zh-CN" sz="13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解题</a:t>
            </a:r>
            <a:endParaRPr sz="1300" b="0" i="0" u="none" strike="noStrike" cap="none" dirty="0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90" name="Google Shape;190;p8"/>
          <p:cNvCxnSpPr/>
          <p:nvPr/>
        </p:nvCxnSpPr>
        <p:spPr>
          <a:xfrm>
            <a:off x="6425032" y="3328416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1" name="Google Shape;191;p8"/>
          <p:cNvSpPr txBox="1"/>
          <p:nvPr/>
        </p:nvSpPr>
        <p:spPr>
          <a:xfrm>
            <a:off x="6425032" y="3694176"/>
            <a:ext cx="21609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推理模型</a:t>
            </a:r>
            <a:endParaRPr sz="1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2" name="Google Shape;192;p8"/>
          <p:cNvSpPr/>
          <p:nvPr/>
        </p:nvSpPr>
        <p:spPr>
          <a:xfrm>
            <a:off x="9006611" y="1810512"/>
            <a:ext cx="2636400" cy="2834700"/>
          </a:xfrm>
          <a:prstGeom prst="rect">
            <a:avLst/>
          </a:prstGeom>
          <a:solidFill>
            <a:srgbClr val="111110"/>
          </a:solidFill>
          <a:ln w="12700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8"/>
          <p:cNvSpPr txBox="1"/>
          <p:nvPr/>
        </p:nvSpPr>
        <p:spPr>
          <a:xfrm>
            <a:off x="9244355" y="2029968"/>
            <a:ext cx="21609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000"/>
              <a:buFont typeface="IBM Plex Mono"/>
              <a:buNone/>
            </a:pPr>
            <a:r>
              <a:rPr lang="zh-CN" sz="1300" b="0" i="0" u="none" strike="noStrike" cap="none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第四代    真实世界的</a:t>
            </a:r>
            <a:r>
              <a:rPr lang="zh-CN" sz="1300">
                <a:solidFill>
                  <a:srgbClr val="FFFFFF"/>
                </a:solidFill>
                <a:latin typeface="IBM Plex Mono"/>
                <a:ea typeface="IBM Plex Mono"/>
                <a:cs typeface="IBM Plex Mono"/>
                <a:sym typeface="IBM Plex Mono"/>
              </a:rPr>
              <a:t>反馈</a:t>
            </a:r>
            <a:endParaRPr sz="1300" b="0" i="0" u="none" strike="noStrike" cap="none">
              <a:solidFill>
                <a:srgbClr val="FFFFFF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4" name="Google Shape;194;p8"/>
          <p:cNvSpPr txBox="1"/>
          <p:nvPr/>
        </p:nvSpPr>
        <p:spPr>
          <a:xfrm>
            <a:off x="9244330" y="2308825"/>
            <a:ext cx="2160900" cy="5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3200"/>
              <a:buFont typeface="Newsreader"/>
              <a:buNone/>
            </a:pPr>
            <a:r>
              <a:rPr lang="zh-CN" sz="320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实践</a:t>
            </a:r>
            <a:endParaRPr sz="32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5" name="Google Shape;195;p8"/>
          <p:cNvSpPr txBox="1"/>
          <p:nvPr/>
        </p:nvSpPr>
        <p:spPr>
          <a:xfrm>
            <a:off x="9244355" y="2953517"/>
            <a:ext cx="2160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300"/>
              <a:buFont typeface="Instrument Sans"/>
              <a:buNone/>
            </a:pPr>
            <a:r>
              <a:rPr lang="zh-CN" sz="1300" dirty="0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AI进入现实经济</a:t>
            </a:r>
            <a:endParaRPr sz="1300" b="0" i="0" u="none" strike="noStrike" cap="none" dirty="0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196" name="Google Shape;196;p8"/>
          <p:cNvCxnSpPr/>
          <p:nvPr/>
        </p:nvCxnSpPr>
        <p:spPr>
          <a:xfrm>
            <a:off x="9244355" y="3328416"/>
            <a:ext cx="2160900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7" name="Google Shape;197;p8"/>
          <p:cNvSpPr txBox="1"/>
          <p:nvPr/>
        </p:nvSpPr>
        <p:spPr>
          <a:xfrm>
            <a:off x="9244355" y="3694176"/>
            <a:ext cx="21609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自主运行与自我进化</a:t>
            </a:r>
            <a:endParaRPr sz="1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98" name="Google Shape;198;p8"/>
          <p:cNvSpPr/>
          <p:nvPr/>
        </p:nvSpPr>
        <p:spPr>
          <a:xfrm>
            <a:off x="9244355" y="4187952"/>
            <a:ext cx="1243500" cy="2742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 w="12700" cap="flat" cmpd="sng">
            <a:solidFill>
              <a:srgbClr val="C241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8"/>
          <p:cNvSpPr txBox="1"/>
          <p:nvPr/>
        </p:nvSpPr>
        <p:spPr>
          <a:xfrm>
            <a:off x="9244355" y="4187952"/>
            <a:ext cx="12435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刚刚起步</a:t>
            </a:r>
            <a:endParaRPr sz="10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00" name="Google Shape;200;p8"/>
          <p:cNvSpPr txBox="1"/>
          <p:nvPr/>
        </p:nvSpPr>
        <p:spPr>
          <a:xfrm>
            <a:off x="548657" y="5083900"/>
            <a:ext cx="11464500" cy="4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80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下一代反馈信号，来自现实世界</a:t>
            </a:r>
            <a:endParaRPr sz="2800" b="0" i="0" u="none" strike="noStrike" cap="none">
              <a:solidFill>
                <a:srgbClr val="000000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9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我们做什么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07" name="Google Shape;207;p9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每个动作都有</a:t>
            </a:r>
            <a:r>
              <a:rPr lang="zh-CN" sz="2800" b="0" i="0" u="none" strike="noStrike" cap="none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真实反馈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，AI持续自我进化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08" name="Google Shape;208;p9"/>
          <p:cNvSpPr txBox="1"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环境、评分、专家三合一：AI做真实工作，从每次结果中学习</a:t>
            </a:r>
            <a:endParaRPr sz="15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09" name="Google Shape;209;p9"/>
          <p:cNvSpPr/>
          <p:nvPr/>
        </p:nvSpPr>
        <p:spPr>
          <a:xfrm>
            <a:off x="548640" y="1847088"/>
            <a:ext cx="3393338" cy="11704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9"/>
          <p:cNvSpPr txBox="1"/>
          <p:nvPr/>
        </p:nvSpPr>
        <p:spPr>
          <a:xfrm>
            <a:off x="822960" y="202996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1" name="Google Shape;211;p9"/>
          <p:cNvSpPr txBox="1"/>
          <p:nvPr/>
        </p:nvSpPr>
        <p:spPr>
          <a:xfrm>
            <a:off x="822960" y="2249424"/>
            <a:ext cx="28446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2" name="Google Shape;212;p9"/>
          <p:cNvSpPr txBox="1"/>
          <p:nvPr/>
        </p:nvSpPr>
        <p:spPr>
          <a:xfrm>
            <a:off x="822960" y="2670048"/>
            <a:ext cx="2844698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还原真实工作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3" name="Google Shape;213;p9"/>
          <p:cNvSpPr txBox="1"/>
          <p:nvPr/>
        </p:nvSpPr>
        <p:spPr>
          <a:xfrm>
            <a:off x="3941978" y="1847088"/>
            <a:ext cx="457200" cy="1170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200"/>
              <a:buFont typeface="Instrument Sans"/>
              <a:buNone/>
            </a:pPr>
            <a:r>
              <a:rPr lang="zh-CN" sz="2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4" name="Google Shape;214;p9"/>
          <p:cNvSpPr/>
          <p:nvPr/>
        </p:nvSpPr>
        <p:spPr>
          <a:xfrm>
            <a:off x="4399178" y="1847088"/>
            <a:ext cx="3393338" cy="11704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9"/>
          <p:cNvSpPr txBox="1"/>
          <p:nvPr/>
        </p:nvSpPr>
        <p:spPr>
          <a:xfrm>
            <a:off x="4673498" y="202996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6" name="Google Shape;216;p9"/>
          <p:cNvSpPr txBox="1"/>
          <p:nvPr/>
        </p:nvSpPr>
        <p:spPr>
          <a:xfrm>
            <a:off x="4673498" y="2249424"/>
            <a:ext cx="28446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结果评分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7" name="Google Shape;217;p9"/>
          <p:cNvSpPr txBox="1"/>
          <p:nvPr/>
        </p:nvSpPr>
        <p:spPr>
          <a:xfrm>
            <a:off x="4673498" y="2670048"/>
            <a:ext cx="2844698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按真实结果打分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8" name="Google Shape;218;p9"/>
          <p:cNvSpPr txBox="1"/>
          <p:nvPr/>
        </p:nvSpPr>
        <p:spPr>
          <a:xfrm>
            <a:off x="7792517" y="1847088"/>
            <a:ext cx="457200" cy="1170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200"/>
              <a:buFont typeface="Instrument Sans"/>
              <a:buNone/>
            </a:pPr>
            <a:r>
              <a:rPr lang="zh-CN" sz="2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19" name="Google Shape;219;p9"/>
          <p:cNvSpPr/>
          <p:nvPr/>
        </p:nvSpPr>
        <p:spPr>
          <a:xfrm>
            <a:off x="8249717" y="1847088"/>
            <a:ext cx="3393338" cy="11704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9"/>
          <p:cNvSpPr txBox="1"/>
          <p:nvPr/>
        </p:nvSpPr>
        <p:spPr>
          <a:xfrm>
            <a:off x="8524037" y="202996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1" name="Google Shape;221;p9"/>
          <p:cNvSpPr txBox="1"/>
          <p:nvPr/>
        </p:nvSpPr>
        <p:spPr>
          <a:xfrm>
            <a:off x="8524037" y="2249424"/>
            <a:ext cx="28446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专家反馈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2" name="Google Shape;222;p9"/>
          <p:cNvSpPr txBox="1"/>
          <p:nvPr/>
        </p:nvSpPr>
        <p:spPr>
          <a:xfrm>
            <a:off x="8524037" y="2670048"/>
            <a:ext cx="2844698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真实工作背后的判断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3" name="Google Shape;223;p9"/>
          <p:cNvSpPr txBox="1"/>
          <p:nvPr/>
        </p:nvSpPr>
        <p:spPr>
          <a:xfrm>
            <a:off x="5821528" y="3017520"/>
            <a:ext cx="5486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200"/>
              <a:buFont typeface="Instrument Sans"/>
              <a:buNone/>
            </a:pPr>
            <a:r>
              <a:rPr lang="zh-CN" sz="22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4" name="Google Shape;224;p9"/>
          <p:cNvSpPr/>
          <p:nvPr/>
        </p:nvSpPr>
        <p:spPr>
          <a:xfrm>
            <a:off x="548640" y="3364992"/>
            <a:ext cx="11094415" cy="914400"/>
          </a:xfrm>
          <a:prstGeom prst="rect">
            <a:avLst/>
          </a:prstGeom>
          <a:solidFill>
            <a:srgbClr val="111110"/>
          </a:solidFill>
          <a:ln w="12700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9"/>
          <p:cNvSpPr txBox="1"/>
          <p:nvPr/>
        </p:nvSpPr>
        <p:spPr>
          <a:xfrm>
            <a:off x="822960" y="3364992"/>
            <a:ext cx="118872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SimReal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6" name="Google Shape;226;p9"/>
          <p:cNvSpPr txBox="1"/>
          <p:nvPr/>
        </p:nvSpPr>
        <p:spPr>
          <a:xfrm>
            <a:off x="2011680" y="3364992"/>
            <a:ext cx="566928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2600"/>
              <a:buFont typeface="Newsreader"/>
              <a:buNone/>
            </a:pPr>
            <a:r>
              <a:rPr lang="zh-CN" sz="26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一个给出真实反馈的世界</a:t>
            </a:r>
            <a:endParaRPr sz="26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27" name="Google Shape;227;p9"/>
          <p:cNvSpPr txBox="1"/>
          <p:nvPr/>
        </p:nvSpPr>
        <p:spPr>
          <a:xfrm>
            <a:off x="7680960" y="3364992"/>
            <a:ext cx="36877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每次结果都是训练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237" name="Google Shape;237;p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9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39" name="Google Shape;239;p9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07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40" name="Rounded Rectangle 239"/>
          <p:cNvSpPr/>
          <p:nvPr/>
        </p:nvSpPr>
        <p:spPr>
          <a:xfrm>
            <a:off x="548640" y="4498848"/>
            <a:ext cx="2148840" cy="585216"/>
          </a:xfrm>
          <a:prstGeom prst="roundRect">
            <a:avLst/>
          </a:prstGeom>
          <a:solidFill>
            <a:srgbClr val="111110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41" name="TextBox 240"/>
          <p:cNvSpPr txBox="1"/>
          <p:nvPr/>
        </p:nvSpPr>
        <p:spPr>
          <a:xfrm>
            <a:off x="548640" y="4498848"/>
            <a:ext cx="21488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AI行动</a:t>
            </a:r>
          </a:p>
        </p:txBody>
      </p:sp>
      <p:cxnSp>
        <p:nvCxnSpPr>
          <p:cNvPr id="242" name="Connector 241"/>
          <p:cNvCxnSpPr/>
          <p:nvPr/>
        </p:nvCxnSpPr>
        <p:spPr>
          <a:xfrm>
            <a:off x="2807208" y="4791456"/>
            <a:ext cx="612648" cy="0"/>
          </a:xfrm>
          <a:prstGeom prst="line">
            <a:avLst/>
          </a:prstGeom>
          <a:ln w="15875">
            <a:solidFill>
              <a:srgbClr val="6E6C66"/>
            </a:solidFill>
            <a:tailEnd type="triangle" w="lg" len="lg"/>
          </a:ln>
        </p:spPr>
      </p:cxnSp>
      <p:sp>
        <p:nvSpPr>
          <p:cNvPr id="243" name="Rounded Rectangle 242"/>
          <p:cNvSpPr/>
          <p:nvPr/>
        </p:nvSpPr>
        <p:spPr>
          <a:xfrm>
            <a:off x="3529584" y="4498848"/>
            <a:ext cx="2148840" cy="5852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0DA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244" name="TextBox 243"/>
          <p:cNvSpPr txBox="1"/>
          <p:nvPr/>
        </p:nvSpPr>
        <p:spPr>
          <a:xfrm>
            <a:off x="3529584" y="4498848"/>
            <a:ext cx="21488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世界给出反馈</a:t>
            </a:r>
          </a:p>
        </p:txBody>
      </p:sp>
      <p:cxnSp>
        <p:nvCxnSpPr>
          <p:cNvPr id="245" name="Connector 244"/>
          <p:cNvCxnSpPr/>
          <p:nvPr/>
        </p:nvCxnSpPr>
        <p:spPr>
          <a:xfrm>
            <a:off x="5788152" y="4791456"/>
            <a:ext cx="612648" cy="0"/>
          </a:xfrm>
          <a:prstGeom prst="line">
            <a:avLst/>
          </a:prstGeom>
          <a:ln w="15875">
            <a:solidFill>
              <a:srgbClr val="6E6C66"/>
            </a:solidFill>
            <a:tailEnd type="triangle" w="lg" len="lg"/>
          </a:ln>
        </p:spPr>
      </p:cxnSp>
      <p:sp>
        <p:nvSpPr>
          <p:cNvPr id="246" name="Rounded Rectangle 245"/>
          <p:cNvSpPr/>
          <p:nvPr/>
        </p:nvSpPr>
        <p:spPr>
          <a:xfrm>
            <a:off x="6510528" y="4498848"/>
            <a:ext cx="2148840" cy="5852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0DA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247" name="TextBox 246"/>
          <p:cNvSpPr txBox="1"/>
          <p:nvPr/>
        </p:nvSpPr>
        <p:spPr>
          <a:xfrm>
            <a:off x="6510528" y="4498848"/>
            <a:ext cx="21488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AI从结果中训练</a:t>
            </a:r>
          </a:p>
        </p:txBody>
      </p:sp>
      <p:cxnSp>
        <p:nvCxnSpPr>
          <p:cNvPr id="248" name="Connector 247"/>
          <p:cNvCxnSpPr/>
          <p:nvPr/>
        </p:nvCxnSpPr>
        <p:spPr>
          <a:xfrm>
            <a:off x="8769096" y="4791456"/>
            <a:ext cx="612648" cy="0"/>
          </a:xfrm>
          <a:prstGeom prst="line">
            <a:avLst/>
          </a:prstGeom>
          <a:ln w="15875">
            <a:solidFill>
              <a:srgbClr val="6E6C66"/>
            </a:solidFill>
            <a:tailEnd type="triangle" w="lg" len="lg"/>
          </a:ln>
        </p:spPr>
      </p:cxnSp>
      <p:sp>
        <p:nvSpPr>
          <p:cNvPr id="249" name="Rounded Rectangle 248"/>
          <p:cNvSpPr/>
          <p:nvPr/>
        </p:nvSpPr>
        <p:spPr>
          <a:xfrm>
            <a:off x="9491472" y="4498848"/>
            <a:ext cx="2148840" cy="585216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50" name="TextBox 249"/>
          <p:cNvSpPr txBox="1"/>
          <p:nvPr/>
        </p:nvSpPr>
        <p:spPr>
          <a:xfrm>
            <a:off x="9491472" y="4498848"/>
            <a:ext cx="21488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</a:p>
        </p:txBody>
      </p:sp>
      <p:cxnSp>
        <p:nvCxnSpPr>
          <p:cNvPr id="251" name="Connector 250"/>
          <p:cNvCxnSpPr/>
          <p:nvPr/>
        </p:nvCxnSpPr>
        <p:spPr>
          <a:xfrm>
            <a:off x="10565892" y="5084064"/>
            <a:ext cx="0" cy="658368"/>
          </a:xfrm>
          <a:prstGeom prst="line">
            <a:avLst/>
          </a:prstGeom>
          <a:ln w="19050">
            <a:solidFill>
              <a:srgbClr val="C2410C"/>
            </a:solidFill>
          </a:ln>
        </p:spPr>
      </p:cxnSp>
      <p:cxnSp>
        <p:nvCxnSpPr>
          <p:cNvPr id="252" name="Connector 251"/>
          <p:cNvCxnSpPr/>
          <p:nvPr/>
        </p:nvCxnSpPr>
        <p:spPr>
          <a:xfrm flipH="1">
            <a:off x="1623060" y="5742432"/>
            <a:ext cx="8942832" cy="0"/>
          </a:xfrm>
          <a:prstGeom prst="line">
            <a:avLst/>
          </a:prstGeom>
          <a:ln w="19050">
            <a:solidFill>
              <a:srgbClr val="C2410C"/>
            </a:solidFill>
          </a:ln>
        </p:spPr>
      </p:cxnSp>
      <p:cxnSp>
        <p:nvCxnSpPr>
          <p:cNvPr id="253" name="Connector 252"/>
          <p:cNvCxnSpPr/>
          <p:nvPr/>
        </p:nvCxnSpPr>
        <p:spPr>
          <a:xfrm flipV="1">
            <a:off x="1623060" y="5148072"/>
            <a:ext cx="0" cy="594360"/>
          </a:xfrm>
          <a:prstGeom prst="line">
            <a:avLst/>
          </a:prstGeom>
          <a:ln w="19050">
            <a:solidFill>
              <a:srgbClr val="C2410C"/>
            </a:solidFill>
            <a:tailEnd type="triangle" w="lg" len="lg"/>
          </a:ln>
        </p:spPr>
      </p:cxnSp>
      <p:sp>
        <p:nvSpPr>
          <p:cNvPr id="254" name="TextBox 253"/>
          <p:cNvSpPr txBox="1"/>
          <p:nvPr/>
        </p:nvSpPr>
        <p:spPr>
          <a:xfrm>
            <a:off x="3717035" y="5568696"/>
            <a:ext cx="4754880" cy="347472"/>
          </a:xfrm>
          <a:prstGeom prst="rect">
            <a:avLst/>
          </a:prstGeom>
          <a:solidFill>
            <a:srgbClr val="FAF9F6"/>
          </a:solidFill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0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每一轮都从上一轮出发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0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旗舰产品  ·  自我进化（RSI）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46" name="Google Shape;246;p10"/>
          <p:cNvSpPr txBox="1"/>
          <p:nvPr/>
        </p:nvSpPr>
        <p:spPr>
          <a:xfrm>
            <a:off x="548640" y="621792"/>
            <a:ext cx="6035040" cy="841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6000"/>
              <a:buFont typeface="Newsreader"/>
              <a:buNone/>
            </a:pPr>
            <a:r>
              <a:rPr lang="zh-CN" sz="60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Xitadel</a:t>
            </a:r>
            <a:endParaRPr sz="6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47" name="Google Shape;247;p10"/>
          <p:cNvSpPr txBox="1"/>
          <p:nvPr/>
        </p:nvSpPr>
        <p:spPr>
          <a:xfrm>
            <a:off x="548640" y="1517904"/>
            <a:ext cx="60351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2000"/>
              <a:buFont typeface="Newsreader"/>
              <a:buNone/>
            </a:pPr>
            <a:r>
              <a:rPr lang="zh-CN" sz="2000" b="0" i="0" u="none" strike="noStrike" cap="none" dirty="0">
                <a:solidFill>
                  <a:srgbClr val="6E6C66"/>
                </a:solidFill>
                <a:latin typeface="Newsreader"/>
                <a:ea typeface="Newsreader"/>
                <a:cs typeface="Newsreader"/>
                <a:sym typeface="Newsreader"/>
              </a:rPr>
              <a:t>AI自己学会交易</a:t>
            </a:r>
            <a:endParaRPr sz="2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48" name="Google Shape;248;p10"/>
          <p:cNvCxnSpPr/>
          <p:nvPr/>
        </p:nvCxnSpPr>
        <p:spPr>
          <a:xfrm>
            <a:off x="548640" y="2029968"/>
            <a:ext cx="589788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49" name="Google Shape;249;p10"/>
          <p:cNvSpPr txBox="1"/>
          <p:nvPr/>
        </p:nvSpPr>
        <p:spPr>
          <a:xfrm>
            <a:off x="548640" y="2029968"/>
            <a:ext cx="1371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上真实战场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50" name="Google Shape;250;p10"/>
          <p:cNvSpPr txBox="1"/>
          <p:nvPr/>
        </p:nvSpPr>
        <p:spPr>
          <a:xfrm>
            <a:off x="1965960" y="2029968"/>
            <a:ext cx="512064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真实市场，与顶尖交易员同场；IMC Trading授权数据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51" name="Google Shape;251;p10"/>
          <p:cNvCxnSpPr/>
          <p:nvPr/>
        </p:nvCxnSpPr>
        <p:spPr>
          <a:xfrm>
            <a:off x="548640" y="2505456"/>
            <a:ext cx="589788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2" name="Google Shape;252;p10"/>
          <p:cNvSpPr txBox="1"/>
          <p:nvPr/>
        </p:nvSpPr>
        <p:spPr>
          <a:xfrm>
            <a:off x="548640" y="2505456"/>
            <a:ext cx="1371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市场当裁判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53" name="Google Shape;253;p10"/>
          <p:cNvSpPr txBox="1"/>
          <p:nvPr/>
        </p:nvSpPr>
        <p:spPr>
          <a:xfrm>
            <a:off x="1965960" y="2505456"/>
            <a:ext cx="44805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每笔交易由市场结算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54" name="Google Shape;254;p10"/>
          <p:cNvCxnSpPr/>
          <p:nvPr/>
        </p:nvCxnSpPr>
        <p:spPr>
          <a:xfrm>
            <a:off x="548640" y="2980944"/>
            <a:ext cx="589788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5" name="Google Shape;255;p10"/>
          <p:cNvSpPr txBox="1"/>
          <p:nvPr/>
        </p:nvSpPr>
        <p:spPr>
          <a:xfrm>
            <a:off x="548640" y="2980944"/>
            <a:ext cx="1371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从结果中进化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56" name="Google Shape;256;p10"/>
          <p:cNvSpPr txBox="1"/>
          <p:nvPr/>
        </p:nvSpPr>
        <p:spPr>
          <a:xfrm>
            <a:off x="1965960" y="2980944"/>
            <a:ext cx="44805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2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每天复盘盈亏与订单，一轮比一轮强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257" name="Google Shape;257;p10"/>
          <p:cNvCxnSpPr/>
          <p:nvPr/>
        </p:nvCxnSpPr>
        <p:spPr>
          <a:xfrm>
            <a:off x="548640" y="3456432"/>
            <a:ext cx="589788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8" name="Google Shape;258;p10"/>
          <p:cNvSpPr txBox="1"/>
          <p:nvPr/>
        </p:nvSpPr>
        <p:spPr>
          <a:xfrm>
            <a:off x="548640" y="3602736"/>
            <a:ext cx="589788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开源模型Qwen3.8-27B在Xitadel训练后，在未见过的真实行情上交易表现提升12%，多次独立复现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59" name="Google Shape;259;p10"/>
          <p:cNvSpPr txBox="1"/>
          <p:nvPr/>
        </p:nvSpPr>
        <p:spPr>
          <a:xfrm>
            <a:off x="548640" y="4425696"/>
            <a:ext cx="58978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700"/>
              <a:buFont typeface="Newsreader"/>
              <a:buNone/>
            </a:pPr>
            <a:r>
              <a:rPr lang="zh-CN" sz="17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已证明：AI能在真实金融市场里自己变强</a:t>
            </a:r>
            <a:endParaRPr sz="1700" b="0" i="0" u="none" strike="noStrike" cap="none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700"/>
              <a:buFont typeface="Newsreader"/>
              <a:buNone/>
            </a:pPr>
            <a:endParaRPr sz="1700" dirty="0">
              <a:solidFill>
                <a:srgbClr val="111110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700"/>
              <a:buFont typeface="Newsreader"/>
              <a:buNone/>
            </a:pPr>
            <a:r>
              <a:rPr lang="zh-CN" sz="1700" b="0" i="0" u="none" strike="noStrike" cap="none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下一步：多策略、多市场、多行业</a:t>
            </a:r>
            <a:endParaRPr sz="17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0" name="Google Shape;260;p10"/>
          <p:cNvSpPr/>
          <p:nvPr/>
        </p:nvSpPr>
        <p:spPr>
          <a:xfrm>
            <a:off x="6812280" y="868680"/>
            <a:ext cx="4830900" cy="4343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0"/>
          <p:cNvSpPr txBox="1"/>
          <p:nvPr/>
        </p:nvSpPr>
        <p:spPr>
          <a:xfrm>
            <a:off x="7086600" y="1088136"/>
            <a:ext cx="3550615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每一轮都从上一轮的反馈出发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2" name="Google Shape;262;p10"/>
          <p:cNvSpPr txBox="1"/>
          <p:nvPr/>
        </p:nvSpPr>
        <p:spPr>
          <a:xfrm>
            <a:off x="10637215" y="1124712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9A978F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9A978F"/>
                </a:solidFill>
                <a:latin typeface="IBM Plex Mono"/>
                <a:ea typeface="IBM Plex Mono"/>
                <a:cs typeface="IBM Plex Mono"/>
                <a:sym typeface="IBM Plex Mono"/>
              </a:rPr>
              <a:t>示意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3" name="Google Shape;263;p10"/>
          <p:cNvSpPr txBox="1"/>
          <p:nvPr/>
        </p:nvSpPr>
        <p:spPr>
          <a:xfrm>
            <a:off x="7825984" y="1508760"/>
            <a:ext cx="146304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200"/>
              <a:buFont typeface="Instrument Sans"/>
              <a:buNone/>
            </a:pP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4" name="Google Shape;264;p10"/>
          <p:cNvSpPr txBox="1"/>
          <p:nvPr/>
        </p:nvSpPr>
        <p:spPr>
          <a:xfrm>
            <a:off x="7086600" y="4645152"/>
            <a:ext cx="4282135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nstrument Sans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以基础模型=100计；多次独立复现（受控实验，Qwen3.8-27B）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5" name="Google Shape;265;p10"/>
          <p:cNvSpPr txBox="1"/>
          <p:nvPr/>
        </p:nvSpPr>
        <p:spPr>
          <a:xfrm>
            <a:off x="548640" y="5468112"/>
            <a:ext cx="1151698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br>
              <a:rPr lang="en-US" alt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</a:br>
            <a:r>
              <a:rPr lang="zh-CN" sz="20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两周，我们跑通了全球首个做市交易的自我进化</a:t>
            </a:r>
            <a:endParaRPr sz="2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266" name="Google Shape;266;p10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10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68" name="Google Shape;268;p10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08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269" name="Google Shape;269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86600" y="1398072"/>
            <a:ext cx="4282125" cy="30276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产品线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76" name="Google Shape;276;p1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altLang="en-US" sz="2800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同一套方法，已用在机器学习和事件预测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77" name="Google Shape;277;p11"/>
          <p:cNvSpPr txBox="1"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每个领域，都需要自己的训练世界</a:t>
            </a:r>
            <a:endParaRPr sz="15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78" name="Google Shape;278;p11"/>
          <p:cNvSpPr/>
          <p:nvPr/>
        </p:nvSpPr>
        <p:spPr>
          <a:xfrm>
            <a:off x="548640" y="1828800"/>
            <a:ext cx="5387188" cy="32461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79" name="Google Shape;279;p11" descr="SimReal-MLBench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24914" y="1975104"/>
            <a:ext cx="2834640" cy="141732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80" name="Google Shape;280;p11"/>
          <p:cNvCxnSpPr/>
          <p:nvPr/>
        </p:nvCxnSpPr>
        <p:spPr>
          <a:xfrm>
            <a:off x="868680" y="3529584"/>
            <a:ext cx="4747108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1" name="Google Shape;281;p11"/>
          <p:cNvSpPr txBox="1"/>
          <p:nvPr/>
        </p:nvSpPr>
        <p:spPr>
          <a:xfrm>
            <a:off x="868680" y="3639312"/>
            <a:ext cx="474710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SimReal-MLBench</a:t>
            </a: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AI研究员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2" name="Google Shape;282;p11"/>
          <p:cNvSpPr txBox="1"/>
          <p:nvPr/>
        </p:nvSpPr>
        <p:spPr>
          <a:xfrm>
            <a:off x="868680" y="4096512"/>
            <a:ext cx="474710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AI独立完成研究项目，从数据到结果：60个真实任务，7类数据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3" name="Google Shape;283;p11"/>
          <p:cNvSpPr txBox="1"/>
          <p:nvPr/>
        </p:nvSpPr>
        <p:spPr>
          <a:xfrm>
            <a:off x="868680" y="4645152"/>
            <a:ext cx="474710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 dirty="0">
                <a:solidFill>
                  <a:srgbClr val="C2410C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目标：AI改进AI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4" name="Google Shape;284;p11"/>
          <p:cNvSpPr/>
          <p:nvPr/>
        </p:nvSpPr>
        <p:spPr>
          <a:xfrm>
            <a:off x="6255868" y="1828800"/>
            <a:ext cx="5387188" cy="32461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85" name="Google Shape;285;p11" descr="Future Prediction Bench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32141" y="1975104"/>
            <a:ext cx="2834640" cy="141732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86" name="Google Shape;286;p11"/>
          <p:cNvCxnSpPr/>
          <p:nvPr/>
        </p:nvCxnSpPr>
        <p:spPr>
          <a:xfrm>
            <a:off x="6575908" y="3529584"/>
            <a:ext cx="4747108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7" name="Google Shape;287;p11"/>
          <p:cNvSpPr txBox="1"/>
          <p:nvPr/>
        </p:nvSpPr>
        <p:spPr>
          <a:xfrm>
            <a:off x="6575908" y="3639312"/>
            <a:ext cx="474710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Future Prediction Bench</a:t>
            </a: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   AI预测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8" name="Google Shape;288;p11"/>
          <p:cNvSpPr txBox="1"/>
          <p:nvPr/>
        </p:nvSpPr>
        <p:spPr>
          <a:xfrm>
            <a:off x="6575908" y="4096512"/>
            <a:ext cx="4747108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AI预判真实事件，从体育赛事到地震，揭晓后按结果打分、持续进化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89" name="Google Shape;289;p11"/>
          <p:cNvSpPr txBox="1"/>
          <p:nvPr/>
        </p:nvSpPr>
        <p:spPr>
          <a:xfrm>
            <a:off x="6575908" y="4645152"/>
            <a:ext cx="474710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 dirty="0">
                <a:solidFill>
                  <a:srgbClr val="C2410C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目标：经得起现实检验的判断</a:t>
            </a:r>
            <a:endParaRPr sz="1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0" name="Google Shape;290;p11"/>
          <p:cNvSpPr txBox="1"/>
          <p:nvPr/>
        </p:nvSpPr>
        <p:spPr>
          <a:xfrm>
            <a:off x="548640" y="5285232"/>
            <a:ext cx="39319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14天7款产品，零外部融资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1" name="Google Shape;291;p11"/>
          <p:cNvSpPr txBox="1"/>
          <p:nvPr/>
        </p:nvSpPr>
        <p:spPr>
          <a:xfrm>
            <a:off x="4526280" y="5312664"/>
            <a:ext cx="54864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另有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2" name="Google Shape;292;p11"/>
          <p:cNvSpPr/>
          <p:nvPr/>
        </p:nvSpPr>
        <p:spPr>
          <a:xfrm>
            <a:off x="5029200" y="5266944"/>
            <a:ext cx="1557452" cy="585216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3" name="Google Shape;293;p11"/>
          <p:cNvSpPr txBox="1"/>
          <p:nvPr/>
        </p:nvSpPr>
        <p:spPr>
          <a:xfrm>
            <a:off x="5157216" y="5321808"/>
            <a:ext cx="13745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 SemiBold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Month-End Close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财务结账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4" name="Google Shape;294;p11"/>
          <p:cNvSpPr/>
          <p:nvPr/>
        </p:nvSpPr>
        <p:spPr>
          <a:xfrm>
            <a:off x="6714668" y="5266944"/>
            <a:ext cx="1557452" cy="585216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5" name="Google Shape;295;p11"/>
          <p:cNvSpPr txBox="1"/>
          <p:nvPr/>
        </p:nvSpPr>
        <p:spPr>
          <a:xfrm>
            <a:off x="6842684" y="5321808"/>
            <a:ext cx="13745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 SemiBold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SWE-Forward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软件工程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6" name="Google Shape;296;p11"/>
          <p:cNvSpPr/>
          <p:nvPr/>
        </p:nvSpPr>
        <p:spPr>
          <a:xfrm>
            <a:off x="8400136" y="5266944"/>
            <a:ext cx="1557452" cy="585216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11"/>
          <p:cNvSpPr txBox="1"/>
          <p:nvPr/>
        </p:nvSpPr>
        <p:spPr>
          <a:xfrm>
            <a:off x="8528152" y="5321808"/>
            <a:ext cx="13745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 SemiBold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MathmoBench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数学证明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298" name="Google Shape;298;p11"/>
          <p:cNvSpPr/>
          <p:nvPr/>
        </p:nvSpPr>
        <p:spPr>
          <a:xfrm>
            <a:off x="10085603" y="5266944"/>
            <a:ext cx="1557452" cy="585216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9" name="Google Shape;299;p11"/>
          <p:cNvSpPr txBox="1"/>
          <p:nvPr/>
        </p:nvSpPr>
        <p:spPr>
          <a:xfrm>
            <a:off x="10213619" y="5321808"/>
            <a:ext cx="13745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nstrument Sans SemiBold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Puzzle Benchmark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逻辑推理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300" name="Google Shape;300;p11" descr="SimReal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301" name="Google Shape;301;p11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2" name="Google Shape;302;p11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09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6" name="Google Shape;336;p12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p12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38" name="Google Shape;338;p12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10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10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我们的优势</a:t>
            </a:r>
          </a:p>
        </p:txBody>
      </p:sp>
      <p:sp>
        <p:nvSpPr>
          <p:cNvPr id="3002" name="SimReal 3002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AI每一次变化，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我们第一个抓住、第一个交付</a:t>
            </a:r>
          </a:p>
        </p:txBody>
      </p:sp>
      <p:sp>
        <p:nvSpPr>
          <p:cNvPr id="3003" name="SimReal 3003"/>
          <p:cNvSpPr/>
          <p:nvPr/>
        </p:nvSpPr>
        <p:spPr>
          <a:xfrm>
            <a:off x="548640" y="1481328"/>
            <a:ext cx="3840480" cy="2596896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4" name="SimReal 3004"/>
          <p:cNvSpPr txBox="1"/>
          <p:nvPr/>
        </p:nvSpPr>
        <p:spPr>
          <a:xfrm>
            <a:off x="868680" y="1700784"/>
            <a:ext cx="3200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交付速度</a:t>
            </a:r>
          </a:p>
        </p:txBody>
      </p:sp>
      <p:sp>
        <p:nvSpPr>
          <p:cNvPr id="3005" name="SimReal 3005"/>
          <p:cNvSpPr txBox="1"/>
          <p:nvPr/>
        </p:nvSpPr>
        <p:spPr>
          <a:xfrm>
            <a:off x="868680" y="1901952"/>
            <a:ext cx="320040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60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14天</a:t>
            </a:r>
          </a:p>
        </p:txBody>
      </p:sp>
      <p:sp>
        <p:nvSpPr>
          <p:cNvPr id="3006" name="SimReal 3006"/>
          <p:cNvSpPr txBox="1"/>
          <p:nvPr/>
        </p:nvSpPr>
        <p:spPr>
          <a:xfrm>
            <a:off x="868680" y="2816352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7款产品上线，零外部融资</a:t>
            </a:r>
          </a:p>
        </p:txBody>
      </p:sp>
      <p:sp>
        <p:nvSpPr>
          <p:cNvPr id="3007" name="SimReal 3007"/>
          <p:cNvSpPr/>
          <p:nvPr/>
        </p:nvSpPr>
        <p:spPr>
          <a:xfrm>
            <a:off x="868680" y="3218688"/>
            <a:ext cx="320040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8" name="SimReal 3008"/>
          <p:cNvSpPr txBox="1"/>
          <p:nvPr/>
        </p:nvSpPr>
        <p:spPr>
          <a:xfrm>
            <a:off x="868680" y="3346704"/>
            <a:ext cx="3200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4C0B7"/>
                </a:solidFill>
                <a:latin typeface="IBM Plex Mono"/>
                <a:ea typeface="IBM Plex Mono"/>
                <a:cs typeface="IBM Plex Mono"/>
                <a:sym typeface="IBM Plex Mono"/>
              </a:rPr>
              <a:t>Xitadel · MLBench · Future Prediction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4C0B7"/>
                </a:solidFill>
                <a:latin typeface="IBM Plex Mono"/>
                <a:ea typeface="IBM Plex Mono"/>
                <a:cs typeface="IBM Plex Mono"/>
                <a:sym typeface="IBM Plex Mono"/>
              </a:rPr>
              <a:t>Month-End Close · SWE-Forward</a:t>
            </a:r>
          </a:p>
          <a:p>
            <a:pPr marL="0" marR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4C0B7"/>
                </a:solidFill>
                <a:latin typeface="IBM Plex Mono"/>
                <a:ea typeface="IBM Plex Mono"/>
                <a:cs typeface="IBM Plex Mono"/>
                <a:sym typeface="IBM Plex Mono"/>
              </a:rPr>
              <a:t>MathmoBench · Puzzle Benchmark</a:t>
            </a:r>
          </a:p>
        </p:txBody>
      </p:sp>
      <p:sp>
        <p:nvSpPr>
          <p:cNvPr id="3009" name="SimReal 3009"/>
          <p:cNvSpPr txBox="1"/>
          <p:nvPr/>
        </p:nvSpPr>
        <p:spPr>
          <a:xfrm>
            <a:off x="4754880" y="1481328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证明</a:t>
            </a:r>
          </a:p>
        </p:txBody>
      </p:sp>
      <p:sp>
        <p:nvSpPr>
          <p:cNvPr id="3010" name="SimReal 3010"/>
          <p:cNvSpPr/>
          <p:nvPr/>
        </p:nvSpPr>
        <p:spPr>
          <a:xfrm>
            <a:off x="4754880" y="1737360"/>
            <a:ext cx="68854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1" name="SimReal 3011"/>
          <p:cNvSpPr txBox="1"/>
          <p:nvPr/>
        </p:nvSpPr>
        <p:spPr>
          <a:xfrm>
            <a:off x="4754880" y="1737360"/>
            <a:ext cx="457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3012" name="SimReal 3012"/>
          <p:cNvSpPr txBox="1"/>
          <p:nvPr/>
        </p:nvSpPr>
        <p:spPr>
          <a:xfrm>
            <a:off x="5257800" y="1737360"/>
            <a:ext cx="1600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抓趋势</a:t>
            </a:r>
          </a:p>
        </p:txBody>
      </p:sp>
      <p:sp>
        <p:nvSpPr>
          <p:cNvPr id="3013" name="SimReal 3013"/>
          <p:cNvSpPr txBox="1"/>
          <p:nvPr/>
        </p:nvSpPr>
        <p:spPr>
          <a:xfrm>
            <a:off x="6903720" y="1737360"/>
            <a:ext cx="4736592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RL环境刚成为实验室刚需，我们两周跑通全球首个做市交易的自我进化</a:t>
            </a:r>
          </a:p>
        </p:txBody>
      </p:sp>
      <p:sp>
        <p:nvSpPr>
          <p:cNvPr id="3014" name="SimReal 3014"/>
          <p:cNvSpPr/>
          <p:nvPr/>
        </p:nvSpPr>
        <p:spPr>
          <a:xfrm>
            <a:off x="4754880" y="2205533"/>
            <a:ext cx="68854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5" name="SimReal 3015"/>
          <p:cNvSpPr txBox="1"/>
          <p:nvPr/>
        </p:nvSpPr>
        <p:spPr>
          <a:xfrm>
            <a:off x="4754880" y="2205533"/>
            <a:ext cx="457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3016" name="SimReal 3016"/>
          <p:cNvSpPr txBox="1"/>
          <p:nvPr/>
        </p:nvSpPr>
        <p:spPr>
          <a:xfrm>
            <a:off x="5257800" y="2205533"/>
            <a:ext cx="1600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交付质量</a:t>
            </a:r>
          </a:p>
        </p:txBody>
      </p:sp>
      <p:sp>
        <p:nvSpPr>
          <p:cNvPr id="3017" name="SimReal 3017"/>
          <p:cNvSpPr txBox="1"/>
          <p:nvPr/>
        </p:nvSpPr>
        <p:spPr>
          <a:xfrm>
            <a:off x="6903720" y="2205533"/>
            <a:ext cx="4736592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749道题、400次作弊攻击0次成功；财务环境评分漏洞6→0</a:t>
            </a:r>
          </a:p>
        </p:txBody>
      </p:sp>
      <p:sp>
        <p:nvSpPr>
          <p:cNvPr id="3018" name="SimReal 3018"/>
          <p:cNvSpPr/>
          <p:nvPr/>
        </p:nvSpPr>
        <p:spPr>
          <a:xfrm>
            <a:off x="4754880" y="2673706"/>
            <a:ext cx="68854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9" name="SimReal 3019"/>
          <p:cNvSpPr txBox="1"/>
          <p:nvPr/>
        </p:nvSpPr>
        <p:spPr>
          <a:xfrm>
            <a:off x="4754880" y="2673706"/>
            <a:ext cx="457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3020" name="SimReal 3020"/>
          <p:cNvSpPr txBox="1"/>
          <p:nvPr/>
        </p:nvSpPr>
        <p:spPr>
          <a:xfrm>
            <a:off x="5257800" y="2673706"/>
            <a:ext cx="1600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市场验证</a:t>
            </a:r>
          </a:p>
        </p:txBody>
      </p:sp>
      <p:sp>
        <p:nvSpPr>
          <p:cNvPr id="3021" name="SimReal 3021"/>
          <p:cNvSpPr txBox="1"/>
          <p:nvPr/>
        </p:nvSpPr>
        <p:spPr>
          <a:xfrm>
            <a:off x="6903720" y="2673706"/>
            <a:ext cx="4736592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首周GitHub 500+星标、7,000+专家候补、2家前沿实验室在谈</a:t>
            </a:r>
          </a:p>
        </p:txBody>
      </p:sp>
      <p:sp>
        <p:nvSpPr>
          <p:cNvPr id="3022" name="SimReal 3022"/>
          <p:cNvSpPr/>
          <p:nvPr/>
        </p:nvSpPr>
        <p:spPr>
          <a:xfrm>
            <a:off x="4754880" y="3141878"/>
            <a:ext cx="68854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3" name="SimReal 3023"/>
          <p:cNvSpPr txBox="1"/>
          <p:nvPr/>
        </p:nvSpPr>
        <p:spPr>
          <a:xfrm>
            <a:off x="4754880" y="3141878"/>
            <a:ext cx="457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3024" name="SimReal 3024"/>
          <p:cNvSpPr txBox="1"/>
          <p:nvPr/>
        </p:nvSpPr>
        <p:spPr>
          <a:xfrm>
            <a:off x="5257800" y="3141878"/>
            <a:ext cx="1600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过往战绩</a:t>
            </a:r>
          </a:p>
        </p:txBody>
      </p:sp>
      <p:sp>
        <p:nvSpPr>
          <p:cNvPr id="3025" name="SimReal 3025"/>
          <p:cNvSpPr txBox="1"/>
          <p:nvPr/>
        </p:nvSpPr>
        <p:spPr>
          <a:xfrm>
            <a:off x="6903720" y="3141878"/>
            <a:ext cx="4736592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U稳定币0→14亿美元、一个月上线Binance；五家顶级量化机构经历</a:t>
            </a:r>
          </a:p>
        </p:txBody>
      </p:sp>
      <p:sp>
        <p:nvSpPr>
          <p:cNvPr id="3026" name="SimReal 3026"/>
          <p:cNvSpPr/>
          <p:nvPr/>
        </p:nvSpPr>
        <p:spPr>
          <a:xfrm>
            <a:off x="4754880" y="3610051"/>
            <a:ext cx="68854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7" name="SimReal 3027"/>
          <p:cNvSpPr txBox="1"/>
          <p:nvPr/>
        </p:nvSpPr>
        <p:spPr>
          <a:xfrm>
            <a:off x="4754880" y="3610051"/>
            <a:ext cx="457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</a:p>
        </p:txBody>
      </p:sp>
      <p:sp>
        <p:nvSpPr>
          <p:cNvPr id="3028" name="SimReal 3028"/>
          <p:cNvSpPr txBox="1"/>
          <p:nvPr/>
        </p:nvSpPr>
        <p:spPr>
          <a:xfrm>
            <a:off x="5257800" y="3610051"/>
            <a:ext cx="1600200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行业覆盖</a:t>
            </a:r>
          </a:p>
        </p:txBody>
      </p:sp>
      <p:sp>
        <p:nvSpPr>
          <p:cNvPr id="3029" name="SimReal 3029"/>
          <p:cNvSpPr txBox="1"/>
          <p:nvPr/>
        </p:nvSpPr>
        <p:spPr>
          <a:xfrm>
            <a:off x="6903720" y="3610051"/>
            <a:ext cx="4736592" cy="4681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21所顶尖大学研究网络：快速、低成本覆盖各行业入门岗位和前沿科研</a:t>
            </a:r>
          </a:p>
        </p:txBody>
      </p:sp>
      <p:sp>
        <p:nvSpPr>
          <p:cNvPr id="3030" name="SimReal 3030"/>
          <p:cNvSpPr/>
          <p:nvPr/>
        </p:nvSpPr>
        <p:spPr>
          <a:xfrm>
            <a:off x="4754880" y="4078224"/>
            <a:ext cx="68854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1" name="SimReal 3031"/>
          <p:cNvSpPr txBox="1"/>
          <p:nvPr/>
        </p:nvSpPr>
        <p:spPr>
          <a:xfrm>
            <a:off x="548640" y="4334256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AI的热点一直在变</a:t>
            </a:r>
          </a:p>
        </p:txBody>
      </p:sp>
      <p:sp>
        <p:nvSpPr>
          <p:cNvPr id="3032" name="SimReal 3032"/>
          <p:cNvSpPr/>
          <p:nvPr/>
        </p:nvSpPr>
        <p:spPr>
          <a:xfrm>
            <a:off x="548640" y="4572000"/>
            <a:ext cx="2464308" cy="60350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3" name="SimReal 3033"/>
          <p:cNvSpPr txBox="1"/>
          <p:nvPr/>
        </p:nvSpPr>
        <p:spPr>
          <a:xfrm>
            <a:off x="768096" y="4572000"/>
            <a:ext cx="12801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数据标注</a:t>
            </a:r>
          </a:p>
        </p:txBody>
      </p:sp>
      <p:sp>
        <p:nvSpPr>
          <p:cNvPr id="3034" name="SimReal 3034"/>
          <p:cNvSpPr txBox="1"/>
          <p:nvPr/>
        </p:nvSpPr>
        <p:spPr>
          <a:xfrm>
            <a:off x="1920240" y="4572000"/>
            <a:ext cx="89154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Scale AI</a:t>
            </a:r>
          </a:p>
        </p:txBody>
      </p:sp>
      <p:sp>
        <p:nvSpPr>
          <p:cNvPr id="3035" name="SimReal 3035"/>
          <p:cNvSpPr txBox="1"/>
          <p:nvPr/>
        </p:nvSpPr>
        <p:spPr>
          <a:xfrm>
            <a:off x="3012948" y="4572000"/>
            <a:ext cx="411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36" name="SimReal 3036"/>
          <p:cNvSpPr/>
          <p:nvPr/>
        </p:nvSpPr>
        <p:spPr>
          <a:xfrm>
            <a:off x="3424428" y="4572000"/>
            <a:ext cx="2464308" cy="60350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7" name="SimReal 3037"/>
          <p:cNvSpPr txBox="1"/>
          <p:nvPr/>
        </p:nvSpPr>
        <p:spPr>
          <a:xfrm>
            <a:off x="3643884" y="4572000"/>
            <a:ext cx="12801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</a:t>
            </a:r>
          </a:p>
        </p:txBody>
      </p:sp>
      <p:sp>
        <p:nvSpPr>
          <p:cNvPr id="3038" name="SimReal 3038"/>
          <p:cNvSpPr txBox="1"/>
          <p:nvPr/>
        </p:nvSpPr>
        <p:spPr>
          <a:xfrm>
            <a:off x="4796028" y="4572000"/>
            <a:ext cx="89154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Mercor</a:t>
            </a:r>
          </a:p>
        </p:txBody>
      </p:sp>
      <p:sp>
        <p:nvSpPr>
          <p:cNvPr id="3039" name="SimReal 3039"/>
          <p:cNvSpPr txBox="1"/>
          <p:nvPr/>
        </p:nvSpPr>
        <p:spPr>
          <a:xfrm>
            <a:off x="5888736" y="4572000"/>
            <a:ext cx="411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40" name="SimReal 3040"/>
          <p:cNvSpPr/>
          <p:nvPr/>
        </p:nvSpPr>
        <p:spPr>
          <a:xfrm>
            <a:off x="6300216" y="4572000"/>
            <a:ext cx="2464308" cy="60350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1" name="SimReal 3041"/>
          <p:cNvSpPr txBox="1"/>
          <p:nvPr/>
        </p:nvSpPr>
        <p:spPr>
          <a:xfrm>
            <a:off x="6519672" y="4572000"/>
            <a:ext cx="12801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RL环境</a:t>
            </a:r>
          </a:p>
        </p:txBody>
      </p:sp>
      <p:sp>
        <p:nvSpPr>
          <p:cNvPr id="3042" name="SimReal 3042"/>
          <p:cNvSpPr txBox="1"/>
          <p:nvPr/>
        </p:nvSpPr>
        <p:spPr>
          <a:xfrm>
            <a:off x="7671816" y="4572000"/>
            <a:ext cx="89154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AfterQuery</a:t>
            </a:r>
          </a:p>
        </p:txBody>
      </p:sp>
      <p:sp>
        <p:nvSpPr>
          <p:cNvPr id="3043" name="SimReal 3043"/>
          <p:cNvSpPr txBox="1"/>
          <p:nvPr/>
        </p:nvSpPr>
        <p:spPr>
          <a:xfrm>
            <a:off x="8764524" y="4572000"/>
            <a:ext cx="41148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44" name="SimReal 3044"/>
          <p:cNvSpPr/>
          <p:nvPr/>
        </p:nvSpPr>
        <p:spPr>
          <a:xfrm>
            <a:off x="9176004" y="4572000"/>
            <a:ext cx="2464308" cy="60350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5" name="SimReal 3045"/>
          <p:cNvSpPr txBox="1"/>
          <p:nvPr/>
        </p:nvSpPr>
        <p:spPr>
          <a:xfrm>
            <a:off x="9395460" y="4572000"/>
            <a:ext cx="128016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</a:p>
        </p:txBody>
      </p:sp>
      <p:sp>
        <p:nvSpPr>
          <p:cNvPr id="3046" name="SimReal 3046"/>
          <p:cNvSpPr txBox="1"/>
          <p:nvPr/>
        </p:nvSpPr>
        <p:spPr>
          <a:xfrm>
            <a:off x="10547604" y="4572000"/>
            <a:ext cx="89154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SimReal</a:t>
            </a:r>
          </a:p>
        </p:txBody>
      </p:sp>
      <p:sp>
        <p:nvSpPr>
          <p:cNvPr id="3047" name="SimReal 3047"/>
          <p:cNvSpPr txBox="1"/>
          <p:nvPr/>
        </p:nvSpPr>
        <p:spPr>
          <a:xfrm>
            <a:off x="548640" y="5358384"/>
            <a:ext cx="11091672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热点变得越快，我们越有利。押注我们，就是押注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AI每一次范式变化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中的机会。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6" name="Google Shape;376;p13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377" name="Google Shape;377;p13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78" name="Google Shape;378;p13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11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商业模式</a:t>
            </a:r>
          </a:p>
        </p:txBody>
      </p:sp>
      <p:sp>
        <p:nvSpPr>
          <p:cNvPr id="3002" name="SimReal 3002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每一轮都有新交付：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合作越深，收入越高</a:t>
            </a:r>
          </a:p>
        </p:txBody>
      </p:sp>
      <p:sp>
        <p:nvSpPr>
          <p:cNvPr id="3003" name="SimReal 3003"/>
          <p:cNvSpPr txBox="1"/>
          <p:nvPr/>
        </p:nvSpPr>
        <p:spPr>
          <a:xfrm>
            <a:off x="548640" y="1463040"/>
            <a:ext cx="69494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四类产品   </a:t>
            </a: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  ·  专家数据  ·  评测与攻防测试  ·  RSI自我进化服务</a:t>
            </a:r>
          </a:p>
        </p:txBody>
      </p:sp>
      <p:sp>
        <p:nvSpPr>
          <p:cNvPr id="3004" name="SimReal 3004"/>
          <p:cNvSpPr txBox="1"/>
          <p:nvPr/>
        </p:nvSpPr>
        <p:spPr>
          <a:xfrm>
            <a:off x="7589520" y="1463040"/>
            <a:ext cx="4050792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同一模式：AfterQuery 14个月做到年化1亿美元</a:t>
            </a:r>
          </a:p>
        </p:txBody>
      </p:sp>
      <p:sp>
        <p:nvSpPr>
          <p:cNvPr id="3005" name="SimReal 3005"/>
          <p:cNvSpPr/>
          <p:nvPr/>
        </p:nvSpPr>
        <p:spPr>
          <a:xfrm>
            <a:off x="548640" y="1993392"/>
            <a:ext cx="11091672" cy="914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6" name="SimReal 3006"/>
          <p:cNvSpPr txBox="1"/>
          <p:nvPr/>
        </p:nvSpPr>
        <p:spPr>
          <a:xfrm>
            <a:off x="731520" y="2048256"/>
            <a:ext cx="210312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合作阶段</a:t>
            </a:r>
          </a:p>
        </p:txBody>
      </p:sp>
      <p:sp>
        <p:nvSpPr>
          <p:cNvPr id="3007" name="SimReal 3007"/>
          <p:cNvSpPr txBox="1"/>
          <p:nvPr/>
        </p:nvSpPr>
        <p:spPr>
          <a:xfrm>
            <a:off x="2926080" y="2048256"/>
            <a:ext cx="301752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客户买什么</a:t>
            </a:r>
          </a:p>
        </p:txBody>
      </p:sp>
      <p:sp>
        <p:nvSpPr>
          <p:cNvPr id="3008" name="SimReal 3008"/>
          <p:cNvSpPr txBox="1"/>
          <p:nvPr/>
        </p:nvSpPr>
        <p:spPr>
          <a:xfrm>
            <a:off x="6080760" y="2048256"/>
            <a:ext cx="237744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收费依据</a:t>
            </a:r>
          </a:p>
        </p:txBody>
      </p:sp>
      <p:sp>
        <p:nvSpPr>
          <p:cNvPr id="3009" name="SimReal 3009"/>
          <p:cNvSpPr txBox="1"/>
          <p:nvPr/>
        </p:nvSpPr>
        <p:spPr>
          <a:xfrm>
            <a:off x="8595360" y="2048256"/>
            <a:ext cx="288036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为什么继续买</a:t>
            </a:r>
          </a:p>
        </p:txBody>
      </p:sp>
      <p:sp>
        <p:nvSpPr>
          <p:cNvPr id="3010" name="SimReal 3010"/>
          <p:cNvSpPr/>
          <p:nvPr/>
        </p:nvSpPr>
        <p:spPr>
          <a:xfrm>
            <a:off x="548640" y="2340864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1" name="SimReal 3011"/>
          <p:cNvSpPr txBox="1"/>
          <p:nvPr/>
        </p:nvSpPr>
        <p:spPr>
          <a:xfrm>
            <a:off x="731520" y="2340864"/>
            <a:ext cx="4114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3012" name="SimReal 3012"/>
          <p:cNvSpPr txBox="1"/>
          <p:nvPr/>
        </p:nvSpPr>
        <p:spPr>
          <a:xfrm>
            <a:off x="1143000" y="2340864"/>
            <a:ext cx="1737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付费试点</a:t>
            </a:r>
          </a:p>
        </p:txBody>
      </p:sp>
      <p:sp>
        <p:nvSpPr>
          <p:cNvPr id="3013" name="SimReal 3013"/>
          <p:cNvSpPr txBox="1"/>
          <p:nvPr/>
        </p:nvSpPr>
        <p:spPr>
          <a:xfrm>
            <a:off x="2926080" y="2340864"/>
            <a:ext cx="301752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一个能力目标的环境与评测包</a:t>
            </a:r>
          </a:p>
        </p:txBody>
      </p:sp>
      <p:sp>
        <p:nvSpPr>
          <p:cNvPr id="3014" name="SimReal 3014"/>
          <p:cNvSpPr txBox="1"/>
          <p:nvPr/>
        </p:nvSpPr>
        <p:spPr>
          <a:xfrm>
            <a:off x="6080760" y="2340864"/>
            <a:ext cx="23774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固定范围、固定验收标准</a:t>
            </a:r>
          </a:p>
        </p:txBody>
      </p:sp>
      <p:sp>
        <p:nvSpPr>
          <p:cNvPr id="3015" name="SimReal 3015"/>
          <p:cNvSpPr txBox="1"/>
          <p:nvPr/>
        </p:nvSpPr>
        <p:spPr>
          <a:xfrm>
            <a:off x="8595360" y="2340864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验证接入与训练价值</a:t>
            </a:r>
          </a:p>
        </p:txBody>
      </p:sp>
      <p:sp>
        <p:nvSpPr>
          <p:cNvPr id="3016" name="SimReal 3016"/>
          <p:cNvSpPr/>
          <p:nvPr/>
        </p:nvSpPr>
        <p:spPr>
          <a:xfrm>
            <a:off x="548640" y="2907792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7" name="SimReal 3017"/>
          <p:cNvSpPr txBox="1"/>
          <p:nvPr/>
        </p:nvSpPr>
        <p:spPr>
          <a:xfrm>
            <a:off x="731520" y="2907792"/>
            <a:ext cx="4114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3018" name="SimReal 3018"/>
          <p:cNvSpPr txBox="1"/>
          <p:nvPr/>
        </p:nvSpPr>
        <p:spPr>
          <a:xfrm>
            <a:off x="1143000" y="2907792"/>
            <a:ext cx="1737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正式授权</a:t>
            </a:r>
          </a:p>
        </p:txBody>
      </p:sp>
      <p:sp>
        <p:nvSpPr>
          <p:cNvPr id="3019" name="SimReal 3019"/>
          <p:cNvSpPr txBox="1"/>
          <p:nvPr/>
        </p:nvSpPr>
        <p:spPr>
          <a:xfrm>
            <a:off x="2926080" y="2907792"/>
            <a:ext cx="301752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环境、任务集、验证器、约定使用权</a:t>
            </a:r>
          </a:p>
        </p:txBody>
      </p:sp>
      <p:sp>
        <p:nvSpPr>
          <p:cNvPr id="3020" name="SimReal 3020"/>
          <p:cNvSpPr txBox="1"/>
          <p:nvPr/>
        </p:nvSpPr>
        <p:spPr>
          <a:xfrm>
            <a:off x="6080760" y="2907792"/>
            <a:ext cx="23774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期限、范围、独占性、交付量</a:t>
            </a:r>
          </a:p>
        </p:txBody>
      </p:sp>
      <p:sp>
        <p:nvSpPr>
          <p:cNvPr id="3021" name="SimReal 3021"/>
          <p:cNvSpPr txBox="1"/>
          <p:nvPr/>
        </p:nvSpPr>
        <p:spPr>
          <a:xfrm>
            <a:off x="8595360" y="2907792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扩大领域与任务覆盖</a:t>
            </a:r>
          </a:p>
        </p:txBody>
      </p:sp>
      <p:sp>
        <p:nvSpPr>
          <p:cNvPr id="3022" name="SimReal 3022"/>
          <p:cNvSpPr/>
          <p:nvPr/>
        </p:nvSpPr>
        <p:spPr>
          <a:xfrm>
            <a:off x="548640" y="3474720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3" name="SimReal 3023"/>
          <p:cNvSpPr txBox="1"/>
          <p:nvPr/>
        </p:nvSpPr>
        <p:spPr>
          <a:xfrm>
            <a:off x="731520" y="3474720"/>
            <a:ext cx="4114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3024" name="SimReal 3024"/>
          <p:cNvSpPr txBox="1"/>
          <p:nvPr/>
        </p:nvSpPr>
        <p:spPr>
          <a:xfrm>
            <a:off x="1143000" y="3474720"/>
            <a:ext cx="1737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持续更新</a:t>
            </a:r>
          </a:p>
        </p:txBody>
      </p:sp>
      <p:sp>
        <p:nvSpPr>
          <p:cNvPr id="3025" name="SimReal 3025"/>
          <p:cNvSpPr txBox="1"/>
          <p:nvPr/>
        </p:nvSpPr>
        <p:spPr>
          <a:xfrm>
            <a:off x="2926080" y="3474720"/>
            <a:ext cx="301752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新场景、新任务、私有留出集、验证器维护</a:t>
            </a:r>
          </a:p>
        </p:txBody>
      </p:sp>
      <p:sp>
        <p:nvSpPr>
          <p:cNvPr id="3026" name="SimReal 3026"/>
          <p:cNvSpPr txBox="1"/>
          <p:nvPr/>
        </p:nvSpPr>
        <p:spPr>
          <a:xfrm>
            <a:off x="6080760" y="3474720"/>
            <a:ext cx="23774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年度合同或分批订单</a:t>
            </a:r>
          </a:p>
        </p:txBody>
      </p:sp>
      <p:sp>
        <p:nvSpPr>
          <p:cNvPr id="3027" name="SimReal 3027"/>
          <p:cNvSpPr txBox="1"/>
          <p:nvPr/>
        </p:nvSpPr>
        <p:spPr>
          <a:xfrm>
            <a:off x="8595360" y="3474720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旧任务会被做饱和，新能力需要新任务</a:t>
            </a:r>
          </a:p>
        </p:txBody>
      </p:sp>
      <p:sp>
        <p:nvSpPr>
          <p:cNvPr id="3028" name="SimReal 3028"/>
          <p:cNvSpPr/>
          <p:nvPr/>
        </p:nvSpPr>
        <p:spPr>
          <a:xfrm>
            <a:off x="548640" y="4041648"/>
            <a:ext cx="1109167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9" name="SimReal 3029"/>
          <p:cNvSpPr/>
          <p:nvPr/>
        </p:nvSpPr>
        <p:spPr>
          <a:xfrm>
            <a:off x="548640" y="4041648"/>
            <a:ext cx="11091672" cy="56692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0" name="SimReal 3030"/>
          <p:cNvSpPr txBox="1"/>
          <p:nvPr/>
        </p:nvSpPr>
        <p:spPr>
          <a:xfrm>
            <a:off x="731520" y="4041648"/>
            <a:ext cx="4114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3031" name="SimReal 3031"/>
          <p:cNvSpPr txBox="1"/>
          <p:nvPr/>
        </p:nvSpPr>
        <p:spPr>
          <a:xfrm>
            <a:off x="1143000" y="4041648"/>
            <a:ext cx="1737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5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联合训练（RSI）</a:t>
            </a:r>
          </a:p>
        </p:txBody>
      </p:sp>
      <p:sp>
        <p:nvSpPr>
          <p:cNvPr id="3032" name="SimReal 3032"/>
          <p:cNvSpPr txBox="1"/>
          <p:nvPr/>
        </p:nvSpPr>
        <p:spPr>
          <a:xfrm>
            <a:off x="2926080" y="4041648"/>
            <a:ext cx="301752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训练实验、消融分析、迁移验证、托管运行</a:t>
            </a:r>
          </a:p>
        </p:txBody>
      </p:sp>
      <p:sp>
        <p:nvSpPr>
          <p:cNvPr id="3033" name="SimReal 3033"/>
          <p:cNvSpPr txBox="1"/>
          <p:nvPr/>
        </p:nvSpPr>
        <p:spPr>
          <a:xfrm>
            <a:off x="6080760" y="4041648"/>
            <a:ext cx="23774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项目或持续服务合同</a:t>
            </a:r>
          </a:p>
        </p:txBody>
      </p:sp>
      <p:sp>
        <p:nvSpPr>
          <p:cNvPr id="3034" name="SimReal 3034"/>
          <p:cNvSpPr txBox="1"/>
          <p:nvPr/>
        </p:nvSpPr>
        <p:spPr>
          <a:xfrm>
            <a:off x="8595360" y="4041648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解决客户下一阶段的能力缺口</a:t>
            </a:r>
          </a:p>
        </p:txBody>
      </p:sp>
      <p:sp>
        <p:nvSpPr>
          <p:cNvPr id="3035" name="SimReal 3035"/>
          <p:cNvSpPr/>
          <p:nvPr/>
        </p:nvSpPr>
        <p:spPr>
          <a:xfrm>
            <a:off x="548640" y="4864608"/>
            <a:ext cx="3544824" cy="102412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6" name="SimReal 3036"/>
          <p:cNvSpPr txBox="1"/>
          <p:nvPr/>
        </p:nvSpPr>
        <p:spPr>
          <a:xfrm>
            <a:off x="786384" y="5010912"/>
            <a:ext cx="3069336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开源 vs 付费</a:t>
            </a:r>
          </a:p>
        </p:txBody>
      </p:sp>
      <p:sp>
        <p:nvSpPr>
          <p:cNvPr id="3037" name="SimReal 3037"/>
          <p:cNvSpPr txBox="1"/>
          <p:nvPr/>
        </p:nvSpPr>
        <p:spPr>
          <a:xfrm>
            <a:off x="786384" y="5358384"/>
            <a:ext cx="306933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开源基准：公开，用来建立信任</a:t>
            </a: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付费产品：私有任务、留出集与验证器</a:t>
            </a:r>
          </a:p>
        </p:txBody>
      </p:sp>
      <p:sp>
        <p:nvSpPr>
          <p:cNvPr id="3038" name="SimReal 3038"/>
          <p:cNvSpPr/>
          <p:nvPr/>
        </p:nvSpPr>
        <p:spPr>
          <a:xfrm>
            <a:off x="4322064" y="4864608"/>
            <a:ext cx="3544824" cy="102412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9" name="SimReal 3039"/>
          <p:cNvSpPr txBox="1"/>
          <p:nvPr/>
        </p:nvSpPr>
        <p:spPr>
          <a:xfrm>
            <a:off x="4559808" y="5010912"/>
            <a:ext cx="3069336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非独家 vs 独家</a:t>
            </a:r>
          </a:p>
        </p:txBody>
      </p:sp>
      <p:sp>
        <p:nvSpPr>
          <p:cNvPr id="3040" name="SimReal 3040"/>
          <p:cNvSpPr txBox="1"/>
          <p:nvPr/>
        </p:nvSpPr>
        <p:spPr>
          <a:xfrm>
            <a:off x="4559808" y="5358384"/>
            <a:ext cx="306933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非独家：同一环境可授权给多家实验室</a:t>
            </a: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独家：按领域与期限锁定，溢价较大（Epoch AI）</a:t>
            </a:r>
          </a:p>
        </p:txBody>
      </p:sp>
      <p:sp>
        <p:nvSpPr>
          <p:cNvPr id="3041" name="SimReal 3041"/>
          <p:cNvSpPr/>
          <p:nvPr/>
        </p:nvSpPr>
        <p:spPr>
          <a:xfrm>
            <a:off x="8095488" y="4864608"/>
            <a:ext cx="3544824" cy="1024128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2" name="SimReal 3042"/>
          <p:cNvSpPr txBox="1"/>
          <p:nvPr/>
        </p:nvSpPr>
        <p:spPr>
          <a:xfrm>
            <a:off x="8333232" y="5010912"/>
            <a:ext cx="3069336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交付之后，仍由我们提供</a:t>
            </a:r>
          </a:p>
        </p:txBody>
      </p:sp>
      <p:sp>
        <p:nvSpPr>
          <p:cNvPr id="3043" name="SimReal 3043"/>
          <p:cNvSpPr txBox="1"/>
          <p:nvPr/>
        </p:nvSpPr>
        <p:spPr>
          <a:xfrm>
            <a:off x="8333232" y="5358384"/>
            <a:ext cx="306933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验证器维护、防作弊修补</a:t>
            </a: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难度升级、托管运行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0"/>
        </a:solidFill>
        <a:effectLst/>
      </p:bgPr>
    </p:bg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4" name="Google Shape;384;p14" descr="star char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14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  <a:r>
              <a:rPr lang="zh-CN" sz="1100" b="1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进展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86" name="Google Shape;386;p14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成立两周，合作方已在排队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87" name="Google Shape;387;p14"/>
          <p:cNvCxnSpPr/>
          <p:nvPr/>
        </p:nvCxnSpPr>
        <p:spPr>
          <a:xfrm>
            <a:off x="548640" y="1783080"/>
            <a:ext cx="2567864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88" name="Google Shape;388;p14"/>
          <p:cNvSpPr txBox="1"/>
          <p:nvPr/>
        </p:nvSpPr>
        <p:spPr>
          <a:xfrm>
            <a:off x="548640" y="1901952"/>
            <a:ext cx="256786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2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89" name="Google Shape;389;p14"/>
          <p:cNvSpPr txBox="1"/>
          <p:nvPr/>
        </p:nvSpPr>
        <p:spPr>
          <a:xfrm>
            <a:off x="548640" y="2670048"/>
            <a:ext cx="243070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家前沿实验室在谈</a:t>
            </a:r>
            <a:b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目标第2个月首单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0" name="Google Shape;390;p14"/>
          <p:cNvCxnSpPr/>
          <p:nvPr/>
        </p:nvCxnSpPr>
        <p:spPr>
          <a:xfrm>
            <a:off x="3390824" y="1783080"/>
            <a:ext cx="2567864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91" name="Google Shape;391;p14"/>
          <p:cNvSpPr txBox="1"/>
          <p:nvPr/>
        </p:nvSpPr>
        <p:spPr>
          <a:xfrm>
            <a:off x="3390824" y="1901952"/>
            <a:ext cx="256786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7,000</a:t>
            </a:r>
            <a:r>
              <a:rPr lang="zh-CN" sz="4400" b="0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92" name="Google Shape;392;p14"/>
          <p:cNvSpPr txBox="1"/>
          <p:nvPr/>
        </p:nvSpPr>
        <p:spPr>
          <a:xfrm>
            <a:off x="3390824" y="2670048"/>
            <a:ext cx="243070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名专家候补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3" name="Google Shape;393;p14"/>
          <p:cNvCxnSpPr/>
          <p:nvPr/>
        </p:nvCxnSpPr>
        <p:spPr>
          <a:xfrm>
            <a:off x="6233008" y="1783080"/>
            <a:ext cx="2567864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94" name="Google Shape;394;p14"/>
          <p:cNvSpPr txBox="1"/>
          <p:nvPr/>
        </p:nvSpPr>
        <p:spPr>
          <a:xfrm>
            <a:off x="6233008" y="1901952"/>
            <a:ext cx="256786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500</a:t>
            </a:r>
            <a:r>
              <a:rPr lang="zh-CN" sz="4400" b="0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95" name="Google Shape;395;p14"/>
          <p:cNvSpPr txBox="1"/>
          <p:nvPr/>
        </p:nvSpPr>
        <p:spPr>
          <a:xfrm>
            <a:off x="6233008" y="2670048"/>
            <a:ext cx="243070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首周GitHub星标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6" name="Google Shape;396;p14"/>
          <p:cNvCxnSpPr/>
          <p:nvPr/>
        </p:nvCxnSpPr>
        <p:spPr>
          <a:xfrm>
            <a:off x="9075191" y="1783080"/>
            <a:ext cx="2567864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97" name="Google Shape;397;p14"/>
          <p:cNvSpPr txBox="1"/>
          <p:nvPr/>
        </p:nvSpPr>
        <p:spPr>
          <a:xfrm>
            <a:off x="9075191" y="1901952"/>
            <a:ext cx="2567864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5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98" name="Google Shape;398;p14"/>
          <p:cNvSpPr txBox="1"/>
          <p:nvPr/>
        </p:nvSpPr>
        <p:spPr>
          <a:xfrm>
            <a:off x="9075191" y="2670048"/>
            <a:ext cx="2430704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200"/>
              <a:buFont typeface="Instrument Sans"/>
              <a:buNone/>
            </a:pPr>
            <a:r>
              <a:rPr lang="zh-CN" sz="12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位硅谷顶级天使主动联系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399" name="Google Shape;399;p14"/>
          <p:cNvCxnSpPr/>
          <p:nvPr/>
        </p:nvCxnSpPr>
        <p:spPr>
          <a:xfrm>
            <a:off x="548640" y="3703320"/>
            <a:ext cx="11094415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00" name="Google Shape;400;p1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2200"/>
              <a:buFont typeface="Newsreader"/>
              <a:buNone/>
            </a:pPr>
            <a:r>
              <a:rPr lang="zh-CN" sz="2200" b="0" i="0" u="none" strike="noStrike" cap="none" dirty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顶级交易公司的从业者，在支持我们的研发</a:t>
            </a:r>
            <a:endParaRPr sz="22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401" name="Google Shape;401;p14" descr="jane-street-pape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29988" y="4753455"/>
            <a:ext cx="856188" cy="332034"/>
          </a:xfrm>
          <a:prstGeom prst="rect">
            <a:avLst/>
          </a:prstGeom>
          <a:noFill/>
          <a:ln>
            <a:noFill/>
          </a:ln>
        </p:spPr>
      </p:pic>
      <p:pic>
        <p:nvPicPr>
          <p:cNvPr id="402" name="Google Shape;402;p14" descr="imc-paper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257463" y="4804749"/>
            <a:ext cx="1239004" cy="22944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Google Shape;403;p14" descr="citadel-securities-paper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176" y="4732773"/>
            <a:ext cx="761343" cy="373397"/>
          </a:xfrm>
          <a:prstGeom prst="rect">
            <a:avLst/>
          </a:prstGeom>
          <a:noFill/>
          <a:ln>
            <a:noFill/>
          </a:ln>
        </p:spPr>
      </p:pic>
      <p:pic>
        <p:nvPicPr>
          <p:cNvPr id="404" name="Google Shape;404;p14" descr="optiver-paper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749003" y="4793845"/>
            <a:ext cx="1131456" cy="251254"/>
          </a:xfrm>
          <a:prstGeom prst="rect">
            <a:avLst/>
          </a:prstGeom>
          <a:noFill/>
          <a:ln>
            <a:noFill/>
          </a:ln>
        </p:spPr>
      </p:pic>
      <p:sp>
        <p:nvSpPr>
          <p:cNvPr id="405" name="Google Shape;405;p14"/>
          <p:cNvSpPr txBox="1"/>
          <p:nvPr/>
        </p:nvSpPr>
        <p:spPr>
          <a:xfrm>
            <a:off x="9424172" y="4736592"/>
            <a:ext cx="2218883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700"/>
              <a:buFont typeface="Instrument Sans SemiBold"/>
              <a:buNone/>
            </a:pPr>
            <a:r>
              <a:rPr lang="zh-CN" sz="1700" b="0" i="0" u="none" strike="noStrike" cap="none">
                <a:solidFill>
                  <a:srgbClr val="FAF9F6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Polymarket</a:t>
            </a:r>
            <a:endParaRPr sz="17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06" name="Google Shape;406;p14"/>
          <p:cNvSpPr txBox="1"/>
          <p:nvPr/>
        </p:nvSpPr>
        <p:spPr>
          <a:xfrm>
            <a:off x="548640" y="5852160"/>
            <a:ext cx="11094415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900"/>
              <a:buFont typeface="Instrument Sans"/>
              <a:buNone/>
            </a:pPr>
            <a:r>
              <a:rPr lang="zh-CN" sz="400" b="0" i="0" u="none" strike="noStrike" cap="none" dirty="0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标识代表支持者任职的机构，不代表这些机构的背书。</a:t>
            </a:r>
            <a:endParaRPr sz="4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407" name="Google Shape;407;p14" descr="SimReal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408" name="Google Shape;408;p14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09" name="Google Shape;409;p14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C4C0B7"/>
                </a:solidFill>
                <a:latin typeface="IBM Plex Mono"/>
                <a:ea typeface="IBM Plex Mono"/>
                <a:cs typeface="IBM Plex Mono"/>
                <a:sym typeface="IBM Plex Mono"/>
              </a:rPr>
              <a:t>12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5" name="Google Shape;415;p15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52560" y="0"/>
            <a:ext cx="3136392" cy="2468880"/>
          </a:xfrm>
          <a:prstGeom prst="rect">
            <a:avLst/>
          </a:prstGeom>
          <a:noFill/>
          <a:ln>
            <a:noFill/>
          </a:ln>
        </p:spPr>
      </p:pic>
      <p:sp>
        <p:nvSpPr>
          <p:cNvPr id="416" name="Google Shape;416;p15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专家网络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17" name="Google Shape;417;p15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20万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可触达、可验证的专家，</a:t>
            </a:r>
            <a:r>
              <a:rPr lang="zh-CN" altLang="en-US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来自</a:t>
            </a: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21所顶尖大学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18" name="Google Shape;418;p15"/>
          <p:cNvSpPr txBox="1"/>
          <p:nvPr/>
        </p:nvSpPr>
        <p:spPr>
          <a:xfrm>
            <a:off x="548640" y="1280160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精准覆盖每个行业的入门岗位与顶尖科研，并逐步延伸到更高层</a:t>
            </a:r>
            <a:endParaRPr sz="15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19" name="Google Shape;419;p15"/>
          <p:cNvSpPr txBox="1"/>
          <p:nvPr/>
        </p:nvSpPr>
        <p:spPr>
          <a:xfrm>
            <a:off x="548640" y="1920240"/>
            <a:ext cx="402336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6000"/>
              <a:buFont typeface="Newsreader"/>
              <a:buNone/>
            </a:pPr>
            <a:r>
              <a:rPr lang="zh-CN" sz="6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200,000</a:t>
            </a:r>
            <a:r>
              <a:rPr lang="zh-CN" sz="6000" b="0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+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20" name="Google Shape;420;p15"/>
          <p:cNvSpPr txBox="1"/>
          <p:nvPr/>
        </p:nvSpPr>
        <p:spPr>
          <a:xfrm>
            <a:off x="548640" y="2834640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可触达、可验证的专家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21" name="Google Shape;421;p15"/>
          <p:cNvCxnSpPr/>
          <p:nvPr/>
        </p:nvCxnSpPr>
        <p:spPr>
          <a:xfrm>
            <a:off x="548640" y="3401568"/>
            <a:ext cx="356616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22" name="Google Shape;422;p15"/>
          <p:cNvSpPr txBox="1"/>
          <p:nvPr/>
        </p:nvSpPr>
        <p:spPr>
          <a:xfrm>
            <a:off x="548640" y="3529584"/>
            <a:ext cx="38404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21</a:t>
            </a:r>
            <a:endParaRPr sz="44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23" name="Google Shape;423;p15"/>
          <p:cNvSpPr txBox="1"/>
          <p:nvPr/>
        </p:nvSpPr>
        <p:spPr>
          <a:xfrm>
            <a:off x="548640" y="4279392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所顶尖大学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24" name="Google Shape;424;p15"/>
          <p:cNvSpPr txBox="1"/>
          <p:nvPr/>
        </p:nvSpPr>
        <p:spPr>
          <a:xfrm>
            <a:off x="4663440" y="1920240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网络覆盖的部分高校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25" name="Google Shape;425;p15"/>
          <p:cNvCxnSpPr/>
          <p:nvPr/>
        </p:nvCxnSpPr>
        <p:spPr>
          <a:xfrm>
            <a:off x="4663440" y="2212848"/>
            <a:ext cx="69796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26" name="Google Shape;426;p15"/>
          <p:cNvCxnSpPr/>
          <p:nvPr/>
        </p:nvCxnSpPr>
        <p:spPr>
          <a:xfrm>
            <a:off x="4663440" y="3291840"/>
            <a:ext cx="69796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27" name="Google Shape;427;p15"/>
          <p:cNvCxnSpPr/>
          <p:nvPr/>
        </p:nvCxnSpPr>
        <p:spPr>
          <a:xfrm>
            <a:off x="4663440" y="4370832"/>
            <a:ext cx="69796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28" name="Google Shape;428;p15"/>
          <p:cNvCxnSpPr/>
          <p:nvPr/>
        </p:nvCxnSpPr>
        <p:spPr>
          <a:xfrm>
            <a:off x="4663440" y="5449824"/>
            <a:ext cx="697961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429" name="Google Shape;429;p15" descr="harvard-ink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198059" y="2529597"/>
            <a:ext cx="675667" cy="4454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30" name="Google Shape;430;p15" descr="stanford-ink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06476" y="2478024"/>
            <a:ext cx="548640" cy="54864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1" name="Google Shape;431;p15" descr="mit-ink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653425" y="2550204"/>
            <a:ext cx="744548" cy="404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2" name="Google Shape;432;p15" descr="oxford-ink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266406" y="2603094"/>
            <a:ext cx="1008395" cy="298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3" name="Google Shape;433;p15" descr="cambridge-ink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244932" y="3572705"/>
            <a:ext cx="581921" cy="517263"/>
          </a:xfrm>
          <a:prstGeom prst="rect">
            <a:avLst/>
          </a:prstGeom>
          <a:noFill/>
          <a:ln>
            <a:noFill/>
          </a:ln>
        </p:spPr>
      </p:pic>
      <p:pic>
        <p:nvPicPr>
          <p:cNvPr id="434" name="Google Shape;434;p15" descr="princeton-ink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755513" y="3688077"/>
            <a:ext cx="1050566" cy="286518"/>
          </a:xfrm>
          <a:prstGeom prst="rect">
            <a:avLst/>
          </a:prstGeom>
          <a:noFill/>
          <a:ln>
            <a:noFill/>
          </a:ln>
        </p:spPr>
      </p:pic>
      <p:pic>
        <p:nvPicPr>
          <p:cNvPr id="435" name="Google Shape;435;p15" descr="yale-ink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711926" y="3591509"/>
            <a:ext cx="627548" cy="4796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6" name="Google Shape;436;p15" descr="berkeley-ink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0277336" y="3678779"/>
            <a:ext cx="986535" cy="305114"/>
          </a:xfrm>
          <a:prstGeom prst="rect">
            <a:avLst/>
          </a:prstGeom>
          <a:noFill/>
          <a:ln>
            <a:noFill/>
          </a:ln>
        </p:spPr>
      </p:pic>
      <p:pic>
        <p:nvPicPr>
          <p:cNvPr id="437" name="Google Shape;437;p15" descr="tsinghua-ink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5054853" y="4753893"/>
            <a:ext cx="962077" cy="3128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38" name="Google Shape;438;p15" descr="columbia-ink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6949523" y="4683169"/>
            <a:ext cx="662546" cy="454317"/>
          </a:xfrm>
          <a:prstGeom prst="rect">
            <a:avLst/>
          </a:prstGeom>
          <a:noFill/>
          <a:ln>
            <a:noFill/>
          </a:ln>
        </p:spPr>
      </p:pic>
      <p:pic>
        <p:nvPicPr>
          <p:cNvPr id="439" name="Google Shape;439;p15" descr="uchicago-ink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8471940" y="4774436"/>
            <a:ext cx="1107519" cy="271784"/>
          </a:xfrm>
          <a:prstGeom prst="rect">
            <a:avLst/>
          </a:prstGeom>
          <a:noFill/>
          <a:ln>
            <a:noFill/>
          </a:ln>
        </p:spPr>
      </p:pic>
      <p:pic>
        <p:nvPicPr>
          <p:cNvPr id="440" name="Google Shape;440;p15" descr="duke-ink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10353823" y="4729774"/>
            <a:ext cx="833560" cy="361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442" name="Google Shape;442;p15" descr="SimReal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15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44" name="Google Shape;444;p15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/>
          <p:nvPr/>
        </p:nvSpPr>
        <p:spPr>
          <a:xfrm>
            <a:off x="548640" y="4700016"/>
            <a:ext cx="35661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2" name="SimReal 3002"/>
          <p:cNvSpPr txBox="1"/>
          <p:nvPr/>
        </p:nvSpPr>
        <p:spPr>
          <a:xfrm>
            <a:off x="548640" y="4773168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入门岗位</a:t>
            </a:r>
          </a:p>
        </p:txBody>
      </p:sp>
      <p:sp>
        <p:nvSpPr>
          <p:cNvPr id="3003" name="SimReal 3003"/>
          <p:cNvSpPr txBox="1"/>
          <p:nvPr/>
        </p:nvSpPr>
        <p:spPr>
          <a:xfrm>
            <a:off x="1600200" y="4773168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每个行业，AI最先接手的工作</a:t>
            </a:r>
          </a:p>
        </p:txBody>
      </p:sp>
      <p:sp>
        <p:nvSpPr>
          <p:cNvPr id="3004" name="SimReal 3004"/>
          <p:cNvSpPr txBox="1"/>
          <p:nvPr/>
        </p:nvSpPr>
        <p:spPr>
          <a:xfrm>
            <a:off x="548640" y="5138928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顶尖科研</a:t>
            </a:r>
          </a:p>
        </p:txBody>
      </p:sp>
      <p:sp>
        <p:nvSpPr>
          <p:cNvPr id="3005" name="SimReal 3005"/>
          <p:cNvSpPr txBox="1"/>
          <p:nvPr/>
        </p:nvSpPr>
        <p:spPr>
          <a:xfrm>
            <a:off x="1600200" y="5138928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最难的问题，最难的评分标准</a:t>
            </a:r>
          </a:p>
        </p:txBody>
      </p:sp>
      <p:sp>
        <p:nvSpPr>
          <p:cNvPr id="3006" name="SimReal 3006"/>
          <p:cNvSpPr txBox="1"/>
          <p:nvPr/>
        </p:nvSpPr>
        <p:spPr>
          <a:xfrm>
            <a:off x="548640" y="5504688"/>
            <a:ext cx="10058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向上延伸</a:t>
            </a:r>
          </a:p>
        </p:txBody>
      </p:sp>
      <p:sp>
        <p:nvSpPr>
          <p:cNvPr id="3007" name="SimReal 3007"/>
          <p:cNvSpPr txBox="1"/>
          <p:nvPr/>
        </p:nvSpPr>
        <p:spPr>
          <a:xfrm>
            <a:off x="1600200" y="5504688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成员逐年晋升，网络延伸到资深与高层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0" name="Google Shape;470;p16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471" name="Google Shape;471;p16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72" name="Google Shape;472;p16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14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14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市场</a:t>
            </a:r>
          </a:p>
        </p:txBody>
      </p:sp>
      <p:sp>
        <p:nvSpPr>
          <p:cNvPr id="3002" name="SimReal 3002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2030年：训练市场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7,000亿美元</a:t>
            </a: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，是今天的82倍</a:t>
            </a:r>
          </a:p>
        </p:txBody>
      </p:sp>
      <p:sp>
        <p:nvSpPr>
          <p:cNvPr id="3003" name="SimReal 3003"/>
          <p:cNvSpPr txBox="1"/>
          <p:nvPr/>
        </p:nvSpPr>
        <p:spPr>
          <a:xfrm>
            <a:off x="4062984" y="1847088"/>
            <a:ext cx="2743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04" name="SimReal 3004"/>
          <p:cNvSpPr txBox="1"/>
          <p:nvPr/>
        </p:nvSpPr>
        <p:spPr>
          <a:xfrm>
            <a:off x="7851648" y="1847088"/>
            <a:ext cx="2743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05" name="SimReal 3005"/>
          <p:cNvSpPr/>
          <p:nvPr/>
        </p:nvSpPr>
        <p:spPr>
          <a:xfrm>
            <a:off x="548640" y="1481328"/>
            <a:ext cx="351434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6" name="SimReal 3006"/>
          <p:cNvSpPr txBox="1"/>
          <p:nvPr/>
        </p:nvSpPr>
        <p:spPr>
          <a:xfrm>
            <a:off x="548640" y="1609344"/>
            <a:ext cx="351434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今天 · 实验室在买</a:t>
            </a:r>
          </a:p>
        </p:txBody>
      </p:sp>
      <p:sp>
        <p:nvSpPr>
          <p:cNvPr id="3007" name="SimReal 3007"/>
          <p:cNvSpPr txBox="1"/>
          <p:nvPr/>
        </p:nvSpPr>
        <p:spPr>
          <a:xfrm>
            <a:off x="548640" y="1865376"/>
            <a:ext cx="351434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85亿美元/年</a:t>
            </a:r>
          </a:p>
        </p:txBody>
      </p:sp>
      <p:sp>
        <p:nvSpPr>
          <p:cNvPr id="3008" name="SimReal 3008"/>
          <p:cNvSpPr txBox="1"/>
          <p:nvPr/>
        </p:nvSpPr>
        <p:spPr>
          <a:xfrm>
            <a:off x="548640" y="2487168"/>
            <a:ext cx="3514344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训练数据与RL环境，50余家供应商合计</a:t>
            </a:r>
          </a:p>
        </p:txBody>
      </p:sp>
      <p:sp>
        <p:nvSpPr>
          <p:cNvPr id="3009" name="SimReal 3009"/>
          <p:cNvSpPr txBox="1"/>
          <p:nvPr/>
        </p:nvSpPr>
        <p:spPr>
          <a:xfrm>
            <a:off x="548640" y="2962656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Mercor</a:t>
            </a:r>
          </a:p>
        </p:txBody>
      </p:sp>
      <p:sp>
        <p:nvSpPr>
          <p:cNvPr id="3010" name="SimReal 3010"/>
          <p:cNvSpPr/>
          <p:nvPr/>
        </p:nvSpPr>
        <p:spPr>
          <a:xfrm>
            <a:off x="1600200" y="2990088"/>
            <a:ext cx="1691640" cy="219456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1" name="SimReal 3011"/>
          <p:cNvSpPr txBox="1"/>
          <p:nvPr/>
        </p:nvSpPr>
        <p:spPr>
          <a:xfrm>
            <a:off x="3364992" y="2962656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$2.0B</a:t>
            </a:r>
          </a:p>
        </p:txBody>
      </p:sp>
      <p:sp>
        <p:nvSpPr>
          <p:cNvPr id="3012" name="SimReal 3012"/>
          <p:cNvSpPr txBox="1"/>
          <p:nvPr/>
        </p:nvSpPr>
        <p:spPr>
          <a:xfrm>
            <a:off x="548640" y="3364992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Surge AI</a:t>
            </a:r>
          </a:p>
        </p:txBody>
      </p:sp>
      <p:sp>
        <p:nvSpPr>
          <p:cNvPr id="3013" name="SimReal 3013"/>
          <p:cNvSpPr/>
          <p:nvPr/>
        </p:nvSpPr>
        <p:spPr>
          <a:xfrm>
            <a:off x="1600200" y="3392424"/>
            <a:ext cx="1014984" cy="219456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4" name="SimReal 3014"/>
          <p:cNvSpPr txBox="1"/>
          <p:nvPr/>
        </p:nvSpPr>
        <p:spPr>
          <a:xfrm>
            <a:off x="2688336" y="3364992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$1.2B</a:t>
            </a:r>
          </a:p>
        </p:txBody>
      </p:sp>
      <p:sp>
        <p:nvSpPr>
          <p:cNvPr id="3015" name="SimReal 3015"/>
          <p:cNvSpPr txBox="1"/>
          <p:nvPr/>
        </p:nvSpPr>
        <p:spPr>
          <a:xfrm>
            <a:off x="548640" y="3767328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Snorkel AI</a:t>
            </a:r>
          </a:p>
        </p:txBody>
      </p:sp>
      <p:sp>
        <p:nvSpPr>
          <p:cNvPr id="3016" name="SimReal 3016"/>
          <p:cNvSpPr/>
          <p:nvPr/>
        </p:nvSpPr>
        <p:spPr>
          <a:xfrm>
            <a:off x="1600200" y="3794760"/>
            <a:ext cx="317183" cy="219456"/>
          </a:xfrm>
          <a:prstGeom prst="rect">
            <a:avLst/>
          </a:prstGeom>
          <a:solidFill>
            <a:srgbClr val="C4C0B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7" name="SimReal 3017"/>
          <p:cNvSpPr txBox="1"/>
          <p:nvPr/>
        </p:nvSpPr>
        <p:spPr>
          <a:xfrm>
            <a:off x="1990534" y="3767328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$0.375B</a:t>
            </a:r>
          </a:p>
        </p:txBody>
      </p:sp>
      <p:sp>
        <p:nvSpPr>
          <p:cNvPr id="3018" name="SimReal 3018"/>
          <p:cNvSpPr/>
          <p:nvPr/>
        </p:nvSpPr>
        <p:spPr>
          <a:xfrm>
            <a:off x="4337304" y="1481328"/>
            <a:ext cx="3514344" cy="18288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9" name="SimReal 3019"/>
          <p:cNvSpPr txBox="1"/>
          <p:nvPr/>
        </p:nvSpPr>
        <p:spPr>
          <a:xfrm>
            <a:off x="4337304" y="1609344"/>
            <a:ext cx="351434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2030年 · AI经济</a:t>
            </a:r>
          </a:p>
        </p:txBody>
      </p:sp>
      <p:sp>
        <p:nvSpPr>
          <p:cNvPr id="3020" name="SimReal 3020"/>
          <p:cNvSpPr txBox="1"/>
          <p:nvPr/>
        </p:nvSpPr>
        <p:spPr>
          <a:xfrm>
            <a:off x="4337304" y="1865376"/>
            <a:ext cx="3514344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约7万亿美元/年</a:t>
            </a:r>
          </a:p>
        </p:txBody>
      </p:sp>
      <p:sp>
        <p:nvSpPr>
          <p:cNvPr id="3021" name="SimReal 3021"/>
          <p:cNvSpPr txBox="1"/>
          <p:nvPr/>
        </p:nvSpPr>
        <p:spPr>
          <a:xfrm>
            <a:off x="4337304" y="2505456"/>
            <a:ext cx="232562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美国（麦肯锡）</a:t>
            </a:r>
          </a:p>
        </p:txBody>
      </p:sp>
      <p:sp>
        <p:nvSpPr>
          <p:cNvPr id="3022" name="SimReal 3022"/>
          <p:cNvSpPr txBox="1"/>
          <p:nvPr/>
        </p:nvSpPr>
        <p:spPr>
          <a:xfrm>
            <a:off x="6662928" y="250545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2.9万亿</a:t>
            </a:r>
          </a:p>
        </p:txBody>
      </p:sp>
      <p:sp>
        <p:nvSpPr>
          <p:cNvPr id="3023" name="SimReal 3023"/>
          <p:cNvSpPr/>
          <p:nvPr/>
        </p:nvSpPr>
        <p:spPr>
          <a:xfrm>
            <a:off x="4337304" y="2871216"/>
            <a:ext cx="351434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4" name="SimReal 3024"/>
          <p:cNvSpPr txBox="1"/>
          <p:nvPr/>
        </p:nvSpPr>
        <p:spPr>
          <a:xfrm>
            <a:off x="4337304" y="2871216"/>
            <a:ext cx="232562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÷ 美国占全球GDP</a:t>
            </a:r>
          </a:p>
        </p:txBody>
      </p:sp>
      <p:sp>
        <p:nvSpPr>
          <p:cNvPr id="3025" name="SimReal 3025"/>
          <p:cNvSpPr txBox="1"/>
          <p:nvPr/>
        </p:nvSpPr>
        <p:spPr>
          <a:xfrm>
            <a:off x="6662928" y="287121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25.6%</a:t>
            </a:r>
          </a:p>
        </p:txBody>
      </p:sp>
      <p:sp>
        <p:nvSpPr>
          <p:cNvPr id="3026" name="SimReal 3026"/>
          <p:cNvSpPr/>
          <p:nvPr/>
        </p:nvSpPr>
        <p:spPr>
          <a:xfrm>
            <a:off x="4337304" y="3236976"/>
            <a:ext cx="351434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7" name="SimReal 3027"/>
          <p:cNvSpPr txBox="1"/>
          <p:nvPr/>
        </p:nvSpPr>
        <p:spPr>
          <a:xfrm>
            <a:off x="4337304" y="3236976"/>
            <a:ext cx="232562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 全球，同等渗透</a:t>
            </a:r>
          </a:p>
        </p:txBody>
      </p:sp>
      <p:sp>
        <p:nvSpPr>
          <p:cNvPr id="3028" name="SimReal 3028"/>
          <p:cNvSpPr txBox="1"/>
          <p:nvPr/>
        </p:nvSpPr>
        <p:spPr>
          <a:xfrm>
            <a:off x="6662928" y="323697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11.3万亿</a:t>
            </a:r>
          </a:p>
        </p:txBody>
      </p:sp>
      <p:sp>
        <p:nvSpPr>
          <p:cNvPr id="3029" name="SimReal 3029"/>
          <p:cNvSpPr/>
          <p:nvPr/>
        </p:nvSpPr>
        <p:spPr>
          <a:xfrm>
            <a:off x="4337304" y="3602736"/>
            <a:ext cx="3514344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0" name="SimReal 3030"/>
          <p:cNvSpPr txBox="1"/>
          <p:nvPr/>
        </p:nvSpPr>
        <p:spPr>
          <a:xfrm>
            <a:off x="4337304" y="3602736"/>
            <a:ext cx="232562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美国以外渗透减半</a:t>
            </a:r>
          </a:p>
        </p:txBody>
      </p:sp>
      <p:sp>
        <p:nvSpPr>
          <p:cNvPr id="3031" name="SimReal 3031"/>
          <p:cNvSpPr txBox="1"/>
          <p:nvPr/>
        </p:nvSpPr>
        <p:spPr>
          <a:xfrm>
            <a:off x="6662928" y="360273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7.1万亿</a:t>
            </a:r>
          </a:p>
        </p:txBody>
      </p:sp>
      <p:sp>
        <p:nvSpPr>
          <p:cNvPr id="3032" name="SimReal 3032"/>
          <p:cNvSpPr/>
          <p:nvPr/>
        </p:nvSpPr>
        <p:spPr>
          <a:xfrm>
            <a:off x="8125968" y="1481328"/>
            <a:ext cx="3514344" cy="338328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3" name="SimReal 3033"/>
          <p:cNvSpPr txBox="1"/>
          <p:nvPr/>
        </p:nvSpPr>
        <p:spPr>
          <a:xfrm>
            <a:off x="8363712" y="1609344"/>
            <a:ext cx="3038856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2030年 · 我们的市场</a:t>
            </a:r>
          </a:p>
        </p:txBody>
      </p:sp>
      <p:sp>
        <p:nvSpPr>
          <p:cNvPr id="3034" name="SimReal 3034"/>
          <p:cNvSpPr txBox="1"/>
          <p:nvPr/>
        </p:nvSpPr>
        <p:spPr>
          <a:xfrm>
            <a:off x="8363712" y="1865376"/>
            <a:ext cx="3038856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7,000亿美元/年</a:t>
            </a:r>
          </a:p>
        </p:txBody>
      </p:sp>
      <p:sp>
        <p:nvSpPr>
          <p:cNvPr id="3035" name="SimReal 3035"/>
          <p:cNvSpPr txBox="1"/>
          <p:nvPr/>
        </p:nvSpPr>
        <p:spPr>
          <a:xfrm>
            <a:off x="8363712" y="2505456"/>
            <a:ext cx="185013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AI经济</a:t>
            </a:r>
          </a:p>
        </p:txBody>
      </p:sp>
      <p:sp>
        <p:nvSpPr>
          <p:cNvPr id="3036" name="SimReal 3036"/>
          <p:cNvSpPr txBox="1"/>
          <p:nvPr/>
        </p:nvSpPr>
        <p:spPr>
          <a:xfrm>
            <a:off x="10213848" y="250545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7万亿</a:t>
            </a:r>
          </a:p>
        </p:txBody>
      </p:sp>
      <p:sp>
        <p:nvSpPr>
          <p:cNvPr id="3037" name="SimReal 3037"/>
          <p:cNvSpPr/>
          <p:nvPr/>
        </p:nvSpPr>
        <p:spPr>
          <a:xfrm>
            <a:off x="8363712" y="2871216"/>
            <a:ext cx="303885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8" name="SimReal 3038"/>
          <p:cNvSpPr txBox="1"/>
          <p:nvPr/>
        </p:nvSpPr>
        <p:spPr>
          <a:xfrm>
            <a:off x="8363712" y="2871216"/>
            <a:ext cx="185013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× 训练占比</a:t>
            </a:r>
          </a:p>
        </p:txBody>
      </p:sp>
      <p:sp>
        <p:nvSpPr>
          <p:cNvPr id="3039" name="SimReal 3039"/>
          <p:cNvSpPr txBox="1"/>
          <p:nvPr/>
        </p:nvSpPr>
        <p:spPr>
          <a:xfrm>
            <a:off x="10213848" y="287121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10%</a:t>
            </a:r>
          </a:p>
        </p:txBody>
      </p:sp>
      <p:sp>
        <p:nvSpPr>
          <p:cNvPr id="3040" name="SimReal 3040"/>
          <p:cNvSpPr/>
          <p:nvPr/>
        </p:nvSpPr>
        <p:spPr>
          <a:xfrm>
            <a:off x="8363712" y="3236976"/>
            <a:ext cx="3038856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1" name="SimReal 3041"/>
          <p:cNvSpPr txBox="1"/>
          <p:nvPr/>
        </p:nvSpPr>
        <p:spPr>
          <a:xfrm>
            <a:off x="8363712" y="3236976"/>
            <a:ext cx="1850136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= 训练市场</a:t>
            </a:r>
          </a:p>
        </p:txBody>
      </p:sp>
      <p:sp>
        <p:nvSpPr>
          <p:cNvPr id="3042" name="SimReal 3042"/>
          <p:cNvSpPr txBox="1"/>
          <p:nvPr/>
        </p:nvSpPr>
        <p:spPr>
          <a:xfrm>
            <a:off x="10213848" y="3236976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7,000亿</a:t>
            </a:r>
          </a:p>
        </p:txBody>
      </p:sp>
      <p:sp>
        <p:nvSpPr>
          <p:cNvPr id="3043" name="SimReal 3043"/>
          <p:cNvSpPr txBox="1"/>
          <p:nvPr/>
        </p:nvSpPr>
        <p:spPr>
          <a:xfrm>
            <a:off x="8363712" y="3694176"/>
            <a:ext cx="303885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今天的82倍</a:t>
            </a:r>
          </a:p>
        </p:txBody>
      </p:sp>
      <p:sp>
        <p:nvSpPr>
          <p:cNvPr id="3044" name="SimReal 3044"/>
          <p:cNvSpPr txBox="1"/>
          <p:nvPr/>
        </p:nvSpPr>
        <p:spPr>
          <a:xfrm>
            <a:off x="8363712" y="4224528"/>
            <a:ext cx="303885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训练是AI经济的研发预算。大型科技公司研发约占收入10–15%，取下限。</a:t>
            </a:r>
          </a:p>
        </p:txBody>
      </p:sp>
      <p:sp>
        <p:nvSpPr>
          <p:cNvPr id="3045" name="SimReal 3045"/>
          <p:cNvSpPr txBox="1"/>
          <p:nvPr/>
        </p:nvSpPr>
        <p:spPr>
          <a:xfrm>
            <a:off x="548640" y="5138928"/>
            <a:ext cx="11091672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今天卖给实验室，2030年卖给</a:t>
            </a:r>
            <a:r>
              <a:rPr lang="zh-CN" sz="2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整个AI经济</a:t>
            </a:r>
            <a:r>
              <a:rPr lang="zh-CN" sz="2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。</a:t>
            </a:r>
          </a:p>
        </p:txBody>
      </p:sp>
      <p:sp>
        <p:nvSpPr>
          <p:cNvPr id="3046" name="SimReal 3046"/>
          <p:cNvSpPr txBox="1"/>
          <p:nvPr/>
        </p:nvSpPr>
        <p:spPr>
          <a:xfrm>
            <a:off x="548640" y="5779008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来源：Menlo Ventures（2026.7）；Mercor年化毛营收（2026.7）、Surge收入（2024）、Snorkel年化收入（2026.9）；麦肯锡（2025.11）；IMF（2026.4）；科技公司年报。训练占比、美国以外渗透率为假设。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17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15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竞争格局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0" name="Google Shape;480;p17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别人做一环，我们做让AI持续进步的</a:t>
            </a:r>
            <a:r>
              <a:rPr lang="zh-CN" sz="2800" b="0" i="0" u="none" strike="noStrike" cap="none" dirty="0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完整闭环</a:t>
            </a:r>
            <a:endParaRPr sz="2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1" name="Google Shape;481;p17"/>
          <p:cNvSpPr/>
          <p:nvPr/>
        </p:nvSpPr>
        <p:spPr>
          <a:xfrm>
            <a:off x="548640" y="1600200"/>
            <a:ext cx="6400800" cy="7132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2" name="Google Shape;482;p17"/>
          <p:cNvSpPr txBox="1"/>
          <p:nvPr/>
        </p:nvSpPr>
        <p:spPr>
          <a:xfrm>
            <a:off x="786384" y="169164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专家数据平台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3" name="Google Shape;483;p17"/>
          <p:cNvSpPr txBox="1"/>
          <p:nvPr/>
        </p:nvSpPr>
        <p:spPr>
          <a:xfrm>
            <a:off x="786384" y="2020824"/>
            <a:ext cx="2286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Mercor、Surge、AfterQuery</a:t>
            </a:r>
            <a:endParaRPr sz="1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4" name="Google Shape;484;p17"/>
          <p:cNvSpPr txBox="1"/>
          <p:nvPr/>
        </p:nvSpPr>
        <p:spPr>
          <a:xfrm>
            <a:off x="3200400" y="1600200"/>
            <a:ext cx="352044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专家示范与判断，按人工意见打分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5" name="Google Shape;485;p17"/>
          <p:cNvSpPr/>
          <p:nvPr/>
        </p:nvSpPr>
        <p:spPr>
          <a:xfrm>
            <a:off x="548640" y="3209544"/>
            <a:ext cx="6400800" cy="7132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17"/>
          <p:cNvSpPr txBox="1"/>
          <p:nvPr/>
        </p:nvSpPr>
        <p:spPr>
          <a:xfrm>
            <a:off x="786384" y="3392424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AI评测公司</a:t>
            </a:r>
            <a:endParaRPr sz="1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8" name="Google Shape;488;p17"/>
          <p:cNvSpPr txBox="1"/>
          <p:nvPr/>
        </p:nvSpPr>
        <p:spPr>
          <a:xfrm>
            <a:off x="3200400" y="3209544"/>
            <a:ext cx="352044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测今天的水平，分数就是产品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89" name="Google Shape;489;p17"/>
          <p:cNvSpPr/>
          <p:nvPr/>
        </p:nvSpPr>
        <p:spPr>
          <a:xfrm>
            <a:off x="548640" y="4014216"/>
            <a:ext cx="6400800" cy="7132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17"/>
          <p:cNvSpPr txBox="1"/>
          <p:nvPr/>
        </p:nvSpPr>
        <p:spPr>
          <a:xfrm>
            <a:off x="777240" y="4197096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实验室自建</a:t>
            </a:r>
            <a:endParaRPr sz="18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2" name="Google Shape;492;p17"/>
          <p:cNvSpPr txBox="1"/>
          <p:nvPr/>
        </p:nvSpPr>
        <p:spPr>
          <a:xfrm>
            <a:off x="3200400" y="4014216"/>
            <a:ext cx="352044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只做自己熟悉的领域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3" name="Google Shape;493;p17"/>
          <p:cNvSpPr/>
          <p:nvPr/>
        </p:nvSpPr>
        <p:spPr>
          <a:xfrm>
            <a:off x="548640" y="4818888"/>
            <a:ext cx="6400800" cy="713232"/>
          </a:xfrm>
          <a:prstGeom prst="rect">
            <a:avLst/>
          </a:prstGeom>
          <a:solidFill>
            <a:srgbClr val="111110"/>
          </a:solidFill>
          <a:ln w="12700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4" name="Google Shape;494;p17"/>
          <p:cNvSpPr txBox="1"/>
          <p:nvPr/>
        </p:nvSpPr>
        <p:spPr>
          <a:xfrm>
            <a:off x="786384" y="4873752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800"/>
              <a:buFont typeface="Newsreader"/>
              <a:buNone/>
            </a:pPr>
            <a:r>
              <a:rPr lang="zh-CN" sz="2400" i="0" u="none" strike="noStrike" cap="none" dirty="0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SimReal</a:t>
            </a:r>
            <a:endParaRPr sz="240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5" name="Google Shape;495;p17"/>
          <p:cNvSpPr txBox="1"/>
          <p:nvPr/>
        </p:nvSpPr>
        <p:spPr>
          <a:xfrm>
            <a:off x="786384" y="5257800"/>
            <a:ext cx="2286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1000"/>
              <a:buFont typeface="Instrument Sans"/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数据、训练环境、结果评分、自我进化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6" name="Google Shape;496;p17"/>
          <p:cNvSpPr txBox="1"/>
          <p:nvPr/>
        </p:nvSpPr>
        <p:spPr>
          <a:xfrm>
            <a:off x="3200400" y="4818888"/>
            <a:ext cx="352044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不只测分，还让AI越练越强</a:t>
            </a:r>
            <a:br>
              <a:rPr lang="en-US" altLang="zh-CN" sz="13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3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每次打分都变成下一轮训练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97" name="Google Shape;497;p17"/>
          <p:cNvSpPr txBox="1"/>
          <p:nvPr/>
        </p:nvSpPr>
        <p:spPr>
          <a:xfrm>
            <a:off x="7315200" y="1600200"/>
            <a:ext cx="4327855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为什么我们能赢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498" name="Google Shape;498;p17"/>
          <p:cNvCxnSpPr/>
          <p:nvPr/>
        </p:nvCxnSpPr>
        <p:spPr>
          <a:xfrm>
            <a:off x="7315200" y="1920240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99" name="Google Shape;499;p17"/>
          <p:cNvSpPr txBox="1"/>
          <p:nvPr/>
        </p:nvSpPr>
        <p:spPr>
          <a:xfrm>
            <a:off x="7315200" y="2011680"/>
            <a:ext cx="4327855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自有资产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0" name="Google Shape;500;p17"/>
          <p:cNvSpPr txBox="1"/>
          <p:nvPr/>
        </p:nvSpPr>
        <p:spPr>
          <a:xfrm>
            <a:off x="7315200" y="2377440"/>
            <a:ext cx="432785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环境构建工具、验证器、专业任务库和失败案例积累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01" name="Google Shape;501;p17"/>
          <p:cNvCxnSpPr/>
          <p:nvPr/>
        </p:nvCxnSpPr>
        <p:spPr>
          <a:xfrm>
            <a:off x="7315200" y="2852928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2" name="Google Shape;502;p17"/>
          <p:cNvSpPr txBox="1"/>
          <p:nvPr/>
        </p:nvSpPr>
        <p:spPr>
          <a:xfrm>
            <a:off x="7315200" y="2944368"/>
            <a:ext cx="4327855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客户粘性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3" name="Google Shape;503;p17"/>
          <p:cNvSpPr txBox="1"/>
          <p:nvPr/>
        </p:nvSpPr>
        <p:spPr>
          <a:xfrm>
            <a:off x="7315200" y="3310128"/>
            <a:ext cx="432785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每轮升级都需要新任务、新留出集和验证器维护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04" name="Google Shape;504;p17"/>
          <p:cNvCxnSpPr/>
          <p:nvPr/>
        </p:nvCxnSpPr>
        <p:spPr>
          <a:xfrm>
            <a:off x="7315200" y="3785616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5" name="Google Shape;505;p17"/>
          <p:cNvSpPr txBox="1"/>
          <p:nvPr/>
        </p:nvSpPr>
        <p:spPr>
          <a:xfrm>
            <a:off x="7315200" y="3877056"/>
            <a:ext cx="4327855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交付速度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6" name="Google Shape;506;p17"/>
          <p:cNvSpPr txBox="1"/>
          <p:nvPr/>
        </p:nvSpPr>
        <p:spPr>
          <a:xfrm>
            <a:off x="7315200" y="4242816"/>
            <a:ext cx="432785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1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14天7款产品：AI变得越快，我们越有利</a:t>
            </a:r>
            <a:endParaRPr sz="1100" b="1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07" name="Google Shape;507;p17"/>
          <p:cNvCxnSpPr/>
          <p:nvPr/>
        </p:nvCxnSpPr>
        <p:spPr>
          <a:xfrm>
            <a:off x="7315200" y="4718304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08" name="Google Shape;508;p17"/>
          <p:cNvSpPr txBox="1"/>
          <p:nvPr/>
        </p:nvSpPr>
        <p:spPr>
          <a:xfrm>
            <a:off x="7315200" y="4809744"/>
            <a:ext cx="4327855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独立中立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09" name="Google Shape;509;p17"/>
          <p:cNvSpPr txBox="1"/>
          <p:nvPr/>
        </p:nvSpPr>
        <p:spPr>
          <a:xfrm>
            <a:off x="7315200" y="5175504"/>
            <a:ext cx="432785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不属于任何一家实验室：中美实验室都能放心采购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10" name="Google Shape;510;p17"/>
          <p:cNvCxnSpPr/>
          <p:nvPr/>
        </p:nvCxnSpPr>
        <p:spPr>
          <a:xfrm>
            <a:off x="7315200" y="5650992"/>
            <a:ext cx="4327855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511" name="Google Shape;511;p17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12" name="Google Shape;512;p17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13" name="Google Shape;513;p17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15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001" name="SimReal 4001"/>
          <p:cNvSpPr/>
          <p:nvPr/>
        </p:nvSpPr>
        <p:spPr>
          <a:xfrm>
            <a:off x="548640" y="2404872"/>
            <a:ext cx="6400800" cy="71323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2" name="SimReal 4002"/>
          <p:cNvSpPr txBox="1"/>
          <p:nvPr/>
        </p:nvSpPr>
        <p:spPr>
          <a:xfrm>
            <a:off x="786384" y="2496312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中国同行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003" name="SimReal 4003"/>
          <p:cNvSpPr txBox="1"/>
          <p:nvPr/>
        </p:nvSpPr>
        <p:spPr>
          <a:xfrm>
            <a:off x="786384" y="2825496"/>
            <a:ext cx="2286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nstrument Sans"/>
              <a:buNone/>
            </a:pPr>
            <a:r>
              <a:rPr lang="zh-CN" sz="1000" b="0" i="0" u="none" strike="noStrike" cap="none" dirty="0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UniPat、Humanlaya</a:t>
            </a:r>
            <a:endParaRPr sz="1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4004" name="SimReal 4004"/>
          <p:cNvSpPr txBox="1"/>
          <p:nvPr/>
        </p:nvSpPr>
        <p:spPr>
          <a:xfrm>
            <a:off x="3200400" y="2404872"/>
            <a:ext cx="3520440" cy="713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主要服务国内实验室：专家数据与评测</a:t>
            </a:r>
            <a:b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300" b="0" i="0" u="none" strike="noStrike" cap="none" dirty="0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UniPat由阿里领投，估值25亿美元</a:t>
            </a:r>
            <a:endParaRPr sz="13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5760720"/>
            <a:ext cx="1109167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国内现状  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9月，UniPat获阿里领投3亿美元（估值25亿美元），Humanlaya完成数亿元人民币Pre-A；阿里、字节、DeepSeek都已向两家采购。赛道在中美同时升温。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18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16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</a:t>
            </a:r>
            <a:r>
              <a:rPr lang="zh-CN" sz="1100" b="1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对标公司</a:t>
            </a:r>
            <a:endParaRPr sz="1300" b="1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20" name="Google Shape;520;p18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赛道突围者都起步年轻、跑得快；</a:t>
            </a:r>
            <a:r>
              <a:rPr lang="zh-CN" altLang="en-US" sz="2800" b="0" i="0" u="none" strike="noStrike" cap="none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我们更快</a:t>
            </a:r>
            <a:endParaRPr sz="2800" b="0" i="0" u="none" strike="noStrike" cap="none" dirty="0">
              <a:solidFill>
                <a:schemeClr val="accent2">
                  <a:lumMod val="75000"/>
                </a:schemeClr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21" name="Google Shape;521;p18"/>
          <p:cNvSpPr/>
          <p:nvPr/>
        </p:nvSpPr>
        <p:spPr>
          <a:xfrm>
            <a:off x="548640" y="2157984"/>
            <a:ext cx="2636444" cy="341071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2" name="Google Shape;522;p18"/>
          <p:cNvSpPr txBox="1"/>
          <p:nvPr/>
        </p:nvSpPr>
        <p:spPr>
          <a:xfrm>
            <a:off x="786384" y="2340864"/>
            <a:ext cx="21609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Scale AI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23" name="Google Shape;523;p18"/>
          <p:cNvSpPr txBox="1"/>
          <p:nvPr/>
        </p:nvSpPr>
        <p:spPr>
          <a:xfrm>
            <a:off x="786384" y="2688336"/>
            <a:ext cx="2160956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000"/>
              <a:buFont typeface="Newsreader"/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$29B</a:t>
            </a:r>
            <a:endParaRPr sz="4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24" name="Google Shape;524;p18"/>
          <p:cNvSpPr txBox="1"/>
          <p:nvPr/>
        </p:nvSpPr>
        <p:spPr>
          <a:xfrm>
            <a:off x="786384" y="3346704"/>
            <a:ext cx="216095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估值，2025年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25" name="Google Shape;525;p18"/>
          <p:cNvCxnSpPr/>
          <p:nvPr/>
        </p:nvCxnSpPr>
        <p:spPr>
          <a:xfrm>
            <a:off x="786384" y="3730752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26" name="Google Shape;526;p18"/>
          <p:cNvSpPr txBox="1"/>
          <p:nvPr/>
        </p:nvSpPr>
        <p:spPr>
          <a:xfrm>
            <a:off x="786384" y="3803904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19岁的Alexandr Wang创立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27" name="Google Shape;527;p18"/>
          <p:cNvCxnSpPr/>
          <p:nvPr/>
        </p:nvCxnSpPr>
        <p:spPr>
          <a:xfrm>
            <a:off x="786384" y="4279392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28" name="Google Shape;528;p18"/>
          <p:cNvSpPr txBox="1"/>
          <p:nvPr/>
        </p:nvSpPr>
        <p:spPr>
          <a:xfrm>
            <a:off x="786384" y="4352544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MIT辍学，出自Y Combinator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29" name="Google Shape;529;p18"/>
          <p:cNvCxnSpPr/>
          <p:nvPr/>
        </p:nvCxnSpPr>
        <p:spPr>
          <a:xfrm>
            <a:off x="786384" y="4828032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30" name="Google Shape;530;p18"/>
          <p:cNvSpPr txBox="1"/>
          <p:nvPr/>
        </p:nvSpPr>
        <p:spPr>
          <a:xfrm>
            <a:off x="786384" y="4901184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曾是最年轻的白手起家亿万富翁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31" name="Google Shape;531;p18"/>
          <p:cNvSpPr/>
          <p:nvPr/>
        </p:nvSpPr>
        <p:spPr>
          <a:xfrm>
            <a:off x="3367964" y="2157984"/>
            <a:ext cx="2636444" cy="341071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2" name="Google Shape;532;p18"/>
          <p:cNvSpPr txBox="1"/>
          <p:nvPr/>
        </p:nvSpPr>
        <p:spPr>
          <a:xfrm>
            <a:off x="3605708" y="2340864"/>
            <a:ext cx="21609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Mercor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33" name="Google Shape;533;p18"/>
          <p:cNvSpPr txBox="1"/>
          <p:nvPr/>
        </p:nvSpPr>
        <p:spPr>
          <a:xfrm>
            <a:off x="3605708" y="2688336"/>
            <a:ext cx="2160956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000"/>
              <a:buFont typeface="Newsreader"/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$10B</a:t>
            </a:r>
            <a:endParaRPr sz="4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34" name="Google Shape;534;p18"/>
          <p:cNvSpPr txBox="1"/>
          <p:nvPr/>
        </p:nvSpPr>
        <p:spPr>
          <a:xfrm>
            <a:off x="3605708" y="3346704"/>
            <a:ext cx="216095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估值，2025年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35" name="Google Shape;535;p18"/>
          <p:cNvCxnSpPr/>
          <p:nvPr/>
        </p:nvCxnSpPr>
        <p:spPr>
          <a:xfrm>
            <a:off x="3605708" y="3730752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36" name="Google Shape;536;p18"/>
          <p:cNvSpPr txBox="1"/>
          <p:nvPr/>
        </p:nvSpPr>
        <p:spPr>
          <a:xfrm>
            <a:off x="3605708" y="3803904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三位高中同学创立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37" name="Google Shape;537;p18"/>
          <p:cNvCxnSpPr/>
          <p:nvPr/>
        </p:nvCxnSpPr>
        <p:spPr>
          <a:xfrm>
            <a:off x="3605708" y="4279392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38" name="Google Shape;538;p18"/>
          <p:cNvSpPr txBox="1"/>
          <p:nvPr/>
        </p:nvSpPr>
        <p:spPr>
          <a:xfrm>
            <a:off x="3605708" y="4352544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22岁成最年轻白手起家亿万富翁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39" name="Google Shape;539;p18"/>
          <p:cNvCxnSpPr/>
          <p:nvPr/>
        </p:nvCxnSpPr>
        <p:spPr>
          <a:xfrm>
            <a:off x="3605708" y="4828032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40" name="Google Shape;540;p18"/>
          <p:cNvSpPr txBox="1"/>
          <p:nvPr/>
        </p:nvSpPr>
        <p:spPr>
          <a:xfrm>
            <a:off x="3605708" y="4901184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13个月估值上涨约40倍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41" name="Google Shape;541;p18"/>
          <p:cNvSpPr/>
          <p:nvPr/>
        </p:nvSpPr>
        <p:spPr>
          <a:xfrm>
            <a:off x="6187288" y="2157984"/>
            <a:ext cx="2636444" cy="341071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2" name="Google Shape;542;p18"/>
          <p:cNvSpPr txBox="1"/>
          <p:nvPr/>
        </p:nvSpPr>
        <p:spPr>
          <a:xfrm>
            <a:off x="6425032" y="2340864"/>
            <a:ext cx="21609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AfterQuery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43" name="Google Shape;543;p18"/>
          <p:cNvSpPr txBox="1"/>
          <p:nvPr/>
        </p:nvSpPr>
        <p:spPr>
          <a:xfrm>
            <a:off x="6425032" y="2688336"/>
            <a:ext cx="2160956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000"/>
              <a:buFont typeface="Newsreader"/>
              <a:buNone/>
            </a:pPr>
            <a:r>
              <a:rPr lang="zh-CN" sz="40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$3.2B</a:t>
            </a:r>
            <a:endParaRPr sz="4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44" name="Google Shape;544;p18"/>
          <p:cNvSpPr txBox="1"/>
          <p:nvPr/>
        </p:nvSpPr>
        <p:spPr>
          <a:xfrm>
            <a:off x="6425032" y="3346704"/>
            <a:ext cx="216095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tx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加入YC 18个月</a:t>
            </a:r>
            <a:endParaRPr sz="1100" b="0" i="0" u="none" strike="noStrike" cap="none" dirty="0">
              <a:solidFill>
                <a:schemeClr val="tx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45" name="Google Shape;545;p18"/>
          <p:cNvCxnSpPr/>
          <p:nvPr/>
        </p:nvCxnSpPr>
        <p:spPr>
          <a:xfrm>
            <a:off x="6425032" y="3730752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46" name="Google Shape;546;p18"/>
          <p:cNvSpPr txBox="1"/>
          <p:nvPr/>
        </p:nvSpPr>
        <p:spPr>
          <a:xfrm>
            <a:off x="6425032" y="3803904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两位约21岁的在校大学生创立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47" name="Google Shape;547;p18"/>
          <p:cNvCxnSpPr/>
          <p:nvPr/>
        </p:nvCxnSpPr>
        <p:spPr>
          <a:xfrm>
            <a:off x="6425032" y="4279392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48" name="Google Shape;548;p18"/>
          <p:cNvSpPr txBox="1"/>
          <p:nvPr/>
        </p:nvSpPr>
        <p:spPr>
          <a:xfrm>
            <a:off x="6425032" y="4352544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创始人曾在Citadel Securities实习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49" name="Google Shape;549;p18"/>
          <p:cNvCxnSpPr/>
          <p:nvPr/>
        </p:nvCxnSpPr>
        <p:spPr>
          <a:xfrm>
            <a:off x="6425032" y="4828032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50" name="Google Shape;550;p18"/>
          <p:cNvSpPr txBox="1"/>
          <p:nvPr/>
        </p:nvSpPr>
        <p:spPr>
          <a:xfrm>
            <a:off x="6425032" y="4901184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100"/>
              <a:buFont typeface="Instrument Sans"/>
              <a:buNone/>
            </a:pPr>
            <a:r>
              <a:rPr lang="zh-CN" sz="11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YC史上最快的独角兽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51" name="Google Shape;551;p18"/>
          <p:cNvSpPr/>
          <p:nvPr/>
        </p:nvSpPr>
        <p:spPr>
          <a:xfrm>
            <a:off x="9006611" y="2157984"/>
            <a:ext cx="2636444" cy="3410712"/>
          </a:xfrm>
          <a:prstGeom prst="rect">
            <a:avLst/>
          </a:prstGeom>
          <a:solidFill>
            <a:srgbClr val="111110"/>
          </a:solidFill>
          <a:ln w="12700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2" name="Google Shape;552;p18"/>
          <p:cNvSpPr txBox="1"/>
          <p:nvPr/>
        </p:nvSpPr>
        <p:spPr>
          <a:xfrm>
            <a:off x="9244355" y="2340864"/>
            <a:ext cx="216095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SimReal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53" name="Google Shape;553;p18"/>
          <p:cNvSpPr txBox="1"/>
          <p:nvPr/>
        </p:nvSpPr>
        <p:spPr>
          <a:xfrm>
            <a:off x="9244355" y="2688336"/>
            <a:ext cx="2160956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27A3F"/>
              </a:buClr>
              <a:buSzPts val="4000"/>
              <a:buFont typeface="Newsreader"/>
              <a:buNone/>
            </a:pPr>
            <a:r>
              <a:rPr lang="zh-CN" sz="4000" b="0" i="0" u="none" strike="noStrike" cap="none" dirty="0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14天</a:t>
            </a:r>
            <a:endParaRPr sz="40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54" name="Google Shape;554;p18"/>
          <p:cNvSpPr txBox="1"/>
          <p:nvPr/>
        </p:nvSpPr>
        <p:spPr>
          <a:xfrm>
            <a:off x="9244355" y="3346704"/>
            <a:ext cx="2160956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chemeClr val="bg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7款产品</a:t>
            </a:r>
            <a:endParaRPr lang="en-US" altLang="zh-CN" sz="1100" b="0" i="0" u="none" strike="noStrike" cap="none" dirty="0">
              <a:solidFill>
                <a:schemeClr val="bg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4C0B7"/>
              </a:buClr>
              <a:buSzPts val="1100"/>
              <a:buFont typeface="Instrument Sans"/>
              <a:buNone/>
            </a:pPr>
            <a:r>
              <a:rPr lang="zh-CN" altLang="en-US" sz="1100" b="0" i="0" u="none" strike="noStrike" cap="none" dirty="0">
                <a:solidFill>
                  <a:schemeClr val="bg1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全球首个自我进化做市环境</a:t>
            </a:r>
            <a:endParaRPr sz="1100" b="0" i="0" u="none" strike="noStrike" cap="none" dirty="0">
              <a:solidFill>
                <a:schemeClr val="bg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55" name="Google Shape;555;p18"/>
          <p:cNvCxnSpPr/>
          <p:nvPr/>
        </p:nvCxnSpPr>
        <p:spPr>
          <a:xfrm>
            <a:off x="9244355" y="3730752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56" name="Google Shape;556;p18"/>
          <p:cNvSpPr txBox="1"/>
          <p:nvPr/>
        </p:nvSpPr>
        <p:spPr>
          <a:xfrm>
            <a:off x="9244355" y="3803904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4位量化实习本科生，高中同学</a:t>
            </a:r>
            <a:endParaRPr sz="11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57" name="Google Shape;557;p18"/>
          <p:cNvCxnSpPr/>
          <p:nvPr/>
        </p:nvCxnSpPr>
        <p:spPr>
          <a:xfrm>
            <a:off x="9244355" y="4279392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58" name="Google Shape;558;p18"/>
          <p:cNvSpPr txBox="1"/>
          <p:nvPr/>
        </p:nvSpPr>
        <p:spPr>
          <a:xfrm>
            <a:off x="9244355" y="4352544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剑桥、LSE、杜克</a:t>
            </a:r>
            <a:r>
              <a:rPr lang="zh-CN" altLang="en-US" sz="1100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最后一年</a:t>
            </a: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在读</a:t>
            </a:r>
            <a:endParaRPr sz="11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559" name="Google Shape;559;p18"/>
          <p:cNvCxnSpPr/>
          <p:nvPr/>
        </p:nvCxnSpPr>
        <p:spPr>
          <a:xfrm>
            <a:off x="9244355" y="4828032"/>
            <a:ext cx="2160956" cy="0"/>
          </a:xfrm>
          <a:prstGeom prst="straightConnector1">
            <a:avLst/>
          </a:prstGeom>
          <a:noFill/>
          <a:ln w="9525" cap="flat" cmpd="sng">
            <a:solidFill>
              <a:srgbClr val="3A393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60" name="Google Shape;560;p18"/>
          <p:cNvSpPr txBox="1"/>
          <p:nvPr/>
        </p:nvSpPr>
        <p:spPr>
          <a:xfrm>
            <a:off x="9244355" y="4901184"/>
            <a:ext cx="2160956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F9F6"/>
              </a:buClr>
              <a:buSzPts val="1100"/>
              <a:buFont typeface="Instrument Sans"/>
              <a:buNone/>
            </a:pP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量化经历：</a:t>
            </a:r>
            <a:b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Jane Street、Citadel、</a:t>
            </a:r>
            <a:b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</a:br>
            <a:r>
              <a:rPr lang="zh-CN" sz="1100" b="0" i="0" u="none" strike="noStrike" cap="none" dirty="0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D. E. Shaw、Optiver、Millennium</a:t>
            </a:r>
            <a:endParaRPr sz="1100" b="0" i="0" u="none" strike="noStrike" cap="none" dirty="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61" name="Google Shape;561;p18"/>
          <p:cNvSpPr txBox="1"/>
          <p:nvPr/>
        </p:nvSpPr>
        <p:spPr>
          <a:xfrm>
            <a:off x="548640" y="5669280"/>
            <a:ext cx="11094415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000"/>
              <a:buFont typeface="Newsreader"/>
              <a:buNone/>
            </a:pPr>
            <a:r>
              <a:rPr lang="zh-CN" sz="2000" b="0" i="0" u="none" strike="noStrike" cap="none" dirty="0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同样的起点，同一个赛道，</a:t>
            </a:r>
            <a:r>
              <a:rPr lang="zh-CN" sz="2000" b="0" i="0" u="none" strike="noStrike" cap="none" dirty="0">
                <a:solidFill>
                  <a:schemeClr val="accent2">
                    <a:lumMod val="75000"/>
                  </a:schemeClr>
                </a:solidFill>
                <a:latin typeface="Newsreader"/>
                <a:ea typeface="Newsreader"/>
                <a:cs typeface="Newsreader"/>
                <a:sym typeface="Newsreader"/>
              </a:rPr>
              <a:t>更快的加速度</a:t>
            </a:r>
            <a:endParaRPr sz="2000" b="0" i="0" u="none" strike="noStrike" cap="none" dirty="0">
              <a:solidFill>
                <a:schemeClr val="accent2">
                  <a:lumMod val="75000"/>
                </a:schemeClr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562" name="Google Shape;562;p18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563" name="Google Shape;563;p18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564" name="Google Shape;564;p18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16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1353312"/>
            <a:ext cx="73152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AI数据与后训练热点</a:t>
            </a:r>
          </a:p>
        </p:txBody>
      </p:sp>
      <p:sp>
        <p:nvSpPr>
          <p:cNvPr id="3002" name="SimReal 3002"/>
          <p:cNvSpPr/>
          <p:nvPr/>
        </p:nvSpPr>
        <p:spPr>
          <a:xfrm>
            <a:off x="548640" y="1591056"/>
            <a:ext cx="2633472" cy="4389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3" name="SimReal 3003"/>
          <p:cNvSpPr txBox="1"/>
          <p:nvPr/>
        </p:nvSpPr>
        <p:spPr>
          <a:xfrm>
            <a:off x="786384" y="1591056"/>
            <a:ext cx="22677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数据标注</a:t>
            </a:r>
          </a:p>
        </p:txBody>
      </p:sp>
      <p:sp>
        <p:nvSpPr>
          <p:cNvPr id="3004" name="SimReal 3004"/>
          <p:cNvSpPr txBox="1"/>
          <p:nvPr/>
        </p:nvSpPr>
        <p:spPr>
          <a:xfrm>
            <a:off x="3182112" y="1591056"/>
            <a:ext cx="18288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05" name="SimReal 3005"/>
          <p:cNvSpPr/>
          <p:nvPr/>
        </p:nvSpPr>
        <p:spPr>
          <a:xfrm>
            <a:off x="3364992" y="1591056"/>
            <a:ext cx="2633472" cy="4389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6" name="SimReal 3006"/>
          <p:cNvSpPr txBox="1"/>
          <p:nvPr/>
        </p:nvSpPr>
        <p:spPr>
          <a:xfrm>
            <a:off x="3602736" y="1591056"/>
            <a:ext cx="22677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专家数据</a:t>
            </a:r>
          </a:p>
        </p:txBody>
      </p:sp>
      <p:sp>
        <p:nvSpPr>
          <p:cNvPr id="3007" name="SimReal 3007"/>
          <p:cNvSpPr txBox="1"/>
          <p:nvPr/>
        </p:nvSpPr>
        <p:spPr>
          <a:xfrm>
            <a:off x="5998464" y="1591056"/>
            <a:ext cx="192024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08" name="SimReal 3008"/>
          <p:cNvSpPr/>
          <p:nvPr/>
        </p:nvSpPr>
        <p:spPr>
          <a:xfrm>
            <a:off x="6190488" y="1591056"/>
            <a:ext cx="2633472" cy="4389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9" name="SimReal 3009"/>
          <p:cNvSpPr txBox="1"/>
          <p:nvPr/>
        </p:nvSpPr>
        <p:spPr>
          <a:xfrm>
            <a:off x="6428232" y="1591056"/>
            <a:ext cx="22677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RL环境</a:t>
            </a:r>
          </a:p>
        </p:txBody>
      </p:sp>
      <p:sp>
        <p:nvSpPr>
          <p:cNvPr id="3010" name="SimReal 3010"/>
          <p:cNvSpPr txBox="1"/>
          <p:nvPr/>
        </p:nvSpPr>
        <p:spPr>
          <a:xfrm>
            <a:off x="8823960" y="1591056"/>
            <a:ext cx="18288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→</a:t>
            </a:r>
          </a:p>
        </p:txBody>
      </p:sp>
      <p:sp>
        <p:nvSpPr>
          <p:cNvPr id="3011" name="SimReal 3011"/>
          <p:cNvSpPr/>
          <p:nvPr/>
        </p:nvSpPr>
        <p:spPr>
          <a:xfrm>
            <a:off x="9006840" y="1591056"/>
            <a:ext cx="2633472" cy="438912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2" name="SimReal 3012"/>
          <p:cNvSpPr txBox="1"/>
          <p:nvPr/>
        </p:nvSpPr>
        <p:spPr>
          <a:xfrm>
            <a:off x="9244584" y="1591056"/>
            <a:ext cx="22677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自我进化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7" name="Google Shape;607;p1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08" name="Google Shape;608;p19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17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融资计划</a:t>
            </a:r>
          </a:p>
        </p:txBody>
      </p:sp>
      <p:sp>
        <p:nvSpPr>
          <p:cNvPr id="3002" name="SimReal 3002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本轮融资2,000万美元，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投后估值1.5亿美元</a:t>
            </a:r>
          </a:p>
        </p:txBody>
      </p:sp>
      <p:sp>
        <p:nvSpPr>
          <p:cNvPr id="3003" name="SimReal 3003"/>
          <p:cNvSpPr/>
          <p:nvPr/>
        </p:nvSpPr>
        <p:spPr>
          <a:xfrm>
            <a:off x="548640" y="1481328"/>
            <a:ext cx="3566160" cy="2743200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4" name="SimReal 3004"/>
          <p:cNvSpPr txBox="1"/>
          <p:nvPr/>
        </p:nvSpPr>
        <p:spPr>
          <a:xfrm>
            <a:off x="868680" y="1664208"/>
            <a:ext cx="2743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种子轮</a:t>
            </a:r>
          </a:p>
        </p:txBody>
      </p:sp>
      <p:sp>
        <p:nvSpPr>
          <p:cNvPr id="3005" name="SimReal 3005"/>
          <p:cNvSpPr txBox="1"/>
          <p:nvPr/>
        </p:nvSpPr>
        <p:spPr>
          <a:xfrm>
            <a:off x="868680" y="1847088"/>
            <a:ext cx="3017520" cy="8046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56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$20M</a:t>
            </a:r>
          </a:p>
        </p:txBody>
      </p:sp>
      <p:sp>
        <p:nvSpPr>
          <p:cNvPr id="3006" name="SimReal 3006"/>
          <p:cNvSpPr txBox="1"/>
          <p:nvPr/>
        </p:nvSpPr>
        <p:spPr>
          <a:xfrm>
            <a:off x="868680" y="2688336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投后1.5亿美元  ·  出让约13%</a:t>
            </a:r>
          </a:p>
        </p:txBody>
      </p:sp>
      <p:sp>
        <p:nvSpPr>
          <p:cNvPr id="3007" name="SimReal 3007"/>
          <p:cNvSpPr/>
          <p:nvPr/>
        </p:nvSpPr>
        <p:spPr>
          <a:xfrm>
            <a:off x="868680" y="3054096"/>
            <a:ext cx="292608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8" name="SimReal 3008"/>
          <p:cNvSpPr txBox="1"/>
          <p:nvPr/>
        </p:nvSpPr>
        <p:spPr>
          <a:xfrm>
            <a:off x="868680" y="3145536"/>
            <a:ext cx="301752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4C0B7"/>
                </a:solidFill>
                <a:latin typeface="IBM Plex Mono"/>
                <a:ea typeface="IBM Plex Mono"/>
                <a:cs typeface="IBM Plex Mono"/>
                <a:sym typeface="IBM Plex Mono"/>
              </a:rPr>
              <a:t>本轮商业目标</a:t>
            </a:r>
          </a:p>
        </p:txBody>
      </p:sp>
      <p:sp>
        <p:nvSpPr>
          <p:cNvPr id="3009" name="SimReal 3009"/>
          <p:cNvSpPr txBox="1"/>
          <p:nvPr/>
        </p:nvSpPr>
        <p:spPr>
          <a:xfrm>
            <a:off x="868680" y="3346704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5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从试点推进到可验证的付费采购与复购</a:t>
            </a:r>
          </a:p>
        </p:txBody>
      </p:sp>
      <p:sp>
        <p:nvSpPr>
          <p:cNvPr id="3010" name="SimReal 3010"/>
          <p:cNvSpPr txBox="1"/>
          <p:nvPr/>
        </p:nvSpPr>
        <p:spPr>
          <a:xfrm>
            <a:off x="868680" y="3675888"/>
            <a:ext cx="301752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6个月年化收入1亿美元</a:t>
            </a: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zh-CN" sz="1300" b="1" i="0" u="none" strike="noStrike" cap="none">
                <a:solidFill>
                  <a:srgbClr val="E27A3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12个月年化收入3亿美元</a:t>
            </a:r>
          </a:p>
        </p:txBody>
      </p:sp>
      <p:sp>
        <p:nvSpPr>
          <p:cNvPr id="3011" name="SimReal 3011"/>
          <p:cNvSpPr txBox="1"/>
          <p:nvPr/>
        </p:nvSpPr>
        <p:spPr>
          <a:xfrm>
            <a:off x="4526280" y="1481328"/>
            <a:ext cx="45720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估值依据</a:t>
            </a:r>
          </a:p>
        </p:txBody>
      </p:sp>
      <p:sp>
        <p:nvSpPr>
          <p:cNvPr id="3012" name="SimReal 3012"/>
          <p:cNvSpPr/>
          <p:nvPr/>
        </p:nvSpPr>
        <p:spPr>
          <a:xfrm>
            <a:off x="4526280" y="1737360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3" name="SimReal 3013"/>
          <p:cNvSpPr txBox="1"/>
          <p:nvPr/>
        </p:nvSpPr>
        <p:spPr>
          <a:xfrm>
            <a:off x="4526280" y="1737360"/>
            <a:ext cx="457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</a:p>
        </p:txBody>
      </p:sp>
      <p:sp>
        <p:nvSpPr>
          <p:cNvPr id="3014" name="SimReal 3014"/>
          <p:cNvSpPr txBox="1"/>
          <p:nvPr/>
        </p:nvSpPr>
        <p:spPr>
          <a:xfrm>
            <a:off x="5029200" y="1737360"/>
            <a:ext cx="1600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融资阶段</a:t>
            </a:r>
          </a:p>
        </p:txBody>
      </p:sp>
      <p:sp>
        <p:nvSpPr>
          <p:cNvPr id="3015" name="SimReal 3015"/>
          <p:cNvSpPr txBox="1"/>
          <p:nvPr/>
        </p:nvSpPr>
        <p:spPr>
          <a:xfrm>
            <a:off x="6675120" y="1737360"/>
            <a:ext cx="4965192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对标Applied Compute种子轮：2,000万美元，投后1亿，14个月后约30亿</a:t>
            </a:r>
          </a:p>
        </p:txBody>
      </p:sp>
      <p:sp>
        <p:nvSpPr>
          <p:cNvPr id="3016" name="SimReal 3016"/>
          <p:cNvSpPr/>
          <p:nvPr/>
        </p:nvSpPr>
        <p:spPr>
          <a:xfrm>
            <a:off x="4526280" y="2350008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7" name="SimReal 3017"/>
          <p:cNvSpPr txBox="1"/>
          <p:nvPr/>
        </p:nvSpPr>
        <p:spPr>
          <a:xfrm>
            <a:off x="4526280" y="2350008"/>
            <a:ext cx="457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</a:p>
        </p:txBody>
      </p:sp>
      <p:sp>
        <p:nvSpPr>
          <p:cNvPr id="3018" name="SimReal 3018"/>
          <p:cNvSpPr txBox="1"/>
          <p:nvPr/>
        </p:nvSpPr>
        <p:spPr>
          <a:xfrm>
            <a:off x="5029200" y="2350008"/>
            <a:ext cx="1600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</a:t>
            </a:r>
          </a:p>
        </p:txBody>
      </p:sp>
      <p:sp>
        <p:nvSpPr>
          <p:cNvPr id="3019" name="SimReal 3019"/>
          <p:cNvSpPr txBox="1"/>
          <p:nvPr/>
        </p:nvSpPr>
        <p:spPr>
          <a:xfrm>
            <a:off x="6675120" y="2350008"/>
            <a:ext cx="4965192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对标Snorkel E轮（35亿美元）：同样的数据、环境、评测，另有自我进化</a:t>
            </a:r>
          </a:p>
        </p:txBody>
      </p:sp>
      <p:sp>
        <p:nvSpPr>
          <p:cNvPr id="3020" name="SimReal 3020"/>
          <p:cNvSpPr/>
          <p:nvPr/>
        </p:nvSpPr>
        <p:spPr>
          <a:xfrm>
            <a:off x="4526280" y="2962656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1" name="SimReal 3021"/>
          <p:cNvSpPr txBox="1"/>
          <p:nvPr/>
        </p:nvSpPr>
        <p:spPr>
          <a:xfrm>
            <a:off x="4526280" y="2962656"/>
            <a:ext cx="457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</a:p>
        </p:txBody>
      </p:sp>
      <p:sp>
        <p:nvSpPr>
          <p:cNvPr id="3022" name="SimReal 3022"/>
          <p:cNvSpPr txBox="1"/>
          <p:nvPr/>
        </p:nvSpPr>
        <p:spPr>
          <a:xfrm>
            <a:off x="5029200" y="2962656"/>
            <a:ext cx="1600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收入</a:t>
            </a:r>
          </a:p>
        </p:txBody>
      </p:sp>
      <p:sp>
        <p:nvSpPr>
          <p:cNvPr id="3023" name="SimReal 3023"/>
          <p:cNvSpPr txBox="1"/>
          <p:nvPr/>
        </p:nvSpPr>
        <p:spPr>
          <a:xfrm>
            <a:off x="6675120" y="2962656"/>
            <a:ext cx="4965192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6个月年化1亿美元，12个月3亿美元；AfterQuery做到1亿美元用了14个月</a:t>
            </a:r>
          </a:p>
        </p:txBody>
      </p:sp>
      <p:sp>
        <p:nvSpPr>
          <p:cNvPr id="3024" name="SimReal 3024"/>
          <p:cNvSpPr/>
          <p:nvPr/>
        </p:nvSpPr>
        <p:spPr>
          <a:xfrm>
            <a:off x="4526280" y="3575304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5" name="SimReal 3025"/>
          <p:cNvSpPr txBox="1"/>
          <p:nvPr/>
        </p:nvSpPr>
        <p:spPr>
          <a:xfrm>
            <a:off x="4526280" y="3575304"/>
            <a:ext cx="457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</a:p>
        </p:txBody>
      </p:sp>
      <p:sp>
        <p:nvSpPr>
          <p:cNvPr id="3026" name="SimReal 3026"/>
          <p:cNvSpPr txBox="1"/>
          <p:nvPr/>
        </p:nvSpPr>
        <p:spPr>
          <a:xfrm>
            <a:off x="5029200" y="3575304"/>
            <a:ext cx="1600200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7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估值</a:t>
            </a:r>
          </a:p>
        </p:txBody>
      </p:sp>
      <p:sp>
        <p:nvSpPr>
          <p:cNvPr id="3027" name="SimReal 3027"/>
          <p:cNvSpPr txBox="1"/>
          <p:nvPr/>
        </p:nvSpPr>
        <p:spPr>
          <a:xfrm>
            <a:off x="6675120" y="3575304"/>
            <a:ext cx="4965192" cy="612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AfterQuery年化1亿美元时A轮估值3亿美元，我们是一半；6个月回报2–20倍</a:t>
            </a:r>
          </a:p>
        </p:txBody>
      </p:sp>
      <p:sp>
        <p:nvSpPr>
          <p:cNvPr id="3028" name="SimReal 3028"/>
          <p:cNvSpPr/>
          <p:nvPr/>
        </p:nvSpPr>
        <p:spPr>
          <a:xfrm>
            <a:off x="4526280" y="4187952"/>
            <a:ext cx="7114032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9" name="SimReal 3029"/>
          <p:cNvSpPr txBox="1"/>
          <p:nvPr/>
        </p:nvSpPr>
        <p:spPr>
          <a:xfrm>
            <a:off x="548640" y="4443984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赛道融资加速期刚刚开始</a:t>
            </a:r>
          </a:p>
        </p:txBody>
      </p:sp>
      <p:sp>
        <p:nvSpPr>
          <p:cNvPr id="3030" name="SimReal 3030"/>
          <p:cNvSpPr/>
          <p:nvPr/>
        </p:nvSpPr>
        <p:spPr>
          <a:xfrm>
            <a:off x="548640" y="4700016"/>
            <a:ext cx="2649474" cy="8961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1" name="SimReal 3031"/>
          <p:cNvSpPr txBox="1"/>
          <p:nvPr/>
        </p:nvSpPr>
        <p:spPr>
          <a:xfrm>
            <a:off x="768096" y="4809744"/>
            <a:ext cx="228371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Applied Compute</a:t>
            </a:r>
          </a:p>
        </p:txBody>
      </p:sp>
      <p:sp>
        <p:nvSpPr>
          <p:cNvPr id="3032" name="SimReal 3032"/>
          <p:cNvSpPr txBox="1"/>
          <p:nvPr/>
        </p:nvSpPr>
        <p:spPr>
          <a:xfrm>
            <a:off x="768096" y="5029200"/>
            <a:ext cx="228371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1亿 → 约30亿美元</a:t>
            </a:r>
          </a:p>
        </p:txBody>
      </p:sp>
      <p:sp>
        <p:nvSpPr>
          <p:cNvPr id="3033" name="SimReal 3033"/>
          <p:cNvSpPr txBox="1"/>
          <p:nvPr/>
        </p:nvSpPr>
        <p:spPr>
          <a:xfrm>
            <a:off x="768096" y="5340096"/>
            <a:ext cx="228371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14个月</a:t>
            </a:r>
          </a:p>
        </p:txBody>
      </p:sp>
      <p:sp>
        <p:nvSpPr>
          <p:cNvPr id="3034" name="SimReal 3034"/>
          <p:cNvSpPr/>
          <p:nvPr/>
        </p:nvSpPr>
        <p:spPr>
          <a:xfrm>
            <a:off x="3362706" y="4700016"/>
            <a:ext cx="2649474" cy="896112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5" name="SimReal 3035"/>
          <p:cNvSpPr txBox="1"/>
          <p:nvPr/>
        </p:nvSpPr>
        <p:spPr>
          <a:xfrm>
            <a:off x="3582162" y="4809744"/>
            <a:ext cx="228371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AfterQuery</a:t>
            </a:r>
          </a:p>
        </p:txBody>
      </p:sp>
      <p:sp>
        <p:nvSpPr>
          <p:cNvPr id="3036" name="SimReal 3036"/>
          <p:cNvSpPr txBox="1"/>
          <p:nvPr/>
        </p:nvSpPr>
        <p:spPr>
          <a:xfrm>
            <a:off x="3582162" y="5029200"/>
            <a:ext cx="228371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3亿 → 32亿美元</a:t>
            </a:r>
          </a:p>
        </p:txBody>
      </p:sp>
      <p:sp>
        <p:nvSpPr>
          <p:cNvPr id="3037" name="SimReal 3037"/>
          <p:cNvSpPr txBox="1"/>
          <p:nvPr/>
        </p:nvSpPr>
        <p:spPr>
          <a:xfrm>
            <a:off x="3582162" y="5340096"/>
            <a:ext cx="228371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5个月</a:t>
            </a:r>
          </a:p>
        </p:txBody>
      </p:sp>
      <p:sp>
        <p:nvSpPr>
          <p:cNvPr id="3038" name="SimReal 3038"/>
          <p:cNvSpPr/>
          <p:nvPr/>
        </p:nvSpPr>
        <p:spPr>
          <a:xfrm>
            <a:off x="6176772" y="4700016"/>
            <a:ext cx="2649474" cy="8961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9" name="SimReal 3039"/>
          <p:cNvSpPr txBox="1"/>
          <p:nvPr/>
        </p:nvSpPr>
        <p:spPr>
          <a:xfrm>
            <a:off x="6396228" y="4809744"/>
            <a:ext cx="228371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micro1</a:t>
            </a:r>
          </a:p>
        </p:txBody>
      </p:sp>
      <p:sp>
        <p:nvSpPr>
          <p:cNvPr id="3040" name="SimReal 3040"/>
          <p:cNvSpPr txBox="1"/>
          <p:nvPr/>
        </p:nvSpPr>
        <p:spPr>
          <a:xfrm>
            <a:off x="6396228" y="5029200"/>
            <a:ext cx="228371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5亿 → 40亿美元</a:t>
            </a:r>
          </a:p>
        </p:txBody>
      </p:sp>
      <p:sp>
        <p:nvSpPr>
          <p:cNvPr id="3041" name="SimReal 3041"/>
          <p:cNvSpPr txBox="1"/>
          <p:nvPr/>
        </p:nvSpPr>
        <p:spPr>
          <a:xfrm>
            <a:off x="6396228" y="5340096"/>
            <a:ext cx="228371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12个月</a:t>
            </a:r>
          </a:p>
        </p:txBody>
      </p:sp>
      <p:sp>
        <p:nvSpPr>
          <p:cNvPr id="3042" name="SimReal 3042"/>
          <p:cNvSpPr/>
          <p:nvPr/>
        </p:nvSpPr>
        <p:spPr>
          <a:xfrm>
            <a:off x="8990838" y="4700016"/>
            <a:ext cx="2649474" cy="896112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3" name="SimReal 3043"/>
          <p:cNvSpPr txBox="1"/>
          <p:nvPr/>
        </p:nvSpPr>
        <p:spPr>
          <a:xfrm>
            <a:off x="9210294" y="4809744"/>
            <a:ext cx="228371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Mercor</a:t>
            </a:r>
          </a:p>
        </p:txBody>
      </p:sp>
      <p:sp>
        <p:nvSpPr>
          <p:cNvPr id="3044" name="SimReal 3044"/>
          <p:cNvSpPr txBox="1"/>
          <p:nvPr/>
        </p:nvSpPr>
        <p:spPr>
          <a:xfrm>
            <a:off x="9210294" y="5029200"/>
            <a:ext cx="2283714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6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100亿 → 200亿美元</a:t>
            </a:r>
          </a:p>
        </p:txBody>
      </p:sp>
      <p:sp>
        <p:nvSpPr>
          <p:cNvPr id="3045" name="SimReal 3045"/>
          <p:cNvSpPr txBox="1"/>
          <p:nvPr/>
        </p:nvSpPr>
        <p:spPr>
          <a:xfrm>
            <a:off x="9210294" y="5340096"/>
            <a:ext cx="228371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9个月，洽谈中</a:t>
            </a:r>
          </a:p>
        </p:txBody>
      </p:sp>
      <p:sp>
        <p:nvSpPr>
          <p:cNvPr id="3046" name="SimReal 3046"/>
          <p:cNvSpPr txBox="1"/>
          <p:nvPr/>
        </p:nvSpPr>
        <p:spPr>
          <a:xfrm>
            <a:off x="548640" y="5760720"/>
            <a:ext cx="1109167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估值均为投后。2倍按AfterQuery A轮估值、20倍按其最新估值计（其9月收入未公开，为上限）。来源见A3。</a:t>
            </a:r>
          </a:p>
        </p:txBody>
      </p:sp>
      <p:sp>
        <p:nvSpPr>
          <p:cNvPr id="3047" name="SimReal 3047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5" name="Google Shape;615;p20" descr="orbi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737360" cy="1645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6" name="Google Shape;616;p20" descr="orbit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63840" y="914400"/>
            <a:ext cx="4325112" cy="585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7" name="Google Shape;617;p20" descr="SimReal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48640" y="1572768"/>
            <a:ext cx="365760" cy="452628"/>
          </a:xfrm>
          <a:prstGeom prst="rect">
            <a:avLst/>
          </a:prstGeom>
          <a:noFill/>
          <a:ln>
            <a:noFill/>
          </a:ln>
        </p:spPr>
      </p:pic>
      <p:sp>
        <p:nvSpPr>
          <p:cNvPr id="618" name="Google Shape;618;p20"/>
          <p:cNvSpPr txBox="1"/>
          <p:nvPr/>
        </p:nvSpPr>
        <p:spPr>
          <a:xfrm>
            <a:off x="548640" y="2286000"/>
            <a:ext cx="731520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每个行业最强的AI，</a:t>
            </a:r>
            <a:endParaRPr sz="44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4400"/>
              <a:buFont typeface="Newsreader"/>
              <a:buNone/>
            </a:pPr>
            <a:r>
              <a:rPr lang="zh-CN" sz="44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都出自我们的世界。</a:t>
            </a:r>
            <a:endParaRPr sz="44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19" name="Google Shape;619;p20"/>
          <p:cNvSpPr txBox="1"/>
          <p:nvPr/>
        </p:nvSpPr>
        <p:spPr>
          <a:xfrm>
            <a:off x="548640" y="4160520"/>
            <a:ext cx="713232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500"/>
              <a:buFont typeface="Instrument Sans"/>
              <a:buNone/>
            </a:pPr>
            <a:r>
              <a:rPr lang="zh-CN" sz="15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三个世界已上线：交易、AI研究、未来预测</a:t>
            </a:r>
            <a:endParaRPr sz="15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20" name="Google Shape;620;p20"/>
          <p:cNvSpPr txBox="1"/>
          <p:nvPr/>
        </p:nvSpPr>
        <p:spPr>
          <a:xfrm>
            <a:off x="548640" y="4526280"/>
            <a:ext cx="71323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SimReal  ·  AI经济的数据与自我进化引擎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21" name="Google Shape;621;p20"/>
          <p:cNvCxnSpPr/>
          <p:nvPr/>
        </p:nvCxnSpPr>
        <p:spPr>
          <a:xfrm>
            <a:off x="548640" y="5120640"/>
            <a:ext cx="51206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22" name="Google Shape;622;p20"/>
          <p:cNvSpPr txBox="1"/>
          <p:nvPr/>
        </p:nvSpPr>
        <p:spPr>
          <a:xfrm>
            <a:off x="548640" y="5248656"/>
            <a:ext cx="7132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100"/>
              <a:buFont typeface="IBM Plex Mono"/>
              <a:buNone/>
            </a:pPr>
            <a:r>
              <a:rPr lang="zh-CN" sz="1100" b="0" i="0" u="none" strike="noStrike" cap="none">
                <a:solidFill>
                  <a:srgbClr val="111110"/>
                </a:solidFill>
                <a:latin typeface="IBM Plex Mono"/>
                <a:ea typeface="IBM Plex Mono"/>
                <a:cs typeface="IBM Plex Mono"/>
                <a:sym typeface="IBM Plex Mono"/>
              </a:rPr>
              <a:t>business@simreal.co  ·  simreal.co  ·  x.com/simrealhq</a:t>
            </a:r>
            <a:endParaRPr sz="11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23" name="Google Shape;623;p20" descr="SimReal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24" name="Google Shape;624;p20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p2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A1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31" name="Google Shape;631;p21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Xitadel：测试了什么，怎么测的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32" name="Google Shape;632;p21"/>
          <p:cNvCxnSpPr/>
          <p:nvPr/>
        </p:nvCxnSpPr>
        <p:spPr>
          <a:xfrm>
            <a:off x="548640" y="1600200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33" name="Google Shape;633;p21"/>
          <p:cNvSpPr txBox="1"/>
          <p:nvPr/>
        </p:nvSpPr>
        <p:spPr>
          <a:xfrm>
            <a:off x="548640" y="1600200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环境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34" name="Google Shape;634;p21"/>
          <p:cNvSpPr txBox="1"/>
          <p:nvPr/>
        </p:nvSpPr>
        <p:spPr>
          <a:xfrm>
            <a:off x="2011680" y="1600200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回放真实交易日与订单簿，每笔交易由市场结算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35" name="Google Shape;635;p21"/>
          <p:cNvCxnSpPr/>
          <p:nvPr/>
        </p:nvCxnSpPr>
        <p:spPr>
          <a:xfrm>
            <a:off x="548640" y="2258568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36" name="Google Shape;636;p21"/>
          <p:cNvSpPr txBox="1"/>
          <p:nvPr/>
        </p:nvSpPr>
        <p:spPr>
          <a:xfrm>
            <a:off x="548640" y="2258568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模型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37" name="Google Shape;637;p21"/>
          <p:cNvSpPr txBox="1"/>
          <p:nvPr/>
        </p:nvSpPr>
        <p:spPr>
          <a:xfrm>
            <a:off x="2011680" y="2258568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开源模型Qwen3.8-27B，比较训练前后表现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38" name="Google Shape;638;p21"/>
          <p:cNvCxnSpPr/>
          <p:nvPr/>
        </p:nvCxnSpPr>
        <p:spPr>
          <a:xfrm>
            <a:off x="548640" y="2916936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39" name="Google Shape;639;p21"/>
          <p:cNvSpPr txBox="1"/>
          <p:nvPr/>
        </p:nvSpPr>
        <p:spPr>
          <a:xfrm>
            <a:off x="548640" y="2916936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测试数据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40" name="Google Shape;640;p21"/>
          <p:cNvSpPr txBox="1"/>
          <p:nvPr/>
        </p:nvSpPr>
        <p:spPr>
          <a:xfrm>
            <a:off x="2011680" y="2916936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模型未见过的真实交易日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41" name="Google Shape;641;p21"/>
          <p:cNvCxnSpPr/>
          <p:nvPr/>
        </p:nvCxnSpPr>
        <p:spPr>
          <a:xfrm>
            <a:off x="548640" y="3575304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42" name="Google Shape;642;p21"/>
          <p:cNvSpPr txBox="1"/>
          <p:nvPr/>
        </p:nvSpPr>
        <p:spPr>
          <a:xfrm>
            <a:off x="548640" y="3575304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结果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43" name="Google Shape;643;p21"/>
          <p:cNvSpPr txBox="1"/>
          <p:nvPr/>
        </p:nvSpPr>
        <p:spPr>
          <a:xfrm>
            <a:off x="2011680" y="3575304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交易表现较基础模型</a:t>
            </a:r>
            <a:r>
              <a:rPr lang="zh-CN" sz="1300" b="0" i="0" u="none" strike="noStrike" cap="none">
                <a:solidFill>
                  <a:srgbClr val="C2410C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提升12%</a:t>
            </a: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，多次独立复现（受控实验）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44" name="Google Shape;644;p21"/>
          <p:cNvCxnSpPr/>
          <p:nvPr/>
        </p:nvCxnSpPr>
        <p:spPr>
          <a:xfrm>
            <a:off x="548640" y="4233672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45" name="Google Shape;645;p21"/>
          <p:cNvSpPr txBox="1"/>
          <p:nvPr/>
        </p:nvSpPr>
        <p:spPr>
          <a:xfrm>
            <a:off x="548640" y="4233672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公开基准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46" name="Google Shape;646;p21"/>
          <p:cNvSpPr txBox="1"/>
          <p:nvPr/>
        </p:nvSpPr>
        <p:spPr>
          <a:xfrm>
            <a:off x="2011680" y="4233672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Xitadel公开预览版：人类参考分80，前沿模型最高77.28（GPT 6），尚无模型越过人类线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47" name="Google Shape;647;p21"/>
          <p:cNvCxnSpPr/>
          <p:nvPr/>
        </p:nvCxnSpPr>
        <p:spPr>
          <a:xfrm>
            <a:off x="548640" y="4892040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48" name="Google Shape;648;p21"/>
          <p:cNvSpPr txBox="1"/>
          <p:nvPr/>
        </p:nvSpPr>
        <p:spPr>
          <a:xfrm>
            <a:off x="548640" y="4892040"/>
            <a:ext cx="13716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200"/>
              <a:buFont typeface="Instrument Sans SemiBold"/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尽调材料</a:t>
            </a:r>
            <a:endParaRPr sz="1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49" name="Google Shape;649;p21"/>
          <p:cNvSpPr txBox="1"/>
          <p:nvPr/>
        </p:nvSpPr>
        <p:spPr>
          <a:xfrm>
            <a:off x="2011680" y="4892040"/>
            <a:ext cx="5257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运行记录、指标定义与脚本，尽调时提供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50" name="Google Shape;650;p21"/>
          <p:cNvCxnSpPr/>
          <p:nvPr/>
        </p:nvCxnSpPr>
        <p:spPr>
          <a:xfrm>
            <a:off x="548640" y="5550408"/>
            <a:ext cx="6720840" cy="0"/>
          </a:xfrm>
          <a:prstGeom prst="straightConnector1">
            <a:avLst/>
          </a:prstGeom>
          <a:noFill/>
          <a:ln w="9525" cap="flat" cmpd="sng">
            <a:solidFill>
              <a:srgbClr val="E2E0DA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51" name="Google Shape;651;p21"/>
          <p:cNvSpPr/>
          <p:nvPr/>
        </p:nvSpPr>
        <p:spPr>
          <a:xfrm>
            <a:off x="7635240" y="1600200"/>
            <a:ext cx="4007815" cy="3950208"/>
          </a:xfrm>
          <a:prstGeom prst="rect">
            <a:avLst/>
          </a:prstGeom>
          <a:solidFill>
            <a:srgbClr val="F2F1EC"/>
          </a:solidFill>
          <a:ln w="12700" cap="flat" cmpd="sng">
            <a:solidFill>
              <a:srgbClr val="F2F1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2" name="Google Shape;652;p21"/>
          <p:cNvSpPr txBox="1"/>
          <p:nvPr/>
        </p:nvSpPr>
        <p:spPr>
          <a:xfrm>
            <a:off x="7909560" y="1783080"/>
            <a:ext cx="3459175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Xitadel公开预览版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53" name="Google Shape;653;p21"/>
          <p:cNvSpPr txBox="1"/>
          <p:nvPr/>
        </p:nvSpPr>
        <p:spPr>
          <a:xfrm>
            <a:off x="7909560" y="2029968"/>
            <a:ext cx="3459175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800"/>
              <a:buFont typeface="Newsreader"/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尚无模型越过人类水平线</a:t>
            </a:r>
            <a:endParaRPr sz="1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54" name="Google Shape;654;p21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55" name="Google Shape;655;p21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56" name="Google Shape;656;p21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20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57" name="Google Shape;657;p21" title="Screenshot 2026-09-25 at 7.38.04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771487" y="2645688"/>
            <a:ext cx="3735300" cy="2180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p22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A2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64" name="Google Shape;664;p22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产品清单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graphicFrame>
        <p:nvGraphicFramePr>
          <p:cNvPr id="665" name="Google Shape;665;p22"/>
          <p:cNvGraphicFramePr/>
          <p:nvPr/>
        </p:nvGraphicFramePr>
        <p:xfrm>
          <a:off x="548640" y="157276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{EA870364-48A8-4773-986C-DF2669CC7B71}</a:tableStyleId>
              </a:tblPr>
              <a:tblGrid>
                <a:gridCol w="233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63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9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000"/>
                        <a:buFont typeface="IBM Plex Mono"/>
                        <a:buNone/>
                      </a:pPr>
                      <a:r>
                        <a:rPr lang="zh-CN" sz="10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产品</a:t>
                      </a:r>
                      <a:endParaRPr sz="1000" u="none" strike="noStrike" cap="non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000"/>
                        <a:buFont typeface="IBM Plex Mono"/>
                        <a:buNone/>
                      </a:pPr>
                      <a:r>
                        <a:rPr lang="zh-CN" sz="10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领域</a:t>
                      </a:r>
                      <a:endParaRPr sz="1000" u="none" strike="noStrike" cap="non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000"/>
                        <a:buFont typeface="IBM Plex Mono"/>
                        <a:buNone/>
                      </a:pPr>
                      <a:r>
                        <a:rPr lang="zh-CN" sz="10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说明</a:t>
                      </a:r>
                      <a:endParaRPr sz="1000" u="none" strike="noStrike" cap="non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000"/>
                        <a:buFont typeface="IBM Plex Mono"/>
                        <a:buNone/>
                      </a:pPr>
                      <a:r>
                        <a:rPr lang="zh-CN" sz="10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状态</a:t>
                      </a:r>
                      <a:endParaRPr sz="1000" u="none" strike="noStrike" cap="none">
                        <a:latin typeface="IBM Plex Mono"/>
                        <a:ea typeface="IBM Plex Mono"/>
                        <a:cs typeface="IBM Plex Mono"/>
                        <a:sym typeface="IBM Plex Mono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Xitadel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交易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AI在真实行情中交易，按盈亏评分；已跑通自我进化（+12%）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410C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C2410C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开源</a:t>
                      </a:r>
                      <a:r>
                        <a:rPr lang="zh-CN" sz="9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  Xitadel-QuantBench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11111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SimReal-MLBench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AI研究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60个研究任务、7类数据，参照OpenAI的MLE-bench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410C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C2410C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开源</a:t>
                      </a:r>
                      <a:r>
                        <a:rPr lang="zh-CN" sz="9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  Simreal-MLBench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Future Prediction Bench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预测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预测真实事件，揭晓后按结果打分；数据实时接入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上线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Month-End Close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财务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让AI零差错完成月结；评分漏洞6 → 0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上线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SWE-Forward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软件工程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检验AI写的代码能否挺过下一个版本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上线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MathmoBench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数学证明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让AI证明答案，而不是猜答案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410C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C2410C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开源</a:t>
                      </a:r>
                      <a:r>
                        <a:rPr lang="zh-CN" sz="9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  MathmoBench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11110"/>
                        </a:buClr>
                        <a:buSzPts val="1200"/>
                        <a:buFont typeface="Instrument Sans SemiBold"/>
                        <a:buNone/>
                      </a:pPr>
                      <a:r>
                        <a:rPr lang="zh-CN" sz="1200" u="none" strike="noStrike" cap="none">
                          <a:solidFill>
                            <a:srgbClr val="111110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Puzzle Benchmark</a:t>
                      </a:r>
                      <a:endParaRPr sz="1200" u="none" strike="noStrike" cap="none">
                        <a:latin typeface="Instrument Sans SemiBold"/>
                        <a:ea typeface="Instrument Sans SemiBold"/>
                        <a:cs typeface="Instrument Sans SemiBold"/>
                        <a:sym typeface="Instrument Sans SemiBold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E6C66"/>
                        </a:buClr>
                        <a:buSzPts val="1100"/>
                        <a:buFont typeface="Instrument Sans"/>
                        <a:buNone/>
                      </a:pPr>
                      <a:r>
                        <a:rPr lang="zh-CN" sz="1100" u="none" strike="noStrike" cap="none">
                          <a:solidFill>
                            <a:srgbClr val="6E6C66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逻辑推理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22F"/>
                        </a:buClr>
                        <a:buSzPts val="1200"/>
                        <a:buFont typeface="Instrument Sans"/>
                        <a:buNone/>
                      </a:pPr>
                      <a:r>
                        <a:rPr lang="zh-CN" sz="1200" u="none" strike="noStrike" cap="none">
                          <a:solidFill>
                            <a:srgbClr val="33322F"/>
                          </a:solidFill>
                          <a:latin typeface="Instrument Sans"/>
                          <a:ea typeface="Instrument Sans"/>
                          <a:cs typeface="Instrument Sans"/>
                          <a:sym typeface="Instrument Sans"/>
                        </a:rPr>
                        <a:t>749道无法作弊的谜题；400次作弊攻击0次成功</a:t>
                      </a:r>
                      <a:endParaRPr sz="12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2410C"/>
                        </a:buClr>
                        <a:buSzPts val="1100"/>
                        <a:buFont typeface="Instrument Sans SemiBold"/>
                        <a:buNone/>
                      </a:pPr>
                      <a:r>
                        <a:rPr lang="zh-CN" sz="1100" u="none" strike="noStrike" cap="none">
                          <a:solidFill>
                            <a:srgbClr val="C2410C"/>
                          </a:solidFill>
                          <a:latin typeface="Instrument Sans SemiBold"/>
                          <a:ea typeface="Instrument Sans SemiBold"/>
                          <a:cs typeface="Instrument Sans SemiBold"/>
                          <a:sym typeface="Instrument Sans SemiBold"/>
                        </a:rPr>
                        <a:t>开源</a:t>
                      </a:r>
                      <a:r>
                        <a:rPr lang="zh-CN" sz="900" u="none" strike="noStrike" cap="none">
                          <a:solidFill>
                            <a:srgbClr val="6E6C66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  hard-puzzle-benchmark</a:t>
                      </a:r>
                      <a:endParaRPr sz="1100" u="none" strike="noStrike" cap="none">
                        <a:latin typeface="Instrument Sans"/>
                        <a:ea typeface="Instrument Sans"/>
                        <a:cs typeface="Instrument Sans"/>
                        <a:sym typeface="Instrument Sans"/>
                      </a:endParaRPr>
                    </a:p>
                  </a:txBody>
                  <a:tcPr marL="0" marR="7315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0DA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0DA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666" name="Google Shape;666;p22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67" name="Google Shape;667;p22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68" name="Google Shape;668;p22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21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p23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A3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75" name="Google Shape;675;p23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数据来源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76" name="Google Shape;676;p23"/>
          <p:cNvSpPr txBox="1"/>
          <p:nvPr/>
        </p:nvSpPr>
        <p:spPr>
          <a:xfrm>
            <a:off x="548640" y="1536192"/>
            <a:ext cx="534924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公司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77" name="Google Shape;677;p23"/>
          <p:cNvCxnSpPr/>
          <p:nvPr/>
        </p:nvCxnSpPr>
        <p:spPr>
          <a:xfrm>
            <a:off x="548640" y="1792224"/>
            <a:ext cx="5349240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78" name="Google Shape;678;p23"/>
          <p:cNvSpPr txBox="1"/>
          <p:nvPr/>
        </p:nvSpPr>
        <p:spPr>
          <a:xfrm>
            <a:off x="548640" y="1938528"/>
            <a:ext cx="5349240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Mercor年化收入：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TechCrunch（2025年2月，7,500万美元）；Mercor CEO（2025年9月，5亿美元）；Sacra（2025年12月，7.6亿美元）；Mercor（2026年初，10亿美元）；Dealroom（2026年6月，20亿美元）。均为毛营收，专家拿走60–70%（彭博）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Mercor估值：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A轮2.5亿美元（2024年9月）到C轮100亿美元（2025年10月）；200亿美元估值轮次处于早期洽谈（彭博，2026年7月9日）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Surge AI：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2024年收入12亿美元（TechCrunch、福布斯）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Snorkel AI：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公司公告及TechCrunch，2026年9月22日（以35亿美元估值融资3.5亿美元；年化收入3.75亿美元，一年增长18倍）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AfterQuery：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福布斯，2026年9月1日（加入YC 18个月，估值32亿美元；2025年2月成立）；YC公司页（联合创始人曾在Citadel Securities实习）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Scale AI：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2016年由19岁的Alexandr Wang创立（福布斯）；Meta以143亿美元取得49%股份，估值约290亿美元（路透社，2025年6月）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UniPat：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彭博，2026年9月10日（阿里领投3亿美元，据报道估值25亿美元；条款可能变化）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79" name="Google Shape;679;p23"/>
          <p:cNvSpPr txBox="1"/>
          <p:nvPr/>
        </p:nvSpPr>
        <p:spPr>
          <a:xfrm>
            <a:off x="6291072" y="1536192"/>
            <a:ext cx="5351983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市场与研究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80" name="Google Shape;680;p23"/>
          <p:cNvCxnSpPr/>
          <p:nvPr/>
        </p:nvCxnSpPr>
        <p:spPr>
          <a:xfrm>
            <a:off x="6291072" y="1792224"/>
            <a:ext cx="5351983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81" name="Google Shape;681;p23"/>
          <p:cNvSpPr txBox="1"/>
          <p:nvPr/>
        </p:nvSpPr>
        <p:spPr>
          <a:xfrm>
            <a:off x="6291072" y="1938528"/>
            <a:ext cx="5351983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AI智能体市场：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Precedence Research（2025年79.2亿美元；年复合增长45.82%，2034年达2,360亿美元）。2028、2032年数值按此路径推算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麦肯锡《生成式AI的经济潜力》：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每年2.6–4.4万亿美元经济价值（创造的价值，非支出）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RL环境定价与单任务算力成本：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Epoch AI《An FAQ on RL environments》（2026年1月）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公开文本存量：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Epoch AI《Will we run out of data?》（2024）：约300T有效token，预计于2026–2032年间用尽（80%置信区间）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2030年AI经济推算：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麦肯锡《Agents, robots, and us》（2025年11月）：2030年美国约2.9万亿美元；IMF《世界经济展望》（2026年4月）：美国GDP 32.4万亿美元、全球126.3万亿美元；美国以外按美国一半渗透率推算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训练市场推算：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2030年AI经济 × 10%；10%参照大型科技公司研发投入占收入约10–15%（公司年报），取下限，为推算假设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国内现状：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彭博（2026年9月10日）：阿里、字节、DeepSeek等国内模型公司已向UniPat与Humanlaya采购数据或服务；Humanlaya：2025年10月成立，2026年9月9日完成数亿元人民币Pre-A轮，鼎晖领投，红杉中国、今日资本、BAI参投（界面新闻、东方财富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800"/>
              </a:spcBef>
              <a:spcAft>
                <a:spcPts val="0"/>
              </a:spcAft>
              <a:buClr>
                <a:srgbClr val="111110"/>
              </a:buClr>
              <a:buSzPts val="1000"/>
              <a:buFont typeface="Instrument Sans SemiBold"/>
              <a:buNone/>
            </a:pPr>
            <a:r>
              <a:rPr lang="zh-CN" sz="1000" b="0" i="0" u="none" strike="noStrike" cap="none">
                <a:solidFill>
                  <a:srgbClr val="111110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融资与估值：</a:t>
            </a: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Applied Compute：Upstarts（2025年6月，种子轮2,000万美元，投后1亿美元），Tech Startups（2025年9月，5亿美元），The Information（2026年8月，约30亿美元洽谈）；AfterQuery：Business Wire（2026年4月，A轮3,000万美元，估值3亿美元，年化收入1亿美元）；micro1：TechCrunch（2026年8月，年化毛收入5亿美元），福布斯（2026年9月，估值40亿美元）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682" name="Google Shape;682;p23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83" name="Google Shape;683;p23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84" name="Google Shape;684;p23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22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p24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A4</a:t>
            </a:r>
            <a:r>
              <a:rPr lang="zh-CN" sz="11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附录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1" name="Google Shape;691;p24"/>
          <p:cNvSpPr txBox="1"/>
          <p:nvPr/>
        </p:nvSpPr>
        <p:spPr>
          <a:xfrm>
            <a:off x="548640" y="676656"/>
            <a:ext cx="11094415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800"/>
              <a:buFont typeface="Newsreader"/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术语表</a:t>
            </a:r>
            <a:endParaRPr sz="2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92" name="Google Shape;692;p24"/>
          <p:cNvCxnSpPr/>
          <p:nvPr/>
        </p:nvCxnSpPr>
        <p:spPr>
          <a:xfrm>
            <a:off x="548640" y="164592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93" name="Google Shape;693;p24"/>
          <p:cNvSpPr txBox="1"/>
          <p:nvPr/>
        </p:nvSpPr>
        <p:spPr>
          <a:xfrm>
            <a:off x="548640" y="17922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4" name="Google Shape;694;p24"/>
          <p:cNvSpPr txBox="1"/>
          <p:nvPr/>
        </p:nvSpPr>
        <p:spPr>
          <a:xfrm>
            <a:off x="548640" y="204825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训练环境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5" name="Google Shape;695;p24"/>
          <p:cNvSpPr txBox="1"/>
          <p:nvPr/>
        </p:nvSpPr>
        <p:spPr>
          <a:xfrm>
            <a:off x="548640" y="256032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让AI反复做真实工作、按结果打分的系统，常称RL环境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696" name="Google Shape;696;p24"/>
          <p:cNvCxnSpPr/>
          <p:nvPr/>
        </p:nvCxnSpPr>
        <p:spPr>
          <a:xfrm>
            <a:off x="4368698" y="164592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97" name="Google Shape;697;p24"/>
          <p:cNvSpPr txBox="1"/>
          <p:nvPr/>
        </p:nvSpPr>
        <p:spPr>
          <a:xfrm>
            <a:off x="4368698" y="17922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02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8" name="Google Shape;698;p24"/>
          <p:cNvSpPr txBox="1"/>
          <p:nvPr/>
        </p:nvSpPr>
        <p:spPr>
          <a:xfrm>
            <a:off x="4368698" y="204825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结果评分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699" name="Google Shape;699;p24"/>
          <p:cNvSpPr txBox="1"/>
          <p:nvPr/>
        </p:nvSpPr>
        <p:spPr>
          <a:xfrm>
            <a:off x="4368698" y="256032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按真实结果打分（盈亏、账目、代码能否运行），不靠AI主观判断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700" name="Google Shape;700;p24"/>
          <p:cNvCxnSpPr/>
          <p:nvPr/>
        </p:nvCxnSpPr>
        <p:spPr>
          <a:xfrm>
            <a:off x="8188757" y="164592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01" name="Google Shape;701;p24"/>
          <p:cNvSpPr txBox="1"/>
          <p:nvPr/>
        </p:nvSpPr>
        <p:spPr>
          <a:xfrm>
            <a:off x="8188757" y="17922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03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02" name="Google Shape;702;p24"/>
          <p:cNvSpPr txBox="1"/>
          <p:nvPr/>
        </p:nvSpPr>
        <p:spPr>
          <a:xfrm>
            <a:off x="8188757" y="204825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自我进化（RSI）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03" name="Google Shape;703;p24"/>
          <p:cNvSpPr txBox="1"/>
          <p:nvPr/>
        </p:nvSpPr>
        <p:spPr>
          <a:xfrm>
            <a:off x="8188757" y="256032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AI用自己在真实环境中的结果训练自己，一轮比一轮强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704" name="Google Shape;704;p24"/>
          <p:cNvCxnSpPr/>
          <p:nvPr/>
        </p:nvCxnSpPr>
        <p:spPr>
          <a:xfrm>
            <a:off x="548640" y="365760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05" name="Google Shape;705;p24"/>
          <p:cNvSpPr txBox="1"/>
          <p:nvPr/>
        </p:nvSpPr>
        <p:spPr>
          <a:xfrm>
            <a:off x="548640" y="380390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04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06" name="Google Shape;706;p24"/>
          <p:cNvSpPr txBox="1"/>
          <p:nvPr/>
        </p:nvSpPr>
        <p:spPr>
          <a:xfrm>
            <a:off x="548640" y="405993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攻防测试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07" name="Google Shape;707;p24"/>
          <p:cNvSpPr txBox="1"/>
          <p:nvPr/>
        </p:nvSpPr>
        <p:spPr>
          <a:xfrm>
            <a:off x="548640" y="457200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上线前模拟作弊与攻击，找出并修补评分漏洞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708" name="Google Shape;708;p24"/>
          <p:cNvCxnSpPr/>
          <p:nvPr/>
        </p:nvCxnSpPr>
        <p:spPr>
          <a:xfrm>
            <a:off x="4368698" y="365760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09" name="Google Shape;709;p24"/>
          <p:cNvSpPr txBox="1"/>
          <p:nvPr/>
        </p:nvSpPr>
        <p:spPr>
          <a:xfrm>
            <a:off x="4368698" y="380390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05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0" name="Google Shape;710;p24"/>
          <p:cNvSpPr txBox="1"/>
          <p:nvPr/>
        </p:nvSpPr>
        <p:spPr>
          <a:xfrm>
            <a:off x="4368698" y="405993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受控实验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1" name="Google Shape;711;p24"/>
          <p:cNvSpPr txBox="1"/>
          <p:nvPr/>
        </p:nvSpPr>
        <p:spPr>
          <a:xfrm>
            <a:off x="4368698" y="457200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只改一个条件（是否在Xitadel训练），比较前后表现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cxnSp>
        <p:nvCxnSpPr>
          <p:cNvPr id="712" name="Google Shape;712;p24"/>
          <p:cNvCxnSpPr/>
          <p:nvPr/>
        </p:nvCxnSpPr>
        <p:spPr>
          <a:xfrm>
            <a:off x="8188757" y="3657600"/>
            <a:ext cx="3454298" cy="0"/>
          </a:xfrm>
          <a:prstGeom prst="straightConnector1">
            <a:avLst/>
          </a:prstGeom>
          <a:noFill/>
          <a:ln w="9525" cap="flat" cmpd="sng">
            <a:solidFill>
              <a:srgbClr val="11111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13" name="Google Shape;713;p24"/>
          <p:cNvSpPr txBox="1"/>
          <p:nvPr/>
        </p:nvSpPr>
        <p:spPr>
          <a:xfrm>
            <a:off x="8188757" y="380390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00"/>
              <a:buFont typeface="IBM Plex Mono"/>
              <a:buNone/>
            </a:pPr>
            <a:r>
              <a:rPr lang="zh-CN" sz="100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06</a:t>
            </a:r>
            <a:endParaRPr sz="10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4" name="Google Shape;714;p24"/>
          <p:cNvSpPr txBox="1"/>
          <p:nvPr/>
        </p:nvSpPr>
        <p:spPr>
          <a:xfrm>
            <a:off x="8188757" y="4059936"/>
            <a:ext cx="345429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11110"/>
              </a:buClr>
              <a:buSzPts val="2200"/>
              <a:buFont typeface="Newsreader"/>
              <a:buNone/>
            </a:pPr>
            <a:r>
              <a:rPr lang="zh-CN" sz="2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年化毛营收</a:t>
            </a:r>
            <a:endParaRPr sz="22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5" name="Google Shape;715;p24"/>
          <p:cNvSpPr txBox="1"/>
          <p:nvPr/>
        </p:nvSpPr>
        <p:spPr>
          <a:xfrm>
            <a:off x="8188757" y="4572000"/>
            <a:ext cx="3454298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3322F"/>
              </a:buClr>
              <a:buSzPts val="1300"/>
              <a:buFont typeface="Instrument Sans"/>
              <a:buNone/>
            </a:pPr>
            <a:r>
              <a:rPr lang="zh-CN" sz="13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按当前收入推算的全年收入，含付给专家的部分</a:t>
            </a:r>
            <a:endParaRPr sz="13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716" name="Google Shape;716;p24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717" name="Google Shape;717;p24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18" name="Google Shape;718;p24"/>
          <p:cNvSpPr txBox="1"/>
          <p:nvPr/>
        </p:nvSpPr>
        <p:spPr>
          <a:xfrm>
            <a:off x="10728655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900"/>
              <a:buFont typeface="IBM Plex Mono"/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23</a:t>
            </a:r>
            <a:endParaRPr sz="9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7" name="Google Shape;607;p19" descr="SimRea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6419088"/>
            <a:ext cx="640080" cy="172822"/>
          </a:xfrm>
          <a:prstGeom prst="rect">
            <a:avLst/>
          </a:prstGeom>
          <a:noFill/>
          <a:ln>
            <a:noFill/>
          </a:ln>
        </p:spPr>
      </p:pic>
      <p:sp>
        <p:nvSpPr>
          <p:cNvPr id="608" name="Google Shape;608;p19"/>
          <p:cNvSpPr txBox="1"/>
          <p:nvPr/>
        </p:nvSpPr>
        <p:spPr>
          <a:xfrm>
            <a:off x="1371600" y="6382512"/>
            <a:ext cx="73152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E6C66"/>
              </a:buClr>
              <a:buSzPts val="800"/>
              <a:buFont typeface="Instrument Sans"/>
              <a:buNone/>
            </a:pPr>
            <a:r>
              <a:rPr lang="zh-CN" sz="80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机密  ·  仅供受邀投资机构内部评估使用  ·  v1.0  ·  2026年9月</a:t>
            </a:r>
            <a:endParaRPr sz="800" b="0" i="0" u="none" strike="noStrike" cap="non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3001" name="SimReal 3001"/>
          <p:cNvSpPr txBox="1"/>
          <p:nvPr/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18</a:t>
            </a:r>
            <a:r>
              <a:rPr lang="zh-CN" sz="1100" b="1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    资金用途</a:t>
            </a:r>
          </a:p>
        </p:txBody>
      </p:sp>
      <p:sp>
        <p:nvSpPr>
          <p:cNvPr id="3002" name="SimReal 3002"/>
          <p:cNvSpPr txBox="1"/>
          <p:nvPr/>
        </p:nvSpPr>
        <p:spPr>
          <a:xfrm>
            <a:off x="548640" y="676656"/>
            <a:ext cx="1109167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两台引擎：收入引擎赚今天的钱，</a:t>
            </a:r>
            <a:r>
              <a:rPr lang="zh-CN" sz="2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RSI引擎拿下每个行业</a:t>
            </a:r>
          </a:p>
        </p:txBody>
      </p:sp>
      <p:sp>
        <p:nvSpPr>
          <p:cNvPr id="3003" name="SimReal 3003"/>
          <p:cNvSpPr/>
          <p:nvPr/>
        </p:nvSpPr>
        <p:spPr>
          <a:xfrm>
            <a:off x="548640" y="1481328"/>
            <a:ext cx="5408676" cy="3986784"/>
          </a:xfrm>
          <a:prstGeom prst="rect">
            <a:avLst/>
          </a:prstGeom>
          <a:solidFill>
            <a:srgbClr val="F2F1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4" name="SimReal 3004"/>
          <p:cNvSpPr txBox="1"/>
          <p:nvPr/>
        </p:nvSpPr>
        <p:spPr>
          <a:xfrm>
            <a:off x="841248" y="1700784"/>
            <a:ext cx="48234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01  收入引擎  ·  AfterQuery模式  ·  投入1,000万美元</a:t>
            </a:r>
          </a:p>
        </p:txBody>
      </p:sp>
      <p:sp>
        <p:nvSpPr>
          <p:cNvPr id="3005" name="SimReal 3005"/>
          <p:cNvSpPr txBox="1"/>
          <p:nvPr/>
        </p:nvSpPr>
        <p:spPr>
          <a:xfrm>
            <a:off x="841248" y="1938528"/>
            <a:ext cx="482346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年化3亿美元</a:t>
            </a:r>
          </a:p>
        </p:txBody>
      </p:sp>
      <p:sp>
        <p:nvSpPr>
          <p:cNvPr id="3006" name="SimReal 3006"/>
          <p:cNvSpPr txBox="1"/>
          <p:nvPr/>
        </p:nvSpPr>
        <p:spPr>
          <a:xfrm>
            <a:off x="841248" y="2505456"/>
            <a:ext cx="48234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12个月年化收入；毛利约2.4亿美元，是投入的24倍</a:t>
            </a:r>
          </a:p>
        </p:txBody>
      </p:sp>
      <p:sp>
        <p:nvSpPr>
          <p:cNvPr id="3007" name="SimReal 3007"/>
          <p:cNvSpPr/>
          <p:nvPr/>
        </p:nvSpPr>
        <p:spPr>
          <a:xfrm>
            <a:off x="841248" y="2907792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8" name="SimReal 3008"/>
          <p:cNvSpPr txBox="1"/>
          <p:nvPr/>
        </p:nvSpPr>
        <p:spPr>
          <a:xfrm>
            <a:off x="841248" y="2907792"/>
            <a:ext cx="7772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550万</a:t>
            </a:r>
          </a:p>
        </p:txBody>
      </p:sp>
      <p:sp>
        <p:nvSpPr>
          <p:cNvPr id="3009" name="SimReal 3009"/>
          <p:cNvSpPr txBox="1"/>
          <p:nvPr/>
        </p:nvSpPr>
        <p:spPr>
          <a:xfrm>
            <a:off x="1664208" y="2907792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环境生产</a:t>
            </a:r>
          </a:p>
        </p:txBody>
      </p:sp>
      <p:sp>
        <p:nvSpPr>
          <p:cNvPr id="3010" name="SimReal 3010"/>
          <p:cNvSpPr txBox="1"/>
          <p:nvPr/>
        </p:nvSpPr>
        <p:spPr>
          <a:xfrm>
            <a:off x="2852928" y="2907792"/>
            <a:ext cx="28117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50个环境 → 年化1亿美元</a:t>
            </a:r>
          </a:p>
        </p:txBody>
      </p:sp>
      <p:sp>
        <p:nvSpPr>
          <p:cNvPr id="3011" name="SimReal 3011"/>
          <p:cNvSpPr/>
          <p:nvPr/>
        </p:nvSpPr>
        <p:spPr>
          <a:xfrm>
            <a:off x="841248" y="3236976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2" name="SimReal 3012"/>
          <p:cNvSpPr txBox="1"/>
          <p:nvPr/>
        </p:nvSpPr>
        <p:spPr>
          <a:xfrm>
            <a:off x="841248" y="3236976"/>
            <a:ext cx="7772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300万</a:t>
            </a:r>
          </a:p>
        </p:txBody>
      </p:sp>
      <p:sp>
        <p:nvSpPr>
          <p:cNvPr id="3013" name="SimReal 3013"/>
          <p:cNvSpPr txBox="1"/>
          <p:nvPr/>
        </p:nvSpPr>
        <p:spPr>
          <a:xfrm>
            <a:off x="1664208" y="3236976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交付</a:t>
            </a:r>
          </a:p>
        </p:txBody>
      </p:sp>
      <p:sp>
        <p:nvSpPr>
          <p:cNvPr id="3014" name="SimReal 3014"/>
          <p:cNvSpPr txBox="1"/>
          <p:nvPr/>
        </p:nvSpPr>
        <p:spPr>
          <a:xfrm>
            <a:off x="2852928" y="3236976"/>
            <a:ext cx="28117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每个环境卖10次：5家实验室 × 2轮</a:t>
            </a:r>
          </a:p>
        </p:txBody>
      </p:sp>
      <p:sp>
        <p:nvSpPr>
          <p:cNvPr id="3015" name="SimReal 3015"/>
          <p:cNvSpPr/>
          <p:nvPr/>
        </p:nvSpPr>
        <p:spPr>
          <a:xfrm>
            <a:off x="841248" y="3566160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6" name="SimReal 3016"/>
          <p:cNvSpPr txBox="1"/>
          <p:nvPr/>
        </p:nvSpPr>
        <p:spPr>
          <a:xfrm>
            <a:off x="841248" y="3566160"/>
            <a:ext cx="7772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150万</a:t>
            </a:r>
          </a:p>
        </p:txBody>
      </p:sp>
      <p:sp>
        <p:nvSpPr>
          <p:cNvPr id="3017" name="SimReal 3017"/>
          <p:cNvSpPr txBox="1"/>
          <p:nvPr/>
        </p:nvSpPr>
        <p:spPr>
          <a:xfrm>
            <a:off x="1664208" y="3566160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销售与运营</a:t>
            </a:r>
          </a:p>
        </p:txBody>
      </p:sp>
      <p:sp>
        <p:nvSpPr>
          <p:cNvPr id="3018" name="SimReal 3018"/>
          <p:cNvSpPr txBox="1"/>
          <p:nvPr/>
        </p:nvSpPr>
        <p:spPr>
          <a:xfrm>
            <a:off x="2852928" y="3566160"/>
            <a:ext cx="28117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33322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5家实验室，第2个月首单</a:t>
            </a:r>
          </a:p>
        </p:txBody>
      </p:sp>
      <p:sp>
        <p:nvSpPr>
          <p:cNvPr id="3019" name="SimReal 3019"/>
          <p:cNvSpPr/>
          <p:nvPr/>
        </p:nvSpPr>
        <p:spPr>
          <a:xfrm>
            <a:off x="841248" y="3895344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0" name="SimReal 3020"/>
          <p:cNvSpPr txBox="1"/>
          <p:nvPr/>
        </p:nvSpPr>
        <p:spPr>
          <a:xfrm>
            <a:off x="841248" y="4078224"/>
            <a:ext cx="4823460" cy="694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年化收入 = 环境数 × 卖出次数 × 单价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33322F"/>
                </a:solidFill>
                <a:latin typeface="IBM Plex Mono"/>
                <a:ea typeface="IBM Plex Mono"/>
                <a:cs typeface="IBM Plex Mono"/>
                <a:sym typeface="IBM Plex Mono"/>
              </a:rPr>
              <a:t>6个月   </a:t>
            </a:r>
            <a:r>
              <a:rPr lang="zh-CN" sz="11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50 × 10 × 20万 = </a:t>
            </a:r>
            <a:r>
              <a:rPr lang="zh-CN" sz="11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1亿美元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33322F"/>
                </a:solidFill>
                <a:latin typeface="IBM Plex Mono"/>
                <a:ea typeface="IBM Plex Mono"/>
                <a:cs typeface="IBM Plex Mono"/>
                <a:sym typeface="IBM Plex Mono"/>
              </a:rPr>
              <a:t>12个月  </a:t>
            </a:r>
            <a:r>
              <a:rPr lang="zh-CN" sz="1150" b="0" i="0" u="none" strike="noStrike" cap="none">
                <a:solidFill>
                  <a:srgbClr val="111110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100 × 12 × 25万 = </a:t>
            </a:r>
            <a:r>
              <a:rPr lang="zh-CN" sz="1150" b="1" i="0" u="none" strike="noStrike" cap="none">
                <a:solidFill>
                  <a:srgbClr val="C2410C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3亿美元</a:t>
            </a:r>
          </a:p>
        </p:txBody>
      </p:sp>
      <p:sp>
        <p:nvSpPr>
          <p:cNvPr id="3021" name="SimReal 3021"/>
          <p:cNvSpPr/>
          <p:nvPr/>
        </p:nvSpPr>
        <p:spPr>
          <a:xfrm>
            <a:off x="841248" y="4809744"/>
            <a:ext cx="4823460" cy="9144"/>
          </a:xfrm>
          <a:prstGeom prst="rect">
            <a:avLst/>
          </a:prstGeom>
          <a:solidFill>
            <a:srgbClr val="E2E0D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2" name="SimReal 3022"/>
          <p:cNvSpPr txBox="1"/>
          <p:nvPr/>
        </p:nvSpPr>
        <p:spPr>
          <a:xfrm>
            <a:off x="841248" y="4864608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3个月</a:t>
            </a:r>
          </a:p>
        </p:txBody>
      </p:sp>
      <p:sp>
        <p:nvSpPr>
          <p:cNvPr id="3023" name="SimReal 3023"/>
          <p:cNvSpPr txBox="1"/>
          <p:nvPr/>
        </p:nvSpPr>
        <p:spPr>
          <a:xfrm>
            <a:off x="841248" y="5065776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年化2,000万美元</a:t>
            </a:r>
          </a:p>
        </p:txBody>
      </p:sp>
      <p:sp>
        <p:nvSpPr>
          <p:cNvPr id="3024" name="SimReal 3024"/>
          <p:cNvSpPr txBox="1"/>
          <p:nvPr/>
        </p:nvSpPr>
        <p:spPr>
          <a:xfrm>
            <a:off x="2449068" y="4864608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6个月</a:t>
            </a:r>
          </a:p>
        </p:txBody>
      </p:sp>
      <p:sp>
        <p:nvSpPr>
          <p:cNvPr id="3025" name="SimReal 3025"/>
          <p:cNvSpPr txBox="1"/>
          <p:nvPr/>
        </p:nvSpPr>
        <p:spPr>
          <a:xfrm>
            <a:off x="2449068" y="5065776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年化1亿美元</a:t>
            </a:r>
          </a:p>
        </p:txBody>
      </p:sp>
      <p:sp>
        <p:nvSpPr>
          <p:cNvPr id="3026" name="SimReal 3026"/>
          <p:cNvSpPr txBox="1"/>
          <p:nvPr/>
        </p:nvSpPr>
        <p:spPr>
          <a:xfrm>
            <a:off x="4056888" y="4864608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C2410C"/>
                </a:solidFill>
                <a:latin typeface="IBM Plex Mono"/>
                <a:ea typeface="IBM Plex Mono"/>
                <a:cs typeface="IBM Plex Mono"/>
                <a:sym typeface="IBM Plex Mono"/>
              </a:rPr>
              <a:t>12个月</a:t>
            </a:r>
          </a:p>
        </p:txBody>
      </p:sp>
      <p:sp>
        <p:nvSpPr>
          <p:cNvPr id="3027" name="SimReal 3027"/>
          <p:cNvSpPr txBox="1"/>
          <p:nvPr/>
        </p:nvSpPr>
        <p:spPr>
          <a:xfrm>
            <a:off x="4056888" y="5065776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年化3亿美元</a:t>
            </a:r>
          </a:p>
        </p:txBody>
      </p:sp>
      <p:sp>
        <p:nvSpPr>
          <p:cNvPr id="3028" name="SimReal 3028"/>
          <p:cNvSpPr/>
          <p:nvPr/>
        </p:nvSpPr>
        <p:spPr>
          <a:xfrm>
            <a:off x="6231636" y="1481328"/>
            <a:ext cx="5408676" cy="3986784"/>
          </a:xfrm>
          <a:prstGeom prst="rect">
            <a:avLst/>
          </a:prstGeom>
          <a:solidFill>
            <a:srgbClr val="11111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9" name="SimReal 3029"/>
          <p:cNvSpPr txBox="1"/>
          <p:nvPr/>
        </p:nvSpPr>
        <p:spPr>
          <a:xfrm>
            <a:off x="6524244" y="1700784"/>
            <a:ext cx="48234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1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02  RSI引擎  ·  投入1,000万美元</a:t>
            </a:r>
          </a:p>
        </p:txBody>
      </p:sp>
      <p:sp>
        <p:nvSpPr>
          <p:cNvPr id="3030" name="SimReal 3030"/>
          <p:cNvSpPr txBox="1"/>
          <p:nvPr/>
        </p:nvSpPr>
        <p:spPr>
          <a:xfrm>
            <a:off x="6524244" y="1938528"/>
            <a:ext cx="4823460" cy="512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0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7万亿美元</a:t>
            </a:r>
          </a:p>
        </p:txBody>
      </p:sp>
      <p:sp>
        <p:nvSpPr>
          <p:cNvPr id="3031" name="SimReal 3031"/>
          <p:cNvSpPr txBox="1"/>
          <p:nvPr/>
        </p:nvSpPr>
        <p:spPr>
          <a:xfrm>
            <a:off x="6524244" y="2505456"/>
            <a:ext cx="48234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50" b="0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瞄准2030年整个AI经济：每个行业，一个自己变强的AI</a:t>
            </a:r>
          </a:p>
        </p:txBody>
      </p:sp>
      <p:sp>
        <p:nvSpPr>
          <p:cNvPr id="3032" name="SimReal 3032"/>
          <p:cNvSpPr/>
          <p:nvPr/>
        </p:nvSpPr>
        <p:spPr>
          <a:xfrm>
            <a:off x="6524244" y="2907792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3" name="SimReal 3033"/>
          <p:cNvSpPr txBox="1"/>
          <p:nvPr/>
        </p:nvSpPr>
        <p:spPr>
          <a:xfrm>
            <a:off x="6524244" y="2907792"/>
            <a:ext cx="7772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450万</a:t>
            </a:r>
          </a:p>
        </p:txBody>
      </p:sp>
      <p:sp>
        <p:nvSpPr>
          <p:cNvPr id="3034" name="SimReal 3034"/>
          <p:cNvSpPr txBox="1"/>
          <p:nvPr/>
        </p:nvSpPr>
        <p:spPr>
          <a:xfrm>
            <a:off x="7347204" y="2907792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算力</a:t>
            </a:r>
          </a:p>
        </p:txBody>
      </p:sp>
      <p:sp>
        <p:nvSpPr>
          <p:cNvPr id="3035" name="SimReal 3035"/>
          <p:cNvSpPr txBox="1"/>
          <p:nvPr/>
        </p:nvSpPr>
        <p:spPr>
          <a:xfrm>
            <a:off x="8535924" y="2907792"/>
            <a:ext cx="28117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模型自己训练自己，一轮比一轮强</a:t>
            </a:r>
          </a:p>
        </p:txBody>
      </p:sp>
      <p:sp>
        <p:nvSpPr>
          <p:cNvPr id="3036" name="SimReal 3036"/>
          <p:cNvSpPr/>
          <p:nvPr/>
        </p:nvSpPr>
        <p:spPr>
          <a:xfrm>
            <a:off x="6524244" y="3236976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37" name="SimReal 3037"/>
          <p:cNvSpPr txBox="1"/>
          <p:nvPr/>
        </p:nvSpPr>
        <p:spPr>
          <a:xfrm>
            <a:off x="6524244" y="3236976"/>
            <a:ext cx="7772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350万</a:t>
            </a:r>
          </a:p>
        </p:txBody>
      </p:sp>
      <p:sp>
        <p:nvSpPr>
          <p:cNvPr id="3038" name="SimReal 3038"/>
          <p:cNvSpPr txBox="1"/>
          <p:nvPr/>
        </p:nvSpPr>
        <p:spPr>
          <a:xfrm>
            <a:off x="7347204" y="3236976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研究团队</a:t>
            </a:r>
          </a:p>
        </p:txBody>
      </p:sp>
      <p:sp>
        <p:nvSpPr>
          <p:cNvPr id="3039" name="SimReal 3039"/>
          <p:cNvSpPr txBox="1"/>
          <p:nvPr/>
        </p:nvSpPr>
        <p:spPr>
          <a:xfrm>
            <a:off x="8535924" y="3236976"/>
            <a:ext cx="28117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从交易走向10个行业</a:t>
            </a:r>
          </a:p>
        </p:txBody>
      </p:sp>
      <p:sp>
        <p:nvSpPr>
          <p:cNvPr id="3040" name="SimReal 3040"/>
          <p:cNvSpPr/>
          <p:nvPr/>
        </p:nvSpPr>
        <p:spPr>
          <a:xfrm>
            <a:off x="6524244" y="3566160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1" name="SimReal 3041"/>
          <p:cNvSpPr txBox="1"/>
          <p:nvPr/>
        </p:nvSpPr>
        <p:spPr>
          <a:xfrm>
            <a:off x="6524244" y="3566160"/>
            <a:ext cx="77724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400" b="0" i="0" u="none" strike="noStrike" cap="none">
                <a:solidFill>
                  <a:srgbClr val="E27A3F"/>
                </a:solidFill>
                <a:latin typeface="Newsreader"/>
                <a:ea typeface="Newsreader"/>
                <a:cs typeface="Newsreader"/>
                <a:sym typeface="Newsreader"/>
              </a:rPr>
              <a:t>200万</a:t>
            </a:r>
          </a:p>
        </p:txBody>
      </p:sp>
      <p:sp>
        <p:nvSpPr>
          <p:cNvPr id="3042" name="SimReal 3042"/>
          <p:cNvSpPr txBox="1"/>
          <p:nvPr/>
        </p:nvSpPr>
        <p:spPr>
          <a:xfrm>
            <a:off x="7347204" y="3566160"/>
            <a:ext cx="114300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3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实盘与合规</a:t>
            </a:r>
          </a:p>
        </p:txBody>
      </p:sp>
      <p:sp>
        <p:nvSpPr>
          <p:cNvPr id="3043" name="SimReal 3043"/>
          <p:cNvSpPr txBox="1"/>
          <p:nvPr/>
        </p:nvSpPr>
        <p:spPr>
          <a:xfrm>
            <a:off x="8535924" y="3566160"/>
            <a:ext cx="281178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0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真实资金、真实市场、真实结算</a:t>
            </a:r>
          </a:p>
        </p:txBody>
      </p:sp>
      <p:sp>
        <p:nvSpPr>
          <p:cNvPr id="3044" name="SimReal 3044"/>
          <p:cNvSpPr/>
          <p:nvPr/>
        </p:nvSpPr>
        <p:spPr>
          <a:xfrm>
            <a:off x="6524244" y="3895344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5" name="SimReal 3045"/>
          <p:cNvSpPr txBox="1"/>
          <p:nvPr/>
        </p:nvSpPr>
        <p:spPr>
          <a:xfrm>
            <a:off x="6524244" y="4078224"/>
            <a:ext cx="4823460" cy="694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实盘交易RSI  </a:t>
            </a: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AI用真实资金交易，每天的盈亏就是训练信号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预测事件RSI  </a:t>
            </a: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AI对全世界的真实事件下判断，揭晓即进化</a:t>
            </a: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zh-CN" sz="1100" b="1" i="0" u="none" strike="noStrike" cap="none">
                <a:solidFill>
                  <a:srgbClr val="FAF9F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10个行业  </a:t>
            </a:r>
            <a:r>
              <a:rPr lang="zh-CN" sz="1100" b="0" i="0" u="none" strike="noStrike" cap="none">
                <a:solidFill>
                  <a:srgbClr val="C4C0B7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财务、软件工程、法律、医疗……同步开发自我进化环境</a:t>
            </a:r>
          </a:p>
        </p:txBody>
      </p:sp>
      <p:sp>
        <p:nvSpPr>
          <p:cNvPr id="3046" name="SimReal 3046"/>
          <p:cNvSpPr/>
          <p:nvPr/>
        </p:nvSpPr>
        <p:spPr>
          <a:xfrm>
            <a:off x="6524244" y="4809744"/>
            <a:ext cx="4823460" cy="9144"/>
          </a:xfrm>
          <a:prstGeom prst="rect">
            <a:avLst/>
          </a:prstGeom>
          <a:solidFill>
            <a:srgbClr val="3A39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7" name="SimReal 3047"/>
          <p:cNvSpPr txBox="1"/>
          <p:nvPr/>
        </p:nvSpPr>
        <p:spPr>
          <a:xfrm>
            <a:off x="6524244" y="4864608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3个月</a:t>
            </a:r>
          </a:p>
        </p:txBody>
      </p:sp>
      <p:sp>
        <p:nvSpPr>
          <p:cNvPr id="3048" name="SimReal 3048"/>
          <p:cNvSpPr txBox="1"/>
          <p:nvPr/>
        </p:nvSpPr>
        <p:spPr>
          <a:xfrm>
            <a:off x="6524244" y="5065776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实盘交易RSI上线</a:t>
            </a:r>
          </a:p>
        </p:txBody>
      </p:sp>
      <p:sp>
        <p:nvSpPr>
          <p:cNvPr id="3049" name="SimReal 3049"/>
          <p:cNvSpPr txBox="1"/>
          <p:nvPr/>
        </p:nvSpPr>
        <p:spPr>
          <a:xfrm>
            <a:off x="8132064" y="4864608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6个月</a:t>
            </a:r>
          </a:p>
        </p:txBody>
      </p:sp>
      <p:sp>
        <p:nvSpPr>
          <p:cNvPr id="3050" name="SimReal 3050"/>
          <p:cNvSpPr txBox="1"/>
          <p:nvPr/>
        </p:nvSpPr>
        <p:spPr>
          <a:xfrm>
            <a:off x="8132064" y="5065776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预测事件RSI上线</a:t>
            </a:r>
          </a:p>
        </p:txBody>
      </p:sp>
      <p:sp>
        <p:nvSpPr>
          <p:cNvPr id="3051" name="SimReal 3051"/>
          <p:cNvSpPr txBox="1"/>
          <p:nvPr/>
        </p:nvSpPr>
        <p:spPr>
          <a:xfrm>
            <a:off x="9739884" y="4864608"/>
            <a:ext cx="15163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50" b="0" i="0" u="none" strike="noStrike" cap="none">
                <a:solidFill>
                  <a:srgbClr val="E27A3F"/>
                </a:solidFill>
                <a:latin typeface="IBM Plex Mono"/>
                <a:ea typeface="IBM Plex Mono"/>
                <a:cs typeface="IBM Plex Mono"/>
                <a:sym typeface="IBM Plex Mono"/>
              </a:rPr>
              <a:t>12个月</a:t>
            </a:r>
          </a:p>
        </p:txBody>
      </p:sp>
      <p:sp>
        <p:nvSpPr>
          <p:cNvPr id="3052" name="SimReal 3052"/>
          <p:cNvSpPr txBox="1"/>
          <p:nvPr/>
        </p:nvSpPr>
        <p:spPr>
          <a:xfrm>
            <a:off x="9739884" y="5065776"/>
            <a:ext cx="15621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 b="0" i="0" u="none" strike="noStrike" cap="none">
                <a:solidFill>
                  <a:srgbClr val="FAF9F6"/>
                </a:solidFill>
                <a:latin typeface="Newsreader"/>
                <a:ea typeface="Newsreader"/>
                <a:cs typeface="Newsreader"/>
                <a:sym typeface="Newsreader"/>
              </a:rPr>
              <a:t>10个行业自我进化</a:t>
            </a:r>
          </a:p>
        </p:txBody>
      </p:sp>
      <p:sp>
        <p:nvSpPr>
          <p:cNvPr id="3053" name="SimReal 3053"/>
          <p:cNvSpPr txBox="1"/>
          <p:nvPr/>
        </p:nvSpPr>
        <p:spPr>
          <a:xfrm>
            <a:off x="548640" y="5541264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 b="0" i="0" u="none" strike="noStrike" cap="none">
                <a:solidFill>
                  <a:srgbClr val="111110"/>
                </a:solidFill>
                <a:latin typeface="Newsreader"/>
                <a:ea typeface="Newsreader"/>
                <a:cs typeface="Newsreader"/>
                <a:sym typeface="Newsreader"/>
              </a:rPr>
              <a:t>收入引擎今天就赚钱；</a:t>
            </a:r>
            <a:r>
              <a:rPr lang="zh-CN" sz="1800" b="0" i="0" u="none" strike="noStrike" cap="none">
                <a:solidFill>
                  <a:srgbClr val="C2410C"/>
                </a:solidFill>
                <a:latin typeface="Newsreader"/>
                <a:ea typeface="Newsreader"/>
                <a:cs typeface="Newsreader"/>
                <a:sym typeface="Newsreader"/>
              </a:rPr>
              <a:t>RSI引擎，让每个行业最强的AI都出自SimReal</a:t>
            </a:r>
          </a:p>
        </p:txBody>
      </p:sp>
      <p:sp>
        <p:nvSpPr>
          <p:cNvPr id="3054" name="SimReal 3054"/>
          <p:cNvSpPr txBox="1"/>
          <p:nvPr/>
        </p:nvSpPr>
        <p:spPr>
          <a:xfrm>
            <a:off x="548640" y="5961888"/>
            <a:ext cx="11091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卖出次数 = 实验室数 × 每年2轮迭代（3个月2家、25个环境，6个月5家，12个月6家）；单价区间2万–30万美元（Epoch AI）。</a:t>
            </a: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50" b="0" i="0" u="none" strike="noStrike" cap="none">
                <a:solidFill>
                  <a:srgbClr val="6E6C66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毛利率约80%为测算：环境一次搭建、反复卖出；按人头卖数据的公司，专家拿走收入的60–70%（彭博）。7万亿美元推算见第14页。</a:t>
            </a:r>
          </a:p>
        </p:txBody>
      </p:sp>
      <p:sp>
        <p:nvSpPr>
          <p:cNvPr id="3055" name="SimReal 3055"/>
          <p:cNvSpPr txBox="1"/>
          <p:nvPr/>
        </p:nvSpPr>
        <p:spPr>
          <a:xfrm>
            <a:off x="10725912" y="6382512"/>
            <a:ext cx="91440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900" b="0" i="0" u="none" strike="noStrike" cap="none">
                <a:solidFill>
                  <a:srgbClr val="6E6C66"/>
                </a:solidFill>
                <a:latin typeface="IBM Plex Mono"/>
                <a:ea typeface="IBM Plex Mono"/>
                <a:cs typeface="IBM Plex Mono"/>
                <a:sym typeface="IBM Plex Mono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3802</Words>
  <Application>Microsoft Macintosh PowerPoint</Application>
  <PresentationFormat>Widescreen</PresentationFormat>
  <Paragraphs>542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Instrument Sans</vt:lpstr>
      <vt:lpstr>Newsreader</vt:lpstr>
      <vt:lpstr>Arial</vt:lpstr>
      <vt:lpstr>IBM Plex Mono</vt:lpstr>
      <vt:lpstr>Instrument Sans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chern wong</cp:lastModifiedBy>
  <cp:revision>2</cp:revision>
  <dcterms:modified xsi:type="dcterms:W3CDTF">2026-09-26T15:07:34Z</dcterms:modified>
</cp:coreProperties>
</file>