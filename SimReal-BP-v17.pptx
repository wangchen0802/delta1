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AI经济的引擎：用数据、环境与自我进化，推动AI下一次跃迁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为AI实验室和企业提供评测、数据与训练环境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机器学习、事件预测、做市交易的评测与RL环境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旗舰Xitadel已跑通自我进化（RSI）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b="0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$8.5B→$700B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今天实验室每年买85亿美元训练数据与RL环境；2030年AI经济7万亿美元，训练占10%：7,000亿美元，82倍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华尔街最残酷的交易台：我们最懂做题与做事的差距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首轮投资人回报：17,000倍、40倍、1,800倍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Mercor估值：18个月，20亿→200亿美元（洽谈中）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AI会做题了：谁有最好的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，谁就有每个领域最好的AI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AI越独立接管经济活动，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有了真实环境和准确标准，AI才能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下一代反馈信号，来自现实世界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每个动作都有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，AI持续自我进化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环境、评分、专家三合一：AI做真实工作，从每次结果中学习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每次结果都是训练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真实市场，与顶尖交易员同场；IMC Trading授权数据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开源模型Qwen3.8-27B在Xitadel训练后，在未见过的真实行情上交易表现提升12%，多次独立复现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每一轮都从上一轮的反馈出发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以基础模型=100计；多次独立复现（受控实验，Qwen3.8-27B）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两周，我们跑通了全球首个做市交易的自我进化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同一套方法，已用在机器学习和事件预测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AI独立完成研究项目，从数据到结果：60个真实任务，7类数据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AI预判真实事件，从体育赛事到地震，揭晓后按结果打分、持续进化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目标：经得起现实检验的判断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14天7款产品，零外部融资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我们的优势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AI每一次变化，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我们第一个抓住、第一个交付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840480" cy="259689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交付速度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0195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8163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7款产品上线，零外部融资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68680" y="3218688"/>
            <a:ext cx="320040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68680" y="3346704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· MLBench · Future Prediction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Month-End Close · SWE-Forward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 · Puzzle Benchmark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47548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证明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4754880" y="1737360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4754880" y="1737360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257800" y="1737360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抓趋势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6903720" y="1737360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RL环境刚成为实验室刚需，我们两周跑通全球首个做市交易的自我进化</a:t>
            </a:r>
          </a:p>
        </p:txBody>
      </p:sp>
      <p:sp>
        <p:nvSpPr>
          <p:cNvPr id="3014" name="SimReal 3014"/>
          <p:cNvSpPr/>
          <p:nvPr/>
        </p:nvSpPr>
        <p:spPr>
          <a:xfrm>
            <a:off x="4754880" y="2205533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5" name="SimReal 3015"/>
          <p:cNvSpPr txBox="1"/>
          <p:nvPr/>
        </p:nvSpPr>
        <p:spPr>
          <a:xfrm>
            <a:off x="4754880" y="2205533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5257800" y="2205533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交付质量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6903720" y="2205533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749道题、400次作弊攻击0次成功；财务环境评分漏洞6→0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754880" y="2673706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754880" y="2673706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5257800" y="2673706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市场验证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6903720" y="2673706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 500+星标、7,000+专家候补、2家前沿实验室在谈</a:t>
            </a:r>
          </a:p>
        </p:txBody>
      </p:sp>
      <p:sp>
        <p:nvSpPr>
          <p:cNvPr id="3022" name="SimReal 3022"/>
          <p:cNvSpPr/>
          <p:nvPr/>
        </p:nvSpPr>
        <p:spPr>
          <a:xfrm>
            <a:off x="4754880" y="3141878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3" name="SimReal 3023"/>
          <p:cNvSpPr txBox="1"/>
          <p:nvPr/>
        </p:nvSpPr>
        <p:spPr>
          <a:xfrm>
            <a:off x="4754880" y="3141878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5257800" y="3141878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过往战绩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903720" y="3141878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U稳定币0→14亿美元、一个月上线Binance；五家顶级量化机构经历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754880" y="3610051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754880" y="3610051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5257800" y="3610051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行业覆盖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6903720" y="3610051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21所顶尖大学研究网络：快速、低成本覆盖各行业入门岗位和前沿科研</a:t>
            </a:r>
          </a:p>
        </p:txBody>
      </p:sp>
      <p:sp>
        <p:nvSpPr>
          <p:cNvPr id="3030" name="SimReal 3030"/>
          <p:cNvSpPr/>
          <p:nvPr/>
        </p:nvSpPr>
        <p:spPr>
          <a:xfrm>
            <a:off x="4754880" y="4078224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1" name="SimReal 3031"/>
          <p:cNvSpPr txBox="1"/>
          <p:nvPr/>
        </p:nvSpPr>
        <p:spPr>
          <a:xfrm>
            <a:off x="548640" y="433425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AI的热点一直在变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548640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768096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1920240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Scale AI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3012948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3424428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3643884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4796028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5888736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300216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19672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671816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764524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9176004" y="4572000"/>
            <a:ext cx="2464308" cy="60350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9395460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10547604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3047" name="SimReal 3047"/>
          <p:cNvSpPr txBox="1"/>
          <p:nvPr/>
        </p:nvSpPr>
        <p:spPr>
          <a:xfrm>
            <a:off x="548640" y="5358384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热点变得越快，我们越有利。押注我们，就是押注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中的机会。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45" name="Google Shape;345;p1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环境与数据打开合作，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自我进化服务带来持续收入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3" name="Google Shape;363;p13"/>
          <p:cNvSpPr txBox="1"/>
          <p:nvPr/>
        </p:nvSpPr>
        <p:spPr>
          <a:xfrm>
            <a:off x="548640" y="4041648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收费路径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4" name="Google Shape;364;p13"/>
          <p:cNvSpPr txBox="1"/>
          <p:nvPr/>
        </p:nvSpPr>
        <p:spPr>
          <a:xfrm>
            <a:off x="548640" y="4279392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实验室每训一个新模型，就回来再买一轮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548640" y="5422392"/>
            <a:ext cx="1531620" cy="475488"/>
          </a:xfrm>
          <a:prstGeom prst="rect">
            <a:avLst/>
          </a:prstGeom>
          <a:solidFill>
            <a:srgbClr val="E2E0DA"/>
          </a:solidFill>
          <a:ln w="12700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3"/>
          <p:cNvSpPr txBox="1"/>
          <p:nvPr/>
        </p:nvSpPr>
        <p:spPr>
          <a:xfrm>
            <a:off x="676656" y="551383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免费基准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7" name="Google Shape;367;p13"/>
          <p:cNvSpPr/>
          <p:nvPr/>
        </p:nvSpPr>
        <p:spPr>
          <a:xfrm>
            <a:off x="2171700" y="5148072"/>
            <a:ext cx="1531620" cy="749808"/>
          </a:xfrm>
          <a:prstGeom prst="rect">
            <a:avLst/>
          </a:prstGeom>
          <a:solidFill>
            <a:srgbClr val="D9D6CE"/>
          </a:solidFill>
          <a:ln w="12700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3"/>
          <p:cNvSpPr txBox="1"/>
          <p:nvPr/>
        </p:nvSpPr>
        <p:spPr>
          <a:xfrm>
            <a:off x="2299716" y="523951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私有评测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69" name="Google Shape;369;p13"/>
          <p:cNvSpPr/>
          <p:nvPr/>
        </p:nvSpPr>
        <p:spPr>
          <a:xfrm>
            <a:off x="3794760" y="4873752"/>
            <a:ext cx="1531620" cy="1024128"/>
          </a:xfrm>
          <a:prstGeom prst="rect">
            <a:avLst/>
          </a:prstGeom>
          <a:solidFill>
            <a:srgbClr val="C4C0B7"/>
          </a:solidFill>
          <a:ln w="12700" cap="flat" cmpd="sng">
            <a:solidFill>
              <a:srgbClr val="C4C0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3"/>
          <p:cNvSpPr txBox="1"/>
          <p:nvPr/>
        </p:nvSpPr>
        <p:spPr>
          <a:xfrm>
            <a:off x="3922776" y="496519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  </a:t>
            </a: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环境授权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1" name="Google Shape;371;p13"/>
          <p:cNvSpPr/>
          <p:nvPr/>
        </p:nvSpPr>
        <p:spPr>
          <a:xfrm>
            <a:off x="5417820" y="4599432"/>
            <a:ext cx="1531620" cy="1298448"/>
          </a:xfrm>
          <a:prstGeom prst="rect">
            <a:avLst/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13"/>
          <p:cNvSpPr txBox="1"/>
          <p:nvPr/>
        </p:nvSpPr>
        <p:spPr>
          <a:xfrm>
            <a:off x="5545836" y="4690872"/>
            <a:ext cx="13487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FAF9F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  </a:t>
            </a:r>
            <a:r>
              <a:rPr lang="zh-CN" sz="12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持续训练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73" name="Google Shape;373;p13"/>
          <p:cNvCxnSpPr/>
          <p:nvPr/>
        </p:nvCxnSpPr>
        <p:spPr>
          <a:xfrm>
            <a:off x="7269480" y="4041648"/>
            <a:ext cx="0" cy="1856232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74" name="Google Shape;374;p13"/>
          <p:cNvSpPr txBox="1"/>
          <p:nvPr/>
        </p:nvSpPr>
        <p:spPr>
          <a:xfrm>
            <a:off x="7589520" y="4114800"/>
            <a:ext cx="40233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1亿美元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AfterQuery同一模式，14个月的年化收入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Mercor年化20亿美元，Snorkel一年18倍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9" name="TextBox 378"/>
          <p:cNvSpPr txBox="1"/>
          <p:nvPr/>
        </p:nvSpPr>
        <p:spPr>
          <a:xfrm>
            <a:off x="548640" y="1463040"/>
            <a:ext cx="3017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产品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3703320" y="146304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卖点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8275320" y="1463040"/>
            <a:ext cx="33649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收费方式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548640" y="175088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3" name="TextBox 382"/>
          <p:cNvSpPr txBox="1"/>
          <p:nvPr/>
        </p:nvSpPr>
        <p:spPr>
          <a:xfrm>
            <a:off x="548640" y="180136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48640" y="205740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Xitadel、MLBench等7款，含企业定制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3703320" y="175564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按真实结果评分，AI无法作弊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8275320" y="175564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环境授权；独家价4–5倍</a:t>
            </a:r>
          </a:p>
        </p:txBody>
      </p:sp>
      <p:sp>
        <p:nvSpPr>
          <p:cNvPr id="387" name="Rectangle 386"/>
          <p:cNvSpPr/>
          <p:nvPr/>
        </p:nvSpPr>
        <p:spPr>
          <a:xfrm>
            <a:off x="548640" y="229952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88" name="TextBox 387"/>
          <p:cNvSpPr txBox="1"/>
          <p:nvPr/>
        </p:nvSpPr>
        <p:spPr>
          <a:xfrm>
            <a:off x="548640" y="235000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548640" y="260604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来自7,000+候补专家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3703320" y="230428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真实工作的示范与判断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8275320" y="230428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按交付量收费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548640" y="2848165"/>
            <a:ext cx="11091672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3" name="TextBox 392"/>
          <p:cNvSpPr txBox="1"/>
          <p:nvPr/>
        </p:nvSpPr>
        <p:spPr>
          <a:xfrm>
            <a:off x="548640" y="2898648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评测与攻防测试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548640" y="315468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私有评测、公开基准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3703320" y="28529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上线前先攻击，找出评分漏洞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8275320" y="285292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按项目收费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548640" y="3401568"/>
            <a:ext cx="11091672" cy="54864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8" name="TextBox 397"/>
          <p:cNvSpPr txBox="1"/>
          <p:nvPr/>
        </p:nvSpPr>
        <p:spPr>
          <a:xfrm>
            <a:off x="685800" y="3447287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RSI自我进化服务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85800" y="3703320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独有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3703320" y="340156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每次模型升级，都回来再训练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8275320" y="3401568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持续收费，随模型升级增长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家前沿实验室在谈</a:t>
            </a:r>
            <a:b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目标第2个月首单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名专家候补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位硅谷顶级天使主动联系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顶级交易公司的从业者，在支持我们的研发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精准覆盖每个行业的入门岗位与顶尖科研，并逐步延伸到更高层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/>
          <p:nvPr/>
        </p:nvSpPr>
        <p:spPr>
          <a:xfrm>
            <a:off x="548640" y="4700016"/>
            <a:ext cx="3566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2" name="SimReal 3002"/>
          <p:cNvSpPr txBox="1"/>
          <p:nvPr/>
        </p:nvSpPr>
        <p:spPr>
          <a:xfrm>
            <a:off x="548640" y="477316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1600200" y="47731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548640" y="513892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1600200" y="513892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最难的问题，最难的评分标准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548640" y="550468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1600200" y="550468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337304" y="323697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337304" y="323697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666292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337304" y="360273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4337304" y="360273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66292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3036" name="SimReal 3036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3037" name="SimReal 3037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8" name="SimReal 3038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363712" y="3694176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8363712" y="4224528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Ventures（2026.7）；Mercor年化毛营收（2026.7）、Surge收入（2024）、Snorkel年化收入（2026.9）；麦肯锡（2025.11）；IMF（2026.4）；科技公司年报。训练占比、美国以外渗透率为假设。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6916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020824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3209544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339242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3209544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4014216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19709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4014216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818888"/>
            <a:ext cx="6400800" cy="71323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25780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818888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不只测分，还让AI越练越强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每次打分都变成下一轮训练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环境、评分体系、每次运行的结果数据，都归我们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每次模型升级，都回到同一套环境对比、再训练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1" name="SimReal 4001"/>
          <p:cNvSpPr/>
          <p:nvPr/>
        </p:nvSpPr>
        <p:spPr>
          <a:xfrm>
            <a:off x="548640" y="2404872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2" name="SimReal 4002"/>
          <p:cNvSpPr txBox="1"/>
          <p:nvPr/>
        </p:nvSpPr>
        <p:spPr>
          <a:xfrm>
            <a:off x="786384" y="249631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3" name="SimReal 4003"/>
          <p:cNvSpPr txBox="1"/>
          <p:nvPr/>
        </p:nvSpPr>
        <p:spPr>
          <a:xfrm>
            <a:off x="786384" y="2825496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UniPat、Humanlaya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4" name="SimReal 4004"/>
          <p:cNvSpPr txBox="1"/>
          <p:nvPr/>
        </p:nvSpPr>
        <p:spPr>
          <a:xfrm>
            <a:off x="3200400" y="2404872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  <a:b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UniPat由阿里领投，估值25亿美元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9月，UniPat获阿里领投3亿美元（估值25亿美元），Humanlaya完成数亿元人民币Pre-A；阿里、字节、DeepSeek都已向两家采购。赛道在中美同时升温。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2157984"/>
            <a:ext cx="2636444" cy="341071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4位量化实习本科生，高中同学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D. E. Shaw、Optiver、Millennium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669280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同样的起点，同一个赛道，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更快的加速度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135331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AI的热点一直在变</a:t>
            </a:r>
          </a:p>
        </p:txBody>
      </p:sp>
      <p:sp>
        <p:nvSpPr>
          <p:cNvPr id="3002" name="SimReal 3002"/>
          <p:cNvSpPr/>
          <p:nvPr/>
        </p:nvSpPr>
        <p:spPr>
          <a:xfrm>
            <a:off x="548640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3" name="SimReal 3003"/>
          <p:cNvSpPr txBox="1"/>
          <p:nvPr/>
        </p:nvSpPr>
        <p:spPr>
          <a:xfrm>
            <a:off x="786384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3182112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3364992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3602736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998464" y="1591056"/>
            <a:ext cx="19202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8" name="SimReal 3008"/>
          <p:cNvSpPr/>
          <p:nvPr/>
        </p:nvSpPr>
        <p:spPr>
          <a:xfrm>
            <a:off x="6190488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9" name="SimReal 3009"/>
          <p:cNvSpPr txBox="1"/>
          <p:nvPr/>
        </p:nvSpPr>
        <p:spPr>
          <a:xfrm>
            <a:off x="6428232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8823960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9006840" y="1591056"/>
            <a:ext cx="2633472" cy="4389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9244584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6974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38528"/>
            <a:ext cx="30175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92608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868680" y="3291840"/>
            <a:ext cx="3017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09" name="SimReal 3009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0" name="SimReal 3010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17" name="SimReal 3017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8" name="SimReal 3018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6个月年化1亿美元，12个月3亿美元；AfterQuery做到1亿美元用了14个月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5" name="SimReal 3025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6" name="SimReal 3026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27" name="SimReal 3027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8" name="SimReal 3028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1" name="SimReal 3031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2" name="SimReal 3032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39" name="SimReal 3039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0" name="SimReal 3040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416052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三个世界已上线：交易、AI研究、未来预测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5262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5120640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248656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回放真实交易日与订单簿，每笔交易由市场结算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，多次独立复现（受控实验）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749道无法作弊的谜题；400次作弊攻击0次成功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训练市场推算：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10%；10%参照大型科技公司研发投入占收入约10–15%（公司年报），取下限，为推算假设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国内现状：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（2026年9月10日）：阿里、字节、DeepSeek等国内模型公司已向UniPat与Humanlaya采购数据或服务；Humanlaya：2025年10月成立，2026年9月9日完成数亿元人民币Pre-A轮，鼎晖领投，红杉中国、今日资本、BAI参投（界面新闻、东方财富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让AI反复做真实工作、按结果打分的系统，常称RL环境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按真实结果打分（盈亏、账目、代码能否运行），不靠AI主观判断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5408676" cy="398678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41248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AfterQuery模式  ·  投入1,000万美元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41248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41248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12个月年化收入；毛利约2.4亿美元，是投入的24倍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41248" y="29077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41248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550万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1664208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2852928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50个环境 → 年化1亿美元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841248" y="323697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841248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1664208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2852928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每个环境卖10次：5家实验室 × 2轮</a:t>
            </a:r>
          </a:p>
        </p:txBody>
      </p:sp>
      <p:sp>
        <p:nvSpPr>
          <p:cNvPr id="3015" name="SimReal 3015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6" name="SimReal 3016"/>
          <p:cNvSpPr txBox="1"/>
          <p:nvPr/>
        </p:nvSpPr>
        <p:spPr>
          <a:xfrm>
            <a:off x="841248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1664208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2852928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5家实验室，第2个月首单</a:t>
            </a:r>
          </a:p>
        </p:txBody>
      </p:sp>
      <p:sp>
        <p:nvSpPr>
          <p:cNvPr id="3019" name="SimReal 3019"/>
          <p:cNvSpPr/>
          <p:nvPr/>
        </p:nvSpPr>
        <p:spPr>
          <a:xfrm>
            <a:off x="841248" y="38953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0" name="SimReal 3020"/>
          <p:cNvSpPr txBox="1"/>
          <p:nvPr/>
        </p:nvSpPr>
        <p:spPr>
          <a:xfrm>
            <a:off x="841248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年化收入 = 环境数 × 卖出次数 ×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841248" y="48097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84124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84124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年化2,000万美元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244906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244906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年化1亿美元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05688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405688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6231636" y="1481328"/>
            <a:ext cx="5408676" cy="398678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6524244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投入1,000万美元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6524244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524244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瞄准2030年整个AI经济：每个行业，一个自己变强的AI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6524244" y="29077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6524244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450万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7347204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535924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6524244" y="323697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6524244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350万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347204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8535924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24244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200万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347204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535924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6524244" y="38953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6524244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实盘交易RSI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AI用真实资金交易，每天的盈亏就是训练信号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预测事件RSI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AI对全世界的真实事件下判断，揭晓即进化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10个行业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财务、软件工程、法律、医疗……同步开发自我进化环境</a:t>
            </a:r>
          </a:p>
        </p:txBody>
      </p:sp>
      <p:sp>
        <p:nvSpPr>
          <p:cNvPr id="3046" name="SimReal 3046"/>
          <p:cNvSpPr/>
          <p:nvPr/>
        </p:nvSpPr>
        <p:spPr>
          <a:xfrm>
            <a:off x="6524244" y="48097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7" name="SimReal 3047"/>
          <p:cNvSpPr txBox="1"/>
          <p:nvPr/>
        </p:nvSpPr>
        <p:spPr>
          <a:xfrm>
            <a:off x="652424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48" name="SimReal 3048"/>
          <p:cNvSpPr txBox="1"/>
          <p:nvPr/>
        </p:nvSpPr>
        <p:spPr>
          <a:xfrm>
            <a:off x="652424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3049" name="SimReal 3049"/>
          <p:cNvSpPr txBox="1"/>
          <p:nvPr/>
        </p:nvSpPr>
        <p:spPr>
          <a:xfrm>
            <a:off x="813206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50" name="SimReal 3050"/>
          <p:cNvSpPr txBox="1"/>
          <p:nvPr/>
        </p:nvSpPr>
        <p:spPr>
          <a:xfrm>
            <a:off x="813206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3051" name="SimReal 3051"/>
          <p:cNvSpPr txBox="1"/>
          <p:nvPr/>
        </p:nvSpPr>
        <p:spPr>
          <a:xfrm>
            <a:off x="973988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52" name="SimReal 3052"/>
          <p:cNvSpPr txBox="1"/>
          <p:nvPr/>
        </p:nvSpPr>
        <p:spPr>
          <a:xfrm>
            <a:off x="973988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10个行业自我进化</a:t>
            </a:r>
          </a:p>
        </p:txBody>
      </p:sp>
      <p:sp>
        <p:nvSpPr>
          <p:cNvPr id="3053" name="SimReal 3053"/>
          <p:cNvSpPr txBox="1"/>
          <p:nvPr/>
        </p:nvSpPr>
        <p:spPr>
          <a:xfrm>
            <a:off x="548640" y="5541264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收入引擎今天就赚钱；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RSI引擎，让每个行业最强的AI都出自SimReal</a:t>
            </a:r>
          </a:p>
        </p:txBody>
      </p:sp>
      <p:sp>
        <p:nvSpPr>
          <p:cNvPr id="3054" name="SimReal 3054"/>
          <p:cNvSpPr txBox="1"/>
          <p:nvPr/>
        </p:nvSpPr>
        <p:spPr>
          <a:xfrm>
            <a:off x="548640" y="596188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每年2轮迭代（3个月2家、25个环境，6个月5家，12个月6家）；单价区间2万–30万美元（Epoch AI）。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毛利率约80%为测算：环境一次搭建、反复卖出；按人头卖数据的公司，专家拿走收入的60–70%（彭博）。7万亿美元推算见第14页。</a:t>
            </a:r>
          </a:p>
        </p:txBody>
      </p:sp>
      <p:sp>
        <p:nvSpPr>
          <p:cNvPr id="3055" name="SimReal 305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