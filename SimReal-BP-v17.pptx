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45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  <Relationship Id="rId45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CN" b="1" dirty="0">
                <a:solidFill>
                  <a:schemeClr val="accent2">
                    <a:lumMod val="75000"/>
                  </a:schemeClr>
                </a:solidFill>
              </a:rPr>
              <a:t>AI经济的引擎：用数据、环境与自我进化，推动AI下一次跃迁</a:t>
            </a: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CN" sz="1600" dirty="0">
              <a:solidFill>
                <a:schemeClr val="accent2">
                  <a:lumMod val="75000"/>
                </a:schemeClr>
              </a:solidFill>
            </a:endParaRPr>
          </a:p>
          <a:p>
            <a:br>
              <a:rPr lang="en-CN" sz="1600" dirty="0">
                <a:solidFill>
                  <a:schemeClr val="accent2">
                    <a:lumMod val="75000"/>
                  </a:schemeClr>
                </a:solidFill>
              </a:rPr>
            </a:br>
            <a:endParaRPr sz="15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都来自我们搭建的世界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54" y="3849638"/>
            <a:ext cx="11445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SimReal 商业计划书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1" name="Google Shape;21;p3"/>
          <p:cNvCxnSpPr/>
          <p:nvPr/>
        </p:nvCxnSpPr>
        <p:spPr>
          <a:xfrm>
            <a:off x="548640" y="4681728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3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2026年9月10日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4246778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3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2,000万美元  ·  投后估值1.5亿美元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7944917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3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联系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" name="Google Shape;29;p3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business@simreal.co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0" name="Google Shape;30;p3"/>
          <p:cNvCxnSpPr/>
          <p:nvPr/>
        </p:nvCxnSpPr>
        <p:spPr>
          <a:xfrm>
            <a:off x="548640" y="5468112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项目概述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给AI真实的工作环境，让它反复犯错、学习、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endParaRPr sz="2800" b="0" i="0" u="none" strike="noStrike" cap="none">
              <a:solidFill>
                <a:srgbClr val="C2410C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" name="Google Shape;39;p4"/>
          <p:cNvCxnSpPr/>
          <p:nvPr/>
        </p:nvCxnSpPr>
        <p:spPr>
          <a:xfrm>
            <a:off x="548640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4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数据与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为AI实验室和企业提供评测、数据与训练环境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独家环境让AI自我进化（RSI）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3" name="Google Shape;43;p4"/>
          <p:cNvCxnSpPr/>
          <p:nvPr/>
        </p:nvCxnSpPr>
        <p:spPr>
          <a:xfrm>
            <a:off x="4368698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4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机器学习、事件预测、做市交易的评测与RL环境</a:t>
            </a:r>
            <a:b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endParaRPr sz="12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旗舰Xitadel已跑通自我进化（RSI）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7" name="Google Shape;47;p4"/>
          <p:cNvCxnSpPr/>
          <p:nvPr/>
        </p:nvCxnSpPr>
        <p:spPr>
          <a:xfrm>
            <a:off x="8188757" y="1572768"/>
            <a:ext cx="3454298" cy="0"/>
          </a:xfrm>
          <a:prstGeom prst="straightConnector1">
            <a:avLst/>
          </a:prstGeom>
          <a:noFill/>
          <a:ln w="1905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</a:t>
            </a:r>
            <a:r>
              <a:rPr lang="zh-CN" sz="100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成果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3000"/>
              <a:buFont typeface="Instrument Sans"/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12%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Qwen3.8-27B在Xitadel训练后，在未见过的真实行情上交易表现最高提升12%，多次独立复现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" name="Google Shape;51;p4"/>
          <p:cNvCxnSpPr/>
          <p:nvPr/>
        </p:nvCxnSpPr>
        <p:spPr>
          <a:xfrm>
            <a:off x="548640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p4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4位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21岁05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b="0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Street、Citadel、D. E. Shaw、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Millennium、Optiver</a:t>
            </a:r>
            <a:endParaRPr sz="12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" name="Google Shape;55;p4"/>
          <p:cNvCxnSpPr/>
          <p:nvPr/>
        </p:nvCxnSpPr>
        <p:spPr>
          <a:xfrm>
            <a:off x="4368698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4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$8.5B→$700B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今天实验室每年买85亿美元训练数据与RL环境；2030年AI经济7万亿美元，训练占10%：7,000亿美元，82倍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9" name="Google Shape;59;p4"/>
          <p:cNvCxnSpPr/>
          <p:nvPr/>
        </p:nvCxnSpPr>
        <p:spPr>
          <a:xfrm>
            <a:off x="8188757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" name="Google Shape;60;p4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种子轮2,000万美元，投后1.5亿美元；6个月年化收入1亿美元，12个月3亿美元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548640" y="5486400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谁有最好的</a:t>
            </a: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，谁就有该行业最好的AI</a:t>
            </a:r>
            <a:endParaRPr sz="2600" b="0" i="0" u="none" strike="noStrike" cap="none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团队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548565" y="811781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华尔街最残酷的交易台：我们最懂做题与做事的差距</a:t>
            </a:r>
            <a:endParaRPr sz="2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815" y="1546574"/>
            <a:ext cx="11094300" cy="822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4515" y="1809074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00320" y="1867331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5" descr="de-shaw-colo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2436" y="1830821"/>
            <a:ext cx="978105" cy="254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29302" y="1862597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575" y="1841457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03722" y="1678077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548815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86559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1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86559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Stables首位员工：U稳定币从0做到14亿美元，一个月上线Binance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Citadel对冲基金实习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87" name="Google Shape;87;p5"/>
          <p:cNvCxnSpPr/>
          <p:nvPr/>
        </p:nvCxnSpPr>
        <p:spPr>
          <a:xfrm>
            <a:off x="786559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5"/>
          <p:cNvSpPr txBox="1"/>
          <p:nvPr/>
        </p:nvSpPr>
        <p:spPr>
          <a:xfrm>
            <a:off x="786559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USAMO入围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368139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 txBox="1"/>
          <p:nvPr/>
        </p:nvSpPr>
        <p:spPr>
          <a:xfrm>
            <a:off x="3605883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3605883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师从剑桥统计学教授Po-Ling Loh（国际数理统计学会会士，2025年Ethel Newbold奖）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剑桥研究中心AI最年轻本科研究员（2026）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Street、D. E. Shaw量化实习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2" name="Google Shape;92;p5"/>
          <p:cNvCxnSpPr/>
          <p:nvPr/>
        </p:nvCxnSpPr>
        <p:spPr>
          <a:xfrm>
            <a:off x="3605883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" name="Google Shape;93;p5"/>
          <p:cNvSpPr txBox="1"/>
          <p:nvPr/>
        </p:nvSpPr>
        <p:spPr>
          <a:xfrm>
            <a:off x="3605883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本科(奖学金); 深国交</a:t>
            </a: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187463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425207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6425207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  <a:endParaRPr sz="1100" b="0" i="0" u="none" strike="noStrike" cap="none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425207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8" name="Google Shape;98;p5"/>
          <p:cNvSpPr txBox="1"/>
          <p:nvPr/>
        </p:nvSpPr>
        <p:spPr>
          <a:xfrm>
            <a:off x="6425207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杜克数学与统计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上海包玉刚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9006786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9244530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James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CPO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9244530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阿姆斯特丹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富达股票研究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02" name="Google Shape;102;p5"/>
          <p:cNvCxnSpPr/>
          <p:nvPr/>
        </p:nvCxnSpPr>
        <p:spPr>
          <a:xfrm>
            <a:off x="9244530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3" name="Google Shape;103;p5"/>
          <p:cNvSpPr txBox="1"/>
          <p:nvPr/>
        </p:nvSpPr>
        <p:spPr>
          <a:xfrm>
            <a:off x="9244530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548815" y="5701831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首轮投资人回报：17,000倍、40倍、1,800倍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endParaRPr sz="200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为什么是现在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zh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18个月内收入涨27倍、估值涨10倍：</a:t>
            </a:r>
            <a:r>
              <a:rPr lang="zh-CN" altLang="en-US" sz="28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  <a:endParaRPr sz="2800" b="0" dirty="0">
              <a:solidFill>
                <a:schemeClr val="accent2">
                  <a:lumMod val="75000"/>
                </a:schemeClr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548640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8640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收入增长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48640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5413" y="3970782"/>
            <a:ext cx="383225" cy="3429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1093" y="3751326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$75M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1093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02186" y="3776472"/>
            <a:ext cx="383225" cy="2286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127866" y="35570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$500M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27866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098959" y="3657600"/>
            <a:ext cx="383225" cy="347472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824639" y="3438144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$760M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24639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95732" y="3547872"/>
            <a:ext cx="383225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2521412" y="33284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$1B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21412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492505" y="3090672"/>
            <a:ext cx="383225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218185" y="28712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18185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2026.6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8640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48640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48640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45919" y="4554275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48640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45919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352544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352544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融资速度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352544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52544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Mercor估值：18个月，20亿→200亿美元（洽谈中）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681728" y="3913632"/>
            <a:ext cx="502920" cy="9144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407408" y="369417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07408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843016" y="3547872"/>
            <a:ext cx="502920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568696" y="33284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$10B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568696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004304" y="3090672"/>
            <a:ext cx="50292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729984" y="28712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$20B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729984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2026.7 洽谈中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352544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352544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52544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49824" y="4635822"/>
            <a:ext cx="2386584" cy="3123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CN"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AfterQuery估值：3亿→32亿美元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352544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352544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449824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156448" y="1471803"/>
            <a:ext cx="3483864" cy="1905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8156448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10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需求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156448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156448" y="2395728"/>
            <a:ext cx="3392424" cy="164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AI智能体市场：7年，79亿→约1,110亿美元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48640" y="6100410"/>
            <a:ext cx="11091672" cy="6264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Mercor：TechCrunch、Sacra、Dealroom（年化毛营收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）、彭博（2026年7月，估值洽谈）；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AfterQuery：Business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Wire（2026年4月）、福布斯（2026年9月）；Snorkel AI：公司公告（2026年9月）；Prime Intellect：公司公告（2026年7月）；Scale AI：路透社（2025年6月）、Scale AI博客（2026年2月）；UniPat：彭博（2026年9月）；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AI智能体：Precedence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Research，2025年79亿美元、年复合增长45.8%；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合同金额与文本存量：Epoch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AI。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0AD78-A40E-5E2E-7EAB-0162F6C92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034053"/>
            <a:ext cx="3483864" cy="961874"/>
          </a:xfrm>
          <a:prstGeom prst="rect">
            <a:avLst/>
          </a:prstGeom>
        </p:spPr>
      </p:pic>
      <p:sp>
        <p:nvSpPr>
          <p:cNvPr id="209" name="Rectangle 208"/>
          <p:cNvSpPr/>
          <p:nvPr/>
        </p:nvSpPr>
        <p:spPr>
          <a:xfrm>
            <a:off x="8156448" y="3991165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156448" y="4548949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8156448" y="4553712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253728" y="4553712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AI新训练项目已涉及RL环境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156448" y="5024437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8156448" y="5029200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53728" y="5029200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问题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6" name="Google Shape;136;p7"/>
          <p:cNvSpPr txBox="1"/>
          <p:nvPr/>
        </p:nvSpPr>
        <p:spPr>
          <a:xfrm>
            <a:off x="548792" y="899123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111110"/>
              </a:buClr>
              <a:buSzPts val="2800"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AI会做题了：谁有最好的</a:t>
            </a:r>
            <a:r>
              <a:rPr lang="zh-CN" altLang="en-US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，谁就有每个领域最好的AI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309360" y="1624510"/>
            <a:ext cx="5333695" cy="3154680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 txBox="1"/>
          <p:nvPr/>
        </p:nvSpPr>
        <p:spPr>
          <a:xfrm>
            <a:off x="141732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考试过关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658368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实战失手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1" name="Google Shape;141;p7"/>
          <p:cNvCxnSpPr>
            <a:cxnSpLocks/>
          </p:cNvCxnSpPr>
          <p:nvPr/>
        </p:nvCxnSpPr>
        <p:spPr>
          <a:xfrm>
            <a:off x="548640" y="2081710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p7"/>
          <p:cNvCxnSpPr>
            <a:cxnSpLocks/>
          </p:cNvCxnSpPr>
          <p:nvPr/>
        </p:nvCxnSpPr>
        <p:spPr>
          <a:xfrm>
            <a:off x="6309360" y="2081710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p7"/>
          <p:cNvSpPr txBox="1"/>
          <p:nvPr/>
        </p:nvSpPr>
        <p:spPr>
          <a:xfrm>
            <a:off x="548640" y="226459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1417320" y="2081710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策略看起来很专业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5" name="Google Shape;145;p7"/>
          <p:cNvCxnSpPr>
            <a:cxnSpLocks/>
          </p:cNvCxnSpPr>
          <p:nvPr/>
        </p:nvCxnSpPr>
        <p:spPr>
          <a:xfrm>
            <a:off x="5669280" y="2529766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46" name="Google Shape;146;p7"/>
          <p:cNvSpPr txBox="1"/>
          <p:nvPr/>
        </p:nvSpPr>
        <p:spPr>
          <a:xfrm>
            <a:off x="6583680" y="2081710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真实交易日一上场就亏钱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7" name="Google Shape;147;p7"/>
          <p:cNvCxnSpPr>
            <a:cxnSpLocks/>
          </p:cNvCxnSpPr>
          <p:nvPr/>
        </p:nvCxnSpPr>
        <p:spPr>
          <a:xfrm>
            <a:off x="548640" y="2977822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8" name="Google Shape;148;p7"/>
          <p:cNvCxnSpPr>
            <a:cxnSpLocks/>
          </p:cNvCxnSpPr>
          <p:nvPr/>
        </p:nvCxnSpPr>
        <p:spPr>
          <a:xfrm>
            <a:off x="6309360" y="2977822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7"/>
          <p:cNvSpPr txBox="1"/>
          <p:nvPr/>
        </p:nvSpPr>
        <p:spPr>
          <a:xfrm>
            <a:off x="548640" y="3160702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1417320" y="2977822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做账看起来已经完成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1" name="Google Shape;151;p7"/>
          <p:cNvCxnSpPr>
            <a:cxnSpLocks/>
          </p:cNvCxnSpPr>
          <p:nvPr/>
        </p:nvCxnSpPr>
        <p:spPr>
          <a:xfrm>
            <a:off x="5669280" y="3425878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2" name="Google Shape;152;p7"/>
          <p:cNvSpPr txBox="1"/>
          <p:nvPr/>
        </p:nvSpPr>
        <p:spPr>
          <a:xfrm>
            <a:off x="6583680" y="2977822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账却对不平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3" name="Google Shape;153;p7"/>
          <p:cNvCxnSpPr>
            <a:cxnSpLocks/>
          </p:cNvCxnSpPr>
          <p:nvPr/>
        </p:nvCxnSpPr>
        <p:spPr>
          <a:xfrm>
            <a:off x="548640" y="3873934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7"/>
          <p:cNvCxnSpPr>
            <a:cxnSpLocks/>
          </p:cNvCxnSpPr>
          <p:nvPr/>
        </p:nvCxnSpPr>
        <p:spPr>
          <a:xfrm>
            <a:off x="6309360" y="3873934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7"/>
          <p:cNvSpPr txBox="1"/>
          <p:nvPr/>
        </p:nvSpPr>
        <p:spPr>
          <a:xfrm>
            <a:off x="548640" y="4056814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1417320" y="3873934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代码通过了今天的测试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7" name="Google Shape;157;p7"/>
          <p:cNvCxnSpPr>
            <a:cxnSpLocks/>
          </p:cNvCxnSpPr>
          <p:nvPr/>
        </p:nvCxnSpPr>
        <p:spPr>
          <a:xfrm>
            <a:off x="5669280" y="4321990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8" name="Google Shape;158;p7"/>
          <p:cNvSpPr txBox="1"/>
          <p:nvPr/>
        </p:nvSpPr>
        <p:spPr>
          <a:xfrm>
            <a:off x="6583680" y="3873934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真实迭代掉链子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579272" y="540254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AI越独立接管经济活动，</a:t>
            </a:r>
            <a:r>
              <a:rPr lang="zh-CN" sz="20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判断对错的标准</a:t>
            </a: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就越重要</a:t>
            </a:r>
            <a:endParaRPr lang="en-US" altLang="zh-CN" sz="20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altLang="en-US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有了真实环境和准确标准，AI才能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br>
              <a:rPr lang="en-US" altLang="zh-CN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</a:b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核心洞察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548840" y="804806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的升级</a:t>
            </a:r>
            <a:endParaRPr sz="2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48840" y="1408310"/>
            <a:ext cx="110943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真实工作没有标准答案：考满分的AI，未必能放心交付</a:t>
            </a:r>
            <a:endParaRPr sz="15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 txBox="1"/>
          <p:nvPr/>
        </p:nvSpPr>
        <p:spPr>
          <a:xfrm>
            <a:off x="786384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   互联网数据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786459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786384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  <a:r>
              <a:rPr lang="zh-CN" sz="13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学会</a:t>
            </a: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抄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78" name="Google Shape;178;p8"/>
          <p:cNvCxnSpPr/>
          <p:nvPr/>
        </p:nvCxnSpPr>
        <p:spPr>
          <a:xfrm>
            <a:off x="786384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9" name="Google Shape;179;p8"/>
          <p:cNvSpPr txBox="1"/>
          <p:nvPr/>
        </p:nvSpPr>
        <p:spPr>
          <a:xfrm>
            <a:off x="786384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3367964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3605708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   人类偏好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2" name="Google Shape;182;p8"/>
          <p:cNvSpPr txBox="1"/>
          <p:nvPr/>
        </p:nvSpPr>
        <p:spPr>
          <a:xfrm>
            <a:off x="3605721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3605696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人打分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84" name="Google Shape;184;p8"/>
          <p:cNvCxnSpPr/>
          <p:nvPr/>
        </p:nvCxnSpPr>
        <p:spPr>
          <a:xfrm>
            <a:off x="3605708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5" name="Google Shape;185;p8"/>
          <p:cNvSpPr txBox="1"/>
          <p:nvPr/>
        </p:nvSpPr>
        <p:spPr>
          <a:xfrm>
            <a:off x="3605708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187276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6425032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   答案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425057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6425020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</a:t>
            </a:r>
            <a:r>
              <a:rPr lang="zh-CN" sz="130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</a:t>
            </a: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解题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0" name="Google Shape;190;p8"/>
          <p:cNvCxnSpPr/>
          <p:nvPr/>
        </p:nvCxnSpPr>
        <p:spPr>
          <a:xfrm>
            <a:off x="6425032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8"/>
          <p:cNvSpPr txBox="1"/>
          <p:nvPr/>
        </p:nvSpPr>
        <p:spPr>
          <a:xfrm>
            <a:off x="6425032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9006611" y="1810512"/>
            <a:ext cx="2636400" cy="28347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 txBox="1"/>
          <p:nvPr/>
        </p:nvSpPr>
        <p:spPr>
          <a:xfrm>
            <a:off x="9244355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   真实世界的</a:t>
            </a:r>
            <a:r>
              <a:rPr lang="zh-CN" sz="1300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反馈</a:t>
            </a:r>
            <a:endParaRPr sz="1300" b="0" i="0" u="none" strike="noStrike" cap="none">
              <a:solidFill>
                <a:srgbClr val="FFFFF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9244330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3200"/>
              <a:buFont typeface="Newsreader"/>
              <a:buNone/>
            </a:pPr>
            <a:r>
              <a:rPr lang="zh-CN" sz="320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9244355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AI进入现实经济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6" name="Google Shape;196;p8"/>
          <p:cNvCxnSpPr/>
          <p:nvPr/>
        </p:nvCxnSpPr>
        <p:spPr>
          <a:xfrm>
            <a:off x="9244355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7" name="Google Shape;197;p8"/>
          <p:cNvSpPr txBox="1"/>
          <p:nvPr/>
        </p:nvSpPr>
        <p:spPr>
          <a:xfrm>
            <a:off x="9244355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9244355" y="4187952"/>
            <a:ext cx="1243500" cy="274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 txBox="1"/>
          <p:nvPr/>
        </p:nvSpPr>
        <p:spPr>
          <a:xfrm>
            <a:off x="9244355" y="4187952"/>
            <a:ext cx="1243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刚刚起步</a:t>
            </a:r>
            <a:endParaRPr sz="1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548657" y="5083900"/>
            <a:ext cx="114645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80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下一代反馈信号，来自现实世界</a:t>
            </a:r>
            <a:endParaRPr sz="2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我们做什么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每个动作都有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，AI持续自我进化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环境、评分、专家三合一：AI做真实工作，从每次结果中学习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1" name="Google Shape;211;p9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7" name="Google Shape;217;p9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8" name="Google Shape;218;p9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2" name="Google Shape;222;p9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真实工作背后的判断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600"/>
              <a:buFont typeface="Newsreader"/>
              <a:buNone/>
            </a:pPr>
            <a:r>
              <a:rPr lang="zh-CN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一个给出真实反馈的世界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7" name="Google Shape;227;p9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每次结果都是训练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9" name="Google Shape;239;p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0" name="Rounded Rectangle 239"/>
          <p:cNvSpPr/>
          <p:nvPr/>
        </p:nvSpPr>
        <p:spPr>
          <a:xfrm>
            <a:off x="548640" y="4498848"/>
            <a:ext cx="2148840" cy="585216"/>
          </a:xfrm>
          <a:prstGeom prst="round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548640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2807208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3" name="Rounded Rectangle 242"/>
          <p:cNvSpPr/>
          <p:nvPr/>
        </p:nvSpPr>
        <p:spPr>
          <a:xfrm>
            <a:off x="3529584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3529584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cxnSp>
        <p:nvCxnSpPr>
          <p:cNvPr id="245" name="Connector 244"/>
          <p:cNvCxnSpPr/>
          <p:nvPr/>
        </p:nvCxnSpPr>
        <p:spPr>
          <a:xfrm>
            <a:off x="5788152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6" name="Rounded Rectangle 245"/>
          <p:cNvSpPr/>
          <p:nvPr/>
        </p:nvSpPr>
        <p:spPr>
          <a:xfrm>
            <a:off x="6510528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510528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AI从结果中训练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769096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9" name="Rounded Rectangle 248"/>
          <p:cNvSpPr/>
          <p:nvPr/>
        </p:nvSpPr>
        <p:spPr>
          <a:xfrm>
            <a:off x="9491472" y="4498848"/>
            <a:ext cx="2148840" cy="585216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491472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565892" y="5084064"/>
            <a:ext cx="0" cy="658368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2" name="Connector 251"/>
          <p:cNvCxnSpPr/>
          <p:nvPr/>
        </p:nvCxnSpPr>
        <p:spPr>
          <a:xfrm flipH="1">
            <a:off x="1623060" y="5742432"/>
            <a:ext cx="8942832" cy="0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3" name="Connector 252"/>
          <p:cNvCxnSpPr/>
          <p:nvPr/>
        </p:nvCxnSpPr>
        <p:spPr>
          <a:xfrm flipV="1">
            <a:off x="1623060" y="5148072"/>
            <a:ext cx="0" cy="594360"/>
          </a:xfrm>
          <a:prstGeom prst="line">
            <a:avLst/>
          </a:prstGeom>
          <a:ln w="19050">
            <a:solidFill>
              <a:srgbClr val="C2410C"/>
            </a:solidFill>
            <a:tailEnd type="triangle" w="lg" len="lg"/>
          </a:ln>
        </p:spPr>
      </p:cxnSp>
      <p:sp>
        <p:nvSpPr>
          <p:cNvPr id="254" name="TextBox 253"/>
          <p:cNvSpPr txBox="1"/>
          <p:nvPr/>
        </p:nvSpPr>
        <p:spPr>
          <a:xfrm>
            <a:off x="3717035" y="5568696"/>
            <a:ext cx="4754880" cy="347472"/>
          </a:xfrm>
          <a:prstGeom prst="rect">
            <a:avLst/>
          </a:prstGeom>
          <a:solidFill>
            <a:srgbClr val="FAF9F6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0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每一轮都从上一轮出发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旗舰产品  ·  自我进化（RSI）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6" name="Google Shape;246;p10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  <a:endParaRPr sz="6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517904"/>
            <a:ext cx="6035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AI自己学会交易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8" name="Google Shape;248;p10"/>
          <p:cNvCxnSpPr/>
          <p:nvPr/>
        </p:nvCxnSpPr>
        <p:spPr>
          <a:xfrm>
            <a:off x="548640" y="2029968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9" name="Google Shape;249;p10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上真实战场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1965960" y="2029968"/>
            <a:ext cx="51206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真实市场，与顶尖交易员同场；IMC Trading授权数据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1" name="Google Shape;251;p10"/>
          <p:cNvCxnSpPr/>
          <p:nvPr/>
        </p:nvCxnSpPr>
        <p:spPr>
          <a:xfrm>
            <a:off x="548640" y="2505456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" name="Google Shape;252;p10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市场当裁判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4" name="Google Shape;254;p10"/>
          <p:cNvCxnSpPr/>
          <p:nvPr/>
        </p:nvCxnSpPr>
        <p:spPr>
          <a:xfrm>
            <a:off x="548640" y="2980944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5" name="Google Shape;255;p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从结果中进化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6" name="Google Shape;256;p10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7" name="Google Shape;257;p10"/>
          <p:cNvCxnSpPr/>
          <p:nvPr/>
        </p:nvCxnSpPr>
        <p:spPr>
          <a:xfrm>
            <a:off x="548640" y="3456432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8" name="Google Shape;258;p10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开源模型Qwen3.8-27B在Xitadel训练后，在未见过的真实行情上交易表现提升12%，多次独立复现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已证明：AI能在真实金融市场里自己变强</a:t>
            </a:r>
            <a:endParaRPr sz="1700" b="0" i="0" u="none" strike="noStrike" cap="none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endParaRPr sz="17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  <a:endParaRPr sz="17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812280" y="868680"/>
            <a:ext cx="4830900" cy="434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每一轮都从上一轮的反馈出发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示意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3" name="Google Shape;263;p1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以基础模型=100计；多次独立复现（受控实验，Qwen3.8-27B）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5" name="Google Shape;265;p10"/>
          <p:cNvSpPr txBox="1"/>
          <p:nvPr/>
        </p:nvSpPr>
        <p:spPr>
          <a:xfrm>
            <a:off x="548640" y="5468112"/>
            <a:ext cx="115169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b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</a:b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两周，我们跑通了全球首个做市交易的自我进化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9" name="Google Shape;26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6600" y="1398072"/>
            <a:ext cx="4282125" cy="302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产品线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6" name="Google Shape;276;p1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同一套方法，已用在机器学习和事件预测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7" name="Google Shape;277;p11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每个领域，都需要自己的训练世界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9" name="Google Shape;279;p11" descr="SimReal-MLBench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24914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0" name="Google Shape;280;p11"/>
          <p:cNvCxnSpPr/>
          <p:nvPr/>
        </p:nvCxnSpPr>
        <p:spPr>
          <a:xfrm>
            <a:off x="868680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" name="Google Shape;281;p11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AI研究员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AI独立完成研究项目，从数据到结果：60个真实任务，7类数据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目标：AI改进AI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5" name="Google Shape;285;p11" descr="Future Prediction Bench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2141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6" name="Google Shape;286;p11"/>
          <p:cNvCxnSpPr/>
          <p:nvPr/>
        </p:nvCxnSpPr>
        <p:spPr>
          <a:xfrm>
            <a:off x="6575908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7" name="Google Shape;287;p11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 Prediction 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AI预判真实事件，从体育赛事到地震，揭晓后按结果打分、持续进化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目标：经得起现实检验的判断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14天7款产品，零外部融资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另有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Month-End Close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SWE-Forward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MathmoBench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Puzzle Benchmark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我们的优势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AI每一次变化，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我们第一个抓住、第一个交付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840480" cy="259689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交付速度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01952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81635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7款产品上线，零外部融资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68680" y="3218688"/>
            <a:ext cx="320040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68680" y="3346704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 · MLBench · Future Prediction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Month-End Close · SWE-Forward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 · Puzzle Benchmark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47548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证明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4754880" y="1737360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4754880" y="1737360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257800" y="1737360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抓趋势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6903720" y="1737360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RL环境刚成为实验室刚需，我们两周跑通全球首个做市交易的自我进化</a:t>
            </a:r>
          </a:p>
        </p:txBody>
      </p:sp>
      <p:sp>
        <p:nvSpPr>
          <p:cNvPr id="3014" name="SimReal 3014"/>
          <p:cNvSpPr/>
          <p:nvPr/>
        </p:nvSpPr>
        <p:spPr>
          <a:xfrm>
            <a:off x="4754880" y="2205533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5" name="SimReal 3015"/>
          <p:cNvSpPr txBox="1"/>
          <p:nvPr/>
        </p:nvSpPr>
        <p:spPr>
          <a:xfrm>
            <a:off x="4754880" y="2205533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5257800" y="2205533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交付质量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6903720" y="2205533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749道题、400次作弊攻击0次成功；财务环境评分漏洞6→0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754880" y="2673706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754880" y="2673706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5257800" y="2673706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市场验证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6903720" y="2673706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 500+星标、7,000+专家候补、2家前沿实验室在谈</a:t>
            </a:r>
          </a:p>
        </p:txBody>
      </p:sp>
      <p:sp>
        <p:nvSpPr>
          <p:cNvPr id="3022" name="SimReal 3022"/>
          <p:cNvSpPr/>
          <p:nvPr/>
        </p:nvSpPr>
        <p:spPr>
          <a:xfrm>
            <a:off x="4754880" y="3141878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3" name="SimReal 3023"/>
          <p:cNvSpPr txBox="1"/>
          <p:nvPr/>
        </p:nvSpPr>
        <p:spPr>
          <a:xfrm>
            <a:off x="4754880" y="3141878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5257800" y="3141878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过往战绩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903720" y="3141878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U稳定币0→14亿美元、一个月上线Binance；五家顶级量化机构经历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754880" y="3610051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754880" y="3610051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5257800" y="3610051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行业覆盖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6903720" y="3610051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21所顶尖大学的研究网络：快速、低成本覆盖每个行业的入门岗位</a:t>
            </a:r>
          </a:p>
        </p:txBody>
      </p:sp>
      <p:sp>
        <p:nvSpPr>
          <p:cNvPr id="3030" name="SimReal 3030"/>
          <p:cNvSpPr/>
          <p:nvPr/>
        </p:nvSpPr>
        <p:spPr>
          <a:xfrm>
            <a:off x="4754880" y="4078224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1" name="SimReal 3031"/>
          <p:cNvSpPr txBox="1"/>
          <p:nvPr/>
        </p:nvSpPr>
        <p:spPr>
          <a:xfrm>
            <a:off x="548640" y="433425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AI的热点一直在变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548640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768096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1920240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Scale AI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3012948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3424428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3643884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4796028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5888736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300216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19672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671816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764524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9176004" y="4572000"/>
            <a:ext cx="2464308" cy="60350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9395460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10547604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3047" name="SimReal 3047"/>
          <p:cNvSpPr txBox="1"/>
          <p:nvPr/>
        </p:nvSpPr>
        <p:spPr>
          <a:xfrm>
            <a:off x="548640" y="5358384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热点变得越快，我们越有利。押注我们，就是押注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AI每一次范式变化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中的机会。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商业模式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45" name="Google Shape;345;p1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环境与数据打开合作，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自我进化服务带来持续收入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548640" y="404164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收费路径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48640" y="427939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实验室每训一个新模型，就回来再买一轮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548640" y="5422392"/>
            <a:ext cx="1531620" cy="475488"/>
          </a:xfrm>
          <a:prstGeom prst="rect">
            <a:avLst/>
          </a:prstGeom>
          <a:solidFill>
            <a:srgbClr val="E2E0DA"/>
          </a:solidFill>
          <a:ln w="12700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3"/>
          <p:cNvSpPr txBox="1"/>
          <p:nvPr/>
        </p:nvSpPr>
        <p:spPr>
          <a:xfrm>
            <a:off x="676656" y="551383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免费基准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2171700" y="5148072"/>
            <a:ext cx="1531620" cy="749808"/>
          </a:xfrm>
          <a:prstGeom prst="rect">
            <a:avLst/>
          </a:prstGeom>
          <a:solidFill>
            <a:srgbClr val="D9D6CE"/>
          </a:solidFill>
          <a:ln w="12700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3"/>
          <p:cNvSpPr txBox="1"/>
          <p:nvPr/>
        </p:nvSpPr>
        <p:spPr>
          <a:xfrm>
            <a:off x="2299716" y="523951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私有评测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3794760" y="4873752"/>
            <a:ext cx="1531620" cy="1024128"/>
          </a:xfrm>
          <a:prstGeom prst="rect">
            <a:avLst/>
          </a:prstGeom>
          <a:solidFill>
            <a:srgbClr val="C4C0B7"/>
          </a:solidFill>
          <a:ln w="12700" cap="flat" cmpd="sng">
            <a:solidFill>
              <a:srgbClr val="C4C0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3"/>
          <p:cNvSpPr txBox="1"/>
          <p:nvPr/>
        </p:nvSpPr>
        <p:spPr>
          <a:xfrm>
            <a:off x="3922776" y="496519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环境授权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5417820" y="4599432"/>
            <a:ext cx="1531620" cy="1298448"/>
          </a:xfrm>
          <a:prstGeom prst="rect">
            <a:avLst/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3"/>
          <p:cNvSpPr txBox="1"/>
          <p:nvPr/>
        </p:nvSpPr>
        <p:spPr>
          <a:xfrm>
            <a:off x="5545836" y="469087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持续训练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73" name="Google Shape;373;p13"/>
          <p:cNvCxnSpPr/>
          <p:nvPr/>
        </p:nvCxnSpPr>
        <p:spPr>
          <a:xfrm>
            <a:off x="7269480" y="4041648"/>
            <a:ext cx="0" cy="1856232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4" name="Google Shape;374;p13"/>
          <p:cNvSpPr txBox="1"/>
          <p:nvPr/>
        </p:nvSpPr>
        <p:spPr>
          <a:xfrm>
            <a:off x="7589520" y="4114800"/>
            <a:ext cx="4023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1亿美元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AfterQuery同一模式，14个月的年化收入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Mercor年化20亿美元，Snorkel一年18倍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9" name="TextBox 378"/>
          <p:cNvSpPr txBox="1"/>
          <p:nvPr/>
        </p:nvSpPr>
        <p:spPr>
          <a:xfrm>
            <a:off x="548640" y="146304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3703320" y="146304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卖点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8275320" y="1463040"/>
            <a:ext cx="33649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收费方式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548640" y="175088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3" name="TextBox 382"/>
          <p:cNvSpPr txBox="1"/>
          <p:nvPr/>
        </p:nvSpPr>
        <p:spPr>
          <a:xfrm>
            <a:off x="548640" y="18013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48640" y="205740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Xitadel、MLBench等7款，含企业定制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3703320" y="175564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按真实结果评分，AI无法作弊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8275320" y="175564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环境授权；独家价4–5倍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548640" y="229952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8" name="TextBox 387"/>
          <p:cNvSpPr txBox="1"/>
          <p:nvPr/>
        </p:nvSpPr>
        <p:spPr>
          <a:xfrm>
            <a:off x="548640" y="235000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548640" y="260604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来自7,000+候补专家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3703320" y="230428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真实工作的示范与判断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8275320" y="230428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按交付量收费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48640" y="284816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3" name="TextBox 392"/>
          <p:cNvSpPr txBox="1"/>
          <p:nvPr/>
        </p:nvSpPr>
        <p:spPr>
          <a:xfrm>
            <a:off x="548640" y="289864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评测与攻防测试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548640" y="315468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私有评测、公开基准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3703320" y="285292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上线前先攻击，找出评分漏洞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8275320" y="285292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按项目收费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48640" y="3401568"/>
            <a:ext cx="11091672" cy="548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8" name="TextBox 397"/>
          <p:cNvSpPr txBox="1"/>
          <p:nvPr/>
        </p:nvSpPr>
        <p:spPr>
          <a:xfrm>
            <a:off x="685800" y="3447287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85800" y="370332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独有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3703320" y="340156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每次模型升级，都回来再训练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8275320" y="340156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持续收费，随模型升级增长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0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14" descr="star 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lang="zh-CN" sz="1100" b="1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进展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成立两周，合作方已在排队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87" name="Google Shape;387;p14"/>
          <p:cNvCxnSpPr/>
          <p:nvPr/>
        </p:nvCxnSpPr>
        <p:spPr>
          <a:xfrm>
            <a:off x="548640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8" name="Google Shape;388;p14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家前沿实验室在谈</a:t>
            </a:r>
            <a:b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目标第2个月首单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0" name="Google Shape;390;p14"/>
          <p:cNvCxnSpPr/>
          <p:nvPr/>
        </p:nvCxnSpPr>
        <p:spPr>
          <a:xfrm>
            <a:off x="3390824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1" name="Google Shape;391;p14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7,000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名专家候补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3" name="Google Shape;393;p14"/>
          <p:cNvCxnSpPr/>
          <p:nvPr/>
        </p:nvCxnSpPr>
        <p:spPr>
          <a:xfrm>
            <a:off x="6233008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4" name="Google Shape;394;p14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首周GitHub星标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6" name="Google Shape;396;p14"/>
          <p:cNvCxnSpPr/>
          <p:nvPr/>
        </p:nvCxnSpPr>
        <p:spPr>
          <a:xfrm>
            <a:off x="9075191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4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位硅谷顶级天使主动联系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9" name="Google Shape;399;p14"/>
          <p:cNvCxnSpPr/>
          <p:nvPr/>
        </p:nvCxnSpPr>
        <p:spPr>
          <a:xfrm>
            <a:off x="548640" y="3703320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0" name="Google Shape;400;p1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200"/>
              <a:buFont typeface="Newsreader"/>
              <a:buNone/>
            </a:pP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顶级交易公司的从业者，在支持我们的研发</a:t>
            </a:r>
            <a:endParaRPr sz="2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988" y="47534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7463" y="48047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176" y="4732773"/>
            <a:ext cx="761343" cy="37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9003" y="4793845"/>
            <a:ext cx="1131456" cy="251254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4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700"/>
              <a:buFont typeface="Instrument Sans SemiBold"/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Polymarket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6" name="Google Shape;406;p14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标识代表支持者任职的机构，不代表这些机构的背书。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5" name="Google Shape;415;p15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0" y="0"/>
            <a:ext cx="3136392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专家网络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来自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精准覆盖每个行业的入门岗位与顶尖科研，并持续深入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</a:t>
            </a:r>
            <a:r>
              <a:rPr lang="zh-CN" sz="6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1" name="Google Shape;421;p15"/>
          <p:cNvCxnSpPr/>
          <p:nvPr/>
        </p:nvCxnSpPr>
        <p:spPr>
          <a:xfrm>
            <a:off x="548640" y="3401568"/>
            <a:ext cx="356616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2" name="Google Shape;422;p15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所顶尖大学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5" name="Google Shape;425;p15"/>
          <p:cNvCxnSpPr/>
          <p:nvPr/>
        </p:nvCxnSpPr>
        <p:spPr>
          <a:xfrm>
            <a:off x="4663440" y="2212848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6" name="Google Shape;426;p15"/>
          <p:cNvCxnSpPr/>
          <p:nvPr/>
        </p:nvCxnSpPr>
        <p:spPr>
          <a:xfrm>
            <a:off x="4663440" y="3291840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7" name="Google Shape;427;p15"/>
          <p:cNvCxnSpPr/>
          <p:nvPr/>
        </p:nvCxnSpPr>
        <p:spPr>
          <a:xfrm>
            <a:off x="4663440" y="4370832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8" name="Google Shape;428;p15"/>
          <p:cNvCxnSpPr/>
          <p:nvPr/>
        </p:nvCxnSpPr>
        <p:spPr>
          <a:xfrm>
            <a:off x="4663440" y="5449824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44" name="Google Shape;444;p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/>
          <p:nvPr/>
        </p:nvSpPr>
        <p:spPr>
          <a:xfrm>
            <a:off x="548640" y="4700016"/>
            <a:ext cx="3566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2" name="SimReal 3002"/>
          <p:cNvSpPr txBox="1"/>
          <p:nvPr/>
        </p:nvSpPr>
        <p:spPr>
          <a:xfrm>
            <a:off x="548640" y="477316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1600200" y="47731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548640" y="513892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1600200" y="513892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最难的问题，最难的评分标准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548640" y="550468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持续深入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1600200" y="550468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每上线一个行业，网络就往更深处延伸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72" name="Google Shape;472;p1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市场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2030年：训练市场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7,000亿美元</a:t>
            </a: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，是今天的82倍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4062984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7851648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548640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548640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48640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548640" y="2487168"/>
            <a:ext cx="35143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548640" y="2962656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1600200" y="2990088"/>
            <a:ext cx="169164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3364992" y="2962656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48640" y="33649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1600200" y="3392424"/>
            <a:ext cx="1014984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2688336" y="336499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48640" y="376732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3016" name="SimReal 3016"/>
          <p:cNvSpPr/>
          <p:nvPr/>
        </p:nvSpPr>
        <p:spPr>
          <a:xfrm>
            <a:off x="1600200" y="3794760"/>
            <a:ext cx="317183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7" name="SimReal 3017"/>
          <p:cNvSpPr txBox="1"/>
          <p:nvPr/>
        </p:nvSpPr>
        <p:spPr>
          <a:xfrm>
            <a:off x="1990534" y="37673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$0.375B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337304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337304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4337304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4337304" y="250545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3022" name="SimReal 3022"/>
          <p:cNvSpPr txBox="1"/>
          <p:nvPr/>
        </p:nvSpPr>
        <p:spPr>
          <a:xfrm>
            <a:off x="666292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3023" name="SimReal 3023"/>
          <p:cNvSpPr/>
          <p:nvPr/>
        </p:nvSpPr>
        <p:spPr>
          <a:xfrm>
            <a:off x="4337304" y="287121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4" name="SimReal 3024"/>
          <p:cNvSpPr txBox="1"/>
          <p:nvPr/>
        </p:nvSpPr>
        <p:spPr>
          <a:xfrm>
            <a:off x="4337304" y="287121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66292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25.6%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337304" y="323697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337304" y="323697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666292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3029" name="SimReal 3029"/>
          <p:cNvSpPr/>
          <p:nvPr/>
        </p:nvSpPr>
        <p:spPr>
          <a:xfrm>
            <a:off x="4337304" y="360273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0" name="SimReal 3030"/>
          <p:cNvSpPr txBox="1"/>
          <p:nvPr/>
        </p:nvSpPr>
        <p:spPr>
          <a:xfrm>
            <a:off x="4337304" y="360273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美国以外渗透减半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662928" y="360273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8125968" y="1481328"/>
            <a:ext cx="351434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8363712" y="1609344"/>
            <a:ext cx="303885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8363712" y="1865376"/>
            <a:ext cx="303885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7,000亿美元/年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363712" y="250545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AI经济</a:t>
            </a:r>
          </a:p>
        </p:txBody>
      </p:sp>
      <p:sp>
        <p:nvSpPr>
          <p:cNvPr id="3036" name="SimReal 3036"/>
          <p:cNvSpPr txBox="1"/>
          <p:nvPr/>
        </p:nvSpPr>
        <p:spPr>
          <a:xfrm>
            <a:off x="1021384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7万亿</a:t>
            </a:r>
          </a:p>
        </p:txBody>
      </p:sp>
      <p:sp>
        <p:nvSpPr>
          <p:cNvPr id="3037" name="SimReal 3037"/>
          <p:cNvSpPr/>
          <p:nvPr/>
        </p:nvSpPr>
        <p:spPr>
          <a:xfrm>
            <a:off x="8363712" y="287121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8" name="SimReal 3038"/>
          <p:cNvSpPr txBox="1"/>
          <p:nvPr/>
        </p:nvSpPr>
        <p:spPr>
          <a:xfrm>
            <a:off x="8363712" y="287121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训练占比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1021384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8363712" y="323697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8363712" y="323697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训练市场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1021384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363712" y="3694176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今天的82倍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8363712" y="4224528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训练是AI经济的研发预算。大型科技公司研发约占收入10–15%，取下限。</a:t>
            </a:r>
          </a:p>
        </p:txBody>
      </p:sp>
      <p:sp>
        <p:nvSpPr>
          <p:cNvPr id="3045" name="SimReal 3045"/>
          <p:cNvSpPr txBox="1"/>
          <p:nvPr/>
        </p:nvSpPr>
        <p:spPr>
          <a:xfrm>
            <a:off x="548640" y="5138928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Ventures（2026.7）；Mercor年化毛营收（2026.7）、Surge收入（2024）、Snorkel年化收入（2026.9）；麦肯锡（2025.11）；IMF（2026.4）；科技公司年报。训练占比、美国以外渗透率为假设。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竞争格局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0" name="Google Shape;480;p17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548640" y="1600200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7"/>
          <p:cNvSpPr txBox="1"/>
          <p:nvPr/>
        </p:nvSpPr>
        <p:spPr>
          <a:xfrm>
            <a:off x="786384" y="169164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3" name="Google Shape;483;p17"/>
          <p:cNvSpPr txBox="1"/>
          <p:nvPr/>
        </p:nvSpPr>
        <p:spPr>
          <a:xfrm>
            <a:off x="786384" y="2020824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Mercor、Surge、AfterQuery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4" name="Google Shape;484;p17"/>
          <p:cNvSpPr txBox="1"/>
          <p:nvPr/>
        </p:nvSpPr>
        <p:spPr>
          <a:xfrm>
            <a:off x="3200400" y="1600200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548640" y="3209544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7"/>
          <p:cNvSpPr txBox="1"/>
          <p:nvPr/>
        </p:nvSpPr>
        <p:spPr>
          <a:xfrm>
            <a:off x="786384" y="3392424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3200400" y="3209544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548640" y="4014216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7"/>
          <p:cNvSpPr txBox="1"/>
          <p:nvPr/>
        </p:nvSpPr>
        <p:spPr>
          <a:xfrm>
            <a:off x="777240" y="419709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2" name="Google Shape;492;p17"/>
          <p:cNvSpPr txBox="1"/>
          <p:nvPr/>
        </p:nvSpPr>
        <p:spPr>
          <a:xfrm>
            <a:off x="3200400" y="4014216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3" name="Google Shape;493;p17"/>
          <p:cNvSpPr/>
          <p:nvPr/>
        </p:nvSpPr>
        <p:spPr>
          <a:xfrm>
            <a:off x="548640" y="4818888"/>
            <a:ext cx="6400800" cy="713232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240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240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786384" y="525780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数据、训练环境、结果评分、自我进化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6" name="Google Shape;496;p17"/>
          <p:cNvSpPr txBox="1"/>
          <p:nvPr/>
        </p:nvSpPr>
        <p:spPr>
          <a:xfrm>
            <a:off x="3200400" y="4818888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不只测分，还让AI越练越强</a:t>
            </a:r>
            <a:br>
              <a:rPr lang="en-US" alt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每次打分都变成下一轮训练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7" name="Google Shape;497;p17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98" name="Google Shape;498;p17"/>
          <p:cNvCxnSpPr/>
          <p:nvPr/>
        </p:nvCxnSpPr>
        <p:spPr>
          <a:xfrm>
            <a:off x="7315200" y="1920240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7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环境、评分体系、每次运行的结果数据，都归我们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1" name="Google Shape;501;p17"/>
          <p:cNvCxnSpPr/>
          <p:nvPr/>
        </p:nvCxnSpPr>
        <p:spPr>
          <a:xfrm>
            <a:off x="7315200" y="2852928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2" name="Google Shape;502;p17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3" name="Google Shape;503;p17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每次模型升级，都回到同一套环境对比、再训练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4" name="Google Shape;504;p17"/>
          <p:cNvCxnSpPr/>
          <p:nvPr/>
        </p:nvCxnSpPr>
        <p:spPr>
          <a:xfrm>
            <a:off x="7315200" y="3785616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5" name="Google Shape;505;p17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6" name="Google Shape;506;p1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1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14天7款产品：AI变得越快，我们越有利</a:t>
            </a:r>
            <a:endParaRPr sz="1100" b="1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7" name="Google Shape;507;p17"/>
          <p:cNvCxnSpPr/>
          <p:nvPr/>
        </p:nvCxnSpPr>
        <p:spPr>
          <a:xfrm>
            <a:off x="7315200" y="4718304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8" name="Google Shape;508;p17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9" name="Google Shape;509;p17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不属于任何一家实验室：中美实验室都能放心采购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0" name="Google Shape;510;p17"/>
          <p:cNvCxnSpPr/>
          <p:nvPr/>
        </p:nvCxnSpPr>
        <p:spPr>
          <a:xfrm>
            <a:off x="7315200" y="5650992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13" name="Google Shape;513;p1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1" name="SimReal 4001"/>
          <p:cNvSpPr/>
          <p:nvPr/>
        </p:nvSpPr>
        <p:spPr>
          <a:xfrm>
            <a:off x="548640" y="2404872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2" name="SimReal 4002"/>
          <p:cNvSpPr txBox="1"/>
          <p:nvPr/>
        </p:nvSpPr>
        <p:spPr>
          <a:xfrm>
            <a:off x="786384" y="249631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3" name="SimReal 4003"/>
          <p:cNvSpPr txBox="1"/>
          <p:nvPr/>
        </p:nvSpPr>
        <p:spPr>
          <a:xfrm>
            <a:off x="786384" y="2825496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UniPat、Humanlaya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4" name="SimReal 4004"/>
          <p:cNvSpPr txBox="1"/>
          <p:nvPr/>
        </p:nvSpPr>
        <p:spPr>
          <a:xfrm>
            <a:off x="3200400" y="2404872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主要服务国内实验室：专家数据与评测</a:t>
            </a:r>
            <a:b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UniPat由阿里领投，估值25亿美元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国内现状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9月，UniPat获阿里领投3亿美元（估值25亿美元），Humanlaya完成数亿元人民币Pre-A；阿里、字节、DeepSeek都已向两家采购。赛道在中美同时升温。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sz="1100" b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对标公司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0" name="Google Shape;520;p18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赛道突围者都起步年轻、跑得快；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我们更快</a:t>
            </a:r>
            <a:endParaRPr sz="28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548640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8"/>
          <p:cNvSpPr txBox="1"/>
          <p:nvPr/>
        </p:nvSpPr>
        <p:spPr>
          <a:xfrm>
            <a:off x="786384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786384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4" name="Google Shape;524;p18"/>
          <p:cNvSpPr txBox="1"/>
          <p:nvPr/>
        </p:nvSpPr>
        <p:spPr>
          <a:xfrm>
            <a:off x="786384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5" name="Google Shape;525;p18"/>
          <p:cNvCxnSpPr/>
          <p:nvPr/>
        </p:nvCxnSpPr>
        <p:spPr>
          <a:xfrm>
            <a:off x="786384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6" name="Google Shape;526;p18"/>
          <p:cNvSpPr txBox="1"/>
          <p:nvPr/>
        </p:nvSpPr>
        <p:spPr>
          <a:xfrm>
            <a:off x="786384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7" name="Google Shape;527;p18"/>
          <p:cNvCxnSpPr/>
          <p:nvPr/>
        </p:nvCxnSpPr>
        <p:spPr>
          <a:xfrm>
            <a:off x="786384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8"/>
          <p:cNvSpPr txBox="1"/>
          <p:nvPr/>
        </p:nvSpPr>
        <p:spPr>
          <a:xfrm>
            <a:off x="786384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9" name="Google Shape;529;p18"/>
          <p:cNvCxnSpPr/>
          <p:nvPr/>
        </p:nvCxnSpPr>
        <p:spPr>
          <a:xfrm>
            <a:off x="786384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18"/>
          <p:cNvSpPr txBox="1"/>
          <p:nvPr/>
        </p:nvSpPr>
        <p:spPr>
          <a:xfrm>
            <a:off x="786384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3367964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8"/>
          <p:cNvSpPr txBox="1"/>
          <p:nvPr/>
        </p:nvSpPr>
        <p:spPr>
          <a:xfrm>
            <a:off x="3605708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3" name="Google Shape;533;p18"/>
          <p:cNvSpPr txBox="1"/>
          <p:nvPr/>
        </p:nvSpPr>
        <p:spPr>
          <a:xfrm>
            <a:off x="3605708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3605708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5" name="Google Shape;535;p18"/>
          <p:cNvCxnSpPr/>
          <p:nvPr/>
        </p:nvCxnSpPr>
        <p:spPr>
          <a:xfrm>
            <a:off x="3605708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p18"/>
          <p:cNvSpPr txBox="1"/>
          <p:nvPr/>
        </p:nvSpPr>
        <p:spPr>
          <a:xfrm>
            <a:off x="3605708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7" name="Google Shape;537;p18"/>
          <p:cNvCxnSpPr/>
          <p:nvPr/>
        </p:nvCxnSpPr>
        <p:spPr>
          <a:xfrm>
            <a:off x="3605708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8" name="Google Shape;538;p18"/>
          <p:cNvSpPr txBox="1"/>
          <p:nvPr/>
        </p:nvSpPr>
        <p:spPr>
          <a:xfrm>
            <a:off x="3605708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9" name="Google Shape;539;p18"/>
          <p:cNvCxnSpPr/>
          <p:nvPr/>
        </p:nvCxnSpPr>
        <p:spPr>
          <a:xfrm>
            <a:off x="3605708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p18"/>
          <p:cNvSpPr txBox="1"/>
          <p:nvPr/>
        </p:nvSpPr>
        <p:spPr>
          <a:xfrm>
            <a:off x="3605708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6187288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8"/>
          <p:cNvSpPr txBox="1"/>
          <p:nvPr/>
        </p:nvSpPr>
        <p:spPr>
          <a:xfrm>
            <a:off x="6425032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425032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6425032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加入YC 18个月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5" name="Google Shape;545;p18"/>
          <p:cNvCxnSpPr/>
          <p:nvPr/>
        </p:nvCxnSpPr>
        <p:spPr>
          <a:xfrm>
            <a:off x="6425032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6" name="Google Shape;546;p18"/>
          <p:cNvSpPr txBox="1"/>
          <p:nvPr/>
        </p:nvSpPr>
        <p:spPr>
          <a:xfrm>
            <a:off x="6425032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两位约21岁的在校大学生创立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7" name="Google Shape;547;p18"/>
          <p:cNvCxnSpPr/>
          <p:nvPr/>
        </p:nvCxnSpPr>
        <p:spPr>
          <a:xfrm>
            <a:off x="6425032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p18"/>
          <p:cNvSpPr txBox="1"/>
          <p:nvPr/>
        </p:nvSpPr>
        <p:spPr>
          <a:xfrm>
            <a:off x="6425032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9" name="Google Shape;549;p18"/>
          <p:cNvCxnSpPr/>
          <p:nvPr/>
        </p:nvCxnSpPr>
        <p:spPr>
          <a:xfrm>
            <a:off x="6425032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0" name="Google Shape;550;p18"/>
          <p:cNvSpPr txBox="1"/>
          <p:nvPr/>
        </p:nvSpPr>
        <p:spPr>
          <a:xfrm>
            <a:off x="6425032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1" name="Google Shape;551;p18"/>
          <p:cNvSpPr/>
          <p:nvPr/>
        </p:nvSpPr>
        <p:spPr>
          <a:xfrm>
            <a:off x="9006611" y="1600200"/>
            <a:ext cx="2636444" cy="361188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8"/>
          <p:cNvSpPr txBox="1"/>
          <p:nvPr/>
        </p:nvSpPr>
        <p:spPr>
          <a:xfrm>
            <a:off x="9244355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3" name="Google Shape;553;p18"/>
          <p:cNvSpPr txBox="1"/>
          <p:nvPr/>
        </p:nvSpPr>
        <p:spPr>
          <a:xfrm>
            <a:off x="9244355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4000"/>
              <a:buFont typeface="Newsreader"/>
              <a:buNone/>
            </a:pPr>
            <a:r>
              <a:rPr lang="zh-CN" sz="4000" b="0" i="0" u="none" strike="noStrike" cap="none" dirty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  <a:endParaRPr sz="4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4" name="Google Shape;554;p18"/>
          <p:cNvSpPr txBox="1"/>
          <p:nvPr/>
        </p:nvSpPr>
        <p:spPr>
          <a:xfrm>
            <a:off x="9244355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  <a:endParaRPr lang="en-US" altLang="zh-CN"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altLang="en-US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  <a:endParaRPr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5" name="Google Shape;555;p18"/>
          <p:cNvCxnSpPr/>
          <p:nvPr/>
        </p:nvCxnSpPr>
        <p:spPr>
          <a:xfrm>
            <a:off x="9244355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6" name="Google Shape;556;p18"/>
          <p:cNvSpPr txBox="1"/>
          <p:nvPr/>
        </p:nvSpPr>
        <p:spPr>
          <a:xfrm>
            <a:off x="9244355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4位量化实习本科生，高中同学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7" name="Google Shape;557;p18"/>
          <p:cNvCxnSpPr/>
          <p:nvPr/>
        </p:nvCxnSpPr>
        <p:spPr>
          <a:xfrm>
            <a:off x="9244355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8" name="Google Shape;558;p18"/>
          <p:cNvSpPr txBox="1"/>
          <p:nvPr/>
        </p:nvSpPr>
        <p:spPr>
          <a:xfrm>
            <a:off x="9244355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lang="zh-CN" altLang="en-US" sz="11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最后一年</a:t>
            </a: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在读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9" name="Google Shape;559;p18"/>
          <p:cNvCxnSpPr/>
          <p:nvPr/>
        </p:nvCxnSpPr>
        <p:spPr>
          <a:xfrm>
            <a:off x="9244355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0" name="Google Shape;560;p18"/>
          <p:cNvSpPr txBox="1"/>
          <p:nvPr/>
        </p:nvSpPr>
        <p:spPr>
          <a:xfrm>
            <a:off x="9244355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D. E. Shaw、Optiver、Millennium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1" name="Google Shape;561;p18"/>
          <p:cNvSpPr txBox="1"/>
          <p:nvPr/>
        </p:nvSpPr>
        <p:spPr>
          <a:xfrm>
            <a:off x="548640" y="546811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同样的起点，同一个赛道，</a:t>
            </a:r>
            <a:r>
              <a:rPr lang="zh-CN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更快的加速度</a:t>
            </a: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4" name="Google Shape;564;p1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融资计划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本轮融资2,000万美元，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投后估值1.5亿美元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种子轮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38528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投后1.5亿美元  ·  出让约13%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291840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6个月年化收入1亿美元</a:t>
            </a: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12个月年化收入3亿美元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估值依据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029200" y="1737360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融资阶段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6675120" y="1737360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对标Applied Compute种子轮：2,000万美元，投后1亿，14个月后约30亿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35000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350008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029200" y="2350008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6675120" y="2350008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对标Snorkel E轮（35亿美元）：同样的数据、环境、评测，另有自我进化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9626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962656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029200" y="2962656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6675120" y="2962656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6个月年化1亿美元，12个月3亿美元；AfterQuery做到1亿美元用了14个月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57530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575304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029200" y="3575304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估值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6675120" y="3575304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AfterQuery年化1亿美元时A轮估值3亿美元，我们是一半；6个月回报2–20倍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418795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548640" y="44439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赛道融资加速期刚刚开始</a:t>
            </a:r>
          </a:p>
        </p:txBody>
      </p:sp>
      <p:sp>
        <p:nvSpPr>
          <p:cNvPr id="3027" name="SimReal 3027"/>
          <p:cNvSpPr/>
          <p:nvPr/>
        </p:nvSpPr>
        <p:spPr>
          <a:xfrm>
            <a:off x="548640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8" name="SimReal 3028"/>
          <p:cNvSpPr txBox="1"/>
          <p:nvPr/>
        </p:nvSpPr>
        <p:spPr>
          <a:xfrm>
            <a:off x="768096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768096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768096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14个月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3362706" y="4700016"/>
            <a:ext cx="264947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3582162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3582162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582162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5个月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6176772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6396228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micro1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6396228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 → 40亿美元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6396228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990838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9210294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9210294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 → 200亿美元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9210294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9个月，洽谈中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76072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估值均为投后。2倍按AfterQuery A轮估值、20倍按其最新估值计（其9月收入未公开，为上限）。来源见A3。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2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9" name="Google Shape;619;p20"/>
          <p:cNvSpPr txBox="1"/>
          <p:nvPr/>
        </p:nvSpPr>
        <p:spPr>
          <a:xfrm>
            <a:off x="548640" y="416052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三个世界已上线：交易、AI研究、未来预测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0" name="Google Shape;620;p20"/>
          <p:cNvSpPr txBox="1"/>
          <p:nvPr/>
        </p:nvSpPr>
        <p:spPr>
          <a:xfrm>
            <a:off x="548640" y="4526280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AI经济的数据与自我进化引擎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21" name="Google Shape;621;p20"/>
          <p:cNvCxnSpPr/>
          <p:nvPr/>
        </p:nvCxnSpPr>
        <p:spPr>
          <a:xfrm>
            <a:off x="548640" y="5120640"/>
            <a:ext cx="51206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2" name="Google Shape;622;p20"/>
          <p:cNvSpPr txBox="1"/>
          <p:nvPr/>
        </p:nvSpPr>
        <p:spPr>
          <a:xfrm>
            <a:off x="548640" y="5248656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BM Plex Mono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1" name="Google Shape;631;p2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2" name="Google Shape;632;p21"/>
          <p:cNvCxnSpPr/>
          <p:nvPr/>
        </p:nvCxnSpPr>
        <p:spPr>
          <a:xfrm>
            <a:off x="548640" y="160020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3" name="Google Shape;633;p21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4" name="Google Shape;634;p21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回放真实交易日与订单簿，每笔交易由市场结算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5" name="Google Shape;635;p21"/>
          <p:cNvCxnSpPr/>
          <p:nvPr/>
        </p:nvCxnSpPr>
        <p:spPr>
          <a:xfrm>
            <a:off x="548640" y="225856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6" name="Google Shape;636;p21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模型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7" name="Google Shape;637;p21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8" name="Google Shape;638;p21"/>
          <p:cNvCxnSpPr/>
          <p:nvPr/>
        </p:nvCxnSpPr>
        <p:spPr>
          <a:xfrm>
            <a:off x="548640" y="2916936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9" name="Google Shape;639;p21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测试数据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0" name="Google Shape;640;p21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1" name="Google Shape;641;p21"/>
          <p:cNvCxnSpPr/>
          <p:nvPr/>
        </p:nvCxnSpPr>
        <p:spPr>
          <a:xfrm>
            <a:off x="548640" y="3575304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21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结果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3" name="Google Shape;643;p21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</a:t>
            </a:r>
            <a:r>
              <a:rPr lang="zh-CN" sz="1300" b="0" i="0" u="none" strike="noStrike" cap="none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提升12%</a:t>
            </a: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，多次独立复现（受控实验）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4" name="Google Shape;644;p21"/>
          <p:cNvCxnSpPr/>
          <p:nvPr/>
        </p:nvCxnSpPr>
        <p:spPr>
          <a:xfrm>
            <a:off x="548640" y="4233672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5" name="Google Shape;645;p21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公开基准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6" name="Google Shape;646;p21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 6），尚无模型越过人类线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7" name="Google Shape;647;p21"/>
          <p:cNvCxnSpPr/>
          <p:nvPr/>
        </p:nvCxnSpPr>
        <p:spPr>
          <a:xfrm>
            <a:off x="548640" y="489204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8" name="Google Shape;648;p21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尽调材料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9" name="Google Shape;649;p21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运行记录、指标定义与脚本，尽调时提供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50" name="Google Shape;650;p21"/>
          <p:cNvCxnSpPr/>
          <p:nvPr/>
        </p:nvCxnSpPr>
        <p:spPr>
          <a:xfrm>
            <a:off x="548640" y="555040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1" name="Google Shape;651;p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1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3" name="Google Shape;653;p21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6" name="Google Shape;656;p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7" name="Google Shape;657;p21" title="Screenshot 2026-09-25 at 7.38.0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1487" y="2645688"/>
            <a:ext cx="3735300" cy="218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4" name="Google Shape;664;p22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产品清单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graphicFrame>
        <p:nvGraphicFramePr>
          <p:cNvPr id="665" name="Google Shape;665;p22"/>
          <p:cNvGraphicFramePr/>
          <p:nvPr/>
        </p:nvGraphicFramePr>
        <p:xfrm>
          <a:off x="548640" y="15727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{EA870364-48A8-4773-986C-DF2669CC7B71}</a:tableStyleId>
              </a:tblPr>
              <a:tblGrid>
                <a:gridCol w="233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产品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领域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说明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状态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Xitadel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交易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AI在真实行情中交易，按盈亏评分；已跑通自我进化（+12%）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Xitadel-QuantBench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SimReal-MLBench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AI研究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60个研究任务、7类数据，参照OpenAI的MLE-bench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Simreal-MLBench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Future Prediction 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预测真实事件，揭晓后按结果打分；数据实时接入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Month-End Close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财务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让AI零差错完成月结；评分漏洞6 → 0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SWE-Forward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软件工程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检验AI写的代码能否挺过下一个版本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MathmoBench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数学证明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让AI证明答案，而不是猜答案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MathmoBench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Puzzle Benchmark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逻辑推理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749道无法作弊的谜题；400次作弊攻击0次成功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hard-puzzle-benchmark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8" name="Google Shape;668;p2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5" name="Google Shape;675;p2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6" name="Google Shape;676;p23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公司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77" name="Google Shape;677;p23"/>
          <p:cNvCxnSpPr/>
          <p:nvPr/>
        </p:nvCxnSpPr>
        <p:spPr>
          <a:xfrm>
            <a:off x="548640" y="1792224"/>
            <a:ext cx="5349240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8" name="Google Shape;678;p23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Mercor年化收入：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A轮2.5亿美元（2024年9月）到C轮100亿美元（2025年10月）；200亿美元估值轮次处于早期洽谈（彭博，2026年7月9日）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Surge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Snorkel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AfterQuery：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福布斯，2026年9月1日（加入YC 18个月，估值32亿美元；2025年2月成立）；YC公司页（联合创始人曾在Citadel Securities实习）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Scale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UniPat：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彭博，2026年9月10日（阿里领投3亿美元，据报道估值25亿美元；条款可能变化）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9" name="Google Shape;679;p23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市场与研究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80" name="Google Shape;680;p23"/>
          <p:cNvCxnSpPr/>
          <p:nvPr/>
        </p:nvCxnSpPr>
        <p:spPr>
          <a:xfrm>
            <a:off x="6291072" y="1792224"/>
            <a:ext cx="5351983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1" name="Google Shape;681;p23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AI智能体市场：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Research（2025年79.2亿美元；年复合增长45.82%，2034年达2,360亿美元）。2028、2032年数值按此路径推算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麦肯锡《生成式AI的经济潜力》：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每年2.6–4.4万亿美元经济价值（创造的价值，非支出）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RL环境定价与单任务算力成本：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公开文本存量：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data?》（2024）：约300T有效token，预计于2026–2032年间用尽（80%置信区间）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2030年AI经济推算：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us》（2025年11月）：2030年美国约2.9万亿美元；IMF《世界经济展望》（2026年4月）：美国GDP 32.4万亿美元、全球126.3万亿美元；美国以外按美国一半渗透率推算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训练市场推算：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 × 10%；10%参照大型科技公司研发投入占收入约10–15%（公司年报），取下限，为推算假设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国内现状：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（2026年9月10日）：阿里、字节、DeepSeek等国内模型公司已向UniPat与Humanlaya采购数据或服务；Humanlaya：2025年10月成立，2026年9月9日完成数亿元人民币Pre-A轮，鼎晖领投，红杉中国、今日资本、BAI参投（界面新闻、东方财富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融资与估值：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Compute：Upstarts（2025年6月，种子轮2,000万美元，投后1亿美元），Tech Startups（2025年9月，5亿美元），The Information（2026年8月，约30亿美元洽谈）；AfterQuery：Business Wire（2026年4月，A轮3,000万美元，估值3亿美元，年化收入1亿美元）；micro1：TechCrunch（2026年8月，年化毛收入5亿美元），福布斯（2026年9月，估值40亿美元）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84" name="Google Shape;684;p2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2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A4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1" name="Google Shape;691;p2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2" name="Google Shape;692;p24"/>
          <p:cNvCxnSpPr/>
          <p:nvPr/>
        </p:nvCxnSpPr>
        <p:spPr>
          <a:xfrm>
            <a:off x="548640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3" name="Google Shape;693;p24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4" name="Google Shape;694;p2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5" name="Google Shape;695;p24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让AI反复做真实工作、按结果打分的系统，常称RL环境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6" name="Google Shape;696;p24"/>
          <p:cNvCxnSpPr/>
          <p:nvPr/>
        </p:nvCxnSpPr>
        <p:spPr>
          <a:xfrm>
            <a:off x="4368698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7" name="Google Shape;697;p24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8" name="Google Shape;698;p24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9" name="Google Shape;699;p24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按真实结果打分（盈亏、账目、代码能否运行），不靠AI主观判断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0" name="Google Shape;700;p24"/>
          <p:cNvCxnSpPr/>
          <p:nvPr/>
        </p:nvCxnSpPr>
        <p:spPr>
          <a:xfrm>
            <a:off x="8188757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1" name="Google Shape;701;p24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2" name="Google Shape;702;p24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3" name="Google Shape;703;p24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AI用自己在真实环境中的结果训练自己，一轮比一轮强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4" name="Google Shape;704;p24"/>
          <p:cNvCxnSpPr/>
          <p:nvPr/>
        </p:nvCxnSpPr>
        <p:spPr>
          <a:xfrm>
            <a:off x="548640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5" name="Google Shape;705;p24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6" name="Google Shape;706;p24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7" name="Google Shape;707;p24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上线前模拟作弊与攻击，找出并修补评分漏洞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8" name="Google Shape;708;p24"/>
          <p:cNvCxnSpPr/>
          <p:nvPr/>
        </p:nvCxnSpPr>
        <p:spPr>
          <a:xfrm>
            <a:off x="4368698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9" name="Google Shape;709;p24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0" name="Google Shape;710;p24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1" name="Google Shape;711;p24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只改一个条件（是否在Xitadel训练），比较前后表现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12" name="Google Shape;712;p24"/>
          <p:cNvCxnSpPr/>
          <p:nvPr/>
        </p:nvCxnSpPr>
        <p:spPr>
          <a:xfrm>
            <a:off x="8188757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3" name="Google Shape;713;p24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4" name="Google Shape;714;p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5" name="Google Shape;715;p24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8" name="Google Shape;718;p2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资金用途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RSI引擎拿下每个行业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5408676" cy="398678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41248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 AfterQuery模式  ·  投入1,000万美元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41248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41248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12个月年化收入；毛利约2.4亿美元，是投入的24倍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41248" y="290779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41248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550万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1664208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2852928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50个环境 → 年化1亿美元</a:t>
            </a:r>
          </a:p>
        </p:txBody>
      </p:sp>
      <p:sp>
        <p:nvSpPr>
          <p:cNvPr id="3011" name="SimReal 3011"/>
          <p:cNvSpPr/>
          <p:nvPr/>
        </p:nvSpPr>
        <p:spPr>
          <a:xfrm>
            <a:off x="841248" y="323697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2" name="SimReal 3012"/>
          <p:cNvSpPr txBox="1"/>
          <p:nvPr/>
        </p:nvSpPr>
        <p:spPr>
          <a:xfrm>
            <a:off x="841248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1664208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3014" name="SimReal 3014"/>
          <p:cNvSpPr txBox="1"/>
          <p:nvPr/>
        </p:nvSpPr>
        <p:spPr>
          <a:xfrm>
            <a:off x="2852928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每个环境卖10次：5家实验室 × 2轮</a:t>
            </a:r>
          </a:p>
        </p:txBody>
      </p:sp>
      <p:sp>
        <p:nvSpPr>
          <p:cNvPr id="3015" name="SimReal 3015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6" name="SimReal 3016"/>
          <p:cNvSpPr txBox="1"/>
          <p:nvPr/>
        </p:nvSpPr>
        <p:spPr>
          <a:xfrm>
            <a:off x="841248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150万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1664208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3018" name="SimReal 3018"/>
          <p:cNvSpPr txBox="1"/>
          <p:nvPr/>
        </p:nvSpPr>
        <p:spPr>
          <a:xfrm>
            <a:off x="2852928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5家实验室，第2个月首单</a:t>
            </a:r>
          </a:p>
        </p:txBody>
      </p:sp>
      <p:sp>
        <p:nvSpPr>
          <p:cNvPr id="3019" name="SimReal 3019"/>
          <p:cNvSpPr/>
          <p:nvPr/>
        </p:nvSpPr>
        <p:spPr>
          <a:xfrm>
            <a:off x="841248" y="38953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0" name="SimReal 3020"/>
          <p:cNvSpPr txBox="1"/>
          <p:nvPr/>
        </p:nvSpPr>
        <p:spPr>
          <a:xfrm>
            <a:off x="841248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年化收入 = 环境数 × 卖出次数 × 单价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 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 × 10 × 20万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1亿美元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100 × 12 × 25万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3亿美元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841248" y="48097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84124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84124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年化2,000万美元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244906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244906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年化1亿美元</a:t>
            </a:r>
          </a:p>
        </p:txBody>
      </p:sp>
      <p:sp>
        <p:nvSpPr>
          <p:cNvPr id="3026" name="SimReal 3026"/>
          <p:cNvSpPr txBox="1"/>
          <p:nvPr/>
        </p:nvSpPr>
        <p:spPr>
          <a:xfrm>
            <a:off x="405688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405688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28" name="SimReal 3028"/>
          <p:cNvSpPr/>
          <p:nvPr/>
        </p:nvSpPr>
        <p:spPr>
          <a:xfrm>
            <a:off x="6231636" y="1481328"/>
            <a:ext cx="5408676" cy="398678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9" name="SimReal 3029"/>
          <p:cNvSpPr txBox="1"/>
          <p:nvPr/>
        </p:nvSpPr>
        <p:spPr>
          <a:xfrm>
            <a:off x="6524244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RSI引擎  ·  投入1,000万美元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6524244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7万亿美元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524244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瞄准2030年整个AI经济：每个行业，一个自己变强的AI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6524244" y="2907792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6524244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450万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7347204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535924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模型自己训练自己，一轮比一轮强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6524244" y="323697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6524244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350万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7347204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8535924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从交易走向10个行业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24244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200万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347204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535924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真实资金、真实市场、真实结算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6524244" y="38953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6524244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实盘交易RSI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AI用真实资金交易，每天的盈亏就是训练信号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预测事件RSI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AI对全世界的真实事件下判断，揭晓即进化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10个行业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财务、软件工程、法律、医疗……同步开发自我进化环境</a:t>
            </a:r>
          </a:p>
        </p:txBody>
      </p:sp>
      <p:sp>
        <p:nvSpPr>
          <p:cNvPr id="3046" name="SimReal 3046"/>
          <p:cNvSpPr/>
          <p:nvPr/>
        </p:nvSpPr>
        <p:spPr>
          <a:xfrm>
            <a:off x="6524244" y="48097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7" name="SimReal 3047"/>
          <p:cNvSpPr txBox="1"/>
          <p:nvPr/>
        </p:nvSpPr>
        <p:spPr>
          <a:xfrm>
            <a:off x="652424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48" name="SimReal 3048"/>
          <p:cNvSpPr txBox="1"/>
          <p:nvPr/>
        </p:nvSpPr>
        <p:spPr>
          <a:xfrm>
            <a:off x="652424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实盘交易RSI上线</a:t>
            </a:r>
          </a:p>
        </p:txBody>
      </p:sp>
      <p:sp>
        <p:nvSpPr>
          <p:cNvPr id="3049" name="SimReal 3049"/>
          <p:cNvSpPr txBox="1"/>
          <p:nvPr/>
        </p:nvSpPr>
        <p:spPr>
          <a:xfrm>
            <a:off x="813206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50" name="SimReal 3050"/>
          <p:cNvSpPr txBox="1"/>
          <p:nvPr/>
        </p:nvSpPr>
        <p:spPr>
          <a:xfrm>
            <a:off x="813206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预测事件RSI上线</a:t>
            </a:r>
          </a:p>
        </p:txBody>
      </p:sp>
      <p:sp>
        <p:nvSpPr>
          <p:cNvPr id="3051" name="SimReal 3051"/>
          <p:cNvSpPr txBox="1"/>
          <p:nvPr/>
        </p:nvSpPr>
        <p:spPr>
          <a:xfrm>
            <a:off x="973988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52" name="SimReal 3052"/>
          <p:cNvSpPr txBox="1"/>
          <p:nvPr/>
        </p:nvSpPr>
        <p:spPr>
          <a:xfrm>
            <a:off x="973988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10个行业自我进化</a:t>
            </a:r>
          </a:p>
        </p:txBody>
      </p:sp>
      <p:sp>
        <p:nvSpPr>
          <p:cNvPr id="3053" name="SimReal 3053"/>
          <p:cNvSpPr txBox="1"/>
          <p:nvPr/>
        </p:nvSpPr>
        <p:spPr>
          <a:xfrm>
            <a:off x="548640" y="5541264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收入引擎今天就赚钱；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RSI引擎，让每个行业最强的AI都出自SimReal</a:t>
            </a:r>
          </a:p>
        </p:txBody>
      </p:sp>
      <p:sp>
        <p:nvSpPr>
          <p:cNvPr id="3054" name="SimReal 3054"/>
          <p:cNvSpPr txBox="1"/>
          <p:nvPr/>
        </p:nvSpPr>
        <p:spPr>
          <a:xfrm>
            <a:off x="548640" y="596188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卖出次数 = 实验室数 × 每年2轮迭代（3个月2家、25个环境，6个月5家，12个月6家）；单价区间2万–30万美元（Epoch AI）。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毛利率约80%为测算：环境一次搭建、反复卖出；按人头卖数据的公司，专家拿走收入的60–70%（彭博）。7万亿美元推算见第14页。</a:t>
            </a:r>
          </a:p>
        </p:txBody>
      </p:sp>
      <p:sp>
        <p:nvSpPr>
          <p:cNvPr id="3055" name="SimReal 305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