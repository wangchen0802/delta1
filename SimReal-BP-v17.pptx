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45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  <Relationship Id="rId45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CN" b="1" dirty="0">
                <a:solidFill>
                  <a:schemeClr val="accent2">
                    <a:lumMod val="75000"/>
                  </a:schemeClr>
                </a:solidFill>
              </a:rPr>
              <a:t>AI经济的引擎：以数据、环境与自我进化，推动AI的下一次跃迁。</a:t>
            </a: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endParaRPr lang="en-CN" sz="1600" dirty="0">
              <a:solidFill>
                <a:schemeClr val="accent2">
                  <a:lumMod val="75000"/>
                </a:schemeClr>
              </a:solidFill>
            </a:endParaRPr>
          </a:p>
          <a:p>
            <a:br>
              <a:rPr lang="en-CN" sz="1600" dirty="0">
                <a:solidFill>
                  <a:schemeClr val="accent2">
                    <a:lumMod val="75000"/>
                  </a:schemeClr>
                </a:solidFill>
              </a:rPr>
            </a:br>
            <a:endParaRPr sz="15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都会来自我们搭建的世界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48654" y="3849638"/>
            <a:ext cx="11445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SimReal 商业计划书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1" name="Google Shape;21;p3"/>
          <p:cNvCxnSpPr/>
          <p:nvPr/>
        </p:nvCxnSpPr>
        <p:spPr>
          <a:xfrm>
            <a:off x="548640" y="4681728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3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2026年9月10日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" name="Google Shape;24;p3"/>
          <p:cNvCxnSpPr/>
          <p:nvPr/>
        </p:nvCxnSpPr>
        <p:spPr>
          <a:xfrm>
            <a:off x="4246778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3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2,000万美元  ·  投后估值1.5亿美元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7944917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3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联系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" name="Google Shape;29;p3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business@simreal.co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0" name="Google Shape;30;p3"/>
          <p:cNvCxnSpPr/>
          <p:nvPr/>
        </p:nvCxnSpPr>
        <p:spPr>
          <a:xfrm>
            <a:off x="548640" y="5468112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" name="Google Shape;31;p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项目概述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给AI真实的工作环境，让他重复：犯错，学习，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endParaRPr sz="2800" b="0" i="0" u="none" strike="noStrike" cap="none">
              <a:solidFill>
                <a:srgbClr val="C2410C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" name="Google Shape;39;p4"/>
          <p:cNvCxnSpPr/>
          <p:nvPr/>
        </p:nvCxnSpPr>
        <p:spPr>
          <a:xfrm>
            <a:off x="548640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4"/>
          <p:cNvSpPr txBox="1"/>
          <p:nvPr/>
        </p:nvSpPr>
        <p:spPr>
          <a:xfrm>
            <a:off x="548640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548640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数据与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548640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为AI实验室和企业</a:t>
            </a: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提供Benchmark, 数据和</a:t>
            </a: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训练环境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高质量数据提升AI表现，独家训练环境完成AI自我进化（RSI)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3" name="Google Shape;43;p4"/>
          <p:cNvCxnSpPr/>
          <p:nvPr/>
        </p:nvCxnSpPr>
        <p:spPr>
          <a:xfrm>
            <a:off x="4368698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4"/>
          <p:cNvSpPr txBox="1"/>
          <p:nvPr/>
        </p:nvSpPr>
        <p:spPr>
          <a:xfrm>
            <a:off x="4368698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368698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4368698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成立14天，7款产品</a:t>
            </a:r>
            <a: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，包括机器学习，事件预测，做市交易的Benchmark，强化学习环境和RSI环境</a:t>
            </a:r>
            <a:b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endParaRPr sz="12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旗舰产品Xitadel已在交易上跑通自我进化</a:t>
            </a:r>
            <a: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（RSI）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7" name="Google Shape;47;p4"/>
          <p:cNvCxnSpPr/>
          <p:nvPr/>
        </p:nvCxnSpPr>
        <p:spPr>
          <a:xfrm>
            <a:off x="8188757" y="1572768"/>
            <a:ext cx="3454298" cy="0"/>
          </a:xfrm>
          <a:prstGeom prst="straightConnector1">
            <a:avLst/>
          </a:prstGeom>
          <a:noFill/>
          <a:ln w="1905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 txBox="1"/>
          <p:nvPr/>
        </p:nvSpPr>
        <p:spPr>
          <a:xfrm>
            <a:off x="8188757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</a:t>
            </a:r>
            <a:r>
              <a:rPr lang="zh-CN" sz="100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成果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8188757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3000"/>
              <a:buFont typeface="Instrument Sans"/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12%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8188757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开源模型Qwen3.8-27B在Xitadel训练后，在从未见过的真实市场数据上交易表现</a:t>
            </a:r>
            <a: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最高</a:t>
            </a: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提升12%，多次独立运行均复现。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" name="Google Shape;51;p4"/>
          <p:cNvCxnSpPr/>
          <p:nvPr/>
        </p:nvCxnSpPr>
        <p:spPr>
          <a:xfrm>
            <a:off x="548640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p4"/>
          <p:cNvSpPr txBox="1"/>
          <p:nvPr/>
        </p:nvSpPr>
        <p:spPr>
          <a:xfrm>
            <a:off x="548640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548640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4位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21岁05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548640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本科来自</a:t>
            </a:r>
            <a:r>
              <a:rPr lang="zh-CN" sz="1200" b="1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有</a:t>
            </a:r>
            <a:r>
              <a:rPr lang="zh-CN" sz="1200" b="1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剑桥研究中心AI(ML)最年轻本科研究员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工作经历包括</a:t>
            </a:r>
            <a:r>
              <a:rPr lang="zh-CN" sz="1200" b="1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Street、Citadel、D. E. Shaw、Millennium、Optiver</a:t>
            </a:r>
            <a:endParaRPr sz="12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" name="Google Shape;55;p4"/>
          <p:cNvCxnSpPr/>
          <p:nvPr/>
        </p:nvCxnSpPr>
        <p:spPr>
          <a:xfrm>
            <a:off x="4368698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4"/>
          <p:cNvSpPr txBox="1"/>
          <p:nvPr/>
        </p:nvSpPr>
        <p:spPr>
          <a:xfrm>
            <a:off x="4368698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4368698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$8.5B→$7T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4368698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向AI实验室出售训练数据和RL环境的50余家公司，年收入合计已达约85亿美元；2030年全球AI经济约7万亿美元/年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9" name="Google Shape;59;p4"/>
          <p:cNvCxnSpPr/>
          <p:nvPr/>
        </p:nvCxnSpPr>
        <p:spPr>
          <a:xfrm>
            <a:off x="8188757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" name="Google Shape;60;p4"/>
          <p:cNvSpPr txBox="1"/>
          <p:nvPr/>
        </p:nvSpPr>
        <p:spPr>
          <a:xfrm>
            <a:off x="8188757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8188757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8188757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种子轮2,000万美元，投后估值1.5亿美元；6个月年化收入1亿美元，12个月3亿美元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548640" y="5486400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谁拥有最好的</a:t>
            </a: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，谁就拥有该行业最好的AI</a:t>
            </a:r>
            <a:endParaRPr sz="2600" b="0" i="0" u="none" strike="noStrike" cap="none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AI自我进化，从交易出发，我们走向整个世界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团队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548565" y="811781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奥赛&amp;世界名校  →  华尔街最残酷的交易台: 我们最知道做题和做事的差距</a:t>
            </a:r>
            <a:endParaRPr sz="2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8815" y="1546574"/>
            <a:ext cx="11094300" cy="822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4515" y="1809074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00320" y="1867331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5" descr="de-shaw-colo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2436" y="1830821"/>
            <a:ext cx="978105" cy="254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29302" y="1862597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85575" y="1841457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03722" y="1678077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548815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86559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1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86559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稳定币公司United Stables首位员工：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从0持续搭建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U稳定币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到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14亿美元，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一个月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上线Binance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 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LLC对冲基金实习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经历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87" name="Google Shape;87;p5"/>
          <p:cNvCxnSpPr/>
          <p:nvPr/>
        </p:nvCxnSpPr>
        <p:spPr>
          <a:xfrm>
            <a:off x="786559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5"/>
          <p:cNvSpPr txBox="1"/>
          <p:nvPr/>
        </p:nvSpPr>
        <p:spPr>
          <a:xfrm>
            <a:off x="786559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USAMO入围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368139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"/>
          <p:cNvSpPr txBox="1"/>
          <p:nvPr/>
        </p:nvSpPr>
        <p:spPr>
          <a:xfrm>
            <a:off x="3605883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3605883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师从剑桥统计学教授Po-Ling Loh（国际数理统计学会会士，2025年Ethel Newbold奖得主）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剑桥研究中心AI最年轻本科研究员（2026）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Street、D. E. Shaw量化实习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2" name="Google Shape;92;p5"/>
          <p:cNvCxnSpPr/>
          <p:nvPr/>
        </p:nvCxnSpPr>
        <p:spPr>
          <a:xfrm>
            <a:off x="3605883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" name="Google Shape;93;p5"/>
          <p:cNvSpPr txBox="1"/>
          <p:nvPr/>
        </p:nvSpPr>
        <p:spPr>
          <a:xfrm>
            <a:off x="3605883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本科(奖学金); 深国交</a:t>
            </a: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187463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425207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6425207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千禧年（全球第一对冲基金）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另类数据团队史上第一位应届招聘</a:t>
            </a:r>
            <a:endParaRPr sz="1100" b="0" i="0" u="none" strike="noStrike" cap="none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425207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8" name="Google Shape;98;p5"/>
          <p:cNvSpPr txBox="1"/>
          <p:nvPr/>
        </p:nvSpPr>
        <p:spPr>
          <a:xfrm>
            <a:off x="6425207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杜克数学与统计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上海包玉刚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9006786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9244530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James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CPO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9244530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阿姆斯特丹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富达股票研究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02" name="Google Shape;102;p5"/>
          <p:cNvCxnSpPr/>
          <p:nvPr/>
        </p:nvCxnSpPr>
        <p:spPr>
          <a:xfrm>
            <a:off x="9244530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3" name="Google Shape;103;p5"/>
          <p:cNvSpPr txBox="1"/>
          <p:nvPr/>
        </p:nvSpPr>
        <p:spPr>
          <a:xfrm>
            <a:off x="9244530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548815" y="5701831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AI、Mercor、AfterQuery的创始人，都在20岁上下</a:t>
            </a: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起步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他们的首轮投资人回报：17,000倍; 40倍; 1,800倍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endParaRPr sz="200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为什么是现在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altLang="zh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</a:t>
            </a:r>
            <a:r>
              <a:rPr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个月内</a:t>
            </a:r>
            <a:r>
              <a:rPr lang="en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收入涨</a:t>
            </a:r>
            <a:r>
              <a:rPr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27倍、估值涨10倍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：</a:t>
            </a:r>
            <a:r>
              <a:rPr lang="zh-CN" altLang="en-US" sz="28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赛道</a:t>
            </a:r>
            <a:r>
              <a:rPr sz="2800" b="0" dirty="0" err="1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增长</a:t>
            </a:r>
            <a:r>
              <a:rPr lang="en-CN" sz="2800" b="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却</a:t>
            </a:r>
            <a:r>
              <a:rPr sz="2800" b="0" dirty="0" err="1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才刚刚开始</a:t>
            </a:r>
            <a:endParaRPr sz="2800" b="0" dirty="0">
              <a:solidFill>
                <a:schemeClr val="accent2">
                  <a:lumMod val="75000"/>
                </a:schemeClr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548640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8640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收入增长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48640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数据公司</a:t>
            </a: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Mercor年化毛营收，16个月从7,500万到20亿美元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05413" y="3970782"/>
            <a:ext cx="383225" cy="3429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1093" y="3751326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$75M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1093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02186" y="3776472"/>
            <a:ext cx="383225" cy="2286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127866" y="35570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$500M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27866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098959" y="3657600"/>
            <a:ext cx="383225" cy="347472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1824639" y="3438144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$760M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24639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95732" y="3547872"/>
            <a:ext cx="383225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2521412" y="33284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$1B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21412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492505" y="3090672"/>
            <a:ext cx="383225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218185" y="28712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18185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2026.6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8640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48640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48640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45919" y="4554275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AI年化收入一年增长，达3.75亿美元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48640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45919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AfterQuery年化收入突破1亿美元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352544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352544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融资速度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352544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352544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数据公司</a:t>
            </a: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Mercor估值，18个月从20亿到200亿美元（洽谈中）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681728" y="3913632"/>
            <a:ext cx="502920" cy="9144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407408" y="3694176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07408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843016" y="3547872"/>
            <a:ext cx="502920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568696" y="33284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$10B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568696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004304" y="3090672"/>
            <a:ext cx="50292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729984" y="28712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$20B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729984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2026.7 洽谈中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352544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352544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52544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49824" y="4635822"/>
            <a:ext cx="2386584" cy="3123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CN"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同赛道</a:t>
            </a: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AfterQuery估值从3亿美元到32亿美元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352544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352544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449824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156448" y="1471803"/>
            <a:ext cx="3483864" cy="1905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8156448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10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需求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156448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156448" y="2395728"/>
            <a:ext cx="3392424" cy="1644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AI智能体市场，</a:t>
            </a:r>
            <a:r>
              <a:rPr lang="en-US" altLang="zh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</a:t>
            </a: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年从79亿到约1,110亿美元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48640" y="6100410"/>
            <a:ext cx="11091672" cy="6264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Mercor：TechCrunch、Sacra、Dealroom（年化毛营收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）、彭博（2026年7月，估值洽谈）；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AfterQuery：Business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Wire（2026年4月）、福布斯（2026年9月）；Snorkel AI：公司公告（2026年9月）；Prime Intellect：公司公告（2026年7月）；Scale AI：路透社（2025年6月）、Scale AI博客（2026年2月）；UniPat：彭博（2026年9月）；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AI智能体：Precedence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Research，2025年79亿美元、年复合增长45.8%；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合同金额与文本存量：Epoch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AI。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A0AD78-A40E-5E2E-7EAB-0162F6C92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034053"/>
            <a:ext cx="3483864" cy="961874"/>
          </a:xfrm>
          <a:prstGeom prst="rect">
            <a:avLst/>
          </a:prstGeom>
        </p:spPr>
      </p:pic>
      <p:sp>
        <p:nvSpPr>
          <p:cNvPr id="209" name="Rectangle 208"/>
          <p:cNvSpPr/>
          <p:nvPr/>
        </p:nvSpPr>
        <p:spPr>
          <a:xfrm>
            <a:off x="8156448" y="3991165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156448" y="4548949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8156448" y="4553712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253728" y="4553712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AI新数据训练项目已涉及强化学习环境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156448" y="5024437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8156448" y="5029200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53728" y="5029200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问题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6" name="Google Shape;136;p7"/>
          <p:cNvSpPr txBox="1"/>
          <p:nvPr/>
        </p:nvSpPr>
        <p:spPr>
          <a:xfrm>
            <a:off x="548792" y="899123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111110"/>
              </a:buClr>
              <a:buSzPts val="2800"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当</a:t>
            </a:r>
            <a:r>
              <a:rPr lang="en-US" altLang="zh-CN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会做题后：谁拥有最好的</a:t>
            </a:r>
            <a:r>
              <a:rPr lang="zh-CN" altLang="en-US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，谁才能拥有每个领域最好的</a:t>
            </a:r>
            <a:r>
              <a:rPr lang="en-US" altLang="zh-CN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309360" y="1624510"/>
            <a:ext cx="5333695" cy="3154680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7"/>
          <p:cNvSpPr txBox="1"/>
          <p:nvPr/>
        </p:nvSpPr>
        <p:spPr>
          <a:xfrm>
            <a:off x="141732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考试过关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658368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实战失手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1" name="Google Shape;141;p7"/>
          <p:cNvCxnSpPr>
            <a:cxnSpLocks/>
          </p:cNvCxnSpPr>
          <p:nvPr/>
        </p:nvCxnSpPr>
        <p:spPr>
          <a:xfrm>
            <a:off x="548640" y="2081710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2" name="Google Shape;142;p7"/>
          <p:cNvCxnSpPr>
            <a:cxnSpLocks/>
          </p:cNvCxnSpPr>
          <p:nvPr/>
        </p:nvCxnSpPr>
        <p:spPr>
          <a:xfrm>
            <a:off x="6309360" y="2081710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3" name="Google Shape;143;p7"/>
          <p:cNvSpPr txBox="1"/>
          <p:nvPr/>
        </p:nvSpPr>
        <p:spPr>
          <a:xfrm>
            <a:off x="548640" y="226459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1417320" y="2081710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策略看起来很专业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5" name="Google Shape;145;p7"/>
          <p:cNvCxnSpPr>
            <a:cxnSpLocks/>
          </p:cNvCxnSpPr>
          <p:nvPr/>
        </p:nvCxnSpPr>
        <p:spPr>
          <a:xfrm>
            <a:off x="5669280" y="2529766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46" name="Google Shape;146;p7"/>
          <p:cNvSpPr txBox="1"/>
          <p:nvPr/>
        </p:nvSpPr>
        <p:spPr>
          <a:xfrm>
            <a:off x="6583680" y="2081710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真实交易日一上场就亏钱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7" name="Google Shape;147;p7"/>
          <p:cNvCxnSpPr>
            <a:cxnSpLocks/>
          </p:cNvCxnSpPr>
          <p:nvPr/>
        </p:nvCxnSpPr>
        <p:spPr>
          <a:xfrm>
            <a:off x="548640" y="2977822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8" name="Google Shape;148;p7"/>
          <p:cNvCxnSpPr>
            <a:cxnSpLocks/>
          </p:cNvCxnSpPr>
          <p:nvPr/>
        </p:nvCxnSpPr>
        <p:spPr>
          <a:xfrm>
            <a:off x="6309360" y="2977822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7"/>
          <p:cNvSpPr txBox="1"/>
          <p:nvPr/>
        </p:nvSpPr>
        <p:spPr>
          <a:xfrm>
            <a:off x="548640" y="3160702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1417320" y="2977822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做账看起来已经完成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1" name="Google Shape;151;p7"/>
          <p:cNvCxnSpPr>
            <a:cxnSpLocks/>
          </p:cNvCxnSpPr>
          <p:nvPr/>
        </p:nvCxnSpPr>
        <p:spPr>
          <a:xfrm>
            <a:off x="5669280" y="3425878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2" name="Google Shape;152;p7"/>
          <p:cNvSpPr txBox="1"/>
          <p:nvPr/>
        </p:nvSpPr>
        <p:spPr>
          <a:xfrm>
            <a:off x="6583680" y="2977822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账却对不平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3" name="Google Shape;153;p7"/>
          <p:cNvCxnSpPr>
            <a:cxnSpLocks/>
          </p:cNvCxnSpPr>
          <p:nvPr/>
        </p:nvCxnSpPr>
        <p:spPr>
          <a:xfrm>
            <a:off x="548640" y="3873934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7"/>
          <p:cNvCxnSpPr>
            <a:cxnSpLocks/>
          </p:cNvCxnSpPr>
          <p:nvPr/>
        </p:nvCxnSpPr>
        <p:spPr>
          <a:xfrm>
            <a:off x="6309360" y="3873934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7"/>
          <p:cNvSpPr txBox="1"/>
          <p:nvPr/>
        </p:nvSpPr>
        <p:spPr>
          <a:xfrm>
            <a:off x="548640" y="4056814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1417320" y="3873934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代码通过了今天的测试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7" name="Google Shape;157;p7"/>
          <p:cNvCxnSpPr>
            <a:cxnSpLocks/>
          </p:cNvCxnSpPr>
          <p:nvPr/>
        </p:nvCxnSpPr>
        <p:spPr>
          <a:xfrm>
            <a:off x="5669280" y="4321990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8" name="Google Shape;158;p7"/>
          <p:cNvSpPr txBox="1"/>
          <p:nvPr/>
        </p:nvSpPr>
        <p:spPr>
          <a:xfrm>
            <a:off x="6583680" y="3873934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真实迭代掉链子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579272" y="540254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</a:t>
            </a:r>
            <a:r>
              <a:rPr lang="zh-CN" altLang="en-US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接管经济活动，必须有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海量真实可靠有效的数据环境；</a:t>
            </a: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越独立</a:t>
            </a:r>
            <a:r>
              <a:rPr lang="zh-CN" altLang="en-US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接管</a:t>
            </a: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</a:t>
            </a:r>
            <a:r>
              <a:rPr lang="zh-CN" sz="20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判断对错的标准</a:t>
            </a: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就越重要</a:t>
            </a:r>
            <a:r>
              <a:rPr lang="zh-CN" altLang="en-US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；</a:t>
            </a:r>
            <a:endParaRPr lang="en-US" altLang="zh-CN" sz="20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altLang="en-US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有了准确标准和真实环境，我们让</a:t>
            </a:r>
            <a:r>
              <a:rPr lang="en-US" altLang="zh-CN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AI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br>
              <a:rPr lang="en-US" altLang="zh-CN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</a:b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核心洞察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548840" y="804806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的升级</a:t>
            </a:r>
            <a:endParaRPr sz="2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548840" y="1408310"/>
            <a:ext cx="110943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考满分的AI，</a:t>
            </a:r>
            <a:r>
              <a:rPr lang="zh-CN" sz="15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无法被放心交付</a:t>
            </a: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：真实工作没有</a:t>
            </a:r>
            <a:r>
              <a:rPr lang="zh-CN" sz="15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标准答案</a:t>
            </a:r>
            <a:endParaRPr sz="15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 txBox="1"/>
          <p:nvPr/>
        </p:nvSpPr>
        <p:spPr>
          <a:xfrm>
            <a:off x="786384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   互联网数据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786459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786384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  <a:r>
              <a:rPr lang="zh-CN" sz="13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学会</a:t>
            </a: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抄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78" name="Google Shape;178;p8"/>
          <p:cNvCxnSpPr/>
          <p:nvPr/>
        </p:nvCxnSpPr>
        <p:spPr>
          <a:xfrm>
            <a:off x="786384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9" name="Google Shape;179;p8"/>
          <p:cNvSpPr txBox="1"/>
          <p:nvPr/>
        </p:nvSpPr>
        <p:spPr>
          <a:xfrm>
            <a:off x="786384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3367964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3605708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   人类偏好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2" name="Google Shape;182;p8"/>
          <p:cNvSpPr txBox="1"/>
          <p:nvPr/>
        </p:nvSpPr>
        <p:spPr>
          <a:xfrm>
            <a:off x="3605721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3605696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人打分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84" name="Google Shape;184;p8"/>
          <p:cNvCxnSpPr/>
          <p:nvPr/>
        </p:nvCxnSpPr>
        <p:spPr>
          <a:xfrm>
            <a:off x="3605708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5" name="Google Shape;185;p8"/>
          <p:cNvSpPr txBox="1"/>
          <p:nvPr/>
        </p:nvSpPr>
        <p:spPr>
          <a:xfrm>
            <a:off x="3605708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6187276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 txBox="1"/>
          <p:nvPr/>
        </p:nvSpPr>
        <p:spPr>
          <a:xfrm>
            <a:off x="6425032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   答案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6425057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6425020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规则</a:t>
            </a:r>
            <a:r>
              <a:rPr lang="zh-CN" sz="130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</a:t>
            </a: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解题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0" name="Google Shape;190;p8"/>
          <p:cNvCxnSpPr/>
          <p:nvPr/>
        </p:nvCxnSpPr>
        <p:spPr>
          <a:xfrm>
            <a:off x="6425032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8"/>
          <p:cNvSpPr txBox="1"/>
          <p:nvPr/>
        </p:nvSpPr>
        <p:spPr>
          <a:xfrm>
            <a:off x="6425032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9006611" y="1810512"/>
            <a:ext cx="2636400" cy="28347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 txBox="1"/>
          <p:nvPr/>
        </p:nvSpPr>
        <p:spPr>
          <a:xfrm>
            <a:off x="9244355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   真实世界的</a:t>
            </a:r>
            <a:r>
              <a:rPr lang="zh-CN" sz="1300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反馈</a:t>
            </a:r>
            <a:endParaRPr sz="1300" b="0" i="0" u="none" strike="noStrike" cap="none">
              <a:solidFill>
                <a:srgbClr val="FFFFF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9244330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3200"/>
              <a:buFont typeface="Newsreader"/>
              <a:buNone/>
            </a:pPr>
            <a:r>
              <a:rPr lang="zh-CN" sz="320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9244355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AI真正走入现实与经济</a:t>
            </a:r>
            <a:r>
              <a:rPr lang="zh-CN" altLang="en-US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活动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6" name="Google Shape;196;p8"/>
          <p:cNvCxnSpPr/>
          <p:nvPr/>
        </p:nvCxnSpPr>
        <p:spPr>
          <a:xfrm>
            <a:off x="9244355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7" name="Google Shape;197;p8"/>
          <p:cNvSpPr txBox="1"/>
          <p:nvPr/>
        </p:nvSpPr>
        <p:spPr>
          <a:xfrm>
            <a:off x="9244355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9244355" y="4187952"/>
            <a:ext cx="1243500" cy="274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 txBox="1"/>
          <p:nvPr/>
        </p:nvSpPr>
        <p:spPr>
          <a:xfrm>
            <a:off x="9244355" y="4187952"/>
            <a:ext cx="1243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刚刚起步</a:t>
            </a:r>
            <a:endParaRPr sz="1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548657" y="5083900"/>
            <a:ext cx="114645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80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AI的下一代反馈信号扎根于现实世界</a:t>
            </a:r>
            <a:endParaRPr sz="2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我们做什么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7" name="Google Shape;207;p9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行为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都有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</a:t>
            </a:r>
            <a:r>
              <a:rPr lang="zh-CN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</a:t>
            </a:r>
            <a:r>
              <a:rPr lang="zh-CN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实现AI自我持续进化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训练环境、结果评分、专家判断合为一体：AI练习真实工作，从每次结果中学习。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548640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"/>
          <p:cNvSpPr txBox="1"/>
          <p:nvPr/>
        </p:nvSpPr>
        <p:spPr>
          <a:xfrm>
            <a:off x="822960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1" name="Google Shape;211;p9"/>
          <p:cNvSpPr txBox="1"/>
          <p:nvPr/>
        </p:nvSpPr>
        <p:spPr>
          <a:xfrm>
            <a:off x="822960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还原真实工作，供AI练习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3941978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399178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4673498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4673498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7" name="Google Shape;217;p9"/>
          <p:cNvSpPr txBox="1"/>
          <p:nvPr/>
        </p:nvSpPr>
        <p:spPr>
          <a:xfrm>
            <a:off x="4673498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8" name="Google Shape;218;p9"/>
          <p:cNvSpPr txBox="1"/>
          <p:nvPr/>
        </p:nvSpPr>
        <p:spPr>
          <a:xfrm>
            <a:off x="7792517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249717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 txBox="1"/>
          <p:nvPr/>
        </p:nvSpPr>
        <p:spPr>
          <a:xfrm>
            <a:off x="8524037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8524037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2" name="Google Shape;222;p9"/>
          <p:cNvSpPr txBox="1"/>
          <p:nvPr/>
        </p:nvSpPr>
        <p:spPr>
          <a:xfrm>
            <a:off x="8524037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真实工作背后的判断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821528" y="3017520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548640" y="3364992"/>
            <a:ext cx="11094415" cy="9144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822960" y="3364992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2011680" y="3364992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600"/>
              <a:buFont typeface="Newsreader"/>
              <a:buNone/>
            </a:pPr>
            <a:r>
              <a:rPr lang="zh-CN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一个给出真实反馈的世界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7" name="Google Shape;227;p9"/>
          <p:cNvSpPr txBox="1"/>
          <p:nvPr/>
        </p:nvSpPr>
        <p:spPr>
          <a:xfrm>
            <a:off x="7680960" y="3364992"/>
            <a:ext cx="36877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让AI从每次结果中学习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9" name="Google Shape;239;p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0" name="Rounded Rectangle 239"/>
          <p:cNvSpPr/>
          <p:nvPr/>
        </p:nvSpPr>
        <p:spPr>
          <a:xfrm>
            <a:off x="548640" y="4498848"/>
            <a:ext cx="2148840" cy="585216"/>
          </a:xfrm>
          <a:prstGeom prst="round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548640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2807208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3" name="Rounded Rectangle 242"/>
          <p:cNvSpPr/>
          <p:nvPr/>
        </p:nvSpPr>
        <p:spPr>
          <a:xfrm>
            <a:off x="3529584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3529584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cxnSp>
        <p:nvCxnSpPr>
          <p:cNvPr id="245" name="Connector 244"/>
          <p:cNvCxnSpPr/>
          <p:nvPr/>
        </p:nvCxnSpPr>
        <p:spPr>
          <a:xfrm>
            <a:off x="5788152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6" name="Rounded Rectangle 245"/>
          <p:cNvSpPr/>
          <p:nvPr/>
        </p:nvSpPr>
        <p:spPr>
          <a:xfrm>
            <a:off x="6510528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7" name="TextBox 246"/>
          <p:cNvSpPr txBox="1"/>
          <p:nvPr/>
        </p:nvSpPr>
        <p:spPr>
          <a:xfrm>
            <a:off x="6510528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AI从结果中训练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8769096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9" name="Rounded Rectangle 248"/>
          <p:cNvSpPr/>
          <p:nvPr/>
        </p:nvSpPr>
        <p:spPr>
          <a:xfrm>
            <a:off x="9491472" y="4498848"/>
            <a:ext cx="2148840" cy="585216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491472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10565892" y="5084064"/>
            <a:ext cx="0" cy="658368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2" name="Connector 251"/>
          <p:cNvCxnSpPr/>
          <p:nvPr/>
        </p:nvCxnSpPr>
        <p:spPr>
          <a:xfrm flipH="1">
            <a:off x="1623060" y="5742432"/>
            <a:ext cx="8942832" cy="0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3" name="Connector 252"/>
          <p:cNvCxnSpPr/>
          <p:nvPr/>
        </p:nvCxnSpPr>
        <p:spPr>
          <a:xfrm flipV="1">
            <a:off x="1623060" y="5148072"/>
            <a:ext cx="0" cy="594360"/>
          </a:xfrm>
          <a:prstGeom prst="line">
            <a:avLst/>
          </a:prstGeom>
          <a:ln w="19050">
            <a:solidFill>
              <a:srgbClr val="C2410C"/>
            </a:solidFill>
            <a:tailEnd type="triangle" w="lg" len="lg"/>
          </a:ln>
        </p:spPr>
      </p:cxnSp>
      <p:sp>
        <p:nvSpPr>
          <p:cNvPr id="254" name="TextBox 253"/>
          <p:cNvSpPr txBox="1"/>
          <p:nvPr/>
        </p:nvSpPr>
        <p:spPr>
          <a:xfrm>
            <a:off x="3717035" y="5568696"/>
            <a:ext cx="4754880" cy="347472"/>
          </a:xfrm>
          <a:prstGeom prst="rect">
            <a:avLst/>
          </a:prstGeom>
          <a:solidFill>
            <a:srgbClr val="FAF9F6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0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更强的模型再次行动：每一轮都从上一轮出发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旗舰产品  ·  自我进化（RSI）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6" name="Google Shape;246;p10"/>
          <p:cNvSpPr txBox="1"/>
          <p:nvPr/>
        </p:nvSpPr>
        <p:spPr>
          <a:xfrm>
            <a:off x="548640" y="621792"/>
            <a:ext cx="6035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  <a:endParaRPr sz="6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517904"/>
            <a:ext cx="6035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AI自己学会交易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8" name="Google Shape;248;p10"/>
          <p:cNvCxnSpPr/>
          <p:nvPr/>
        </p:nvCxnSpPr>
        <p:spPr>
          <a:xfrm>
            <a:off x="548640" y="2029968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9" name="Google Shape;249;p10"/>
          <p:cNvSpPr txBox="1"/>
          <p:nvPr/>
        </p:nvSpPr>
        <p:spPr>
          <a:xfrm>
            <a:off x="548640" y="2029968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上真实战场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1965960" y="2029968"/>
            <a:ext cx="51206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AI进入真实市场，和顶尖交易员同场比赛</a:t>
            </a:r>
            <a:r>
              <a:rPr lang="zh-CN" altLang="en-US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。使用</a:t>
            </a:r>
            <a:r>
              <a:rPr lang="en-US" alt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IMC</a:t>
            </a:r>
            <a:r>
              <a:rPr lang="zh-CN" altLang="en-US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r>
              <a:rPr lang="en-US" alt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Trading</a:t>
            </a:r>
            <a:r>
              <a:rPr lang="zh-CN" altLang="en-US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授权数据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1" name="Google Shape;251;p10"/>
          <p:cNvCxnSpPr/>
          <p:nvPr/>
        </p:nvCxnSpPr>
        <p:spPr>
          <a:xfrm>
            <a:off x="548640" y="2505456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" name="Google Shape;252;p10"/>
          <p:cNvSpPr txBox="1"/>
          <p:nvPr/>
        </p:nvSpPr>
        <p:spPr>
          <a:xfrm>
            <a:off x="548640" y="2505456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市场当裁判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1965960" y="2505456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每一笔交易由市场结算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4" name="Google Shape;254;p10"/>
          <p:cNvCxnSpPr/>
          <p:nvPr/>
        </p:nvCxnSpPr>
        <p:spPr>
          <a:xfrm>
            <a:off x="548640" y="2980944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5" name="Google Shape;255;p10"/>
          <p:cNvSpPr txBox="1"/>
          <p:nvPr/>
        </p:nvSpPr>
        <p:spPr>
          <a:xfrm>
            <a:off x="548640" y="2980944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从结果中进化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6" name="Google Shape;256;p10"/>
          <p:cNvSpPr txBox="1"/>
          <p:nvPr/>
        </p:nvSpPr>
        <p:spPr>
          <a:xfrm>
            <a:off x="1965960" y="2980944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AI从每天的盈亏</a:t>
            </a:r>
            <a:r>
              <a:rPr lang="zh-CN" altLang="en-US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和订单</a:t>
            </a: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中复盘，每一轮都让下一轮更强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7" name="Google Shape;257;p10"/>
          <p:cNvCxnSpPr/>
          <p:nvPr/>
        </p:nvCxnSpPr>
        <p:spPr>
          <a:xfrm>
            <a:off x="548640" y="3456432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8" name="Google Shape;258;p10"/>
          <p:cNvSpPr txBox="1"/>
          <p:nvPr/>
        </p:nvSpPr>
        <p:spPr>
          <a:xfrm>
            <a:off x="548640" y="3602736"/>
            <a:ext cx="589788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我们把开源模型Qwen3.8-27B放进Xitadel训练。在从未见过的真实市场数据上，它的交易表现提升12%，在多次独立运行中得到复现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9" name="Google Shape;259;p10"/>
          <p:cNvSpPr txBox="1"/>
          <p:nvPr/>
        </p:nvSpPr>
        <p:spPr>
          <a:xfrm>
            <a:off x="548640" y="4425696"/>
            <a:ext cx="5897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我们已经证明，AI可以在真实</a:t>
            </a:r>
            <a:r>
              <a:rPr lang="zh-CN" sz="17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金融</a:t>
            </a: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市场里自己变强</a:t>
            </a:r>
            <a:endParaRPr sz="1700" b="0" i="0" u="none" strike="noStrike" cap="none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endParaRPr sz="17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下一步：扩展到多策略、多市场</a:t>
            </a:r>
            <a:r>
              <a:rPr lang="zh-CN" sz="17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，多行业</a:t>
            </a:r>
            <a:endParaRPr sz="17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812280" y="868680"/>
            <a:ext cx="4830900" cy="434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0"/>
          <p:cNvSpPr txBox="1"/>
          <p:nvPr/>
        </p:nvSpPr>
        <p:spPr>
          <a:xfrm>
            <a:off x="7086600" y="1088136"/>
            <a:ext cx="3550615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每一轮，都从上一轮</a:t>
            </a:r>
            <a:r>
              <a:rPr lang="zh-CN" sz="1200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反馈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出发，</a:t>
            </a:r>
            <a:r>
              <a:rPr lang="zh-CN" sz="1200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自我进化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10637215" y="112471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示意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3" name="Google Shape;263;p1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7086600" y="4645152"/>
            <a:ext cx="428213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交易表现以基础模型=100计；多次独立运行均复现（受控实验，Qwen3.8-27B）。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5" name="Google Shape;265;p10"/>
          <p:cNvSpPr txBox="1"/>
          <p:nvPr/>
        </p:nvSpPr>
        <p:spPr>
          <a:xfrm>
            <a:off x="548640" y="5468112"/>
            <a:ext cx="115169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b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</a:b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我们</a:t>
            </a:r>
            <a:r>
              <a:rPr lang="zh-CN" altLang="en-US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</a:t>
            </a: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跑通了</a:t>
            </a:r>
            <a:r>
              <a:rPr lang="zh-CN" altLang="en-US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世界第一个做市交易的自我进化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8" name="Google Shape;268;p1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9" name="Google Shape;269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86600" y="1398072"/>
            <a:ext cx="4282125" cy="302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产品线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6" name="Google Shape;276;p1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我们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的方法，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也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在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机器学习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事件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预测上运转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7" name="Google Shape;277;p11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每个领域，都需要自己的训练世界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548640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9" name="Google Shape;279;p11" descr="SimReal-MLBench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24914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0" name="Google Shape;280;p11"/>
          <p:cNvCxnSpPr/>
          <p:nvPr/>
        </p:nvCxnSpPr>
        <p:spPr>
          <a:xfrm>
            <a:off x="868680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1" name="Google Shape;281;p11"/>
          <p:cNvSpPr txBox="1"/>
          <p:nvPr/>
        </p:nvSpPr>
        <p:spPr>
          <a:xfrm>
            <a:off x="868680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AI研究员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868680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让AI独立完成整个研究项目，从数据、实验</a:t>
            </a:r>
            <a:r>
              <a:rPr lang="zh-CN" sz="13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到</a:t>
            </a: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结果：60个真实任务，覆盖7类数据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3" name="Google Shape;283;p11"/>
          <p:cNvSpPr txBox="1"/>
          <p:nvPr/>
        </p:nvSpPr>
        <p:spPr>
          <a:xfrm>
            <a:off x="868680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目标：AI改进AI，进化越来越快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255868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5" name="Google Shape;285;p11" descr="Future Prediction Bench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2141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6" name="Google Shape;286;p11"/>
          <p:cNvCxnSpPr/>
          <p:nvPr/>
        </p:nvCxnSpPr>
        <p:spPr>
          <a:xfrm>
            <a:off x="6575908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7" name="Google Shape;287;p11"/>
          <p:cNvSpPr txBox="1"/>
          <p:nvPr/>
        </p:nvSpPr>
        <p:spPr>
          <a:xfrm>
            <a:off x="6575908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 Prediction 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6575908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让AI对真实世界的事件提前下判断，从体育赛事到地震活动，事件揭晓后按结果打分。</a:t>
            </a:r>
            <a:r>
              <a:rPr lang="zh-CN" sz="13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根据结果，持续进化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6575908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目标：做出经得起现实检验的判断。</a:t>
            </a:r>
            <a:r>
              <a:rPr lang="zh-CN" altLang="en-US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并根据每一个结果自我提升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548640" y="5285232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14天做出7款产品，零外部融资。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1" name="Google Shape;291;p11"/>
          <p:cNvSpPr txBox="1"/>
          <p:nvPr/>
        </p:nvSpPr>
        <p:spPr>
          <a:xfrm>
            <a:off x="4526280" y="531266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另有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5029200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 txBox="1"/>
          <p:nvPr/>
        </p:nvSpPr>
        <p:spPr>
          <a:xfrm>
            <a:off x="5157216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Month-End Close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6714668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6842684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SWE-Forward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400136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 txBox="1"/>
          <p:nvPr/>
        </p:nvSpPr>
        <p:spPr>
          <a:xfrm>
            <a:off x="8528152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MathmoBench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0085603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10213619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Puzzle Benchmark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2" name="Google Shape;302;p1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 dirty="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r>
              <a:rPr lang="zh-CN" sz="1100" b="1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altLang="en-US" sz="1100" b="1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我们的优势</a:t>
            </a:r>
            <a:endParaRPr sz="13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5" name="Google Shape;335;p12"/>
          <p:cNvSpPr txBox="1"/>
          <p:nvPr/>
        </p:nvSpPr>
        <p:spPr>
          <a:xfrm>
            <a:off x="548640" y="5943600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红队测试记录可在尽调中提供。算力估算：Mechanize，引自Epoch AI《An FAQ on RL environments》（2026年1月）。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8" name="Google Shape;338;p1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9" name="TextBox 33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0" dirty="0" err="1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AI无法作弊的</a:t>
            </a:r>
            <a:r>
              <a:rPr lang="en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高质量</a:t>
            </a:r>
            <a:r>
              <a:rPr sz="2800" b="0" dirty="0" err="1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训练环境：</a:t>
            </a:r>
            <a:r>
              <a:rPr sz="2800" b="0" dirty="0" err="1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每一分算力，都用在真正的进化上</a:t>
            </a:r>
            <a:endParaRPr sz="2800" b="0" dirty="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340" name="Rectangle 339"/>
          <p:cNvSpPr/>
          <p:nvPr/>
        </p:nvSpPr>
        <p:spPr>
          <a:xfrm>
            <a:off x="548640" y="1554480"/>
            <a:ext cx="4160520" cy="42062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41" name="TextBox 340"/>
          <p:cNvSpPr txBox="1"/>
          <p:nvPr/>
        </p:nvSpPr>
        <p:spPr>
          <a:xfrm>
            <a:off x="868680" y="1783080"/>
            <a:ext cx="35661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200" b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0 / 400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868680" y="297180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次作弊攻击成功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868680" y="3607117"/>
            <a:ext cx="3520440" cy="9525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44" name="TextBox 343"/>
          <p:cNvSpPr txBox="1"/>
          <p:nvPr/>
        </p:nvSpPr>
        <p:spPr>
          <a:xfrm>
            <a:off x="868680" y="3749039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Puzzle Benchmark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868680" y="4069080"/>
            <a:ext cx="35204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749道题，每一道上线前我们都先攻击一遍：模型能钻的空子，我们先找到、先补上。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5120640" y="1554480"/>
            <a:ext cx="65196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实验室为什么需要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5120640" y="1869757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48" name="TextBox 347"/>
          <p:cNvSpPr txBox="1"/>
          <p:nvPr/>
        </p:nvSpPr>
        <p:spPr>
          <a:xfrm>
            <a:off x="5120640" y="1874519"/>
            <a:ext cx="23317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~$2,400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7589520" y="1874519"/>
            <a:ext cx="4050792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实验室每个强化学习任务要花的算力（Mechanize估算）。任务被钻空子，这笔钱就白花了。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5120640" y="2893885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1" name="TextBox 350"/>
          <p:cNvSpPr txBox="1"/>
          <p:nvPr/>
        </p:nvSpPr>
        <p:spPr>
          <a:xfrm>
            <a:off x="5120640" y="2898648"/>
            <a:ext cx="23317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6 </a:t>
            </a:r>
            <a:r>
              <a:rPr sz="320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  <a:r>
              <a:rPr sz="32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7589520" y="2898648"/>
            <a:ext cx="4050792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Month-End Close两轮受控对比：评分漏洞从6个降到0个。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5120640" y="3918013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4" name="TextBox 353"/>
          <p:cNvSpPr txBox="1"/>
          <p:nvPr/>
        </p:nvSpPr>
        <p:spPr>
          <a:xfrm>
            <a:off x="5120640" y="3922776"/>
            <a:ext cx="23317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不靠AI打分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7589520" y="3922776"/>
            <a:ext cx="4050792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只认真实结果：盈亏、账目、代码能不能跑。没有能被糊弄的裁判。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5120640" y="4942141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7" name="TextBox 356"/>
          <p:cNvSpPr txBox="1"/>
          <p:nvPr/>
        </p:nvSpPr>
        <p:spPr>
          <a:xfrm>
            <a:off x="5120640" y="5029200"/>
            <a:ext cx="6519672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评分作弊不了，分数才可信；分数可信，AI才能真正进化；</a:t>
            </a:r>
          </a:p>
          <a:p>
            <a:pPr algn="l">
              <a:lnSpc>
                <a:spcPct val="120000"/>
              </a:lnSpc>
            </a:pPr>
            <a:r>
              <a:rPr sz="16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我们让每一次训练都算数。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商业模式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45" name="Google Shape;345;p1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训练环境与专家数据打开合作，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RSI自我进化服务带来持续收入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548640" y="4041648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收费路径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48640" y="4279392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实验室每训练一个新模型，都会回来再买一轮。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548640" y="5422392"/>
            <a:ext cx="1531620" cy="475488"/>
          </a:xfrm>
          <a:prstGeom prst="rect">
            <a:avLst/>
          </a:prstGeom>
          <a:solidFill>
            <a:srgbClr val="E2E0DA"/>
          </a:solidFill>
          <a:ln w="12700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3"/>
          <p:cNvSpPr txBox="1"/>
          <p:nvPr/>
        </p:nvSpPr>
        <p:spPr>
          <a:xfrm>
            <a:off x="676656" y="551383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免费基准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2171700" y="5148072"/>
            <a:ext cx="1531620" cy="749808"/>
          </a:xfrm>
          <a:prstGeom prst="rect">
            <a:avLst/>
          </a:prstGeom>
          <a:solidFill>
            <a:srgbClr val="D9D6CE"/>
          </a:solidFill>
          <a:ln w="12700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3"/>
          <p:cNvSpPr txBox="1"/>
          <p:nvPr/>
        </p:nvSpPr>
        <p:spPr>
          <a:xfrm>
            <a:off x="2299716" y="523951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私有评测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3794760" y="4873752"/>
            <a:ext cx="1531620" cy="1024128"/>
          </a:xfrm>
          <a:prstGeom prst="rect">
            <a:avLst/>
          </a:prstGeom>
          <a:solidFill>
            <a:srgbClr val="C4C0B7"/>
          </a:solidFill>
          <a:ln w="12700" cap="flat" cmpd="sng">
            <a:solidFill>
              <a:srgbClr val="C4C0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3"/>
          <p:cNvSpPr txBox="1"/>
          <p:nvPr/>
        </p:nvSpPr>
        <p:spPr>
          <a:xfrm>
            <a:off x="3922776" y="496519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环境授权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5417820" y="4599432"/>
            <a:ext cx="1531620" cy="1298448"/>
          </a:xfrm>
          <a:prstGeom prst="rect">
            <a:avLst/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3"/>
          <p:cNvSpPr txBox="1"/>
          <p:nvPr/>
        </p:nvSpPr>
        <p:spPr>
          <a:xfrm>
            <a:off x="5545836" y="469087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持续训练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73" name="Google Shape;373;p13"/>
          <p:cNvCxnSpPr/>
          <p:nvPr/>
        </p:nvCxnSpPr>
        <p:spPr>
          <a:xfrm>
            <a:off x="7269480" y="4041648"/>
            <a:ext cx="0" cy="1856232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4" name="Google Shape;374;p13"/>
          <p:cNvSpPr txBox="1"/>
          <p:nvPr/>
        </p:nvSpPr>
        <p:spPr>
          <a:xfrm>
            <a:off x="7589520" y="4114800"/>
            <a:ext cx="4023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六到七位数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 / 每份实验室合同 / 每季度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独家4–5倍（行业参考，Epoch AI）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9" name="TextBox 378"/>
          <p:cNvSpPr txBox="1"/>
          <p:nvPr/>
        </p:nvSpPr>
        <p:spPr>
          <a:xfrm>
            <a:off x="548640" y="146304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3703320" y="146304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卖点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8275320" y="1463040"/>
            <a:ext cx="33649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收费方式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548640" y="175088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3" name="TextBox 382"/>
          <p:cNvSpPr txBox="1"/>
          <p:nvPr/>
        </p:nvSpPr>
        <p:spPr>
          <a:xfrm>
            <a:off x="548640" y="18013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48640" y="205740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Xitadel、MLBench等7款，含企业定制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3703320" y="175564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按真实结果评分，AI无法作弊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8275320" y="175564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环境授权；独家授权价格4–5倍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548640" y="229952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8" name="TextBox 387"/>
          <p:cNvSpPr txBox="1"/>
          <p:nvPr/>
        </p:nvSpPr>
        <p:spPr>
          <a:xfrm>
            <a:off x="548640" y="235000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548640" y="260604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来自7,000+候补专家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3703320" y="230428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真实工作里的示范与判断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8275320" y="230428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按交付量收费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548640" y="284816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3" name="TextBox 392"/>
          <p:cNvSpPr txBox="1"/>
          <p:nvPr/>
        </p:nvSpPr>
        <p:spPr>
          <a:xfrm>
            <a:off x="548640" y="289864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评测与攻防测试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548640" y="315468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私有评测、公开基准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3703320" y="285292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上线前先攻击，找出评分漏洞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8275320" y="285292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按项目收费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48640" y="3401568"/>
            <a:ext cx="11091672" cy="548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8" name="TextBox 397"/>
          <p:cNvSpPr txBox="1"/>
          <p:nvPr/>
        </p:nvSpPr>
        <p:spPr>
          <a:xfrm>
            <a:off x="685800" y="3447287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RSI自我进化服务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85800" y="370332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独有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3703320" y="340156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模型每次升级，都回到我们的环境再训练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8275320" y="340156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持续收费，随客户的模型升级增长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0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14" descr="star 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r>
              <a:rPr lang="zh-CN" sz="1100" b="1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进展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成立两周，合作方已在排队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87" name="Google Shape;387;p14"/>
          <p:cNvCxnSpPr/>
          <p:nvPr/>
        </p:nvCxnSpPr>
        <p:spPr>
          <a:xfrm>
            <a:off x="548640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8" name="Google Shape;388;p14"/>
          <p:cNvSpPr txBox="1"/>
          <p:nvPr/>
        </p:nvSpPr>
        <p:spPr>
          <a:xfrm>
            <a:off x="548640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548640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家前沿AI实验室正在洽谈，目标第3个月签下首个付费客户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0" name="Google Shape;390;p14"/>
          <p:cNvCxnSpPr/>
          <p:nvPr/>
        </p:nvCxnSpPr>
        <p:spPr>
          <a:xfrm>
            <a:off x="3390824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1" name="Google Shape;391;p14"/>
          <p:cNvSpPr txBox="1"/>
          <p:nvPr/>
        </p:nvSpPr>
        <p:spPr>
          <a:xfrm>
            <a:off x="3390824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7,000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3390824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名专家在候补名单上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3" name="Google Shape;393;p14"/>
          <p:cNvCxnSpPr/>
          <p:nvPr/>
        </p:nvCxnSpPr>
        <p:spPr>
          <a:xfrm>
            <a:off x="6233008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4" name="Google Shape;394;p14"/>
          <p:cNvSpPr txBox="1"/>
          <p:nvPr/>
        </p:nvSpPr>
        <p:spPr>
          <a:xfrm>
            <a:off x="6233008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6233008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首周GitHub星标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6" name="Google Shape;396;p14"/>
          <p:cNvCxnSpPr/>
          <p:nvPr/>
        </p:nvCxnSpPr>
        <p:spPr>
          <a:xfrm>
            <a:off x="9075191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7" name="Google Shape;397;p14"/>
          <p:cNvSpPr txBox="1"/>
          <p:nvPr/>
        </p:nvSpPr>
        <p:spPr>
          <a:xfrm>
            <a:off x="9075191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9075191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位硅谷顶级天使主动接洽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9" name="Google Shape;399;p14"/>
          <p:cNvCxnSpPr/>
          <p:nvPr/>
        </p:nvCxnSpPr>
        <p:spPr>
          <a:xfrm>
            <a:off x="548640" y="3703320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0" name="Google Shape;400;p1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200"/>
              <a:buFont typeface="Newsreader"/>
              <a:buNone/>
            </a:pP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全球顶级交易公司的从业者，</a:t>
            </a:r>
            <a:r>
              <a:rPr lang="zh-CN" altLang="en-US" sz="2200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正在支持</a:t>
            </a: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我们</a:t>
            </a:r>
            <a:r>
              <a:rPr lang="zh-CN" altLang="en-US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的产品与研发</a:t>
            </a:r>
            <a:endParaRPr sz="2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988" y="4753455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7463" y="4804749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176" y="4732773"/>
            <a:ext cx="761343" cy="37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9003" y="4793845"/>
            <a:ext cx="1131456" cy="251254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14"/>
          <p:cNvSpPr txBox="1"/>
          <p:nvPr/>
        </p:nvSpPr>
        <p:spPr>
          <a:xfrm>
            <a:off x="9424172" y="4736592"/>
            <a:ext cx="2218883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700"/>
              <a:buFont typeface="Instrument Sans SemiBold"/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Polymarket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6" name="Google Shape;406;p14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标识代表支持者任职的机构，不代表这些机构的背书。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1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9" name="Google Shape;409;p1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5" name="Google Shape;415;p15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0" y="0"/>
            <a:ext cx="3136392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1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专家网络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来自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21所顶尖大学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每个训练世界的评分标准，</a:t>
            </a:r>
            <a:r>
              <a:rPr lang="zh-CN" altLang="en-US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我们都能帮你最快找到对的人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9" name="Google Shape;419;p15"/>
          <p:cNvSpPr txBox="1"/>
          <p:nvPr/>
        </p:nvSpPr>
        <p:spPr>
          <a:xfrm>
            <a:off x="548640" y="1920240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</a:t>
            </a:r>
            <a:r>
              <a:rPr lang="zh-CN" sz="6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548640" y="2834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1" name="Google Shape;421;p15"/>
          <p:cNvCxnSpPr/>
          <p:nvPr/>
        </p:nvCxnSpPr>
        <p:spPr>
          <a:xfrm>
            <a:off x="548640" y="3401568"/>
            <a:ext cx="356616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2" name="Google Shape;422;p15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548640" y="427939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所顶尖大学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4663440" y="192024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5" name="Google Shape;425;p15"/>
          <p:cNvCxnSpPr/>
          <p:nvPr/>
        </p:nvCxnSpPr>
        <p:spPr>
          <a:xfrm>
            <a:off x="4663440" y="2212848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6" name="Google Shape;426;p15"/>
          <p:cNvCxnSpPr/>
          <p:nvPr/>
        </p:nvCxnSpPr>
        <p:spPr>
          <a:xfrm>
            <a:off x="4663440" y="3291840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7" name="Google Shape;427;p15"/>
          <p:cNvCxnSpPr/>
          <p:nvPr/>
        </p:nvCxnSpPr>
        <p:spPr>
          <a:xfrm>
            <a:off x="4663440" y="4370832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8" name="Google Shape;428;p15"/>
          <p:cNvCxnSpPr/>
          <p:nvPr/>
        </p:nvCxnSpPr>
        <p:spPr>
          <a:xfrm>
            <a:off x="4663440" y="5449824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44" name="Google Shape;444;p1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16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市场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51" name="Google Shape;451;p16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AI经济有多大，训练世界就有多大：2030年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7万亿美元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72" name="Google Shape;472;p1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73" name="Rectangle 472"/>
          <p:cNvSpPr/>
          <p:nvPr/>
        </p:nvSpPr>
        <p:spPr>
          <a:xfrm>
            <a:off x="548640" y="1474978"/>
            <a:ext cx="5440680" cy="127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74" name="TextBox 473"/>
          <p:cNvSpPr txBox="1"/>
          <p:nvPr/>
        </p:nvSpPr>
        <p:spPr>
          <a:xfrm>
            <a:off x="548640" y="1554480"/>
            <a:ext cx="54406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今天：实验室已经在付费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548640" y="1810512"/>
            <a:ext cx="5440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头部AI训练数据公司收入（最新报道）</a:t>
            </a:r>
          </a:p>
        </p:txBody>
      </p:sp>
      <p:sp>
        <p:nvSpPr>
          <p:cNvPr id="476" name="TextBox 475"/>
          <p:cNvSpPr txBox="1"/>
          <p:nvPr/>
        </p:nvSpPr>
        <p:spPr>
          <a:xfrm>
            <a:off x="548640" y="2240280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477" name="TextBox 476"/>
          <p:cNvSpPr txBox="1"/>
          <p:nvPr/>
        </p:nvSpPr>
        <p:spPr>
          <a:xfrm>
            <a:off x="548640" y="2468880"/>
            <a:ext cx="150876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年化毛营收，2026年7月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2148840" y="2276856"/>
            <a:ext cx="2926080" cy="27432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79" name="TextBox 478"/>
          <p:cNvSpPr txBox="1"/>
          <p:nvPr/>
        </p:nvSpPr>
        <p:spPr>
          <a:xfrm>
            <a:off x="5148072" y="227685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480" name="TextBox 479"/>
          <p:cNvSpPr txBox="1"/>
          <p:nvPr/>
        </p:nvSpPr>
        <p:spPr>
          <a:xfrm>
            <a:off x="548640" y="2697480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481" name="TextBox 480"/>
          <p:cNvSpPr txBox="1"/>
          <p:nvPr/>
        </p:nvSpPr>
        <p:spPr>
          <a:xfrm>
            <a:off x="548640" y="2926080"/>
            <a:ext cx="150876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</a:t>
            </a:r>
          </a:p>
        </p:txBody>
      </p:sp>
      <p:sp>
        <p:nvSpPr>
          <p:cNvPr id="482" name="Rectangle 481"/>
          <p:cNvSpPr/>
          <p:nvPr/>
        </p:nvSpPr>
        <p:spPr>
          <a:xfrm>
            <a:off x="2148840" y="2734056"/>
            <a:ext cx="1755648" cy="274320"/>
          </a:xfrm>
          <a:prstGeom prst="rect">
            <a:avLst/>
          </a:prstGeom>
          <a:solidFill>
            <a:srgbClr val="D9D6C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83" name="TextBox 482"/>
          <p:cNvSpPr txBox="1"/>
          <p:nvPr/>
        </p:nvSpPr>
        <p:spPr>
          <a:xfrm>
            <a:off x="3977639" y="273405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484" name="TextBox 483"/>
          <p:cNvSpPr txBox="1"/>
          <p:nvPr/>
        </p:nvSpPr>
        <p:spPr>
          <a:xfrm>
            <a:off x="548640" y="3154680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548640" y="3383280"/>
            <a:ext cx="150876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年化收入，2026年9月</a:t>
            </a:r>
          </a:p>
        </p:txBody>
      </p:sp>
      <p:sp>
        <p:nvSpPr>
          <p:cNvPr id="486" name="Rectangle 485"/>
          <p:cNvSpPr/>
          <p:nvPr/>
        </p:nvSpPr>
        <p:spPr>
          <a:xfrm>
            <a:off x="2148840" y="3191256"/>
            <a:ext cx="548640" cy="274320"/>
          </a:xfrm>
          <a:prstGeom prst="rect">
            <a:avLst/>
          </a:prstGeom>
          <a:solidFill>
            <a:srgbClr val="D9D6C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87" name="TextBox 486"/>
          <p:cNvSpPr txBox="1"/>
          <p:nvPr/>
        </p:nvSpPr>
        <p:spPr>
          <a:xfrm>
            <a:off x="2770632" y="319125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$0.375B</a:t>
            </a:r>
          </a:p>
        </p:txBody>
      </p:sp>
      <p:sp>
        <p:nvSpPr>
          <p:cNvPr id="488" name="TextBox 487"/>
          <p:cNvSpPr txBox="1"/>
          <p:nvPr/>
        </p:nvSpPr>
        <p:spPr>
          <a:xfrm>
            <a:off x="548640" y="3611880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</a:p>
        </p:txBody>
      </p:sp>
      <p:sp>
        <p:nvSpPr>
          <p:cNvPr id="489" name="TextBox 488"/>
          <p:cNvSpPr txBox="1"/>
          <p:nvPr/>
        </p:nvSpPr>
        <p:spPr>
          <a:xfrm>
            <a:off x="548640" y="3840480"/>
            <a:ext cx="150876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年化收入，2026年4月</a:t>
            </a:r>
          </a:p>
        </p:txBody>
      </p:sp>
      <p:sp>
        <p:nvSpPr>
          <p:cNvPr id="490" name="Rectangle 489"/>
          <p:cNvSpPr/>
          <p:nvPr/>
        </p:nvSpPr>
        <p:spPr>
          <a:xfrm>
            <a:off x="2148840" y="3648456"/>
            <a:ext cx="146304" cy="274320"/>
          </a:xfrm>
          <a:prstGeom prst="rect">
            <a:avLst/>
          </a:prstGeom>
          <a:solidFill>
            <a:srgbClr val="D9D6C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91" name="TextBox 490"/>
          <p:cNvSpPr txBox="1"/>
          <p:nvPr/>
        </p:nvSpPr>
        <p:spPr>
          <a:xfrm>
            <a:off x="2368296" y="364845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$0.1B+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548640" y="4114800"/>
            <a:ext cx="5440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Mercor、AfterQuery、Snorkel、UniPat各做闭环中的一环，估值都已达数十亿美元。</a:t>
            </a:r>
          </a:p>
        </p:txBody>
      </p:sp>
      <p:sp>
        <p:nvSpPr>
          <p:cNvPr id="493" name="Rectangle 492"/>
          <p:cNvSpPr/>
          <p:nvPr/>
        </p:nvSpPr>
        <p:spPr>
          <a:xfrm>
            <a:off x="6355080" y="1471803"/>
            <a:ext cx="5285232" cy="1905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94" name="TextBox 493"/>
          <p:cNvSpPr txBox="1"/>
          <p:nvPr/>
        </p:nvSpPr>
        <p:spPr>
          <a:xfrm>
            <a:off x="6355080" y="1554480"/>
            <a:ext cx="52852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终局：2030年全球AI经济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6355080" y="1810512"/>
            <a:ext cx="52852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约7万亿美元/年：由麦肯锡的美国数字推到全球</a:t>
            </a:r>
          </a:p>
        </p:txBody>
      </p:sp>
      <p:sp>
        <p:nvSpPr>
          <p:cNvPr id="522" name="Rectangle 521"/>
          <p:cNvSpPr/>
          <p:nvPr/>
        </p:nvSpPr>
        <p:spPr>
          <a:xfrm>
            <a:off x="548640" y="4617720"/>
            <a:ext cx="3483864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523" name="TextBox 522"/>
          <p:cNvSpPr txBox="1"/>
          <p:nvPr/>
        </p:nvSpPr>
        <p:spPr>
          <a:xfrm>
            <a:off x="777240" y="4727448"/>
            <a:ext cx="302666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切入点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777240" y="4946904"/>
            <a:ext cx="30266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前沿AI实验室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777240" y="5257800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今天约85亿美元/年，50余家公司合计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4032504" y="491490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27" name="Rectangle 526"/>
          <p:cNvSpPr/>
          <p:nvPr/>
        </p:nvSpPr>
        <p:spPr>
          <a:xfrm>
            <a:off x="4352544" y="4617720"/>
            <a:ext cx="3483864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528" name="TextBox 527"/>
          <p:cNvSpPr txBox="1"/>
          <p:nvPr/>
        </p:nvSpPr>
        <p:spPr>
          <a:xfrm>
            <a:off x="4581144" y="4727448"/>
            <a:ext cx="302666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扩展</a:t>
            </a:r>
          </a:p>
        </p:txBody>
      </p:sp>
      <p:sp>
        <p:nvSpPr>
          <p:cNvPr id="529" name="TextBox 528"/>
          <p:cNvSpPr txBox="1"/>
          <p:nvPr/>
        </p:nvSpPr>
        <p:spPr>
          <a:xfrm>
            <a:off x="4581144" y="4946904"/>
            <a:ext cx="30266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训练层跟着算力走</a:t>
            </a:r>
          </a:p>
        </p:txBody>
      </p:sp>
      <p:sp>
        <p:nvSpPr>
          <p:cNvPr id="530" name="TextBox 529"/>
          <p:cNvSpPr txBox="1"/>
          <p:nvPr/>
        </p:nvSpPr>
        <p:spPr>
          <a:xfrm>
            <a:off x="4581144" y="5257800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2030年1,500–4,000亿美元/年：AI基础设施3–4万亿美元 × 训练层5–10%</a:t>
            </a:r>
          </a:p>
        </p:txBody>
      </p:sp>
      <p:sp>
        <p:nvSpPr>
          <p:cNvPr id="531" name="TextBox 530"/>
          <p:cNvSpPr txBox="1"/>
          <p:nvPr/>
        </p:nvSpPr>
        <p:spPr>
          <a:xfrm>
            <a:off x="7836408" y="491490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32" name="Rectangle 531"/>
          <p:cNvSpPr/>
          <p:nvPr/>
        </p:nvSpPr>
        <p:spPr>
          <a:xfrm>
            <a:off x="8156448" y="4617720"/>
            <a:ext cx="3483864" cy="96012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33" name="TextBox 532"/>
          <p:cNvSpPr txBox="1"/>
          <p:nvPr/>
        </p:nvSpPr>
        <p:spPr>
          <a:xfrm>
            <a:off x="8385048" y="4727448"/>
            <a:ext cx="302666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目标市场</a:t>
            </a:r>
          </a:p>
        </p:txBody>
      </p:sp>
      <p:sp>
        <p:nvSpPr>
          <p:cNvPr id="534" name="TextBox 533"/>
          <p:cNvSpPr txBox="1"/>
          <p:nvPr/>
        </p:nvSpPr>
        <p:spPr>
          <a:xfrm>
            <a:off x="8385048" y="4946904"/>
            <a:ext cx="30266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自主经济</a:t>
            </a:r>
          </a:p>
        </p:txBody>
      </p:sp>
      <p:sp>
        <p:nvSpPr>
          <p:cNvPr id="535" name="TextBox 534"/>
          <p:cNvSpPr txBox="1"/>
          <p:nvPr/>
        </p:nvSpPr>
        <p:spPr>
          <a:xfrm>
            <a:off x="8385048" y="5257800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2030年约7万亿美元/年：每一份交给AI的工作，都要先在训练世界里练过</a:t>
            </a:r>
          </a:p>
        </p:txBody>
      </p:sp>
      <p:sp>
        <p:nvSpPr>
          <p:cNvPr id="536" name="TextBox 535"/>
          <p:cNvSpPr txBox="1"/>
          <p:nvPr/>
        </p:nvSpPr>
        <p:spPr>
          <a:xfrm>
            <a:off x="548640" y="5687568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实验室训练是切入点，</a:t>
            </a:r>
            <a:r>
              <a:rPr sz="1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自主经济</a:t>
            </a:r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是我们的目标市场：2030年约7万亿美元。</a:t>
            </a:r>
          </a:p>
        </p:txBody>
      </p:sp>
      <p:sp>
        <p:nvSpPr>
          <p:cNvPr id="3001" name="SimReal 3001"/>
          <p:cNvSpPr txBox="1"/>
          <p:nvPr/>
        </p:nvSpPr>
        <p:spPr>
          <a:xfrm>
            <a:off x="6355080" y="2212848"/>
            <a:ext cx="3886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美国：2030年智能体与机器人每年释放的经济价值（麦肯锡）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10241280" y="2212848"/>
            <a:ext cx="139903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2.9万亿美元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6355080" y="2578608"/>
            <a:ext cx="52852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6355080" y="2578608"/>
            <a:ext cx="3886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美国占全球GDP（IMF，2026年：32.4 / 126.3万亿美元）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10241280" y="2578608"/>
            <a:ext cx="139903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25.6%</a:t>
            </a:r>
          </a:p>
        </p:txBody>
      </p:sp>
      <p:sp>
        <p:nvSpPr>
          <p:cNvPr id="3006" name="SimReal 3006"/>
          <p:cNvSpPr/>
          <p:nvPr/>
        </p:nvSpPr>
        <p:spPr>
          <a:xfrm>
            <a:off x="6355080" y="2944368"/>
            <a:ext cx="52852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7" name="SimReal 3007"/>
          <p:cNvSpPr txBox="1"/>
          <p:nvPr/>
        </p:nvSpPr>
        <p:spPr>
          <a:xfrm>
            <a:off x="6355080" y="2944368"/>
            <a:ext cx="3886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按美国同等渗透率外推到全球：2.9 ÷ 25.6%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10241280" y="2944368"/>
            <a:ext cx="139903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11.3万亿美元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6355080" y="3310128"/>
            <a:ext cx="52852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6355080" y="3310128"/>
            <a:ext cx="3886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美国以外只按美国一半的渗透率：(11.3 − 2.9) × 50%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10241280" y="3310128"/>
            <a:ext cx="139903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4.2万亿美元</a:t>
            </a:r>
          </a:p>
        </p:txBody>
      </p:sp>
      <p:sp>
        <p:nvSpPr>
          <p:cNvPr id="3012" name="SimReal 3012"/>
          <p:cNvSpPr/>
          <p:nvPr/>
        </p:nvSpPr>
        <p:spPr>
          <a:xfrm>
            <a:off x="6355080" y="3675888"/>
            <a:ext cx="52852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3" name="SimReal 3013"/>
          <p:cNvSpPr/>
          <p:nvPr/>
        </p:nvSpPr>
        <p:spPr>
          <a:xfrm>
            <a:off x="6355080" y="3749040"/>
            <a:ext cx="5285232" cy="40233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6537960" y="3749040"/>
            <a:ext cx="35661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2030年全球AI经济：2.9 + 4.2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10104120" y="3749040"/>
            <a:ext cx="135331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约7.1万亿美元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6355080" y="4224528"/>
            <a:ext cx="5285232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7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us》（2025年11月）；IMF《世界经济展望》（2026年4月）；美国以外按一半渗透率为推算假设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竞争格局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0" name="Google Shape;480;p17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其中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一环，我们提供让AI持续进步的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</a:t>
            </a:r>
            <a:r>
              <a:rPr lang="en-US" altLang="zh-CN" sz="2800" b="0" i="0" u="none" strike="noStrike" cap="none" dirty="0" err="1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r>
              <a:rPr lang="zh-CN" altLang="en-US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生态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闭环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548640" y="1600200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7"/>
          <p:cNvSpPr txBox="1"/>
          <p:nvPr/>
        </p:nvSpPr>
        <p:spPr>
          <a:xfrm>
            <a:off x="786384" y="1746504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3" name="Google Shape;483;p17"/>
          <p:cNvSpPr txBox="1"/>
          <p:nvPr/>
        </p:nvSpPr>
        <p:spPr>
          <a:xfrm>
            <a:off x="786384" y="2130552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Mercor、Surge、AfterQuery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4" name="Google Shape;484;p17"/>
          <p:cNvSpPr txBox="1"/>
          <p:nvPr/>
        </p:nvSpPr>
        <p:spPr>
          <a:xfrm>
            <a:off x="3200400" y="1600200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提供专家示范与判断，按人工意见打分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548640" y="2642616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7"/>
          <p:cNvSpPr txBox="1"/>
          <p:nvPr/>
        </p:nvSpPr>
        <p:spPr>
          <a:xfrm>
            <a:off x="786384" y="29718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8" name="Google Shape;488;p17"/>
          <p:cNvSpPr txBox="1"/>
          <p:nvPr/>
        </p:nvSpPr>
        <p:spPr>
          <a:xfrm>
            <a:off x="3200400" y="2642616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测出模型今天的水平，分数就是产品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548640" y="3685032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7"/>
          <p:cNvSpPr txBox="1"/>
          <p:nvPr/>
        </p:nvSpPr>
        <p:spPr>
          <a:xfrm>
            <a:off x="777240" y="4014215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2" name="Google Shape;492;p17"/>
          <p:cNvSpPr txBox="1"/>
          <p:nvPr/>
        </p:nvSpPr>
        <p:spPr>
          <a:xfrm>
            <a:off x="3200400" y="3685032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3" name="Google Shape;493;p17"/>
          <p:cNvSpPr/>
          <p:nvPr/>
        </p:nvSpPr>
        <p:spPr>
          <a:xfrm>
            <a:off x="548640" y="4727448"/>
            <a:ext cx="6400800" cy="932688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7"/>
          <p:cNvSpPr txBox="1"/>
          <p:nvPr/>
        </p:nvSpPr>
        <p:spPr>
          <a:xfrm>
            <a:off x="786384" y="487375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240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240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786384" y="5312663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数据、训练环境、结果评分、自我进化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6" name="Google Shape;496;p17"/>
          <p:cNvSpPr txBox="1"/>
          <p:nvPr/>
        </p:nvSpPr>
        <p:spPr>
          <a:xfrm>
            <a:off x="3200400" y="4727448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不只测出AI</a:t>
            </a:r>
            <a:r>
              <a:rPr lang="zh-CN" altLang="en-US" sz="13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分数</a:t>
            </a: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，还让它</a:t>
            </a:r>
            <a:r>
              <a:rPr lang="zh-CN" altLang="en-US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可以</a:t>
            </a: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越练越强</a:t>
            </a:r>
            <a:br>
              <a:rPr lang="en-US" alt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每一次打分，都变成下一轮训练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7" name="Google Shape;497;p17"/>
          <p:cNvSpPr txBox="1"/>
          <p:nvPr/>
        </p:nvSpPr>
        <p:spPr>
          <a:xfrm>
            <a:off x="7315200" y="1600200"/>
            <a:ext cx="432785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为什么我们能赢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98" name="Google Shape;498;p17"/>
          <p:cNvCxnSpPr/>
          <p:nvPr/>
        </p:nvCxnSpPr>
        <p:spPr>
          <a:xfrm>
            <a:off x="7315200" y="1920240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9" name="Google Shape;499;p17"/>
          <p:cNvSpPr txBox="1"/>
          <p:nvPr/>
        </p:nvSpPr>
        <p:spPr>
          <a:xfrm>
            <a:off x="7315200" y="2011680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315200" y="2377440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训练环境、评分体系和每次运行产生的结果数据，都是我们自己的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1" name="Google Shape;501;p17"/>
          <p:cNvCxnSpPr/>
          <p:nvPr/>
        </p:nvCxnSpPr>
        <p:spPr>
          <a:xfrm>
            <a:off x="7315200" y="2852928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2" name="Google Shape;502;p17"/>
          <p:cNvSpPr txBox="1"/>
          <p:nvPr/>
        </p:nvSpPr>
        <p:spPr>
          <a:xfrm>
            <a:off x="7315200" y="2944368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3" name="Google Shape;503;p17"/>
          <p:cNvSpPr txBox="1"/>
          <p:nvPr/>
        </p:nvSpPr>
        <p:spPr>
          <a:xfrm>
            <a:off x="7315200" y="3310128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模型每次升级，都要在同一套环境里对比和再训练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4" name="Google Shape;504;p17"/>
          <p:cNvCxnSpPr/>
          <p:nvPr/>
        </p:nvCxnSpPr>
        <p:spPr>
          <a:xfrm>
            <a:off x="7315200" y="3785616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5" name="Google Shape;505;p17"/>
          <p:cNvSpPr txBox="1"/>
          <p:nvPr/>
        </p:nvSpPr>
        <p:spPr>
          <a:xfrm>
            <a:off x="7315200" y="3877056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6" name="Google Shape;506;p17"/>
          <p:cNvSpPr txBox="1"/>
          <p:nvPr/>
        </p:nvSpPr>
        <p:spPr>
          <a:xfrm>
            <a:off x="7315200" y="4242816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1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14天做出7款产品。AI变化越快，我们越有利</a:t>
            </a:r>
            <a:endParaRPr sz="1100" b="1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7" name="Google Shape;507;p17"/>
          <p:cNvCxnSpPr/>
          <p:nvPr/>
        </p:nvCxnSpPr>
        <p:spPr>
          <a:xfrm>
            <a:off x="7315200" y="4718304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8" name="Google Shape;508;p17"/>
          <p:cNvSpPr txBox="1"/>
          <p:nvPr/>
        </p:nvSpPr>
        <p:spPr>
          <a:xfrm>
            <a:off x="7315200" y="4809744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9" name="Google Shape;509;p17"/>
          <p:cNvSpPr txBox="1"/>
          <p:nvPr/>
        </p:nvSpPr>
        <p:spPr>
          <a:xfrm>
            <a:off x="7315200" y="5175504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每家实验室都能放心采购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0" name="Google Shape;510;p17"/>
          <p:cNvCxnSpPr/>
          <p:nvPr/>
        </p:nvCxnSpPr>
        <p:spPr>
          <a:xfrm>
            <a:off x="7315200" y="5650992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13" name="Google Shape;513;p1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sz="1100" b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对标公司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0" name="Google Shape;520;p18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这个赛道的突围者，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起步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年轻、跑得很快。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而</a:t>
            </a:r>
            <a:r>
              <a:rPr lang="zh-CN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的加速度最快</a:t>
            </a:r>
            <a:endParaRPr sz="28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1" name="Google Shape;521;p18"/>
          <p:cNvSpPr/>
          <p:nvPr/>
        </p:nvSpPr>
        <p:spPr>
          <a:xfrm>
            <a:off x="548640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8"/>
          <p:cNvSpPr txBox="1"/>
          <p:nvPr/>
        </p:nvSpPr>
        <p:spPr>
          <a:xfrm>
            <a:off x="786384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3" name="Google Shape;523;p18"/>
          <p:cNvSpPr txBox="1"/>
          <p:nvPr/>
        </p:nvSpPr>
        <p:spPr>
          <a:xfrm>
            <a:off x="786384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4" name="Google Shape;524;p18"/>
          <p:cNvSpPr txBox="1"/>
          <p:nvPr/>
        </p:nvSpPr>
        <p:spPr>
          <a:xfrm>
            <a:off x="786384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5" name="Google Shape;525;p18"/>
          <p:cNvCxnSpPr/>
          <p:nvPr/>
        </p:nvCxnSpPr>
        <p:spPr>
          <a:xfrm>
            <a:off x="786384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6" name="Google Shape;526;p18"/>
          <p:cNvSpPr txBox="1"/>
          <p:nvPr/>
        </p:nvSpPr>
        <p:spPr>
          <a:xfrm>
            <a:off x="786384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7" name="Google Shape;527;p18"/>
          <p:cNvCxnSpPr/>
          <p:nvPr/>
        </p:nvCxnSpPr>
        <p:spPr>
          <a:xfrm>
            <a:off x="786384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8" name="Google Shape;528;p18"/>
          <p:cNvSpPr txBox="1"/>
          <p:nvPr/>
        </p:nvSpPr>
        <p:spPr>
          <a:xfrm>
            <a:off x="786384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9" name="Google Shape;529;p18"/>
          <p:cNvCxnSpPr/>
          <p:nvPr/>
        </p:nvCxnSpPr>
        <p:spPr>
          <a:xfrm>
            <a:off x="786384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0" name="Google Shape;530;p18"/>
          <p:cNvSpPr txBox="1"/>
          <p:nvPr/>
        </p:nvSpPr>
        <p:spPr>
          <a:xfrm>
            <a:off x="786384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3367964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8"/>
          <p:cNvSpPr txBox="1"/>
          <p:nvPr/>
        </p:nvSpPr>
        <p:spPr>
          <a:xfrm>
            <a:off x="3605708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3" name="Google Shape;533;p18"/>
          <p:cNvSpPr txBox="1"/>
          <p:nvPr/>
        </p:nvSpPr>
        <p:spPr>
          <a:xfrm>
            <a:off x="3605708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4" name="Google Shape;534;p18"/>
          <p:cNvSpPr txBox="1"/>
          <p:nvPr/>
        </p:nvSpPr>
        <p:spPr>
          <a:xfrm>
            <a:off x="3605708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5" name="Google Shape;535;p18"/>
          <p:cNvCxnSpPr/>
          <p:nvPr/>
        </p:nvCxnSpPr>
        <p:spPr>
          <a:xfrm>
            <a:off x="3605708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6" name="Google Shape;536;p18"/>
          <p:cNvSpPr txBox="1"/>
          <p:nvPr/>
        </p:nvSpPr>
        <p:spPr>
          <a:xfrm>
            <a:off x="3605708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7" name="Google Shape;537;p18"/>
          <p:cNvCxnSpPr/>
          <p:nvPr/>
        </p:nvCxnSpPr>
        <p:spPr>
          <a:xfrm>
            <a:off x="3605708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8" name="Google Shape;538;p18"/>
          <p:cNvSpPr txBox="1"/>
          <p:nvPr/>
        </p:nvSpPr>
        <p:spPr>
          <a:xfrm>
            <a:off x="3605708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22岁成为最年轻的白手起家亿万富翁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9" name="Google Shape;539;p18"/>
          <p:cNvCxnSpPr/>
          <p:nvPr/>
        </p:nvCxnSpPr>
        <p:spPr>
          <a:xfrm>
            <a:off x="3605708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0" name="Google Shape;540;p18"/>
          <p:cNvSpPr txBox="1"/>
          <p:nvPr/>
        </p:nvSpPr>
        <p:spPr>
          <a:xfrm>
            <a:off x="3605708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1" name="Google Shape;541;p18"/>
          <p:cNvSpPr/>
          <p:nvPr/>
        </p:nvSpPr>
        <p:spPr>
          <a:xfrm>
            <a:off x="6187288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8"/>
          <p:cNvSpPr txBox="1"/>
          <p:nvPr/>
        </p:nvSpPr>
        <p:spPr>
          <a:xfrm>
            <a:off x="6425032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3" name="Google Shape;543;p18"/>
          <p:cNvSpPr txBox="1"/>
          <p:nvPr/>
        </p:nvSpPr>
        <p:spPr>
          <a:xfrm>
            <a:off x="6425032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4" name="Google Shape;544;p18"/>
          <p:cNvSpPr txBox="1"/>
          <p:nvPr/>
        </p:nvSpPr>
        <p:spPr>
          <a:xfrm>
            <a:off x="6425032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据报道，加入YC 18个月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5" name="Google Shape;545;p18"/>
          <p:cNvCxnSpPr/>
          <p:nvPr/>
        </p:nvCxnSpPr>
        <p:spPr>
          <a:xfrm>
            <a:off x="6425032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6" name="Google Shape;546;p18"/>
          <p:cNvSpPr txBox="1"/>
          <p:nvPr/>
        </p:nvSpPr>
        <p:spPr>
          <a:xfrm>
            <a:off x="6425032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两位高中好友约21岁创立，当时仍在读大学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7" name="Google Shape;547;p18"/>
          <p:cNvCxnSpPr/>
          <p:nvPr/>
        </p:nvCxnSpPr>
        <p:spPr>
          <a:xfrm>
            <a:off x="6425032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8" name="Google Shape;548;p18"/>
          <p:cNvSpPr txBox="1"/>
          <p:nvPr/>
        </p:nvSpPr>
        <p:spPr>
          <a:xfrm>
            <a:off x="6425032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联合创始人曾在Citadel Securities实习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9" name="Google Shape;549;p18"/>
          <p:cNvCxnSpPr/>
          <p:nvPr/>
        </p:nvCxnSpPr>
        <p:spPr>
          <a:xfrm>
            <a:off x="6425032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0" name="Google Shape;550;p18"/>
          <p:cNvSpPr txBox="1"/>
          <p:nvPr/>
        </p:nvSpPr>
        <p:spPr>
          <a:xfrm>
            <a:off x="6425032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1" name="Google Shape;551;p18"/>
          <p:cNvSpPr/>
          <p:nvPr/>
        </p:nvSpPr>
        <p:spPr>
          <a:xfrm>
            <a:off x="9006611" y="1600200"/>
            <a:ext cx="2636444" cy="361188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8"/>
          <p:cNvSpPr txBox="1"/>
          <p:nvPr/>
        </p:nvSpPr>
        <p:spPr>
          <a:xfrm>
            <a:off x="9244355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3" name="Google Shape;553;p18"/>
          <p:cNvSpPr txBox="1"/>
          <p:nvPr/>
        </p:nvSpPr>
        <p:spPr>
          <a:xfrm>
            <a:off x="9244355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4000"/>
              <a:buFont typeface="Newsreader"/>
              <a:buNone/>
            </a:pPr>
            <a:r>
              <a:rPr lang="zh-CN" sz="4000" b="0" i="0" u="none" strike="noStrike" cap="none" dirty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  <a:endParaRPr sz="4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4" name="Google Shape;554;p18"/>
          <p:cNvSpPr txBox="1"/>
          <p:nvPr/>
        </p:nvSpPr>
        <p:spPr>
          <a:xfrm>
            <a:off x="9244355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做出7款产品</a:t>
            </a:r>
            <a:endParaRPr lang="en-US" altLang="zh-CN"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altLang="en-US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和世界第一个自我进化做市环境</a:t>
            </a:r>
            <a:endParaRPr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5" name="Google Shape;555;p18"/>
          <p:cNvCxnSpPr/>
          <p:nvPr/>
        </p:nvCxnSpPr>
        <p:spPr>
          <a:xfrm>
            <a:off x="9244355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6" name="Google Shape;556;p18"/>
          <p:cNvSpPr txBox="1"/>
          <p:nvPr/>
        </p:nvSpPr>
        <p:spPr>
          <a:xfrm>
            <a:off x="9244355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四位量化人，均21岁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7" name="Google Shape;557;p18"/>
          <p:cNvCxnSpPr/>
          <p:nvPr/>
        </p:nvCxnSpPr>
        <p:spPr>
          <a:xfrm>
            <a:off x="9244355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8" name="Google Shape;558;p18"/>
          <p:cNvSpPr txBox="1"/>
          <p:nvPr/>
        </p:nvSpPr>
        <p:spPr>
          <a:xfrm>
            <a:off x="9244355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lang="zh-CN" altLang="en-US" sz="11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最后一年</a:t>
            </a: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在读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9" name="Google Shape;559;p18"/>
          <p:cNvCxnSpPr/>
          <p:nvPr/>
        </p:nvCxnSpPr>
        <p:spPr>
          <a:xfrm>
            <a:off x="9244355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0" name="Google Shape;560;p18"/>
          <p:cNvSpPr txBox="1"/>
          <p:nvPr/>
        </p:nvSpPr>
        <p:spPr>
          <a:xfrm>
            <a:off x="9244355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量化经历：Jane Street、Citadel、D. E. Shaw、Optiver</a:t>
            </a:r>
            <a:r>
              <a:rPr lang="en-US" alt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r>
              <a:rPr lang="zh-CN" altLang="en-US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、</a:t>
            </a:r>
            <a:r>
              <a:rPr lang="en-US" alt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1" name="Google Shape;561;p18"/>
          <p:cNvSpPr txBox="1"/>
          <p:nvPr/>
        </p:nvSpPr>
        <p:spPr>
          <a:xfrm>
            <a:off x="548640" y="546811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同样的起点，同一个赛道。</a:t>
            </a:r>
            <a:r>
              <a:rPr lang="zh-CN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</a:t>
            </a:r>
            <a:r>
              <a:rPr lang="zh-CN" altLang="en-US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在这里，感受到比他们当年快得多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的加速度</a:t>
            </a: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4" name="Google Shape;564;p1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融资计划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本轮融资2,000万美元，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投后估值1.5亿美元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种子轮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38528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投后估值1.5亿美元  ·  出让约13%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291840"/>
            <a:ext cx="3017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6个月年化收入1亿美元</a:t>
            </a: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12个月年化收入3亿美元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为什么是这个价格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029200" y="1737360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融资阶段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6675120" y="1737360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对标Applied Compute种子轮：成立一个月融资2,000万美元，投后1亿美元；4个月后5亿美元，14个月后约30亿美元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35000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350008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029200" y="2350008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产品迭代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6675120" y="2350008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对标Snorkel E轮（估值35亿美元）：同样覆盖专家数据、RL训练环境和评测，我们还有自我进化服务；14天做出7款产品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9626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962656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029200" y="2962656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收入目标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6675120" y="2962656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6个月年化1亿美元，12个月3亿美元。AfterQuery从加入YC到年化1亿美元用了约13个月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57530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575304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029200" y="3575304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估值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6675120" y="3575304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投后1.5亿美元，是AfterQuery同等收入时A轮估值（3亿美元）的一半；6个月后按其A轮价约2倍，按其最新价约20倍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418795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548640" y="44439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赛道融资加速期刚刚开始</a:t>
            </a:r>
          </a:p>
        </p:txBody>
      </p:sp>
      <p:sp>
        <p:nvSpPr>
          <p:cNvPr id="3027" name="SimReal 3027"/>
          <p:cNvSpPr/>
          <p:nvPr/>
        </p:nvSpPr>
        <p:spPr>
          <a:xfrm>
            <a:off x="548640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8" name="SimReal 3028"/>
          <p:cNvSpPr txBox="1"/>
          <p:nvPr/>
        </p:nvSpPr>
        <p:spPr>
          <a:xfrm>
            <a:off x="768096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Applied Compute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768096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768096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14个月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3362706" y="4700016"/>
            <a:ext cx="264947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3582162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3582162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582162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5个月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6176772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6396228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micro1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6396228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 → 40亿美元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6396228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990838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9210294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9210294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 → 200亿美元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9210294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9个月，洽谈中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548640" y="576072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估值为投后估值。来源：Upstarts、The Information、TechCrunch、Business Wire、福布斯、彭博。AfterQuery 9月收入未公开，“约20倍”为上限。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sp>
        <p:nvSpPr>
          <p:cNvPr id="618" name="Google Shape;618;p2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9" name="Google Shape;619;p20"/>
          <p:cNvSpPr txBox="1"/>
          <p:nvPr/>
        </p:nvSpPr>
        <p:spPr>
          <a:xfrm>
            <a:off x="548640" y="3913632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三个世界已经上线：交易、AI研究、未来预测。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0" name="Google Shape;620;p20"/>
          <p:cNvSpPr txBox="1"/>
          <p:nvPr/>
        </p:nvSpPr>
        <p:spPr>
          <a:xfrm>
            <a:off x="548640" y="4315968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AI经济的数据与自我进化引擎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21" name="Google Shape;621;p20"/>
          <p:cNvCxnSpPr/>
          <p:nvPr/>
        </p:nvCxnSpPr>
        <p:spPr>
          <a:xfrm>
            <a:off x="548640" y="4956048"/>
            <a:ext cx="51206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2" name="Google Shape;622;p20"/>
          <p:cNvSpPr txBox="1"/>
          <p:nvPr/>
        </p:nvSpPr>
        <p:spPr>
          <a:xfrm>
            <a:off x="548640" y="5084064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BM Plex Mono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1" name="Google Shape;631;p2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2" name="Google Shape;632;p21"/>
          <p:cNvCxnSpPr/>
          <p:nvPr/>
        </p:nvCxnSpPr>
        <p:spPr>
          <a:xfrm>
            <a:off x="548640" y="160020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3" name="Google Shape;633;p21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4" name="Google Shape;634;p21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回放真实交易日，包含真实订单簿；每一笔交易由市场结算。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5" name="Google Shape;635;p21"/>
          <p:cNvCxnSpPr/>
          <p:nvPr/>
        </p:nvCxnSpPr>
        <p:spPr>
          <a:xfrm>
            <a:off x="548640" y="225856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6" name="Google Shape;636;p21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模型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7" name="Google Shape;637;p21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开源模型Qwen3.8-27B，对比其在Xitadel训练前后的表现。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8" name="Google Shape;638;p21"/>
          <p:cNvCxnSpPr/>
          <p:nvPr/>
        </p:nvCxnSpPr>
        <p:spPr>
          <a:xfrm>
            <a:off x="548640" y="2916936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9" name="Google Shape;639;p21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测试数据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0" name="Google Shape;640;p21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模型从未见过的真实交易日。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1" name="Google Shape;641;p21"/>
          <p:cNvCxnSpPr/>
          <p:nvPr/>
        </p:nvCxnSpPr>
        <p:spPr>
          <a:xfrm>
            <a:off x="548640" y="3575304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21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结果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3" name="Google Shape;643;p21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</a:t>
            </a:r>
            <a:r>
              <a:rPr lang="zh-CN" sz="1300" b="0" i="0" u="none" strike="noStrike" cap="none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提升12%</a:t>
            </a: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，多次独立运行均复现（受控实验）。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4" name="Google Shape;644;p21"/>
          <p:cNvCxnSpPr/>
          <p:nvPr/>
        </p:nvCxnSpPr>
        <p:spPr>
          <a:xfrm>
            <a:off x="548640" y="4233672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5" name="Google Shape;645;p21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公开基准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6" name="Google Shape;646;p21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Xitadel公开预览版：人类参考分80；前沿模型最高77.28（GPT 6），尚无模型越过人类水平线。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7" name="Google Shape;647;p21"/>
          <p:cNvCxnSpPr/>
          <p:nvPr/>
        </p:nvCxnSpPr>
        <p:spPr>
          <a:xfrm>
            <a:off x="548640" y="489204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8" name="Google Shape;648;p21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尽调材料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9" name="Google Shape;649;p21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完整运行记录、指标定义与脚本，可在尽调中提供。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50" name="Google Shape;650;p21"/>
          <p:cNvCxnSpPr/>
          <p:nvPr/>
        </p:nvCxnSpPr>
        <p:spPr>
          <a:xfrm>
            <a:off x="548640" y="555040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51" name="Google Shape;651;p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1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3" name="Google Shape;653;p21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6" name="Google Shape;656;p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7" name="Google Shape;657;p21" title="Screenshot 2026-09-25 at 7.38.04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1487" y="2645688"/>
            <a:ext cx="3735300" cy="218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4" name="Google Shape;664;p22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产品清单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graphicFrame>
        <p:nvGraphicFramePr>
          <p:cNvPr id="665" name="Google Shape;665;p22"/>
          <p:cNvGraphicFramePr/>
          <p:nvPr/>
        </p:nvGraphicFramePr>
        <p:xfrm>
          <a:off x="548640" y="15727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{EA870364-48A8-4773-986C-DF2669CC7B71}</a:tableStyleId>
              </a:tblPr>
              <a:tblGrid>
                <a:gridCol w="233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产品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领域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说明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状态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Xitadel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交易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AI在真实行情中交易，按盈亏评分；已跑通自我进化（+12%）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Xitadel-QuantBench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SimReal-MLBench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AI研究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60个研究任务、7类数据，参照OpenAI的MLE-bench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Simreal-MLBench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Future Prediction 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预测真实事件，揭晓后按结果打分；数据实时接入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Month-End Close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财务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让AI零差错完成月结；评分漏洞6 → 0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SWE-Forward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软件工程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检验AI写的代码能否挺过下一个版本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MathmoBench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数学证明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让AI证明答案，而不是猜答案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MathmoBench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Puzzle Benchmark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逻辑推理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709道无法作弊的谜题；400次作弊攻击0次成功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hard-puzzle-benchmark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8" name="Google Shape;668;p2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2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5" name="Google Shape;675;p2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6" name="Google Shape;676;p23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公司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77" name="Google Shape;677;p23"/>
          <p:cNvCxnSpPr/>
          <p:nvPr/>
        </p:nvCxnSpPr>
        <p:spPr>
          <a:xfrm>
            <a:off x="548640" y="1792224"/>
            <a:ext cx="5349240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8" name="Google Shape;678;p23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Mercor年化收入：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A轮2.5亿美元（2024年9月）到C轮100亿美元（2025年10月）；200亿美元估值轮次处于早期洽谈（彭博，2026年7月9日）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Surge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Snorkel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AfterQuery：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福布斯，2026年9月1日（加入YC 18个月，估值32亿美元；2025年2月成立）；YC公司页（联合创始人曾在Citadel Securities实习）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Scale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UniPat：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彭博，2026年9月10日（阿里领投3亿美元，据报道估值25亿美元；条款可能变化）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9" name="Google Shape;679;p23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市场与研究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80" name="Google Shape;680;p23"/>
          <p:cNvCxnSpPr/>
          <p:nvPr/>
        </p:nvCxnSpPr>
        <p:spPr>
          <a:xfrm>
            <a:off x="6291072" y="1792224"/>
            <a:ext cx="5351983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1" name="Google Shape;681;p23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AI智能体市场：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Research（2025年79.2亿美元；年复合增长45.82%，2034年达2,360亿美元）。2028、2032年数值按此路径推算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麦肯锡《生成式AI的经济潜力》：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每年2.6–4.4万亿美元经济价值（创造的价值，非支出）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RL环境定价与单任务算力成本：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公开文本存量：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data?》（2024）：约300T有效token，预计于2026–2032年间用尽（80%置信区间）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2030年AI经济推算：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us》（2025年11月）：2030年美国约2.9万亿美元；IMF《世界经济展望》（2026年4月）：美国GDP 32.4万亿美元、全球126.3万亿美元；美国以外按美国一半渗透率推算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训练层推算：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黄仁勋，高盛Communacopia大会（2026年9月）：2030年全球AI基础设施支出每年3–4万亿美元；CNBC（2026年2月）：四大云厂商2026年资本开支约7,000亿美元；训练层占比5–10%为推算假设；Mechanize《Cheap RL tasks will waste compute》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融资与估值：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Compute：Upstarts（2025年6月，种子轮2,000万美元，投后1亿美元），Tech Startups（2025年9月，5亿美元），The Information（2026年8月，约30亿美元洽谈）；AfterQuery：Business Wire（2026年4月，A轮3,000万美元，估值3亿美元，年化收入1亿美元）；micro1：TechCrunch（2026年8月，年化毛收入5亿美元），福布斯（2026年9月，估值40亿美元）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84" name="Google Shape;684;p2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2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A4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1" name="Google Shape;691;p2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2" name="Google Shape;692;p24"/>
          <p:cNvCxnSpPr/>
          <p:nvPr/>
        </p:nvCxnSpPr>
        <p:spPr>
          <a:xfrm>
            <a:off x="548640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3" name="Google Shape;693;p24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4" name="Google Shape;694;p2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5" name="Google Shape;695;p24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让AI反复做真实工作、并按结果打分的系统。行业里常称“RL环境”。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6" name="Google Shape;696;p24"/>
          <p:cNvCxnSpPr/>
          <p:nvPr/>
        </p:nvCxnSpPr>
        <p:spPr>
          <a:xfrm>
            <a:off x="4368698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7" name="Google Shape;697;p24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8" name="Google Shape;698;p24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9" name="Google Shape;699;p24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用真实结果（盈亏、账目是否对平、代码能否运行）打分，不靠另一个AI的主观判断。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0" name="Google Shape;700;p24"/>
          <p:cNvCxnSpPr/>
          <p:nvPr/>
        </p:nvCxnSpPr>
        <p:spPr>
          <a:xfrm>
            <a:off x="8188757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1" name="Google Shape;701;p24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2" name="Google Shape;702;p24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3" name="Google Shape;703;p24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AI用自己在真实环境中的结果训练自己，每一轮都比上一轮更强。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4" name="Google Shape;704;p24"/>
          <p:cNvCxnSpPr/>
          <p:nvPr/>
        </p:nvCxnSpPr>
        <p:spPr>
          <a:xfrm>
            <a:off x="548640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5" name="Google Shape;705;p24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6" name="Google Shape;706;p24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7" name="Google Shape;707;p24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上线前模拟各种作弊和攻击，找出评分漏洞并修复。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8" name="Google Shape;708;p24"/>
          <p:cNvCxnSpPr/>
          <p:nvPr/>
        </p:nvCxnSpPr>
        <p:spPr>
          <a:xfrm>
            <a:off x="4368698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9" name="Google Shape;709;p24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0" name="Google Shape;710;p24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1" name="Google Shape;711;p24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只改变一个条件（是否在Xitadel训练），比较前后表现的实验。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12" name="Google Shape;712;p24"/>
          <p:cNvCxnSpPr/>
          <p:nvPr/>
        </p:nvCxnSpPr>
        <p:spPr>
          <a:xfrm>
            <a:off x="8188757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3" name="Google Shape;713;p24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4" name="Google Shape;714;p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5" name="Google Shape;715;p24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按当前收入推算的全年收入，含支付给专家的部分。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8" name="Google Shape;718;p2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资金用途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2,000万美元用在前6个月：年化收入做到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收入公式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56816"/>
            <a:ext cx="301752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年化收入 =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环境数 × 每年卖出次数 × 单价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724912"/>
            <a:ext cx="30175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 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 × 10 × 20万 = </a:t>
            </a:r>
            <a:r>
              <a:rPr lang="zh-CN" sz="12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1亿美元</a:t>
            </a:r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100 × 12 × 25万 = </a:t>
            </a:r>
            <a:r>
              <a:rPr lang="zh-CN" sz="12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3亿美元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511296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每年卖出次数 = 实验室数 × 每年约2轮模型迭代；单价：一个环境2万–30万美元，独家4–5倍（Epoch AI）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资金用途（前6个月）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600万美元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897880" y="1737360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 7→50个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7635240" y="1737360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推动环境数  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行业专家、环境工程、上线前攻防测试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22199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221992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400万美元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897880" y="2221992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实验室交付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7635240" y="2221992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推动卖出次数  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驻场工程师接入实验室训练管线，加沙箱集群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70662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706624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400万美元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897880" y="2706624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7635240" y="2706624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推动单价  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每个环境上线前实测训练提升，作为报价依据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1912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191256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450万美元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897880" y="3191256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团队 4→30人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7635240" y="3191256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量化、强化学习研究、环境工程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367588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4526280" y="3675888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150万美元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5897880" y="3675888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运营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7635240" y="3675888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法务、财务、办公</a:t>
            </a:r>
          </a:p>
        </p:txBody>
      </p:sp>
      <p:sp>
        <p:nvSpPr>
          <p:cNvPr id="3029" name="SimReal 3029"/>
          <p:cNvSpPr/>
          <p:nvPr/>
        </p:nvSpPr>
        <p:spPr>
          <a:xfrm>
            <a:off x="4526280" y="416052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0" name="SimReal 3030"/>
          <p:cNvSpPr txBox="1"/>
          <p:nvPr/>
        </p:nvSpPr>
        <p:spPr>
          <a:xfrm>
            <a:off x="548640" y="444398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资金对应的里程碑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548640" y="4700016"/>
            <a:ext cx="342290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786384" y="4828032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786384" y="5065776"/>
            <a:ext cx="305714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首个付费实验室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971544" y="4700016"/>
            <a:ext cx="4114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4383024" y="4700016"/>
            <a:ext cx="342290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4620768" y="4828032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4620768" y="5065776"/>
            <a:ext cx="305714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50个环境 · 年化1亿美元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7805928" y="4700016"/>
            <a:ext cx="4114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217408" y="4700016"/>
            <a:ext cx="342290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8455152" y="4828032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8455152" y="5065776"/>
            <a:ext cx="305714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100+个环境 · 年化3亿美元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6个月之后，从年化1亿美元到3亿美元的扩张由收入支撑。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