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55448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搭建真实工作环境，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训练真正会工作的AI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520440"/>
            <a:ext cx="74980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面向AI实验室与企业：训练环境、AI数据与评测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61188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61188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人民币5亿元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5778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5778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训练环境与AI数据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面向AI实验室与企业：训练环境、Agent轨迹、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专家数据与评测；独家环境让AI自我进化（RSI）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软件工程；5个公开仓库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核心成果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05后量化创始团队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剑桥、LSE、杜克本科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 </a:t>
            </a:r>
            <a:r>
              <a:rPr lang="zh-CN" sz="2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7,000亿美元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今天实验室每年采购85亿美元训练数据与RL环境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2030年训练市场约7,000亿美元，82倍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收入引擎与RSI引擎各2,000万元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谁有一个行业最好的训练世界，谁就有这个行业最好的AI；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Play香港首场活动（联合香港科技园）；担任强生MedTech科技峰会主持人（均200+人规模）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AI、Mercor、AfterQuery创始人都在20岁左右起步；早期投资人回报：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17,000倍、40倍、1,800倍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收入增长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估值增长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Mercor估值：17个月，20亿→200亿美元（洽谈中）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需求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11680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86116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11680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786116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11680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786116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来源：Mercor（TechCrunch、Sacra、Dealroom、彭博）；AfterQuery（Business Wire、福布斯）；Snorkel AI（公司公告）；Scale AI（路透社、公司博客）；AI智能体（Precedence Research）；文本存量（Epoch AI）。详见A2。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通过检查不够，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我们让AI在现实中专业工作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事件揭晓后落空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会对它每个动作做出真实反应的世界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核心洞察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反馈信号的升级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· 互联网数据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77240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模型学会抄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777240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3378708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3607308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· 人类偏好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607308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3607308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人来打分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3607308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3607308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6208776" y="1600200"/>
            <a:ext cx="2601468" cy="2834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6437376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· 标准答案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437376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6437376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规则下解题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437376" y="3337560"/>
            <a:ext cx="2144268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437376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9038844" y="1600200"/>
            <a:ext cx="2601468" cy="2834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267444" y="17830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· 真实世界的反馈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9267444" y="2039112"/>
            <a:ext cx="214426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9267444" y="2660904"/>
            <a:ext cx="214426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AI进入现实经济，世界对每个动作做出反应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9267444" y="3337560"/>
            <a:ext cx="2144268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9267444" y="344728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267444" y="3886200"/>
            <a:ext cx="214426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刚刚起步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84632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真实工作没有标准答案。下一代反馈信号，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来自现实世界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训练环境、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与专家反馈：AI完成任务，结果成为下一轮训练信号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同一套环境，连接评测、数据与训练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按真实结果评分，留下轨迹数据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下一轮训练：自我进化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每一轮都从上一轮出发：这就是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全球首个做市交易的自我进化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上真实战场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从结果中进化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在未见过的真实行情上交易表现最高提升12%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受控实验，多次独立复现；运行记录尽调时提供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我们的训练环境，让AI能在真实金融市场里自己变强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人类基准 80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14天上线7款产品，已有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回放真实交易日与订单簿，按盈亏结算；已跑通自我进化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035040" y="5394960"/>
            <a:ext cx="56052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合计400星标  ·  2026年9月29日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环境每运行一次，都在产生训练数据：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AI在真实环境中完成多步任务的全过程：每一步动作、世界的反馈、最终结果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来自20万+专家网络：真实工作里的示范、判断与评分标准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覆盖各行业入门岗位与前沿科研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同一套环境，同时产出数据、评分与训练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轨迹的成败由真实结果判定，不靠人工意见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模型在哪里出错，下一批数据就补在哪里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今天实验室每年采购85亿美元训练数据与RL环境：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数据业务直接进入这个市场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 ·  RSI自我进化服务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一个能力目标的环境、数据与评测包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旧任务会被做饱和，新能力需要新数据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付费产品：私有任务、数据、留出集与验证器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交付之后，仍由我们提供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验证器维护、难度升级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新任务与新数据、托管运行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4954622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05917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849927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4995012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商业采购正在推进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400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仓库星标合计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2026年9月29日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5位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天使投资人主动联系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前沿实验室采购进度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22960" y="3835908"/>
            <a:ext cx="1054303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/>
          <p:nvPr/>
        </p:nvSpPr>
        <p:spPr>
          <a:xfrm>
            <a:off x="822960" y="3826764"/>
            <a:ext cx="3514344" cy="274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/>
          <p:nvPr/>
        </p:nvSpPr>
        <p:spPr>
          <a:xfrm>
            <a:off x="740664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91440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接触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4255008" y="37581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605784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洽谈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605784" y="3419856"/>
            <a:ext cx="14630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当前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769352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120128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付费试点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11283696" y="3758184"/>
            <a:ext cx="164592" cy="164592"/>
          </a:xfrm>
          <a:prstGeom prst="ellipse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10634472" y="40233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采购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48640" y="45720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交易机构从业者支持研发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9616745" y="49377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48640" y="5577840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16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可触达、可验证的专家，来自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34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顶尖大学网络覆盖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889504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头部三家收入（Surge为2024年，其余为年化）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18211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1600200" y="3209544"/>
            <a:ext cx="137160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3044952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20亿美元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548640" y="35844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1600200" y="3611880"/>
            <a:ext cx="822960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2496312" y="35844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12亿美元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98678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1600200" y="4014216"/>
            <a:ext cx="257175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1930527" y="398678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3.75亿美元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98264" y="254203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60196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4398264" y="290779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4398264" y="290779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60196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25.7%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4398264" y="327355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4398264" y="327355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60196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4398264" y="363931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4398264" y="3639312"/>
            <a:ext cx="220370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美国以外渗透减半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601968" y="36393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485632" y="254203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213848" y="254203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8485632" y="290779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8485632" y="290779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10213848" y="290779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485632" y="3273552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485632" y="3273552"/>
            <a:ext cx="172821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213848" y="32735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8485632" y="373075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485632" y="4261104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Ventures（2026.7）；Mercor年化毛营收（2026.6）、Surge收入（2024）、Snorkel年化收入（2026.9）；麦肯锡（2025.11）；IMF（2026.4）；科技公司年报。训练占比、美国以外渗透率为假设，详见A2。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09544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777240" y="3977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环境、数据、评分、自我进化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同一套环境产出数据、评分与训练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每次结果都变成下一轮训练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每轮模型升级，都需要新任务、新数据、新留出集和验证器维护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14天7款产品，两周跑通做市交易的自我进化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据彭博报道，UniPat获阿里领投3亿美元（估值25亿美元）；Humanlaya完成鼎晖领投的数亿元Pre-A；阿里、字节、DeepSeek都已向两家采购。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我们越有利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每一波热点，都由跑得最快的年轻团队拿下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786384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182112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64992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02736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998464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181344" y="1737360"/>
            <a:ext cx="2633472" cy="42062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19088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814816" y="1737360"/>
            <a:ext cx="182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997696" y="1737360"/>
            <a:ext cx="2633472" cy="42062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235440" y="1737360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86384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786384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786384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786384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86384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86384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86384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86384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86384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64992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02736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02736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02736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美元估值，2025年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3602736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3602736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3602736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3602736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3602736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3602736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181344" y="2267712"/>
            <a:ext cx="2633472" cy="31089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419088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19088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32亿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19088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美元估值，加入YC 18个月</a:t>
            </a:r>
          </a:p>
        </p:txBody>
      </p:sp>
      <p:sp>
        <p:nvSpPr>
          <p:cNvPr id="5041" name="SimReal 5041"/>
          <p:cNvSpPr/>
          <p:nvPr/>
        </p:nvSpPr>
        <p:spPr>
          <a:xfrm>
            <a:off x="6419088" y="3822192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2" name="SimReal 5042"/>
          <p:cNvSpPr txBox="1"/>
          <p:nvPr/>
        </p:nvSpPr>
        <p:spPr>
          <a:xfrm>
            <a:off x="6419088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6419088" y="4315968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6419088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6419088" y="4809744"/>
            <a:ext cx="215798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6419088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</a:p>
        </p:txBody>
      </p:sp>
      <p:sp>
        <p:nvSpPr>
          <p:cNvPr id="5047" name="SimReal 5047"/>
          <p:cNvSpPr/>
          <p:nvPr/>
        </p:nvSpPr>
        <p:spPr>
          <a:xfrm>
            <a:off x="8997696" y="2267712"/>
            <a:ext cx="2633472" cy="31089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8" name="SimReal 5048"/>
          <p:cNvSpPr txBox="1"/>
          <p:nvPr/>
        </p:nvSpPr>
        <p:spPr>
          <a:xfrm>
            <a:off x="9235440" y="2414016"/>
            <a:ext cx="215798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9235440" y="2743200"/>
            <a:ext cx="2157984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9235440" y="3383280"/>
            <a:ext cx="215798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</a:p>
        </p:txBody>
      </p:sp>
      <p:sp>
        <p:nvSpPr>
          <p:cNvPr id="5051" name="SimReal 5051"/>
          <p:cNvSpPr/>
          <p:nvPr/>
        </p:nvSpPr>
        <p:spPr>
          <a:xfrm>
            <a:off x="9235440" y="3822192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2" name="SimReal 5052"/>
          <p:cNvSpPr txBox="1"/>
          <p:nvPr/>
        </p:nvSpPr>
        <p:spPr>
          <a:xfrm>
            <a:off x="9235440" y="3877056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05后量化创始团队</a:t>
            </a:r>
          </a:p>
        </p:txBody>
      </p:sp>
      <p:sp>
        <p:nvSpPr>
          <p:cNvPr id="5053" name="SimReal 5053"/>
          <p:cNvSpPr/>
          <p:nvPr/>
        </p:nvSpPr>
        <p:spPr>
          <a:xfrm>
            <a:off x="9235440" y="4315968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4" name="SimReal 5054"/>
          <p:cNvSpPr txBox="1"/>
          <p:nvPr/>
        </p:nvSpPr>
        <p:spPr>
          <a:xfrm>
            <a:off x="9235440" y="4370832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剑桥、LSE、杜克最后一年在读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235440" y="4809744"/>
            <a:ext cx="2157984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235440" y="4864608"/>
            <a:ext cx="2157984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量化经历：Jane Street、Citadel、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Optiver、Millennium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548640" y="554126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AI每一次范式变化中的机会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47088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28600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从付费试点推进到环境授权、复购与持续更新合同；数据业务批量交付；实盘交易与事件预测的RSI上线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估值参照：同赛道公司已由头部机构定价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UniPat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据报道估值（2026年9月）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阿里领投，腾讯、红杉中国跟投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Humanlaya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数亿元人民币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Pre-A融资额（2026年9月）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鼎晖领投，红杉中国等参投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 → 14个月后（洽谈中）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AfterQuery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 → 5个月后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A轮时年化收入1亿美元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国内同赛道已获红杉中国、鼎晖、今日资本、BAI投资，阿里、腾讯也已入局：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赛道已被验证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UniPat为据报道估值，Applied Compute约30亿美元为洽谈中估值，Humanlaya为融资额；其余为投后估值。来源见A2。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授权、交付与持续更新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前沿实验室与企业客户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环境收入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环境数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卖出次数 </a:t>
            </a: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</a:t>
            </a: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环境单价2万–30万美元（Epoch AI）；数据按交付量计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环境授权与复购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持续更新合同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瞄准整个AI经济：每个行业，一个自己变强的AI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  ·  预测事件RSI  ·  10个行业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每个行业，同步开发自我进化环境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拓展至10个行业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AI经济的数据与自我进化引擎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554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5544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5544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回放真实交易日与订单簿，采用IMC Trading合作授权数据，每笔交易由市场结算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121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121408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121408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6883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688336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688336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2552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255264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255264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交易表现较基础模型最高提升12%，多次独立复现（受控实验）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8221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822192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822192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3891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3891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3891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9560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A轮2.5亿美元（2024年9月）、B轮20亿美元（2025年2月）到C轮100亿美元（2025年10月）；200亿美元估值轮次处于早期洽谈（彭博，2026年7月9日）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Surge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2025年2月成立；福布斯，2026年9月1日（加入YC 18个月，估值32亿美元）；Business Wire（2026年4月，A轮估值3亿美元，年化收入1亿美元）；YC公司页（联合创始人曾在Citadel Securities实习）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Wang创立（福布斯）；Meta以143亿美元取得49%股份，估值约290亿美元（路透社，2025年6月）；近一半新训练项目涉及RL环境（Scale AI博客，2026年2月）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彭博，2026年9月10日（阿里领投3亿美元，据报道估值25亿美元，腾讯、红杉中国跟投；条款可能变化；阿里、字节、DeepSeek等向UniPat与Humanlaya采购）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2025年10月成立；2026年9月9日完成数亿元人民币Pre-A，鼎晖领投，红杉中国、今日资本、BAI参投（界面新闻、东方财富）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今天的训练数据采购：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Ventures（2026年7月）：50余家供应商合计约85亿美元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us》（2025年11月）：美国约2.9万亿美元；IMF（2026年4月）：美国GDP 32.4万亿、全球126.3万亿美元；美国以外按一半渗透率推算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训练市场推算：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</a:t>
            </a:r>
            <a:br>
              <a:rPr lang="zh-CN" sz="900"/>
            </a:b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10%参照大型科技公司研发占收入约10–15%，取下限，为推算假设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Research（2025年79.2亿美元；年复合增长45.82%），2028、2032年按此路径推算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公开文本存量：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data?》（2024）：预计2026–2032年间用尽（80%置信区间）</a:t>
            </a:r>
          </a:p>
          <a:p>
            <a:pPr marL="0" marR="0" lvl="0" indent="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融资与估值：</a:t>
            </a:r>
            <a:r>
              <a:rPr lang="zh-CN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Compute：Upstarts（2025年6月，种子轮2,000万美元，投后1亿美元）、The Information（2026年8月，约30亿美元洽谈）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AI完成一项任务的全过程：每一步动作、世界的反馈与最终结果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世界对AI动作的反应：盈亏、账目、代码能否运行、事件是否发生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