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59" r:id="rId5"/>
    <p:sldId id="269" r:id="rId15"/>
    <p:sldId id="270" r:id="rId16"/>
    <p:sldId id="271" r:id="rId17"/>
    <p:sldId id="266" r:id="rId12"/>
    <p:sldId id="267" r:id="rId13"/>
    <p:sldId id="268" r:id="rId14"/>
    <p:sldId id="272" r:id="rId18"/>
    <p:sldId id="278" r:id="rId45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1481328" y="5029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155448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搭建真实工作环境，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训练真正会工作的AI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520440"/>
            <a:ext cx="7498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面向AI实验室与企业：训练环境、AI数据与自我进化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人民币4,000万元（等值美元）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61188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61188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人民币5亿元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5778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商业计划书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5778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项目概述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训练环境与AI数据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面向AI实验室与企业：Agent轨迹、专家与评测数据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交易、事件预测、AI研究、数学、推理、财务、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软件工程；5个公开仓库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核心成果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Qwen3.8-27B经Xitadel训练，在未见过的真实行情上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交易表现最高提升12%，多次独立复现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05后量化创始团队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剑桥、LSE、杜克数学本科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Street、Citadel、Optiver、Millennium经历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 </a:t>
            </a:r>
            <a:r>
              <a:rPr lang="zh-CN" sz="2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7,000亿美元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今天实验室每年采购85亿美元训练数据与RL环境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2030年训练市场约7,000亿美元，是今天的82倍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人民币（等值美元）；投后估值5亿元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收入引擎与RSI引擎各2,000万元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谁有一个行业最好的训练世界，谁就有这个行业最好的AI；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从交易出发，让AI自我进化，走向整个世界。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我们最懂做题与做事的差距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Stables首位员工：帮助U稳定币一年内从0做到14亿美元，一个月上线Binance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负责机构关系，参与SIG、DRW等合作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汇丰港元稳定币发行项目唯一实习生，全程协助推进香港金管局（HKMA）合规项目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X（Twitter）博主，内容数百万浏览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伦敦Citadel对冲基金实习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LSE数学本科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美国数学奥林匹克（USAMO）入围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剑桥机器学习暑研，师从著名统计学教授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Po-Ling Loh（国际数理统计学会会士）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设计五大Benchmark与强化学习环境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剑桥数学一等荣誉（奖学金）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 · 英国物理竞赛超级金奖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参与落地Plug and Play香港首场活动（联合香港科技园）；担任强生MedTech科技峰会主持人（均200+人规模）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17岁成为出版作家；全网原创内容获10万+互动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杜克数学与统计本科 · 上海包玉刚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AI、Mercor、AfterQuery创始人都在20岁左右起步；早期投资人回报：</a:t>
            </a: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17,000倍、40倍、1,800倍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为什么是现在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 18个月内收入涨27倍、估值涨10倍：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收入增长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估值增长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Mercor估值：17个月，20亿→200亿美元（洽谈中）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需求增长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AI智能体市场预测：7年，79亿→约1,110亿美元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5643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011680" y="3456432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323076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6323076" y="345643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86116" y="3456432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39684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011680" y="3968496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AfterQuery从成立到年化收入1亿美元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6323076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6323076" y="39684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786116" y="3968496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48056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011680" y="448056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323076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323076" y="448056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786116" y="448056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/>
          <p:nvPr/>
        </p:nvSpPr>
        <p:spPr>
          <a:xfrm>
            <a:off x="6323076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548640" y="526694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来源：Mercor（TechCrunch、Sacra、Dealroom、彭博）；AfterQuery（Business Wire、福布斯）；Snorkel AI（公司公告）；Scale AI（路透社、公司博客）；AI智能体（Precedence Research）；文本存量（Epoch AI）。详见A2。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问题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通过检查不够，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我们让AI在现实中专业工作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6720840" y="1847088"/>
            <a:ext cx="4919472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219456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表面检查：通过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94944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真实世界：失手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7627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76272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94560" y="2176272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历史回测一路上涨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217920" y="2176272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949440" y="2176272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进入未见过的真实行情就亏钱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软件工程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194560" y="2779776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测试全部通过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17920" y="2779776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949440" y="2779776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上线后出错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383280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财务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94560" y="3383280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账看起来已经做完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217920" y="3383280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949440" y="3383280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月结对不平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9867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事件预测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194560" y="3986784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分析头头是道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217920" y="3986784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949440" y="3986784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结果一出就落空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5902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AI要学会做事，需要一个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会对它每个动作做出真实反应的世界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核心洞察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反馈信号的升级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· 互联网数据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77240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模型学会抄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777240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3378708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3607308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· 人类偏好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607308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3607308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人来打分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3607308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3607308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6208776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6437376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· 标准答案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6437376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6437376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按答案判对错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437376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437376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9038844" y="1600200"/>
            <a:ext cx="2601468" cy="2834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267444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· 真实世界的反馈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9267444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9267444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AI进入现实经济，世界对每个动作做出反应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9267444" y="3337560"/>
            <a:ext cx="2144268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9267444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267444" y="3886200"/>
            <a:ext cx="214426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刚刚起步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84632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考满分的AI，未必能放心交付。下一代反馈信号，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来自现实世界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解决方案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AI完成任务，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真实结果成为下一轮训练信号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4592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64592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64592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834640" y="164592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46888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46888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46888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834640" y="246888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按真实结果打分，不靠另一个AI的主观判断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29184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9184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29184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834640" y="329184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提供专业判断与评分标准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14800"/>
            <a:ext cx="6035040" cy="5943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1480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834640" y="411480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同一套环境，打通评测、数据与训练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64592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64592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24028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4688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4688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0632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2918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2918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按真实结果评分，留下Agent轨迹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8862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11480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1148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下一轮训练：自我进化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每一轮都从上一轮出发：这就是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旗舰实证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全球首个做市交易的自我进化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上真实战场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828800" y="15544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回放真实交易日与订单簿，采用IMC Trading合作授权数据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0116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0116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市场当裁判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828800" y="20116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4688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4688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从结果中进化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828800" y="24688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9260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310896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743200" y="3145536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开源模型Qwen3.8-27B训练后，</a:t>
            </a:r>
            <a:br>
              <a:rPr lang="zh-CN" sz="1250"/>
            </a:b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在未见过的真实行情上交易表现最高提升12%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3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受控实验，多次独立复现；运行记录尽调时提供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513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4261104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我们的训练环境，让AI能在真实金融市场里自己变强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4608576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812280" y="1554480"/>
            <a:ext cx="4828032" cy="336499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086600" y="1755648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1993392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10588752" y="2697480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857232" y="2478024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人类基准 80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288036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8321040" y="2926080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9908146" y="28803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30098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8321040" y="3346704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9229698" y="330098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7086600" y="37216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8321040" y="3767328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9160532" y="37216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086600" y="414223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321040" y="4187952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072659" y="41422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产品矩阵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14天上线7款产品，已有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5个公开仓库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领域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状态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28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2880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2880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2880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回放真实交易日与订单簿，按盈亏结算；已跑通自我进化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2880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31343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31343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31343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AI研究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31343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60个研究任务、7类数据，参照OpenAI的MLE-bench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31343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178星标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7980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79806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79806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79806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预测真实事件，揭晓后按结果训练；数据实时接入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79806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部分开源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2826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28269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328269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328269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让AI证明答案，而不是猜答案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328269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76732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76732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76732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749道人工编写的推理谜题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76732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17星标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251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425196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425196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425196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让AI零差错完成月结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425196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7365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73659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73659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73659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检验AI写的代码能否挺过下一个版本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73659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5221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以上全部在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零外部融资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下完成。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6035040" y="5394960"/>
            <a:ext cx="56052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合计400星标  ·  2026年9月29日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数据业务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环境与专家网络，产出三类AI数据：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Agent轨迹、专家数据、评测数据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AI在真实环境中完成多步任务的全过程：每一步动作、世界的反馈、最终结果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22960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22960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按真实结果标注成败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22960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用于监督微调与强化学习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37304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611624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611624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背靠20万+专家网络：真实工作里的示范、判断与评分标准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611624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611624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覆盖各行业入门岗位与顶尖科研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611624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用于对齐、奖励模型与评分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125968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8400288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400288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评测数据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400288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私有评测集与留出集：只用于检验，从不参与训练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400288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400288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上线前经过攻防测试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400288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用于模型验收与持续评测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548640" y="413308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和只卖人工数据的公司不同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同源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463040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数据、评分与训练，共用一套环境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可验证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251704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轨迹成败由真实结果判定，不靠人工意见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125968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会生长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040368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模型错在哪，下一批数据就补到哪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今天实验室每年花85亿美元买训练数据与RL环境：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这两样，我们都做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商业模式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每一轮都有新交付：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合作越深，收入越高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三条产品线 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  ·  AI数据（Agent轨迹、专家、评测）  ·  RSI自我进化服务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0" y="1499616"/>
            <a:ext cx="341071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同一模式：AfterQuery 14个月做到年化1亿美元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731520" y="20665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合作阶段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2926080" y="2066544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客户买什么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6080760" y="2066544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收费依据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595360" y="2066544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为什么继续买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23591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31520" y="235915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143000" y="235915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付费试点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26080" y="235915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一项能力的环境、数据与评测包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080760" y="235915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固定范围、固定验收标准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595360" y="235915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验证接入与训练价值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29260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31520" y="292608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143000" y="292608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正式授权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926080" y="292608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环境、任务集、验证器、约定使用权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080760" y="292608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期限、范围、独占性；数据按交付量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595360" y="292608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扩大领域与任务覆盖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4930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" y="349300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143000" y="349300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926080" y="349300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新场景、新任务、新轨迹、私有留出集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49300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年度合同或分批订单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595360" y="34930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旧任务会饱和，新能力需要新数据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0599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" y="4059936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143000" y="4059936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联合训练（RSI）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926080" y="4059936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训练实验、消融分析、迁移验证、托管运行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080760" y="4059936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项目或持续服务合同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595360" y="405993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解决客户下一阶段的能力缺口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548640" y="4882896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786384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开源 vs 付费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86384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开源基准：公开，用来建立信任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付费产品：私有任务、数据、留出集与验证器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4322064" y="4882896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非独家 vs 独家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559808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非独家：同一环境可授权给多家实验室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独家：按领域与期限锁定，溢价较大（Epoch AI）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095488" y="4882896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交付只是开始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33232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验证器维护、难度升级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新任务与新数据、托管运行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4954622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05917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4849927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4995012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当前进展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产品已公开，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商业采购正在推进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前沿实验室在谈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90138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390138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专家候补名单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400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GitHub星标合计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2026年9月29日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5位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天使投资人主动联系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9184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前沿实验室采购进度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22960" y="3835908"/>
            <a:ext cx="1054303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/>
          <p:nvPr/>
        </p:nvSpPr>
        <p:spPr>
          <a:xfrm>
            <a:off x="822960" y="3826764"/>
            <a:ext cx="3514344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/>
          <p:nvPr/>
        </p:nvSpPr>
        <p:spPr>
          <a:xfrm>
            <a:off x="740664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91440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接触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4255008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605784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洽谈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605784" y="3419856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当前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769352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120128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付费试点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11283696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10634472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采购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5720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支持我们研发的交易机构从业者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9616745" y="4937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48640" y="5577840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标识仅表示支持者任职机构，不代表机构背书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专家网络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16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可触达、可验证的专家，来自21所顶尖大学：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专家数据的源头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3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顶尖大学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00200" y="2852928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00200" y="3255264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最难的问题，最难的判断标准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00200" y="3657600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每做一个领域，资产都会留下来：</a:t>
            </a:r>
            <a:r>
              <a:rPr lang="zh-CN" sz="13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专家网络 → 专家数据与判断标准 → 环境与验证器 → 失败案例库 → </a:t>
            </a: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复用到下一个领域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网络覆盖不等于已注册或参与交付；高校标识不代表学校背书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市场规模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889504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头部三家收入（Surge为2024年，其余为年化）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18211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1600200" y="3209544"/>
            <a:ext cx="137160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3044952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20亿美元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548640" y="35844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1600200" y="3611880"/>
            <a:ext cx="822960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2496312" y="35844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12亿美元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98678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1600200" y="4014216"/>
            <a:ext cx="257175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1930527" y="398678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3.75亿美元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98264" y="254203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6601968" y="254203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4398264" y="290779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4398264" y="290779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601968" y="290779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25.7%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4398264" y="327355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4398264" y="327355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6601968" y="32735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4398264" y="363931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4398264" y="363931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美国以外渗透减半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601968" y="363931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247888" y="1517904"/>
            <a:ext cx="339242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8485632" y="254203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213848" y="254203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8485632" y="290779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8485632" y="290779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10213848" y="290779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485632" y="327355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485632" y="327355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213848" y="32735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8485632" y="3730752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8485632" y="4261104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Ventures（2026.7）；Mercor年化毛营收（2026.6）、Surge收入（2024）、Snorkel年化收入（2026.9）；麦肯锡（2025.11）；IMF（2026.4）；科技公司年报。训练占比、美国以外渗透率为假设，详见A2。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竞争格局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Mercor、Surge、AfterQuery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517904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UniPat、Humanlaya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286000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09544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3291840" y="3054096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777240" y="39776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3291840" y="3822192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777240" y="46634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777240" y="501091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环境、数据、评分、自我进化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91840" y="4590288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同一套环境打通数据、评分与训练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每次结果都进入下一轮，AI越练越强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我们的优势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环境构建工具、验证器、专业任务库和失败案例积累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每轮模型升级，都需要新任务、新数据、新留出集和验证器维护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14天7款产品，两周跑通做市交易的自我进化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据彭博报道，UniPat获阿里领投3亿美元（估值25亿美元）；Humanlaya完成鼎晖领投的数亿元Pre-A；阿里、字节、DeepSeek都已向两家采购。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为什么是我们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我们越有利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每一波热点，都由跑得最快的年轻团队拿下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786384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182112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64992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02736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998464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181344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19088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814816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997696" y="1737360"/>
            <a:ext cx="2633472" cy="42062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35440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86384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786384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786384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美元估值，2025年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786384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86384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86384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86384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86384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86384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64992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02736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02736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02736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美元估值，2025年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3602736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3602736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3602736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3602736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3602736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3602736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181344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419088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19088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32亿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419088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美元估值，加入YC 18个月</a:t>
            </a:r>
          </a:p>
        </p:txBody>
      </p:sp>
      <p:sp>
        <p:nvSpPr>
          <p:cNvPr id="5041" name="SimReal 5041"/>
          <p:cNvSpPr/>
          <p:nvPr/>
        </p:nvSpPr>
        <p:spPr>
          <a:xfrm>
            <a:off x="6419088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2" name="SimReal 5042"/>
          <p:cNvSpPr txBox="1"/>
          <p:nvPr/>
        </p:nvSpPr>
        <p:spPr>
          <a:xfrm>
            <a:off x="6419088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6419088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6419088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6419088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6419088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</a:p>
        </p:txBody>
      </p:sp>
      <p:sp>
        <p:nvSpPr>
          <p:cNvPr id="5047" name="SimReal 5047"/>
          <p:cNvSpPr/>
          <p:nvPr/>
        </p:nvSpPr>
        <p:spPr>
          <a:xfrm>
            <a:off x="8997696" y="2267712"/>
            <a:ext cx="2633472" cy="31089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8" name="SimReal 5048"/>
          <p:cNvSpPr txBox="1"/>
          <p:nvPr/>
        </p:nvSpPr>
        <p:spPr>
          <a:xfrm>
            <a:off x="9235440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9235440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9235440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</a:p>
        </p:txBody>
      </p:sp>
      <p:sp>
        <p:nvSpPr>
          <p:cNvPr id="5051" name="SimReal 5051"/>
          <p:cNvSpPr/>
          <p:nvPr/>
        </p:nvSpPr>
        <p:spPr>
          <a:xfrm>
            <a:off x="9235440" y="3822192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2" name="SimReal 5052"/>
          <p:cNvSpPr txBox="1"/>
          <p:nvPr/>
        </p:nvSpPr>
        <p:spPr>
          <a:xfrm>
            <a:off x="9235440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05后量化创始团队</a:t>
            </a:r>
          </a:p>
        </p:txBody>
      </p:sp>
      <p:sp>
        <p:nvSpPr>
          <p:cNvPr id="5053" name="SimReal 5053"/>
          <p:cNvSpPr/>
          <p:nvPr/>
        </p:nvSpPr>
        <p:spPr>
          <a:xfrm>
            <a:off x="9235440" y="4315968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4" name="SimReal 5054"/>
          <p:cNvSpPr txBox="1"/>
          <p:nvPr/>
        </p:nvSpPr>
        <p:spPr>
          <a:xfrm>
            <a:off x="9235440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剑桥、LSE、杜克最后一年在读</a:t>
            </a:r>
          </a:p>
        </p:txBody>
      </p:sp>
      <p:sp>
        <p:nvSpPr>
          <p:cNvPr id="5055" name="SimReal 5055"/>
          <p:cNvSpPr/>
          <p:nvPr/>
        </p:nvSpPr>
        <p:spPr>
          <a:xfrm>
            <a:off x="9235440" y="4809744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6" name="SimReal 5056"/>
          <p:cNvSpPr txBox="1"/>
          <p:nvPr/>
        </p:nvSpPr>
        <p:spPr>
          <a:xfrm>
            <a:off x="9235440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量化经历：Jane Street、Citadel、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Optiver、Millennium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548640" y="554126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AI每一次范式变化中的机会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融资计划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本轮融资人民币4,000万元，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投后估值5亿元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86384" y="228600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人民币，等值美元投资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78708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本轮出让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616452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08776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投前估值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4.6亿元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446520" y="228600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9038844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276588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276588" y="228600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268833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本轮目标   </a:t>
            </a: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环境从付费试点推进到授权、复购与持续更新合同；AI数据批量交付；RSI在实盘交易与事件预测上线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23697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估值参照：同赛道公司已由头部机构定价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786384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UniPat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25亿美元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86384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据报道估值（2026年9月）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86384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阿里领投，腾讯、红杉中国跟投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78708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16452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Humanlaya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数亿元人民币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16452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Pre-A融资额（2026年9月）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3616452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鼎晖领投，红杉中国等参投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208776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446520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Applied Compute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446520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种子轮投后 → 14个月后（洽谈中）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446520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9038844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9276588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9276588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 → 5个月后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276588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A轮时年化收入1亿美元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065776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国内同赛道已获红杉中国、鼎晖、今日资本、BAI投资，阿里、腾讯也已入局：</a:t>
            </a:r>
            <a:r>
              <a:rPr lang="zh-CN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赛道已被验证</a:t>
            </a: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48640" y="5596128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UniPat为据报道估值，Applied Compute约30亿美元为洽谈中估值，Humanlaya为融资额；其余为投后估值。来源见A2。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资金用途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41148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41248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投入2,000万元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41248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环境一次搭建，授权给多家实验室；数据按交付量收费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41248" y="294436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41248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755648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944368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按行业批量搭建训练环境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41248" y="325526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41248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755648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数据生产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944368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Agent轨迹、专家数据、评测数据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1248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755648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944368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接入、验收与持续更新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41248" y="387705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41248" y="3877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755648" y="3877056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944368" y="3877056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前沿实验室与企业客户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41248" y="418795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41248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环境收入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环境数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授权次数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环境单价2万–30万美元（Epoch AI）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841248" y="495604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84124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4124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首个付费试点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44906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44906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环境授权与复购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05688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05688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持续更新合同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6231636" y="1517904"/>
            <a:ext cx="5408676" cy="41148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524244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投入2,000万元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524244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6524244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瞄准整个AI经济：每个行业，一个自己变强的AI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6524244" y="294436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6524244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900万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438644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8627364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524244" y="325526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524244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438644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627364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6524244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438644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8627364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6524244" y="387705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6524244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  ·  事件预测RSI  ·  10个行业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每个行业，同步开发自我进化环境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524244" y="495604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52424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52424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813206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813206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事件预测RSI上线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73988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973988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拓展至10个行业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里程碑为本轮目标。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2" name="SimReal 506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31520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三个世界已上线：交易、AI研究、事件预测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衍真  ·  AI经济的数据与自我进化引擎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554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5544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5544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回放真实交易日与订单簿，采用IMC Trading合作授权数据，每笔交易由市场结算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121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121408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121408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6883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688336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测试数据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688336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2552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255264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255264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交易表现较基础模型最高提升12%，多次独立复现（受控实验）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8221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822192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公开基准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822192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6），尚无模型越过人类水平线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3891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3891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尽调材料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3891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9560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Mercor年化收入：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A轮2.5亿美元（2024年9月）、B轮20亿美元（2025年2月）、C轮100亿美元（2025年10月）；200亿美元估值轮次处于早期洽谈（彭博，2026年7月9日）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Surge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2025年2月成立；福布斯，2026年9月1日（加入YC 18个月，估值32亿美元）；Business Wire（2026年4月，A轮估值3亿美元，年化收入1亿美元）；YC公司页（联合创始人曾在Citadel Securities实习）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Wang创立（福布斯）；Meta以143亿美元取得49%股份，估值约290亿美元（路透社，2025年6月）；近一半新训练项目涉及RL环境（Scale AI博客，2026年2月）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彭博，2026年9月10日（阿里领投3亿美元，据报道估值25亿美元，腾讯、红杉中国跟投；条款可能变化；阿里、字节、DeepSeek等向UniPat与Humanlaya采购）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2025年10月成立；2026年9月9日完成数亿元人民币Pre-A，鼎晖领投，红杉中国、今日资本、BAI参投（界面新闻、东方财富）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市场与研究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今天的训练数据采购：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Menlo Ventures（2026年7月）：50余家供应商合计约85亿美元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2030年AI经济推算：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us》（2025年11月）：美国约2.9万亿美元；IMF（2026年4月）：美国GDP 32.4万亿、全球126.3万亿美元；美国以外按一半渗透率推算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训练市场推算：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10%参照大型科技公司研发占收入约10–15%，取下限，为推算假设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Research（2025年79.2亿美元；年复合增长45.82%），2028、2032年按此路径推算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RL环境定价：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公开文本存量：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data?》（2024）：预计2026–2032年间用尽（80%置信区间）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融资与估值：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Compute：Upstarts（2025年6月，种子轮2,000万美元，投后1亿美元）、The Information（2026年8月，约30亿美元洽谈）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让AI反复做真实工作、从结果中学习的系统，即RL环境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3390138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3390138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3390138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AI完成一项任务的全过程：每一步动作、世界的反馈与最终结果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世界对AI动作的反应：盈亏、账目、代码能否运行、事件是否发生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留出集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只用于检验、从不参与训练的任务，防止模型背答案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3390138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390138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390138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390138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231636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231636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231636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231636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9073134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073134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73134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073134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