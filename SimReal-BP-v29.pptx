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61" r:id="rId7"/>
    <p:sldId id="262" r:id="rId8"/>
    <p:sldId id="263" r:id="rId9"/>
    <p:sldId id="264" r:id="rId10"/>
    <p:sldId id="265" r:id="rId11"/>
    <p:sldId id="275" r:id="rId21"/>
    <p:sldId id="259" r:id="rId5"/>
    <p:sldId id="269" r:id="rId15"/>
    <p:sldId id="270" r:id="rId16"/>
    <p:sldId id="271" r:id="rId17"/>
    <p:sldId id="266" r:id="rId12"/>
    <p:sldId id="267" r:id="rId13"/>
    <p:sldId id="268" r:id="rId14"/>
    <p:sldId id="272" r:id="rId18"/>
    <p:sldId id="278" r:id="rId45"/>
    <p:sldId id="273" r:id="rId19"/>
    <p:sldId id="274" r:id="rId20"/>
    <p:sldId id="276" r:id="rId22"/>
    <p:sldId id="277" r:id="rId23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2" name="Google Shape;612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7" name="Google Shape;627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1" name="Google Shape;67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7" name="Google Shape;687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8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3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1481328" y="5029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1554480"/>
            <a:ext cx="7498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让AI在真实世界里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3520440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用真实数据重建真实世界：AI实验室、企业与个人agent的训练场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4526280"/>
            <a:ext cx="69494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4937760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人民币4,000万元（等值美元）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42062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商业计划书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206240" y="4937760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2026年9月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项目概述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给AI和个人agent一个真实的世界，让它们反复犯错、学习、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做什么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19019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训练环境与AI数据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5054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面向AI实验室与企业：Agent轨迹、专家与评测数据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独家环境让AI自我进化（RSI）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下一步：向个人agent开放练习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已做到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9019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14天7款产品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5054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3个世界已上线：交易、AI研究、事件预测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5个公开仓库；零外部融资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517904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核心成果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9019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5054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Qwen3.8-27B经Xitadel训练，在未见过的真实行情上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交易表现最高提升12%，多次独立复现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3467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4747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团队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37307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05后量化创始团队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3342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剑桥、LSE、杜克数学本科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Street、Citadel、Optiver、Millennium经历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3467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4747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市场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37307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85亿 </a:t>
            </a:r>
            <a:r>
              <a:rPr lang="zh-CN" sz="24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 7,000亿美元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3342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今天实验室每年采购85亿美元训练数据与RL环境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2030年训练市场约7,000亿美元，是今天的82倍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346704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4747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37307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3342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人民币（等值美元）；投后估值5亿元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收入引擎与RSI引擎各2,000万元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3949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谁有一个行业最好的训练世界，谁就有这个行业最好的AI；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从交易出发，让AI自我进化，走向整个世界。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团队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奥赛与名校 → 华尔街最残酷的交易台：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我们最懂做题与做事的差距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CEO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United Stables首位员工：帮助U稳定币一年内从0做到14亿美元，一个月上线Binance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负责机构关系，参与SIG、DRW等合作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汇丰港元稳定币发行项目唯一实习生，全程协助推进香港金管局（HKMA）合规项目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X（Twitter）博主，内容数百万浏览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伦敦Citadel对冲基金实习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8097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4882896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2005年生 · LSE数学本科 · 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美国数学奥林匹克（USAMO）入围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CTO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剑桥机器学习暑研，师从著名统计学教授</a:t>
            </a:r>
            <a:br>
              <a:rPr lang="zh-CN" sz="1050"/>
            </a:b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Po-Ling Loh（国际数理统计学会会士）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剑桥研究中心AI最年轻本科研究员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Street、Citadel、Optiver量化经历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设计五大Benchmark与强化学习环境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8097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4882896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2005年生 · 剑桥数学一等荣誉（奖学金） · 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剑桥数学竞赛全球前30 · 英国物理竞赛超级金奖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COO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Millennium香港数据科学家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Millennium另类数据团队史上首位应届招聘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参与落地Plug and Play香港首场活动（联合</a:t>
            </a:r>
            <a:br>
              <a:rPr lang="zh-CN" sz="1050"/>
            </a:b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香港科技园）；担任强生MedTech科技峰会</a:t>
            </a:r>
            <a:br>
              <a:rPr lang="zh-CN" sz="1050"/>
            </a:b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主持人（均200+人规模）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17岁成为出版作家；全网原创内容获10万+互动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8097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4882896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2005年生 · 杜克数学与统计本科 · 上海包玉刚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559612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Scale AI、Mercor、AfterQuery创始人都在20岁左右起步；早期投资人回报：</a:t>
            </a: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17,000倍、40倍、1,800倍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为什么是现在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Mercor 18个月内收入涨27倍、估值涨10倍：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赛道才刚开始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收入增长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18836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27倍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65176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Mercor年化毛营收：16个月，7,500万→20亿美元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估值增长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8836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10倍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65176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Mercor估值：17个月，20亿→200亿美元（洽谈中）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需求增长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8836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14倍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65176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AI智能体市场预测：7年，79亿→约1,110亿美元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456432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456432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18倍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2011680" y="3456432"/>
            <a:ext cx="385419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Snorkel AI年化收入一年增至3.75亿美元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6323076" y="3456432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6323076" y="3456432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290亿美元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786116" y="3456432"/>
            <a:ext cx="385419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Scale AI估值，Meta以143亿美元入股49%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968496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968496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14个月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011680" y="3968496"/>
            <a:ext cx="385419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AfterQuery从成立到年化收入1亿美元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6323076" y="3968496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6323076" y="3968496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近一半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786116" y="3968496"/>
            <a:ext cx="385419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Scale AI新训练项目已涉及RL环境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4480560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548640" y="4480560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5个月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2011680" y="4480560"/>
            <a:ext cx="385419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AfterQuery估值：3亿→32亿美元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6323076" y="4480560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6323076" y="4480560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2032年前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7786116" y="4480560"/>
            <a:ext cx="385419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公开的人类文本预计被用尽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548640" y="4992624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/>
          <p:nvPr/>
        </p:nvSpPr>
        <p:spPr>
          <a:xfrm>
            <a:off x="6323076" y="4992624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548640" y="5266944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来源：Mercor（TechCrunch、Sacra、Dealroom、彭博）；AfterQuery（Business Wire、福布斯）；Snorkel AI（公司公告）；Scale AI（路透社、公司博客）；AI智能体（Precedence Research）；文本存量（Epoch AI）。详见A2。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问题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AI已经学会推理，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却还做不好真实世界里的事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真实工作没有标准答案，只有世界的反应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6720840" y="1847088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2194560" y="188366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表面检查：通过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949440" y="188366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真实世界：失手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176272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17627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交易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2194560" y="217627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历史回测一路上涨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217920" y="217627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949440" y="217627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进入未见过的真实行情就亏钱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7797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48640" y="2779776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软件工程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2194560" y="2779776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测试全部通过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17920" y="2779776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949440" y="2779776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上线后出错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338328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548640" y="338328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财务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2194560" y="338328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账看起来已经做完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217920" y="338328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6949440" y="338328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月结对不平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548640" y="398678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548640" y="398678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事件预测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2194560" y="398678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分析头头是道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217920" y="398678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949440" y="398678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结果一出就落空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459028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548640" y="513892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AI要学会做事，需要一个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用真实结果结算每个动作的世界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核心洞察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AI的每一次跃迁，都来自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反馈信号的升级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600200"/>
            <a:ext cx="2601468" cy="28346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78308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第一代 · 互联网数据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77240" y="2039112"/>
            <a:ext cx="21442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模仿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77240" y="2660904"/>
            <a:ext cx="21442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模型学会抄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777240" y="3337560"/>
            <a:ext cx="214426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77240" y="344728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会说话的AI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3378708" y="1600200"/>
            <a:ext cx="2601468" cy="28346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3607308" y="178308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第二代 · 人类偏好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607308" y="2039112"/>
            <a:ext cx="21442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对齐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607308" y="2660904"/>
            <a:ext cx="21442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人来打分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3607308" y="3337560"/>
            <a:ext cx="214426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3607308" y="344728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好用的AI助手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6208776" y="1600200"/>
            <a:ext cx="2601468" cy="28346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6437376" y="178308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第三代 · 标准答案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437376" y="2039112"/>
            <a:ext cx="21442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验证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437376" y="2660904"/>
            <a:ext cx="21442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按答案判对错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6437376" y="3337560"/>
            <a:ext cx="214426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6437376" y="344728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推理模型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9038844" y="1600200"/>
            <a:ext cx="2601468" cy="283464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9267444" y="178308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第四代 · 真实世界的反馈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9267444" y="2039112"/>
            <a:ext cx="21442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实践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9267444" y="2660904"/>
            <a:ext cx="21442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AI在真实场景中行动，真实结果为每个动作结算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9267444" y="3337560"/>
            <a:ext cx="2144268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9267444" y="344728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自主运行与自我进化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9267444" y="3886200"/>
            <a:ext cx="214426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刚刚起步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548640" y="484632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考满分的AI，未必能放心交付。下一代AI的进步，</a:t>
            </a: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要靠真实世界的反应</a:t>
            </a: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解决方案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AI完成任务，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真实结果成为下一轮训练信号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645920"/>
            <a:ext cx="6035040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645920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1234440" y="164592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训练环境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2834640" y="164592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用真实数据重建真实场景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468880"/>
            <a:ext cx="6035040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77240" y="2468880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234440" y="246888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结果评分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2834640" y="246888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按真实结果打分，不靠另一个AI的主观判断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291840"/>
            <a:ext cx="6035040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77240" y="3291840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1234440" y="329184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专家反馈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2834640" y="329184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提供专业判断与评分标准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4114800"/>
            <a:ext cx="6035040" cy="59436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777240" y="411480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2834640" y="411480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同一套环境，打通评测、数据与训练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7086600" y="1645920"/>
            <a:ext cx="4553712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7360920" y="1645920"/>
            <a:ext cx="40050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AI行动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086600" y="2240280"/>
            <a:ext cx="45537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↓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7086600" y="2468880"/>
            <a:ext cx="4553712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360920" y="2468880"/>
            <a:ext cx="40050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世界按真实发生的情况作出反应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7086600" y="3063240"/>
            <a:ext cx="45537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↓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7086600" y="3291840"/>
            <a:ext cx="4553712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360920" y="3291840"/>
            <a:ext cx="40050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按真实结果结算，留下Agent轨迹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086600" y="3886200"/>
            <a:ext cx="45537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↓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7086600" y="4114800"/>
            <a:ext cx="4553712" cy="59436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7360920" y="4114800"/>
            <a:ext cx="40050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下一轮训练：自我进化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每一轮都从上一轮出发：这就是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自我进化（RSI）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0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旗舰实证 · Xitadel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两周，我们跑通了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全球首个做市交易的自我进化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54480"/>
            <a:ext cx="5852160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554480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上真实战场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1828800" y="15544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回放真实交易日与订单簿，采用IMC Trading合作授权数据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2011680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2011680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市场当裁判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1828800" y="20116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每笔交易由市场结算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2468880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548640" y="2468880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从结果中进化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1828800" y="24688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每天复盘盈亏与订单，一轮比一轮强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926080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48640" y="3108960"/>
            <a:ext cx="21945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5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2743200" y="3145536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开源模型Qwen3.8-27B训练后，</a:t>
            </a:r>
            <a:br>
              <a:rPr lang="zh-CN" sz="1250"/>
            </a:br>
            <a:r>
              <a:rPr lang="zh-CN" sz="12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在未见过的真实行情上交易表现最高提升12%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37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受控实验，多次独立复现；运行记录尽调时提供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4151376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4261104"/>
            <a:ext cx="58521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交易是第一个跑通的世界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4608576"/>
            <a:ext cx="58521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下一步：多策略、多市场、多行业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6812280" y="1554480"/>
            <a:ext cx="4828032" cy="336499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7086600" y="1755648"/>
            <a:ext cx="427939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Xitadel公开预览版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086600" y="1993392"/>
            <a:ext cx="427939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尚无模型越过人类水平线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10588752" y="2697480"/>
            <a:ext cx="13716" cy="177393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9857232" y="2478024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人类基准 80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7086600" y="2880360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GPT 6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321040" y="2926080"/>
            <a:ext cx="2190610" cy="2011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9908146" y="2880360"/>
            <a:ext cx="548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FAF9F6"/>
                </a:solidFill>
                <a:latin typeface="IBM Plex Mono"/>
                <a:ea typeface="IBM Plex Mono"/>
                <a:cs typeface="IBM Plex Mono"/>
                <a:sym typeface="IBM Plex Mono"/>
              </a:rPr>
              <a:t>77.28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086600" y="3300984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GLM 5.3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8321040" y="3346704"/>
            <a:ext cx="853794" cy="2011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9229698" y="3300984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30.12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7086600" y="3721608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Kimi K3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8321040" y="3767328"/>
            <a:ext cx="784628" cy="2011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9160532" y="3721608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27.68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7086600" y="4142232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DeepSeek V4 Pro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8321040" y="4187952"/>
            <a:ext cx="696755" cy="2011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9072659" y="4142232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24.58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产品矩阵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14天上线7款产品，已有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5个公开仓库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5544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产品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246120" y="15544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领域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434840" y="15544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做什么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9509760" y="15544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状态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548640" y="182880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548640" y="1828800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Xitadel-QuantBench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246120" y="1828800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交易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434840" y="1828800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回放真实交易日与订单簿，按盈亏结算；已跑通自我进化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9509760" y="1828800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102星标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31343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548640" y="2313432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SimReal-MLBench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Simreal-MLBench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3246120" y="2313432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AI研究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434840" y="2313432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60个研究任务、7类数据，参照OpenAI的MLE-bench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9509760" y="2313432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178星标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48640" y="27980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548640" y="2798064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FuturePredict Bench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future-prediction-bench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3246120" y="2798064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事件预测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434840" y="2798064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预测真实事件，揭晓后按结果训练；数据实时接入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9509760" y="2798064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部分开源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548640" y="328269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548640" y="3282696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MathmoBench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MathmoBench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3246120" y="3282696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数学证明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4434840" y="3282696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让AI证明答案，而不是猜答案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9509760" y="3282696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102星标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548640" y="376732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548640" y="3767328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Puzzle Benchmark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hard-puzzle-benchmark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3246120" y="3767328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逻辑推理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4434840" y="3767328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749道人工编写的推理谜题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9509760" y="3767328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17星标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548640" y="425196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548640" y="4251960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Close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3246120" y="4251960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财务结账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4434840" y="4251960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让AI零差错完成月结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9509760" y="4251960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已上线  ·  非公开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548640" y="473659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548640" y="4736592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SWE-Forward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3246120" y="4736592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软件工程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4434840" y="4736592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检验AI写的代码能否挺过下一个版本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9509760" y="4736592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已上线  ·  非公开</a:t>
            </a:r>
          </a:p>
        </p:txBody>
      </p:sp>
      <p:sp>
        <p:nvSpPr>
          <p:cNvPr id="5045" name="SimReal 5045"/>
          <p:cNvSpPr/>
          <p:nvPr/>
        </p:nvSpPr>
        <p:spPr>
          <a:xfrm>
            <a:off x="548640" y="522122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6" name="SimReal 5046"/>
          <p:cNvSpPr txBox="1"/>
          <p:nvPr/>
        </p:nvSpPr>
        <p:spPr>
          <a:xfrm>
            <a:off x="548640" y="53949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以上全部在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零外部融资</a:t>
            </a: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下完成。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6035040" y="5394960"/>
            <a:ext cx="56052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合计400星标  ·  2026年9月29日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50" name="SimReal 505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1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数据业务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环境与专家网络，产出三类AI数据：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Agent轨迹、专家数据、评测数据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2377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1975104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Agent轨迹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05456"/>
            <a:ext cx="296570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AI在真实环境中完成多步任务的全过程：</a:t>
            </a:r>
            <a:br>
              <a:rPr lang="zh-CN" sz="1150"/>
            </a:b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每一步动作、世界的反馈、最终结果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25526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328416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按真实结果标注成败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22960" y="3602736"/>
            <a:ext cx="296570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用于监督微调与强化学习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4337304" y="1572768"/>
            <a:ext cx="3514344" cy="2377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4611624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1975104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专家数据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11624" y="2505456"/>
            <a:ext cx="296570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背靠21所顶尖大学的学生和校友网络：</a:t>
            </a:r>
            <a:br>
              <a:rPr lang="zh-CN" sz="1150"/>
            </a:b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真实工作里的示范、判断与评分标准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4611624" y="325526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4611624" y="3328416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覆盖各行业入门岗位与顶尖科研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611624" y="3602736"/>
            <a:ext cx="296570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用于对齐、奖励模型与评分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8125968" y="1572768"/>
            <a:ext cx="3514344" cy="2377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8400288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400288" y="1975104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评测数据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400288" y="2505456"/>
            <a:ext cx="296570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私有评测集与留出集：</a:t>
            </a:r>
            <a:br>
              <a:rPr lang="zh-CN" sz="1150"/>
            </a:b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只用于检验，从不参与训练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8400288" y="325526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8400288" y="3328416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上线前经过攻防测试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00288" y="3602736"/>
            <a:ext cx="296570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用于模型验收与持续评测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413308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和只卖人工数据的公司不同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48640" y="4389120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548640" y="446227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同源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463040" y="4462272"/>
            <a:ext cx="25999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数据、评分与训练，共用一套环境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4337304" y="4389120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4337304" y="446227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可验证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251704" y="4462272"/>
            <a:ext cx="25999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轨迹成败由真实结果判定，不靠人工意见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8125968" y="4389120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8125968" y="446227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会生长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9040368" y="4462272"/>
            <a:ext cx="25999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模型错在哪，下一批数据就补到哪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548640" y="523036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今天实验室每年花85亿美元买训练数据与RL环境：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这两样，我们都做</a:t>
            </a: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商业模式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每一轮都有新交付：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合作越深，收入越高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76809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三条产品线   </a:t>
            </a: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训练环境  ·  AI数据（Agent轨迹、专家、评测） ·  RSI自我进化服务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8229600" y="1499616"/>
            <a:ext cx="341071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同一模式：AfterQuery 14个月做到年化1亿美元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548640" y="201168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731520" y="2066544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合作阶段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2926080" y="2066544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客户买什么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080760" y="2066544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收费依据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595360" y="2066544"/>
            <a:ext cx="28803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为什么继续买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548640" y="235915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731520" y="2359152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1143000" y="2359152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付费试点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926080" y="2359152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一项能力的环境、数据与评测包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080760" y="2359152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固定范围、固定验收标准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595360" y="2359152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验证接入与训练价值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292608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731520" y="2926080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143000" y="2926080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正式授权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2926080" y="2926080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环境、任务集、验证器、约定使用权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080760" y="2926080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期限、范围、独占性；数据按交付量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595360" y="2926080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扩大领域与任务覆盖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548640" y="349300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731520" y="3493008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143000" y="3493008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持续更新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2926080" y="3493008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新场景、新任务、新轨迹、私有留出集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080760" y="3493008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年度合同或分批订单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595360" y="3493008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旧任务会饱和，新能力需要新数据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548640" y="405993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/>
          <p:nvPr/>
        </p:nvSpPr>
        <p:spPr>
          <a:xfrm>
            <a:off x="548640" y="4059936"/>
            <a:ext cx="11091672" cy="5669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731520" y="4059936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143000" y="4059936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联合训练（RSI）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2926080" y="4059936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训练实验、消融分析、迁移验证、托管运行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080760" y="4059936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项目或持续服务合同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8595360" y="4059936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E27A3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解决客户下一阶段的能力缺口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548640" y="4882896"/>
            <a:ext cx="3544824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786384" y="5029200"/>
            <a:ext cx="306933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开源 vs 付费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786384" y="5376672"/>
            <a:ext cx="30693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开源基准：公开，用来建立信任</a:t>
            </a:r>
          </a:p>
          <a:p>
            <a:pPr marL="0" marR="0" lvl="0" indent="0" algn="l" rtl="0">
              <a:spcBef>
                <a:spcPts val="367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付费产品：私有任务、数据、留出集与验证器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4322064" y="4882896"/>
            <a:ext cx="3544824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4559808" y="5029200"/>
            <a:ext cx="306933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非独家 vs 独家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4559808" y="5376672"/>
            <a:ext cx="30693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非独家：同一环境可授权给多家实验室</a:t>
            </a:r>
          </a:p>
          <a:p>
            <a:pPr marL="0" marR="0" lvl="0" indent="0" algn="l" rtl="0">
              <a:spcBef>
                <a:spcPts val="367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独家：按领域与期限锁定，溢价较大（Epoch AI）</a:t>
            </a:r>
          </a:p>
        </p:txBody>
      </p:sp>
      <p:sp>
        <p:nvSpPr>
          <p:cNvPr id="5043" name="SimReal 5043"/>
          <p:cNvSpPr/>
          <p:nvPr/>
        </p:nvSpPr>
        <p:spPr>
          <a:xfrm>
            <a:off x="8095488" y="4882896"/>
            <a:ext cx="3544824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4" name="SimReal 5044"/>
          <p:cNvSpPr txBox="1"/>
          <p:nvPr/>
        </p:nvSpPr>
        <p:spPr>
          <a:xfrm>
            <a:off x="8333232" y="5029200"/>
            <a:ext cx="306933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下一步 · 个人agent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8333232" y="5376672"/>
            <a:ext cx="30693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同一个世界，两类客户：实验室与agent</a:t>
            </a:r>
          </a:p>
          <a:p>
            <a:pPr marL="0" marR="0" lvl="0" indent="0" algn="l" rtl="0">
              <a:spcBef>
                <a:spcPts val="367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agent开发者付费练习，默认保密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9713" y="4954622"/>
            <a:ext cx="856188" cy="33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6639" y="5005917"/>
            <a:ext cx="1239004" cy="229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42502" y="4849927"/>
            <a:ext cx="1103947" cy="54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47082" y="4995012"/>
            <a:ext cx="1131456" cy="25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当前进展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产品已公开，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商业采购正在推进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2567178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2家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前沿实验室在谈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3390138" y="1517904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3390138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3390138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专家候补名单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6231636" y="1517904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6231636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400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231636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GitHub星标合计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231636" y="2724912"/>
            <a:ext cx="256717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2026年9月29日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9073134" y="1517904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9073134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5位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9073134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天使投资人主动联系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48640" y="329184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前沿实验室采购进度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822960" y="3835908"/>
            <a:ext cx="1054303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/>
          <p:nvPr/>
        </p:nvSpPr>
        <p:spPr>
          <a:xfrm>
            <a:off x="822960" y="3826764"/>
            <a:ext cx="3514344" cy="2743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/>
          <p:nvPr/>
        </p:nvSpPr>
        <p:spPr>
          <a:xfrm>
            <a:off x="740664" y="3758184"/>
            <a:ext cx="164592" cy="16459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91440" y="402336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接触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4255008" y="3758184"/>
            <a:ext cx="164592" cy="16459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3605784" y="402336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洽谈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3605784" y="3419856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当前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7769352" y="3758184"/>
            <a:ext cx="164592" cy="164592"/>
          </a:xfrm>
          <a:prstGeom prst="ellipse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120128" y="402336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付费试点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11283696" y="3758184"/>
            <a:ext cx="164592" cy="164592"/>
          </a:xfrm>
          <a:prstGeom prst="ellipse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10634472" y="402336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采购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548640" y="457200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支持我们研发的交易机构从业者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9616745" y="493776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Polymarket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48640" y="5577840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标识仅表示支持者任职机构，不代表机构背书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15" descr="harvard-in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98059" y="2529597"/>
            <a:ext cx="675667" cy="445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5" descr="stanford-ink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06476" y="2478024"/>
            <a:ext cx="548640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5" descr="mit-ink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53425" y="2550204"/>
            <a:ext cx="744548" cy="404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5" descr="oxford-ink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66406" y="2603094"/>
            <a:ext cx="1008395" cy="2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15" descr="cambridge-ink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244932" y="3572705"/>
            <a:ext cx="581921" cy="517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5" descr="princeton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55513" y="3688077"/>
            <a:ext cx="1050566" cy="286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5" descr="yale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711926" y="3591509"/>
            <a:ext cx="627548" cy="479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15" descr="berkeley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277336" y="3678779"/>
            <a:ext cx="986535" cy="305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15" descr="tsinghua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54853" y="4753893"/>
            <a:ext cx="962077" cy="312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5" descr="columbia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949523" y="4683169"/>
            <a:ext cx="662546" cy="454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15" descr="uchicago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471940" y="4774436"/>
            <a:ext cx="1107519" cy="271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15" descr="duke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353823" y="4729774"/>
            <a:ext cx="833560" cy="361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15" descr="SimReal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专家网络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20万</a:t>
            </a:r>
            <a:r>
              <a:rPr lang="zh-CN" sz="16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+</a:t>
            </a: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可触达、可验证的专家：21所顶尖大学的学生和校友，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专家数据的源头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72768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20万</a:t>
            </a:r>
            <a:r>
              <a:rPr lang="zh-CN" sz="34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+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2304288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可触达、可验证的专家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2606040" y="1572768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21所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2606040" y="2304288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顶尖大学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743200"/>
            <a:ext cx="393192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852928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入门岗位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600200" y="2852928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每个行业，AI最先接手的工作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48640" y="3255264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顶尖科研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1600200" y="3255264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最难的问题，最难的判断标准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48640" y="3657600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向上延伸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1600200" y="3657600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成员逐年晋升，网络延伸到资深与高层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056632" y="205740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网络覆盖的部分高校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541324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每做一个领域，资产都会留下来：</a:t>
            </a:r>
            <a:r>
              <a:rPr lang="zh-CN" sz="1300" b="0" i="0" u="none" strike="noStrike" cap="none">
                <a:solidFill>
                  <a:srgbClr val="33322F"/>
                </a:solidFill>
                <a:latin typeface="Newsreader"/>
                <a:ea typeface="Newsreader"/>
                <a:cs typeface="Newsreader"/>
                <a:sym typeface="Newsreader"/>
              </a:rPr>
              <a:t>专家网络 → 专家数据与判断标准 → 环境与验证器 → 失败案例库 → </a:t>
            </a:r>
            <a:r>
              <a:rPr lang="zh-CN" sz="13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复用到下一个领域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5943600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网络覆盖不等于已注册或参与交付；高校标识不代表学校背书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市场规模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2030年：训练市场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7,000亿美元</a:t>
            </a: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，是今天的82倍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3941064" y="1883664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7790688" y="1883664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548640" y="1517904"/>
            <a:ext cx="33924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548640" y="1645920"/>
            <a:ext cx="33924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今天 · 实验室在买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01952"/>
            <a:ext cx="339242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85亿美元/年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2523744"/>
            <a:ext cx="339242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训练数据与RL环境，50余家供应商合计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548640" y="2889504"/>
            <a:ext cx="33924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头部三家收入（Surge为2024年，其余为年化）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48640" y="3182112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Mercor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1600200" y="3209544"/>
            <a:ext cx="1371600" cy="219456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3044952" y="3182112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20亿美元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3584448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Surge AI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1600200" y="3611880"/>
            <a:ext cx="822960" cy="219456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2496312" y="3584448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12亿美元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48640" y="3986784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Snorkel AI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1600200" y="4014216"/>
            <a:ext cx="257175" cy="219456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1930527" y="3986784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3.75亿美元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98264" y="1517904"/>
            <a:ext cx="33924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98264" y="1645920"/>
            <a:ext cx="33924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2030年 · AI经济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98264" y="1901952"/>
            <a:ext cx="339242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约7万亿美元/年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98264" y="2542032"/>
            <a:ext cx="22037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美国（麦肯锡）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601968" y="254203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2.9万亿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4398264" y="2907792"/>
            <a:ext cx="339242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4398264" y="2907792"/>
            <a:ext cx="22037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÷ 美国占全球GDP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601968" y="290779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25.7%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4398264" y="3273552"/>
            <a:ext cx="339242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4398264" y="3273552"/>
            <a:ext cx="22037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= 全球，同等渗透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6601968" y="327355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11.3万亿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4398264" y="3639312"/>
            <a:ext cx="339242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4398264" y="3639312"/>
            <a:ext cx="22037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= 美国以外渗透减半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6601968" y="363931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7.1万亿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8247888" y="1517904"/>
            <a:ext cx="3392424" cy="33832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8485632" y="1645920"/>
            <a:ext cx="29169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2030年 · 我们的市场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8485632" y="1901952"/>
            <a:ext cx="291693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7,000亿美元/年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485632" y="2542032"/>
            <a:ext cx="172821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AI经济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213848" y="254203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7万亿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8485632" y="2907792"/>
            <a:ext cx="2916936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8485632" y="2907792"/>
            <a:ext cx="172821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× 训练占比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0213848" y="290779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10%</a:t>
            </a:r>
          </a:p>
        </p:txBody>
      </p:sp>
      <p:sp>
        <p:nvSpPr>
          <p:cNvPr id="5043" name="SimReal 5043"/>
          <p:cNvSpPr/>
          <p:nvPr/>
        </p:nvSpPr>
        <p:spPr>
          <a:xfrm>
            <a:off x="8485632" y="3273552"/>
            <a:ext cx="2916936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4" name="SimReal 5044"/>
          <p:cNvSpPr txBox="1"/>
          <p:nvPr/>
        </p:nvSpPr>
        <p:spPr>
          <a:xfrm>
            <a:off x="8485632" y="3273552"/>
            <a:ext cx="172821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= 训练市场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10213848" y="327355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7,000亿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8485632" y="3730752"/>
            <a:ext cx="29169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今天的82倍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8485632" y="4261104"/>
            <a:ext cx="29169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训练是AI经济的研发预算。</a:t>
            </a:r>
            <a:br>
              <a:rPr lang="zh-CN" sz="1000"/>
            </a:b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大型科技公司研发约占收入10–15%，取下限。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548640" y="513892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今天卖给实验室，2030年卖给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整个AI经济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548640" y="577900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来源：Menlo Ventures（2026.7）；Mercor年化毛营收（2026.6）、Surge收入（2024）、Snorkel年化收入（2026.9）；麦肯锡（2025.11）；IMF（2026.4）；科技公司年报。训练占比、美国以外渗透率为假设，详见A2。</a:t>
            </a:r>
          </a:p>
        </p:txBody>
      </p:sp>
      <p:sp>
        <p:nvSpPr>
          <p:cNvPr id="5050" name="SimReal 505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51" name="SimReal 5051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52" name="SimReal 505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竞争格局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别人做一环，我们做让AI持续进步的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完整闭环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591056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专家数据平台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77240" y="1938528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Mercor、Surge、AfterQuery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291840" y="1517904"/>
            <a:ext cx="3474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专家示范与判断，按人工意见打分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286000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77240" y="235915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中国同行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77240" y="2706624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UniPat、Humanlaya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291840" y="2286000"/>
            <a:ext cx="3474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主要服务国内实验室：专家数据与评测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054096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77240" y="327355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AI评测公司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3291840" y="3054096"/>
            <a:ext cx="3474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测今天的水平，分数就是产品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3822192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77240" y="404164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实验室自建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291840" y="3822192"/>
            <a:ext cx="3474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只做自己熟悉的领域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4590288"/>
            <a:ext cx="6400800" cy="676656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777240" y="46634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SimReal 衍真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777240" y="5010912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环境、数据、评分、自我进化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3291840" y="4590288"/>
            <a:ext cx="3474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同一套环境打通数据、评分与训练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19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每次结果都进入下一轮，AI越练越强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0" y="1517904"/>
            <a:ext cx="432511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我们的优势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7315200" y="1810512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7315200" y="1901952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自有资产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7315200" y="2267712"/>
            <a:ext cx="4325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环境构建工具、验证器、专业任务库和失败案例积累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7315200" y="2706624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7315200" y="2798064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客户粘性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7315200" y="3163824"/>
            <a:ext cx="4325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每轮模型升级，都需要新任务、新数据、新留出集和验证器维护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7315200" y="3602736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7315200" y="3694176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交付速度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7315200" y="4059936"/>
            <a:ext cx="4325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14天7款产品，两周跑通做市交易的自我进化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7315200" y="4498848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7315200" y="4590288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独立中立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7315200" y="4956048"/>
            <a:ext cx="4325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不属于任何一家实验室：中美实验室都能放心采购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548640" y="557784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国内现状  </a:t>
            </a: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据彭博报道，UniPat获阿里领投3亿美元（估值25亿美元）；Humanlaya完成鼎晖领投的数亿元Pre-A；阿里、字节、DeepSeek都已向两家采购。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为什么是我们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热点变得越快，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我们越有利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每一波热点，都由跑得最快的年轻团队拿下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737360"/>
            <a:ext cx="2633472" cy="42062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86384" y="1737360"/>
            <a:ext cx="226771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数据标注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182112" y="1737360"/>
            <a:ext cx="182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364992" y="1737360"/>
            <a:ext cx="2633472" cy="42062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602736" y="1737360"/>
            <a:ext cx="226771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专家数据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5998464" y="1737360"/>
            <a:ext cx="182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6181344" y="1737360"/>
            <a:ext cx="2633472" cy="42062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6419088" y="1737360"/>
            <a:ext cx="226771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RL环境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8814816" y="1737360"/>
            <a:ext cx="182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997696" y="1737360"/>
            <a:ext cx="2633472" cy="42062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9235440" y="1737360"/>
            <a:ext cx="226771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2267712"/>
            <a:ext cx="2633472" cy="31089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786384" y="2414016"/>
            <a:ext cx="21579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Scale AI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786384" y="2743200"/>
            <a:ext cx="215798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290亿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786384" y="3383280"/>
            <a:ext cx="215798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美元估值，2025年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786384" y="3822192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86384" y="3877056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19岁的Alexandr Wang创立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786384" y="4315968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86384" y="4370832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MIT辍学，出自Y Combinator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786384" y="4809744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786384" y="4864608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曾是最年轻的白手起家亿万富翁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3364992" y="2267712"/>
            <a:ext cx="2633472" cy="31089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3602736" y="2414016"/>
            <a:ext cx="21579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Mercor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3602736" y="2743200"/>
            <a:ext cx="215798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100亿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602736" y="3383280"/>
            <a:ext cx="215798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美元估值，2025年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3602736" y="3822192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3602736" y="3877056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三位高中同学创立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3602736" y="4315968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3602736" y="4370832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22岁成最年轻白手起家亿万富翁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3602736" y="4809744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3602736" y="4864608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13个月估值上涨约40倍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6181344" y="2267712"/>
            <a:ext cx="2633472" cy="31089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6419088" y="2414016"/>
            <a:ext cx="21579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AfterQuery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6419088" y="2743200"/>
            <a:ext cx="215798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32亿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6419088" y="3383280"/>
            <a:ext cx="215798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美元估值，加入YC 18个月</a:t>
            </a:r>
          </a:p>
        </p:txBody>
      </p:sp>
      <p:sp>
        <p:nvSpPr>
          <p:cNvPr id="5041" name="SimReal 5041"/>
          <p:cNvSpPr/>
          <p:nvPr/>
        </p:nvSpPr>
        <p:spPr>
          <a:xfrm>
            <a:off x="6419088" y="3822192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2" name="SimReal 5042"/>
          <p:cNvSpPr txBox="1"/>
          <p:nvPr/>
        </p:nvSpPr>
        <p:spPr>
          <a:xfrm>
            <a:off x="6419088" y="3877056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两位约21岁的在校大学生创立</a:t>
            </a:r>
          </a:p>
        </p:txBody>
      </p:sp>
      <p:sp>
        <p:nvSpPr>
          <p:cNvPr id="5043" name="SimReal 5043"/>
          <p:cNvSpPr/>
          <p:nvPr/>
        </p:nvSpPr>
        <p:spPr>
          <a:xfrm>
            <a:off x="6419088" y="4315968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4" name="SimReal 5044"/>
          <p:cNvSpPr txBox="1"/>
          <p:nvPr/>
        </p:nvSpPr>
        <p:spPr>
          <a:xfrm>
            <a:off x="6419088" y="4370832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创始人曾在Citadel Securities实习</a:t>
            </a:r>
          </a:p>
        </p:txBody>
      </p:sp>
      <p:sp>
        <p:nvSpPr>
          <p:cNvPr id="5045" name="SimReal 5045"/>
          <p:cNvSpPr/>
          <p:nvPr/>
        </p:nvSpPr>
        <p:spPr>
          <a:xfrm>
            <a:off x="6419088" y="4809744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6" name="SimReal 5046"/>
          <p:cNvSpPr txBox="1"/>
          <p:nvPr/>
        </p:nvSpPr>
        <p:spPr>
          <a:xfrm>
            <a:off x="6419088" y="4864608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YC史上最快的独角兽</a:t>
            </a:r>
          </a:p>
        </p:txBody>
      </p:sp>
      <p:sp>
        <p:nvSpPr>
          <p:cNvPr id="5047" name="SimReal 5047"/>
          <p:cNvSpPr/>
          <p:nvPr/>
        </p:nvSpPr>
        <p:spPr>
          <a:xfrm>
            <a:off x="8997696" y="2267712"/>
            <a:ext cx="2633472" cy="310896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8" name="SimReal 5048"/>
          <p:cNvSpPr txBox="1"/>
          <p:nvPr/>
        </p:nvSpPr>
        <p:spPr>
          <a:xfrm>
            <a:off x="9235440" y="2414016"/>
            <a:ext cx="21579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SimReal 衍真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9235440" y="2743200"/>
            <a:ext cx="215798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14天</a:t>
            </a:r>
          </a:p>
        </p:txBody>
      </p:sp>
      <p:sp>
        <p:nvSpPr>
          <p:cNvPr id="5050" name="SimReal 5050"/>
          <p:cNvSpPr txBox="1"/>
          <p:nvPr/>
        </p:nvSpPr>
        <p:spPr>
          <a:xfrm>
            <a:off x="9235440" y="3383280"/>
            <a:ext cx="215798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7款产品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全球首个自我进化做市环境</a:t>
            </a:r>
          </a:p>
        </p:txBody>
      </p:sp>
      <p:sp>
        <p:nvSpPr>
          <p:cNvPr id="5051" name="SimReal 5051"/>
          <p:cNvSpPr/>
          <p:nvPr/>
        </p:nvSpPr>
        <p:spPr>
          <a:xfrm>
            <a:off x="9235440" y="3822192"/>
            <a:ext cx="215798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2" name="SimReal 5052"/>
          <p:cNvSpPr txBox="1"/>
          <p:nvPr/>
        </p:nvSpPr>
        <p:spPr>
          <a:xfrm>
            <a:off x="9235440" y="3877056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05后量化创始团队</a:t>
            </a:r>
          </a:p>
        </p:txBody>
      </p:sp>
      <p:sp>
        <p:nvSpPr>
          <p:cNvPr id="5053" name="SimReal 5053"/>
          <p:cNvSpPr/>
          <p:nvPr/>
        </p:nvSpPr>
        <p:spPr>
          <a:xfrm>
            <a:off x="9235440" y="4315968"/>
            <a:ext cx="215798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4" name="SimReal 5054"/>
          <p:cNvSpPr txBox="1"/>
          <p:nvPr/>
        </p:nvSpPr>
        <p:spPr>
          <a:xfrm>
            <a:off x="9235440" y="4370832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剑桥、LSE、杜克最后一年在读</a:t>
            </a:r>
          </a:p>
        </p:txBody>
      </p:sp>
      <p:sp>
        <p:nvSpPr>
          <p:cNvPr id="5055" name="SimReal 5055"/>
          <p:cNvSpPr/>
          <p:nvPr/>
        </p:nvSpPr>
        <p:spPr>
          <a:xfrm>
            <a:off x="9235440" y="4809744"/>
            <a:ext cx="215798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6" name="SimReal 5056"/>
          <p:cNvSpPr txBox="1"/>
          <p:nvPr/>
        </p:nvSpPr>
        <p:spPr>
          <a:xfrm>
            <a:off x="9235440" y="4864608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放弃顶级量化机构的转正offer</a:t>
            </a:r>
          </a:p>
        </p:txBody>
      </p:sp>
      <p:sp>
        <p:nvSpPr>
          <p:cNvPr id="5057" name="SimReal 5057"/>
          <p:cNvSpPr txBox="1"/>
          <p:nvPr/>
        </p:nvSpPr>
        <p:spPr>
          <a:xfrm>
            <a:off x="548640" y="5541264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押注我们，就是押注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AI每一次范式变化中的机会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58" name="SimReal 505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59" name="SimReal 5059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60" name="SimReal 506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融资计划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本轮融资人民币4,000万元，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投后估值5亿元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2601468" cy="10241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86384" y="164592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86384" y="1810512"/>
            <a:ext cx="214426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86384" y="2304288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人民币，等值美元投资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378708" y="1517904"/>
            <a:ext cx="2601468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616452" y="164592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本轮出让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3616452" y="1810512"/>
            <a:ext cx="214426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8%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6208776" y="1517904"/>
            <a:ext cx="2601468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6446520" y="164592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投前估值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446520" y="1810512"/>
            <a:ext cx="214426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4.6亿元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446520" y="2304288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人民币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9038844" y="1517904"/>
            <a:ext cx="2601468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9276588" y="164592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投后估值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9276588" y="1810512"/>
            <a:ext cx="214426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5亿元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9276588" y="2304288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人民币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2688336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本轮目标   </a:t>
            </a: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环境从付费试点推进到授权与复购；AI数据批量交付；RSI在实盘交易与事件预测上线；向个人agent开放练习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32369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估值参照：同赛道公司已由头部机构定价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548640" y="3493008"/>
            <a:ext cx="2601468" cy="13716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786384" y="3621024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国内 · UniPat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86384" y="3858768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25亿美元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786384" y="4261104"/>
            <a:ext cx="21442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据报道估值（2026年9月）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786384" y="449884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阿里领投，腾讯、红杉中国跟投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3378708" y="3493008"/>
            <a:ext cx="2601468" cy="13716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3616452" y="3621024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国内 · Humanlaya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3616452" y="3858768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数亿元人民币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616452" y="4261104"/>
            <a:ext cx="21442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Pre-A融资额（2026年9月）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3616452" y="449884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鼎晖领投，红杉中国等参投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6208776" y="3493008"/>
            <a:ext cx="2601468" cy="13716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6446520" y="3621024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海外 · Applied Compute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6446520" y="3858768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1亿 → 约30亿美元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446520" y="4261104"/>
            <a:ext cx="21442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种子轮投后 → 14个月后（洽谈中）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6446520" y="449884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种子轮2,000万美元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9038844" y="3493008"/>
            <a:ext cx="2601468" cy="13716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9276588" y="3621024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海外 · AfterQuery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9276588" y="3858768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3亿 → 32亿美元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9276588" y="4261104"/>
            <a:ext cx="21442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A轮 → 5个月后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9276588" y="449884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A轮时年化收入1亿美元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548640" y="5065776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国内同赛道已获红杉中国、鼎晖、今日资本、BAI投资，阿里、腾讯也已入局：</a:t>
            </a: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赛道已被验证</a:t>
            </a: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548640" y="5596128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UniPat为据报道估值，Applied Compute约30亿美元为洽谈中估值，Humanlaya为融资额；其余为投后估值。来源见A2。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资金用途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两台引擎：收入引擎赚今天的钱，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RSI引擎拿下每个行业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5408676" cy="41148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37360"/>
            <a:ext cx="48234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  收入引擎  · 投入2,000万元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1975104"/>
            <a:ext cx="48234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环境与数据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542032"/>
            <a:ext cx="48234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环境一次搭建，授权给多家实验室；数据按交付量收费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41248" y="2944368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41248" y="2944368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700万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755648" y="2944368"/>
            <a:ext cx="1143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环境生产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2944368" y="2944368"/>
            <a:ext cx="27203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按行业批量搭建训练环境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41248" y="3255264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41248" y="3255264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400万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1755648" y="3255264"/>
            <a:ext cx="1143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数据生产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2944368" y="3255264"/>
            <a:ext cx="27203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Agent轨迹、专家数据、评测数据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41248" y="3566160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1248" y="3566160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600万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755648" y="3566160"/>
            <a:ext cx="1143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交付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944368" y="3566160"/>
            <a:ext cx="27203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接入、验收与持续更新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1248" y="3877056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1248" y="3877056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300万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755648" y="3877056"/>
            <a:ext cx="1143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销售与运营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2944368" y="3877056"/>
            <a:ext cx="27203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前沿实验室、企业与agent开发者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41248" y="4187952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41248" y="4261104"/>
            <a:ext cx="48234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环境收入 </a:t>
            </a: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=</a:t>
            </a: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 环境数 </a:t>
            </a: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×</a:t>
            </a: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 授权次数 </a:t>
            </a: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×</a:t>
            </a: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 单价</a:t>
            </a: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环境单价2万–30万美元（Epoch AI）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841248" y="4956048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841248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3个月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41248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首个付费试点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449068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6个月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2449068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环境授权与复购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4056888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12个月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4056888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持续更新合同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6231636" y="1517904"/>
            <a:ext cx="5408676" cy="411480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6524244" y="1737360"/>
            <a:ext cx="48234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02  RSI引擎  · 投入2,000万元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6524244" y="1975104"/>
            <a:ext cx="48234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6524244" y="2542032"/>
            <a:ext cx="48234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瞄准整个AI经济：每个行业，一个自己变强的AI</a:t>
            </a:r>
          </a:p>
        </p:txBody>
      </p:sp>
      <p:sp>
        <p:nvSpPr>
          <p:cNvPr id="5038" name="SimReal 5038"/>
          <p:cNvSpPr/>
          <p:nvPr/>
        </p:nvSpPr>
        <p:spPr>
          <a:xfrm>
            <a:off x="6524244" y="2944368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9" name="SimReal 5039"/>
          <p:cNvSpPr txBox="1"/>
          <p:nvPr/>
        </p:nvSpPr>
        <p:spPr>
          <a:xfrm>
            <a:off x="6524244" y="2944368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900万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7438644" y="2944368"/>
            <a:ext cx="1143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算力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8627364" y="2944368"/>
            <a:ext cx="27203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模型自己训练自己，一轮比一轮强</a:t>
            </a:r>
          </a:p>
        </p:txBody>
      </p:sp>
      <p:sp>
        <p:nvSpPr>
          <p:cNvPr id="5042" name="SimReal 5042"/>
          <p:cNvSpPr/>
          <p:nvPr/>
        </p:nvSpPr>
        <p:spPr>
          <a:xfrm>
            <a:off x="6524244" y="3255264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3" name="SimReal 5043"/>
          <p:cNvSpPr txBox="1"/>
          <p:nvPr/>
        </p:nvSpPr>
        <p:spPr>
          <a:xfrm>
            <a:off x="6524244" y="3255264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700万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7438644" y="3255264"/>
            <a:ext cx="1143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研究团队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8627364" y="3255264"/>
            <a:ext cx="27203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从交易走向10个行业</a:t>
            </a:r>
          </a:p>
        </p:txBody>
      </p:sp>
      <p:sp>
        <p:nvSpPr>
          <p:cNvPr id="5046" name="SimReal 5046"/>
          <p:cNvSpPr/>
          <p:nvPr/>
        </p:nvSpPr>
        <p:spPr>
          <a:xfrm>
            <a:off x="6524244" y="3566160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7" name="SimReal 5047"/>
          <p:cNvSpPr txBox="1"/>
          <p:nvPr/>
        </p:nvSpPr>
        <p:spPr>
          <a:xfrm>
            <a:off x="6524244" y="3566160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400万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7438644" y="3566160"/>
            <a:ext cx="1143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实盘与合规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8627364" y="3566160"/>
            <a:ext cx="27203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真实资金、真实市场、真实结算</a:t>
            </a:r>
          </a:p>
        </p:txBody>
      </p:sp>
      <p:sp>
        <p:nvSpPr>
          <p:cNvPr id="5050" name="SimReal 5050"/>
          <p:cNvSpPr/>
          <p:nvPr/>
        </p:nvSpPr>
        <p:spPr>
          <a:xfrm>
            <a:off x="6524244" y="3877056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1" name="SimReal 5051"/>
          <p:cNvSpPr txBox="1"/>
          <p:nvPr/>
        </p:nvSpPr>
        <p:spPr>
          <a:xfrm>
            <a:off x="6524244" y="4261104"/>
            <a:ext cx="48234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实盘交易RSI  ·  事件预测RSI  ·  10个行业</a:t>
            </a: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每个行业，同步开发自我进化环境</a:t>
            </a:r>
          </a:p>
        </p:txBody>
      </p:sp>
      <p:sp>
        <p:nvSpPr>
          <p:cNvPr id="5052" name="SimReal 5052"/>
          <p:cNvSpPr/>
          <p:nvPr/>
        </p:nvSpPr>
        <p:spPr>
          <a:xfrm>
            <a:off x="6524244" y="4956048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3" name="SimReal 5053"/>
          <p:cNvSpPr txBox="1"/>
          <p:nvPr/>
        </p:nvSpPr>
        <p:spPr>
          <a:xfrm>
            <a:off x="6524244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3个月</a:t>
            </a:r>
          </a:p>
        </p:txBody>
      </p:sp>
      <p:sp>
        <p:nvSpPr>
          <p:cNvPr id="5054" name="SimReal 5054"/>
          <p:cNvSpPr txBox="1"/>
          <p:nvPr/>
        </p:nvSpPr>
        <p:spPr>
          <a:xfrm>
            <a:off x="6524244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实盘交易RSI上线</a:t>
            </a:r>
          </a:p>
        </p:txBody>
      </p:sp>
      <p:sp>
        <p:nvSpPr>
          <p:cNvPr id="5055" name="SimReal 5055"/>
          <p:cNvSpPr txBox="1"/>
          <p:nvPr/>
        </p:nvSpPr>
        <p:spPr>
          <a:xfrm>
            <a:off x="8132064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6个月</a:t>
            </a:r>
          </a:p>
        </p:txBody>
      </p:sp>
      <p:sp>
        <p:nvSpPr>
          <p:cNvPr id="5056" name="SimReal 5056"/>
          <p:cNvSpPr txBox="1"/>
          <p:nvPr/>
        </p:nvSpPr>
        <p:spPr>
          <a:xfrm>
            <a:off x="8132064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事件预测RSI上线</a:t>
            </a:r>
          </a:p>
        </p:txBody>
      </p:sp>
      <p:sp>
        <p:nvSpPr>
          <p:cNvPr id="5057" name="SimReal 5057"/>
          <p:cNvSpPr txBox="1"/>
          <p:nvPr/>
        </p:nvSpPr>
        <p:spPr>
          <a:xfrm>
            <a:off x="9739884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12个月</a:t>
            </a:r>
          </a:p>
        </p:txBody>
      </p:sp>
      <p:sp>
        <p:nvSpPr>
          <p:cNvPr id="5058" name="SimReal 5058"/>
          <p:cNvSpPr txBox="1"/>
          <p:nvPr/>
        </p:nvSpPr>
        <p:spPr>
          <a:xfrm>
            <a:off x="9739884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拓展至10个行业</a:t>
            </a:r>
          </a:p>
        </p:txBody>
      </p:sp>
      <p:sp>
        <p:nvSpPr>
          <p:cNvPr id="5059" name="SimReal 5059"/>
          <p:cNvSpPr txBox="1"/>
          <p:nvPr/>
        </p:nvSpPr>
        <p:spPr>
          <a:xfrm>
            <a:off x="548640" y="5760720"/>
            <a:ext cx="110916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里程碑为本轮目标。</a:t>
            </a:r>
          </a:p>
        </p:txBody>
      </p:sp>
      <p:sp>
        <p:nvSpPr>
          <p:cNvPr id="5060" name="SimReal 506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61" name="SimReal 5061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62" name="SimReal 506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" name="Google Shape;615;p20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37160"/>
            <a:ext cx="1737360" cy="1645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20" descr="orbit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63840" y="914400"/>
            <a:ext cx="4325112" cy="585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20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1572768"/>
            <a:ext cx="365760" cy="452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20" descr="SimReal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2194560"/>
            <a:ext cx="731520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每个行业最强的AI，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都出自我们的世界。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4023360"/>
            <a:ext cx="7132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三个世界已上线：交易、AI研究、事件预测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4425696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SimReal 衍真  ·  让AI在真实世界里自我进化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5074920"/>
            <a:ext cx="51206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521208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business@simreal.co  ·  simreal.co  ·  x.com/simrealhq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4" name="Google Shape;654;p21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A1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附录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Xitadel：测试了什么，怎么测的</a:t>
            </a:r>
          </a:p>
        </p:txBody>
      </p:sp>
      <p:sp>
        <p:nvSpPr>
          <p:cNvPr id="5003" name="SimReal 5003"/>
          <p:cNvSpPr/>
          <p:nvPr/>
        </p:nvSpPr>
        <p:spPr>
          <a:xfrm>
            <a:off x="548640" y="155448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155448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环境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2103120" y="1554480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回放真实交易日与订单簿，采用IMC Trading合作授权数据，每笔交易由市场结算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212140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548640" y="2121408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模型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2103120" y="2121408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开源模型Qwen3.8-27B，比较训练前后表现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68833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688336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测试数据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2103120" y="2688336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模型未见过的真实交易日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548640" y="32552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548640" y="3255264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结果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2103120" y="3255264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交易表现较基础模型最高提升12%，多次独立复现（受控实验）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382219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548640" y="3822192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公开基准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2103120" y="3822192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Xitadel公开预览版：人类参考分80，前沿模型最高77.28（GPT 6），尚无模型越过人类水平线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43891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438912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尽调材料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03120" y="4389120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运行记录、指标定义与脚本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495604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下一步 · 个人agent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一个agent在替人做事之前，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需要先在足够真实的地方练过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2026年9月：个人agent竞赛开打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75564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548640" y="186537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Meta · 9月8日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084832"/>
            <a:ext cx="256717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Muse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06624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上线个人agent，替人订票、购物、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约时间；两周后被亚马逊屏蔽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3390138" y="175564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3390138" y="186537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OpenAI · 9月29日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390138" y="2084832"/>
            <a:ext cx="256717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Dots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390138" y="2706624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发布常驻个人agent：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在后台持续替人做事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6231636" y="175564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6231636" y="186537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Instinct · 9月28日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31636" y="2084832"/>
            <a:ext cx="256717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100亿美元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31636" y="2706624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33天估值从25亿升至100亿美元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红杉、Benchmark、Coatue投资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9073134" y="175564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9073134" y="186537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但还做不好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9073134" y="2084832"/>
            <a:ext cx="256717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16.1%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9073134" y="2706624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最强模型只完成16.1%的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真实外包项目（Remote Labor Index）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548640" y="3255264"/>
            <a:ext cx="74980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让这个循环持续转动的，是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个人agent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046720" y="3255264"/>
            <a:ext cx="359359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深色：Xitadel已跑通  ·  浅色：本轮计划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548640" y="3639312"/>
            <a:ext cx="1998878" cy="10972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713232" y="3749040"/>
            <a:ext cx="172455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本轮计划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713232" y="3968496"/>
            <a:ext cx="172455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进场练习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713232" y="4315968"/>
            <a:ext cx="172455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交易与事件预测先开放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留出集不开放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2547518" y="3639312"/>
            <a:ext cx="274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2821838" y="3639312"/>
            <a:ext cx="1998878" cy="10972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2986430" y="3749040"/>
            <a:ext cx="172455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已跑通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2986430" y="3968496"/>
            <a:ext cx="172455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真实结果结算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2986430" y="4315968"/>
            <a:ext cx="172455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市场结算每笔交易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每次运行留下Agent轨迹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4820717" y="3639312"/>
            <a:ext cx="274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5095037" y="3639312"/>
            <a:ext cx="1998878" cy="10972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5259629" y="3749040"/>
            <a:ext cx="172455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已跑通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5259629" y="3968496"/>
            <a:ext cx="172455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agent变强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5259629" y="4315968"/>
            <a:ext cx="172455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Qwen3.8-27B训练后，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交易表现最高提升12%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7093915" y="3639312"/>
            <a:ext cx="274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9" name="SimReal 5039"/>
          <p:cNvSpPr/>
          <p:nvPr/>
        </p:nvSpPr>
        <p:spPr>
          <a:xfrm>
            <a:off x="7368235" y="3639312"/>
            <a:ext cx="1998878" cy="10972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0" name="SimReal 5040"/>
          <p:cNvSpPr txBox="1"/>
          <p:nvPr/>
        </p:nvSpPr>
        <p:spPr>
          <a:xfrm>
            <a:off x="7532827" y="3749040"/>
            <a:ext cx="172455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本轮计划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7532827" y="3968496"/>
            <a:ext cx="172455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世界更真实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7532827" y="4315968"/>
            <a:ext cx="172455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agent钻过的漏洞被补上，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失败变成新任务与验证器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9367114" y="3639312"/>
            <a:ext cx="274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44" name="SimReal 5044"/>
          <p:cNvSpPr/>
          <p:nvPr/>
        </p:nvSpPr>
        <p:spPr>
          <a:xfrm>
            <a:off x="9641434" y="3639312"/>
            <a:ext cx="1998878" cy="10972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5" name="SimReal 5045"/>
          <p:cNvSpPr txBox="1"/>
          <p:nvPr/>
        </p:nvSpPr>
        <p:spPr>
          <a:xfrm>
            <a:off x="9806026" y="3749040"/>
            <a:ext cx="172455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本轮计划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9806026" y="3968496"/>
            <a:ext cx="172455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数据交给实验室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9806026" y="4315968"/>
            <a:ext cx="172455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训练更强的模型，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带来更多个人agent</a:t>
            </a:r>
          </a:p>
        </p:txBody>
      </p:sp>
      <p:sp>
        <p:nvSpPr>
          <p:cNvPr id="5048" name="SimReal 5048"/>
          <p:cNvSpPr/>
          <p:nvPr/>
        </p:nvSpPr>
        <p:spPr>
          <a:xfrm>
            <a:off x="10640873" y="4736592"/>
            <a:ext cx="10973" cy="182880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9" name="SimReal 5049"/>
          <p:cNvSpPr/>
          <p:nvPr/>
        </p:nvSpPr>
        <p:spPr>
          <a:xfrm>
            <a:off x="1548079" y="4919472"/>
            <a:ext cx="9103766" cy="10973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0" name="SimReal 5050"/>
          <p:cNvSpPr/>
          <p:nvPr/>
        </p:nvSpPr>
        <p:spPr>
          <a:xfrm>
            <a:off x="1548079" y="4828032"/>
            <a:ext cx="10973" cy="10058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1" name="SimReal 5051"/>
          <p:cNvSpPr txBox="1"/>
          <p:nvPr/>
        </p:nvSpPr>
        <p:spPr>
          <a:xfrm>
            <a:off x="1365199" y="4718304"/>
            <a:ext cx="376733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↑</a:t>
            </a:r>
          </a:p>
        </p:txBody>
      </p:sp>
      <p:sp>
        <p:nvSpPr>
          <p:cNvPr id="5052" name="SimReal 5052"/>
          <p:cNvSpPr txBox="1"/>
          <p:nvPr/>
        </p:nvSpPr>
        <p:spPr>
          <a:xfrm>
            <a:off x="548640" y="5065776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数据规则   </a:t>
            </a: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怎么用由合作方决定：可以保密、付费练习，也可以脱敏共享轨迹，换取练习额度和收益分成；交给实验室的每条数据都带授权记录</a:t>
            </a:r>
          </a:p>
        </p:txBody>
      </p:sp>
      <p:sp>
        <p:nvSpPr>
          <p:cNvPr id="5053" name="SimReal 5053"/>
          <p:cNvSpPr txBox="1"/>
          <p:nvPr/>
        </p:nvSpPr>
        <p:spPr>
          <a:xfrm>
            <a:off x="548640" y="5468112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沙盒让agent不闯祸，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我们让它做对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54" name="SimReal 5054"/>
          <p:cNvSpPr txBox="1"/>
          <p:nvPr/>
        </p:nvSpPr>
        <p:spPr>
          <a:xfrm>
            <a:off x="548640" y="5980176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来源：Meta与OpenAI发布（2026年9月8日、29日）；彭博（2026年9月21日）；Instinct公告（2026年9月28日）；Remote Labor Index（Scale AI与CAIS，2026年7月）。详见A2。</a:t>
            </a:r>
          </a:p>
        </p:txBody>
      </p:sp>
      <p:sp>
        <p:nvSpPr>
          <p:cNvPr id="5055" name="SimReal 5055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56" name="SimReal 5056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57" name="SimReal 505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2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A2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附录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数据来源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1481328"/>
            <a:ext cx="52852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公司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1755648"/>
            <a:ext cx="528523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1865376"/>
            <a:ext cx="5285232" cy="429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Mercor年化收入：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TechCrunch（2025年2月，7,500万美元）；CEO（2025年9月，5亿美元）；</a:t>
            </a:r>
            <a:br>
              <a:rPr lang="zh-CN" sz="900"/>
            </a:b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Sacra（2025年12月，7.6亿美元）；Mercor（2026年初，10亿美元）；</a:t>
            </a:r>
            <a:br>
              <a:rPr lang="zh-CN" sz="900"/>
            </a:b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Dealroom（2026年6月，20亿美元）。均为毛营收，专家拿走60–70%（彭博）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Mercor估值：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A轮2.5亿（2024年9月）、B轮20亿（2025年2月）、C轮100亿美元（2025年10月）；</a:t>
            </a:r>
            <a:br>
              <a:rPr lang="zh-CN" sz="900"/>
            </a:b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200亿美元估值轮次处于早期洽谈（彭博，2026年7月9日）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Surge AI：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2024年收入12亿美元（TechCrunch、福布斯）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Snorkel AI：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公司公告及TechCrunch，2026年9月22日（以35亿美元估值融资3.5亿美元；</a:t>
            </a:r>
            <a:br>
              <a:rPr lang="zh-CN" sz="900"/>
            </a:b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年化收入3.75亿美元，一年增长18倍）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AfterQuery：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2025年2月成立；福布斯，2026年9月1日（加入YC 18个月，估值32亿美元）；</a:t>
            </a:r>
            <a:br>
              <a:rPr lang="zh-CN" sz="900"/>
            </a:b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Business Wire（2026年4月，A轮估值3亿美元，年化收入1亿美元）；</a:t>
            </a:r>
            <a:br>
              <a:rPr lang="zh-CN" sz="900"/>
            </a:b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YC公司页（联合创始人曾在Citadel Securities实习）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Scale AI：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2016年由19岁的Alexandr Wang创立（福布斯）；</a:t>
            </a:r>
            <a:br>
              <a:rPr lang="zh-CN" sz="900"/>
            </a:b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Meta以143亿美元取得49%股份，估值约290亿美元（路透社，2025年6月）；</a:t>
            </a:r>
            <a:br>
              <a:rPr lang="zh-CN" sz="900"/>
            </a:b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近一半新训练项目涉及RL环境（Scale AI博客，2026年2月）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UniPat：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彭博，2026年9月10日（阿里领投3亿美元，据报道估值25亿美元，腾讯、红杉中国跟投；条款可能变化；阿里、字节、DeepSeek等向UniPat与Humanlaya采购）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Humanlaya：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2025年10月成立；2026年9月9日完成数亿元人民币Pre-A，鼎晖领投，</a:t>
            </a:r>
            <a:br>
              <a:rPr lang="zh-CN" sz="900"/>
            </a:b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红杉中国、今日资本、BAI参投（界面新闻、东方财富）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6355080" y="1481328"/>
            <a:ext cx="52852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市场与研究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6355080" y="1755648"/>
            <a:ext cx="528523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6355080" y="1865376"/>
            <a:ext cx="5285232" cy="429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今天的训练数据采购：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Menlo Ventures（2026年7月）：50余家供应商合计约85亿美元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2030年AI经济推算：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麦肯锡《Agents, robots, and us》（2025年11月）：美国约2.9万亿美元；IMF（2026年4月）：美国GDP 32.4万亿、全球126.3万亿美元；美国以外按一半渗透率推算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训练市场推算：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2030年AI经济 × 10%；</a:t>
            </a:r>
            <a:br>
              <a:rPr lang="zh-CN" sz="900"/>
            </a:b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10%参照大型科技公司研发占收入约10–15%，取下限，为推算假设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AI智能体市场：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Precedence Research（2025年79.2亿美元；年复合增长45.82%），2028、2032年按此路径推算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RL环境定价：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Epoch AI《An FAQ on RL environments》（2026年1月）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公开文本存量：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Epoch AI《Will we run out of data?》（2024）：</a:t>
            </a:r>
            <a:br>
              <a:rPr lang="zh-CN" sz="900"/>
            </a:b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预计2026–2032年间用尽（80%置信区间）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融资与估值：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Applied Compute：Upstarts（2025年6月，种子轮2,000万美元，投后1亿美元）；</a:t>
            </a:r>
            <a:br>
              <a:rPr lang="zh-CN" sz="900"/>
            </a:b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Information（2026年8月，约30亿美元洽谈）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个人agent：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Meta Muse上线（2026年9月8日，Axios、CNBC）；</a:t>
            </a:r>
            <a:br>
              <a:rPr lang="zh-CN" sz="900"/>
            </a:b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彭博（2026年9月21日）：亚马逊屏蔽Muse；</a:t>
            </a:r>
            <a:br>
              <a:rPr lang="zh-CN" sz="900"/>
            </a:b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OpenAI DevDay发布常驻agent Dots（2026年9月29日，TechCrunch、CNBC）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Instinct：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Business Wire（2026年9月28日）：10亿美元C轮，估值100亿美元；</a:t>
            </a:r>
            <a:br>
              <a:rPr lang="zh-CN" sz="900"/>
            </a:b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红杉、Benchmark、Coatue投资；33天前估值25亿美元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Remote Labor Index：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Scale AI与CAIS（2026年7月）：</a:t>
            </a:r>
            <a:br>
              <a:rPr lang="zh-CN" sz="900"/>
            </a:b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最强模型按付费客户标准完成16.1%的真实外包项目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" name="Google Shape;716;p2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A3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附录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术语表</a:t>
            </a:r>
          </a:p>
        </p:txBody>
      </p:sp>
      <p:sp>
        <p:nvSpPr>
          <p:cNvPr id="5003" name="SimReal 5003"/>
          <p:cNvSpPr/>
          <p:nvPr/>
        </p:nvSpPr>
        <p:spPr>
          <a:xfrm>
            <a:off x="548640" y="164592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177393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202996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训练环境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250545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让AI反复做真实工作、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从结果中学习的系统，即RL环境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3390138" y="164592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3390138" y="177393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3390138" y="202996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Agent轨迹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3390138" y="250545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AI完成一项任务的全过程：每一步动作、世界的反馈与最终结果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6231636" y="164592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6231636" y="177393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231636" y="202996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真实反馈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231636" y="250545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真实发生的结果为AI的每个动作结算：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盈亏、账目、代码能否运行、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事件是否发生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9073134" y="164592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9073134" y="177393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9073134" y="202996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自我进化（RSI）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9073134" y="250545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AI用自己在真实环境中的结果训练自己，一轮比一轮强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356616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548640" y="369417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395020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留出集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548640" y="442569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只用于检验、从不参与训练的任务，防止模型背答案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3390138" y="356616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3390138" y="369417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3390138" y="395020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攻防测试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3390138" y="442569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上线前模拟作弊与攻击，修补评分漏洞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6231636" y="356616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6231636" y="369417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6231636" y="395020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受控实验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6231636" y="442569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只改一个条件（是否在Xitadel训练），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比较前后表现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9073134" y="356616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9073134" y="369417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9073134" y="395020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年化毛营收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9073134" y="442569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按当前收入推算的全年收入，含付给专家的部分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