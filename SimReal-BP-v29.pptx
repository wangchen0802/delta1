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75" r:id="rId21"/>
    <p:sldId id="259" r:id="rId5"/>
    <p:sldId id="269" r:id="rId15"/>
    <p:sldId id="270" r:id="rId16"/>
    <p:sldId id="271" r:id="rId17"/>
    <p:sldId id="266" r:id="rId12"/>
    <p:sldId id="267" r:id="rId13"/>
    <p:sldId id="268" r:id="rId14"/>
    <p:sldId id="272" r:id="rId18"/>
    <p:sldId id="278" r:id="rId45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1481328" y="5029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123444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让AI在真实世界里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127248"/>
            <a:ext cx="78638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个人Agent被托付之前，先在这里练过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3749040"/>
            <a:ext cx="84124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用真实数据重建真实场景：面向AI实验室、企业与个人Agent的训练环境与AI数据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商业计划书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项目概述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给AI和个人Agent一个真实的世界，让它们反复犯错、学习、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训练环境与AI数据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面向AI实验室与企业：Agent轨迹、专家与评测数据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下一步：向个人Agent开放练习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3个世界已上线：交易、AI研究、事件预测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5个公开仓库；零外部融资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核心成果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Qwen3.8-27B经Xitadel训练，在未见过的真实行情上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交易表现最高提升12%，多次独立复现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05后量化创始团队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剑桥、LSE、杜克数学本科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Street、Citadel、Optiver、Millennium经历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 </a:t>
            </a:r>
            <a:r>
              <a:rPr lang="zh-CN" sz="2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7,000亿美元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今天训练数据与RL环境供应商年收入约85亿美元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2030年训练市场约7,000亿美元，是今天的82倍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人民币（等值美元）；投后估值5亿元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收入引擎与RSI引擎各2,000万元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谁有一个行业最好的训练世界，谁就有这个行业最好的AI；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我们最懂做题与做事的差距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Stables首位员工：帮助U稳定币一年内从0做到14亿美元，一个月上线Binance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负责机构关系，参与SIG、DRW等合作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汇丰港元稳定币发行项目唯一实习生，全程协助推进香港金管局（HKMA）合规项目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X（Twitter）博主，内容数百万浏览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伦敦Citadel对冲基金实习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LSE数学本科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美国数学奥林匹克（USAMO）入围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剑桥机器学习暑研，师从著名统计学教授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Po-Ling Loh（国际数理统计学会会士）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设计五大Benchmark与强化学习环境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剑桥数学一等荣誉（奖学金）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 · 英国物理竞赛超级金奖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参与落地Plug and Play香港首场活动（联合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香港科技园）；担任强生MedTech科技峰会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主持人（均200+人规模）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17岁成为出版作家；全网原创内容获10万+互动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杜克数学与统计本科 · 上海包玉刚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AI、Mercor、AfterQuery创始人都在20岁左右起步；早期投资人回报：</a:t>
            </a: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17,000倍、40倍、1,800倍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为什么是现在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 16个月收入涨27倍，估值洽谈至200亿美元：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收入增长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估值增长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Mercor估值：17个月，20亿→200亿美元（洽谈中）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Agent替人花钱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3–5万亿美元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2030年全球由AI Agent完成的消费交易（麦肯锡）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011680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86116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011680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AfterQuery从成立到年化收入1亿美元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15亿美元+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786116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谷歌与RL环境公司Mechanize的交易（据报道）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011680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AfterQuery估值：3亿→32亿美元（据报道）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2026–2032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786116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年间，公开的人类文本预计被用尽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来源：Mercor（TechCrunch、Sacra、Dealroom、彭博、The Information）；AfterQuery（Business Wire、福布斯）；Snorkel AI（路透社）；Scale AI（路透社）；Mechanize（Business Insider）；Agent消费交易（麦肯锡，经CNBC）；文本存量（Epoch AI）。详见A2。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问题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AI已经学会推理，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却还做不好真实世界里的事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真实工作没有标准答案，只有世界的反应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表面检查：通过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真实世界：失手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历史回测一路上涨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进入未见过的真实行情就亏钱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软件工程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测试全部通过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上线后出错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财务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账看起来已经做完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月结对不平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事件预测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分析头头是道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照着下注却亏钱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AI要学会做事，需要一个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用真实结果结算每个动作的世界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核心洞察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反馈信号的升级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第一代 · 互联网数据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77240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模型学会抄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777240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3378708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3607308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第二代 · 人类偏好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607308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3607308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人来打分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3607308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3607308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6208776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6437376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第三代 · 标准答案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437376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6437376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按答案判对错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437376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437376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9038844" y="1600200"/>
            <a:ext cx="2601468" cy="2834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267444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第四代 · 真实世界的反馈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9267444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9267444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AI在真实场景中行动，真实结果为每个动作结算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9267444" y="3337560"/>
            <a:ext cx="2144268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9267444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真实结果驱动的自我进化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267444" y="3886200"/>
            <a:ext cx="214426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刚刚起步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84632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考满分的AI，未必能放心托付。下一代AI的进步，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要靠真实世界的反应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解决方案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AI完成任务，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真实结果成为下一轮训练信号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834640" y="164592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用真实数据重建真实场景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834640" y="246888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按真实结果打分，不靠另一个AI的主观判断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834640" y="329184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提供专业判断与评分标准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834640" y="411480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同一套环境，打通评测、数据与训练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世界按真实发生的情况作出反应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按真实结果结算，留下Agent轨迹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下一轮训练：自我进化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每一轮都从上一轮出发：这就是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旗舰实证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全球首个做市交易的自我进化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上真实战场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828800" y="15544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Trading合作授权数据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市场当裁判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82880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从结果中进化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828800" y="24688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开源模型Qwen3.8-27B训练后，</a:t>
            </a:r>
            <a:br>
              <a:rPr lang="zh-CN" sz="1250"/>
            </a:b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在未见过的真实行情上交易表现最高提升12%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3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受控实验，多次独立复现；运行记录尽调时提供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交易是第一个跑通的世界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人类基准 80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GPT-6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产品矩阵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14天上线7款产品，已有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5个公开仓库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领域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状态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回放真实交易日与订单簿，按盈亏结算；已跑通自我进化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AI研究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60个研究任务、7类数据，参照OpenAI的MLE-bench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178星标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预测真实事件，揭晓后按结果训练；数据实时接入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部分开源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让AI证明答案，而不是猜答案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749道人工编写的推理谜题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17星标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让AI零差错完成月结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检验AI写的代码能否挺过下一个版本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以上全部在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零外部融资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下完成。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6035040" y="5394960"/>
            <a:ext cx="56052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合计400星标  ·  2026年9月29日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数据业务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环境与专家网络，产出三类AI数据：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Agent轨迹、专家数据、评测数据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AI在真实环境中完成多步任务的全过程：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每一步动作、世界的反馈、最终结果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按真实结果标注成败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用于监督微调与强化学习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背靠21所顶尖大学的学生和校友网络：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真实工作里的示范、判断与评分标准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覆盖各行业入门岗位与顶尖科研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用于对齐、奖励模型与评分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评测数据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私有评测集与留出集：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只用于检验，从不参与训练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上线前经过攻防测试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用于模型验收与持续评测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和只卖人工数据的公司不同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同源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463040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数据、评分与训练，共用一套环境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可验证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251704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轨迹成败由真实结果判定，不靠人工意见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会生长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040368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模型错在哪，下一批数据就补到哪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训练数据与RL环境，今天已是年收入约85亿美元的生意：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这两样，我们都做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商业模式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每一轮都有新交付：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三条产品线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AI数据（Agent轨迹、专家、评测） ·  RSI自我进化服务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同一模式：AfterQuery 14个月做到年化1亿美元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合作阶段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收费依据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一项能力的环境、数据与评测包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固定范围、固定验收标准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验证接入与训练价值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正式授权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环境、任务集、验证器、约定使用权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期限、范围、独占性；数据按交付量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扩大领域与任务覆盖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新场景、新任务、新轨迹、私有留出集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年度合同或分批订单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旧任务会饱和，新能力需要新数据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联合训练（RSI）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开源 vs 付费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开源基准：公开，用来建立信任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付费产品：私有任务、数据、留出集与验证器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非独家 vs 独家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非独家：同一环境可授权给多家实验室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独家：按领域与期限锁定，溢价较大（Epoch AI）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下一步 · 个人Agent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同一个世界，两类客户：实验室与Agent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Agent付费练习，默认保密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或脱敏共享轨迹，换练习额度与收益分成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4954622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05917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849927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4995012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当前进展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产品已公开，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商业采购正在推进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前沿实验室在谈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专家候补名单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GitHub星标合计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2026年9月29日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5位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天使投资人主动联系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9184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前沿实验室采购进度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22960" y="3835908"/>
            <a:ext cx="1054303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/>
          <p:nvPr/>
        </p:nvSpPr>
        <p:spPr>
          <a:xfrm>
            <a:off x="822960" y="3826764"/>
            <a:ext cx="3514344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/>
          <p:nvPr/>
        </p:nvSpPr>
        <p:spPr>
          <a:xfrm>
            <a:off x="740664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91440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接触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4255008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605784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洽谈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605784" y="341985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当前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769352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120128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付费试点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11283696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10634472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采购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5720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支持我们研发的交易机构从业者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9616745" y="4937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5577840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标识仅表示支持者任职机构，不代表机构背书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专家网络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16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可触达、可验证的专家：21所顶尖大学的学生和校友，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专家数据的源头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3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顶尖大学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00200" y="2852928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00200" y="3255264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最难的问题，最难的判断标准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00200" y="3657600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每做一个领域，资产都会留下来：</a:t>
            </a:r>
            <a:r>
              <a:rPr lang="zh-CN" sz="13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专家网络 → 专家数据与判断标准 → 环境与验证器 → 失败案例库 → </a:t>
            </a: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复用到下一个领域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网络覆盖不等于已注册或参与交付；高校标识不代表学校背书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市场规模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供应商收入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50余家训练数据与RL环境供应商合计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889504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头部公司收入（Surge为2024年，其余为年化毛营收）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18211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1600200" y="3209544"/>
            <a:ext cx="137160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3044952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20亿美元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548640" y="35844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1600200" y="3611880"/>
            <a:ext cx="822960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2496312" y="35844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12亿美元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98678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Handshake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1600200" y="4014216"/>
            <a:ext cx="685800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2359152" y="398678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约10亿美元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98264" y="254203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601968" y="254203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4398264" y="290779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4398264" y="290779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601968" y="290779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25.7%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4398264" y="327355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4398264" y="327355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601968" y="32735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4398264" y="363931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4398264" y="363931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美国以外渗透减半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601968" y="363931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247888" y="1517904"/>
            <a:ext cx="339242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8485632" y="254203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213848" y="254203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8485632" y="290779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8485632" y="290779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0213848" y="290779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485632" y="327355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485632" y="327355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213848" y="32735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8485632" y="3730752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8485632" y="4261104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大型科技公司研发约占收入10–15%，取下限。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Ventures合伙人Deedy Das（2026.7）；Mercor年化毛营收（2026.6）、Handshake AI训练业务（2026.4）、Surge收入（2024）；麦肯锡（2025.11）；IMF（2026.4）；科技公司年报。训练占比、美国以外渗透率为假设，详见A2。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竞争格局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Mercor、Surge、Handshake、AfterQuery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517904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正进入RL环境：Mercor收购Deeptune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UniPat、Humanlaya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286000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专家数据、评测环境与基准；主要服务国内实验室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735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3291840" y="3054096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777240" y="40416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3291840" y="3822192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777240" y="46634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777240" y="501091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环境、数据、评分、自我进化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91840" y="4590288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同一套环境打通数据、评分与训练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每次结果都进入下一轮，AI越练越强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我们的优势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环境构建工具、验证器、专业任务库和失败案例积累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每轮模型升级，都需要新任务、新数据、新留出集和验证器维护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14天7款产品，两周跑通做市交易的自我进化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据彭博报道，阿里拟领投UniPat 3亿美元（估值25亿美元）；Humanlaya完成鼎晖领投的数亿元Pre-A；阿里、字节、DeepSeek等都买过两家的数据或服务。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为什么是我们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我们越有利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0058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每一波热点，都由跑得最快的年轻团队拿下；个人Agent这一波，Instinct创始人23岁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786384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182112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64992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02736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998464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181344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19088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814816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997696" y="1737360"/>
            <a:ext cx="2633472" cy="42062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35440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86384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786384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786384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美元估值，2025年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786384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86384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86384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86384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86384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64992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02736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02736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02736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美元估值，2025年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3602736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3602736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3602736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3602736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3602736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3602736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181344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419088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19088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32亿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419088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美元估值（据报道）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</a:p>
        </p:txBody>
      </p:sp>
      <p:sp>
        <p:nvSpPr>
          <p:cNvPr id="5041" name="SimReal 5041"/>
          <p:cNvSpPr/>
          <p:nvPr/>
        </p:nvSpPr>
        <p:spPr>
          <a:xfrm>
            <a:off x="6419088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2" name="SimReal 5042"/>
          <p:cNvSpPr txBox="1"/>
          <p:nvPr/>
        </p:nvSpPr>
        <p:spPr>
          <a:xfrm>
            <a:off x="6419088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两位高中好友创立，现22、23岁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6419088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6419088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6419088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6419088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</a:p>
        </p:txBody>
      </p:sp>
      <p:sp>
        <p:nvSpPr>
          <p:cNvPr id="5047" name="SimReal 5047"/>
          <p:cNvSpPr/>
          <p:nvPr/>
        </p:nvSpPr>
        <p:spPr>
          <a:xfrm>
            <a:off x="8997696" y="2267712"/>
            <a:ext cx="2633472" cy="31089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8" name="SimReal 5048"/>
          <p:cNvSpPr txBox="1"/>
          <p:nvPr/>
        </p:nvSpPr>
        <p:spPr>
          <a:xfrm>
            <a:off x="9235440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9235440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9235440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</a:p>
        </p:txBody>
      </p:sp>
      <p:sp>
        <p:nvSpPr>
          <p:cNvPr id="5051" name="SimReal 5051"/>
          <p:cNvSpPr/>
          <p:nvPr/>
        </p:nvSpPr>
        <p:spPr>
          <a:xfrm>
            <a:off x="9235440" y="3822192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2" name="SimReal 5052"/>
          <p:cNvSpPr txBox="1"/>
          <p:nvPr/>
        </p:nvSpPr>
        <p:spPr>
          <a:xfrm>
            <a:off x="9235440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05后量化创始团队</a:t>
            </a:r>
          </a:p>
        </p:txBody>
      </p:sp>
      <p:sp>
        <p:nvSpPr>
          <p:cNvPr id="5053" name="SimReal 5053"/>
          <p:cNvSpPr/>
          <p:nvPr/>
        </p:nvSpPr>
        <p:spPr>
          <a:xfrm>
            <a:off x="9235440" y="4315968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4" name="SimReal 5054"/>
          <p:cNvSpPr txBox="1"/>
          <p:nvPr/>
        </p:nvSpPr>
        <p:spPr>
          <a:xfrm>
            <a:off x="9235440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剑桥、LSE、杜克最后一年在读</a:t>
            </a:r>
          </a:p>
        </p:txBody>
      </p:sp>
      <p:sp>
        <p:nvSpPr>
          <p:cNvPr id="5055" name="SimReal 5055"/>
          <p:cNvSpPr/>
          <p:nvPr/>
        </p:nvSpPr>
        <p:spPr>
          <a:xfrm>
            <a:off x="9235440" y="4809744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6" name="SimReal 5056"/>
          <p:cNvSpPr txBox="1"/>
          <p:nvPr/>
        </p:nvSpPr>
        <p:spPr>
          <a:xfrm>
            <a:off x="9235440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放弃顶级量化机构的转正offer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548640" y="554126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AI每一次范式变化中的机会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融资计划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本轮融资人民币4,000万元，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投后估值5亿元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人民币，等值美元投资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本轮出让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投前估值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4.6亿元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446520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276588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276588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本轮目标 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环境从付费试点推进到授权与复购；AI数据批量交付；RSI在实盘交易与事件预测上线；向个人Agent开放练习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23697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估值参照：同赛道公司已由头部机构定价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UniPat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25亿美元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据报道估值（2026年9月）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86384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阿里拟领投，腾讯、红杉中国参与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超衍智能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近4亿元人民币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自进化（RSI）天使轮（2026年9月）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3616452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IDG资本等领投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Applied Compute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32.5亿美元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 → 15个月（融资中）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446520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 → 5个月后（据报道）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276588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A轮时年化收入1亿美元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国内同赛道已获红杉中国、鼎晖、今日资本、BAI、IDG投资，阿里、腾讯正在入局：</a:t>
            </a: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赛道已被验证</a:t>
            </a: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UniPat与AfterQuery 32亿为据报道估值，Applied Compute 32.5亿为融资中估值，超衍智能为融资额；其余为投后估值。来源见A2。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资金用途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投入2,000万元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环境一次搭建，授权给多家实验室；数据按交付量收费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944368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按行业批量搭建训练环境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数据生产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944368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Agent轨迹、专家数据、评测数据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944368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接入、验收与持续更新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944368" y="3877056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前沿实验室、企业与Agent开发者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环境收入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环境数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授权次数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环境单价2万–30万美元（Epoch AI）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首个付费试点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环境授权与复购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持续更新合同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投入2,000万元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瞄准整个AI经济：每个行业，一个自己变强的AI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900万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627364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627364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627364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  ·  事件预测RSI  ·  10个行业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每个行业，同步开发自我进化环境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事件预测RSI上线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拓展至10个行业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里程碑为本轮目标。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31520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三个世界已上线：交易、AI研究、事件预测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衍真  ·  让AI在真实世界里自我进化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554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5544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5544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Trading合作授权数据，每笔交易由市场结算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121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121408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121408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6883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688336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测试数据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688336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2552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255264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255264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交易表现较基础模型最高提升12%，多次独立复现（受控实验）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8221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822192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公开基准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822192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Xitadel公开预览版：人类参考分80，前沿模型最高77.28（GPT-6），尚无模型越过人类水平线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3891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3891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尽调材料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3891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9560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个人Agent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一个Agent在替人做事之前，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需要先在足够真实的地方练过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2026年9月，个人Agent集体入场；国内千问、Manus同月跟进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Meta，9月8日上线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10天登顶美国App Store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OpenAI，9月29日发布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常驻云端，替人持续做事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100亿美元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Instinct估值，33天涨4倍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红杉、Benchmark、Coatue投资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16.1%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但最强模型只做好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16.1%的真实外包项目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5295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所以，先在我们的世界里练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67328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进场练习</a:t>
            </a:r>
            <a:r>
              <a:rPr lang="zh-CN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真实结果结算</a:t>
            </a:r>
            <a:r>
              <a:rPr lang="zh-CN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Agent变强</a:t>
            </a:r>
            <a:r>
              <a:rPr lang="zh-CN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数据交给实验室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29768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交易世界已跑通这个循环：Qwen3.8-27B最高提升12%。本轮向个人Agent开放交易与事件预测。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沙盒让Agent不闯祸，</a:t>
            </a:r>
            <a:r>
              <a:rPr lang="zh-CN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我们让它做对</a:t>
            </a: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5980176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来源：Meta、OpenAI、千问、Manus发布（2026年9月）；TechCrunch（2026年9月25日）；Instinct（路透社，2026年9月28日）；Remote Labor Index（Scale AI与CAIS，2026年7月）。详见A2。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Mercor年化收入：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TechCrunch（2025年2月，7,500万美元）；Sacra（2025年12月，7.6亿美元）；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Dealroom、福布斯（2026年6月，20亿美元）。均为毛营收，专家拿走60–70%（彭博）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Mercor估值与收购：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C轮100亿美元（2025年10月）；200亿美元估值仍在洽谈（彭博，2026年7月9日；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Information，2026年8月）；2026年7月9日宣布收购RL环境公司Deeptune（福布斯）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Surge AI：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Handshake：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AI训练业务年化毛营收近10亿美元（The Information，2026年4月）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路透社、TechCrunch，2026年9月22日（以35亿美元估值融资3.5亿美元；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年化收入3.75亿美元，一年增长约18倍）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2025年2月成立；Business Wire（2026年4月，A轮估值3亿美元，年化收入1亿美元）；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福布斯、TechCrunch（2026年9月1日，据报道估值32亿美元；创始人为高中好友，现22、23岁）；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YC公司页（联合创始人曾在Citadel Securities实习）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Meta以143亿美元取得49%股份，估值约290亿美元（路透社，2025年6月）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Mechanize：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 Insider（2026年8月、9月）：谷歌人才与技术授权交易，据报道逾15亿美元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彭博，2026年9月10日（阿里拟领投3亿美元，据报道估值25亿美元，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腾讯、红杉中国参与，谈判仍在进行；阿里、字节、DeepSeek等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买过UniPat与Humanlaya的数据或服务）；36氪（2026年9月24日）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2025年成立；2026年9月完成数亿元人民币Pre-A，鼎晖领投，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红杉中国、今日资本、BAI参投（界面新闻、东方财富）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超衍智能：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36氪（2026年9月16日）：自进化（RSI）模型公司，天使与天使+轮合计近4亿元，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IDG资本、星连资本、晶泰科技领投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市场与研究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训练数据供应商收入：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Menlo Ventures合伙人Deedy Das，AI训练数据全景图（2026年7月）：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50余家公司合计收入约85亿美元（部分为毛营收）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2030年AI经济推算：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美国约2.9万亿美元（可释放的经济价值）；IMF（2026年4月）：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美国GDP 32.4万亿、全球126.3万亿美元；美国以外按一半渗透率推算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训练市场推算：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10%；10%参照大型科技公司研发占收入约10–15%，取下限，为推算假设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Agent消费交易：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麦肯锡（2025年10月）：2030年全球由AI Agent完成的消费交易最高3–5万亿美元；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蚂蚁国际、万事达、Visa引用（CNBC，2026年9月10日）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RL环境定价：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公开文本存量：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data?》（2024）：预计2026–2032年间用尽（80%置信区间）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融资与估值：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Compute：Upstarts（2025年6月，种子轮投后1亿美元）；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福布斯（2026年9月1日，以32.5亿美元估值融资3.5亿美元，融资中）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个人Agent：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 Muse（2026年9月8日上线，9月18日登顶美国App Store；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TechCrunch、Business Insider）；OpenAI Dots（DevDay，2026年9月29日）；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千问Personal Agent（云栖大会，2026年9月22日）；Manus Cue（2026年9月28日，彭博）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路透社、TechCrunch（2026年9月28日）：融资10亿美元，估值100亿美元；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红杉、Benchmark、Coatue投资；8月26日估值25亿美元；创始人23岁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Remote Labor Index：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AI与CAIS（2026年7月）：最强模型按付费客户标准完成16.1%的真实外包项目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PolyBench（arXiv 2604.14199，2026年4月）：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7个前沿模型在38,666个Polymarket市场模拟交易，仅2个取得正收益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从结果中学习的系统，即RL环境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AI完成一项任务的全过程：每一步动作、世界的反馈与最终结果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真实发生的结果为AI的每个动作结算：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盈亏、账目、代码能否运行、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事件是否发生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递归式自我改进：AI参与改进下一代AI；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每轮真实结果都成为下一轮的训练数据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留出集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只用于检验、从不参与训练的任务，防止模型背答案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上线前模拟作弊与攻击，修补评分漏洞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比较前后表现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