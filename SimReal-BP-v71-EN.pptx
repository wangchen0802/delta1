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62" r:id="rId8"/>
    <p:sldId id="264" r:id="rId10"/>
    <p:sldId id="265" r:id="rId11"/>
    <p:sldId id="272" r:id="rId18"/>
    <p:sldId id="271" r:id="rId17"/>
    <p:sldId id="269" r:id="rId15"/>
    <p:sldId id="275" r:id="rId21"/>
    <p:sldId id="270" r:id="rId16"/>
    <p:sldId id="267" r:id="rId13"/>
    <p:sldId id="278" r:id="rId45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8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Relationship Id="rId20" Type="http://schemas.openxmlformats.org/officeDocument/2006/relationships/image" Target="../media/image29.png"/><Relationship Id="rId21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Every industry's best AI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will come from our worlds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3154680"/>
            <a:ext cx="7498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An AI-native neolab building RL environments, verifiers and training data for agents that improve themselves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Founded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September 10, 2026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Raising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$6M seed round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0350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Investor presentation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October 2026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Overview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 AI-native neolab building RSI engines: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environments, verifiers and data that let agents improve themselves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$7M ARR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Reached 24 days after founding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outside capital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Product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 environments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Trading, ML research, math, reasoning,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forecasting, software and accounting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81051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Proof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model trained in our trading environment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did better on trading days it had never seen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 source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602 GitHub stars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Across 5 open benchmarks,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all shipped in our first 14 days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Quant founders, all 21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Cambridge, LSE and Duke mathematics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Street, Citadel, Optiver, Millennium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Market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a year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Spent today on training data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and RL environments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Team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founders, all 21.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Together they turned down $0.9M+ in first-year pay to build SimReal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 · 21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employee at United Stables, where $U grew from zero to $1.4B in a year and listed on Binance within a month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Led institutional partnerships with YZi Labs, SIG, DRW and Wintermute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Only intern on HSBC's HKD stablecoin project, working on HKMA compliance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Hedge fund intern, Citadel London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LSE, Mathematics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USAMO qualifier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 · 21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 Mathematics, First Class; scholar of St John's College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Youngest researcher at the Cambridge AI research center, under Prof. Po-Ling Loh (IMS Fellow)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Ex-quant at Jane Street, Citadel and Optiver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Designed all 5 open benchmarks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30 worldwide, Cambridge maths competition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British Physics Olympiad Top Gold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 · 21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scientist, Millennium Hong Kong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graduate hire on Millennium's alternative-data team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Co-organized Plug and Play's first Hong Kong event, with HKSTP (200+ attendees)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Duke, Mathematics and Statistics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Problem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Agents can reason.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They still fail at real work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Looks right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actually happens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Wins on past data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Loses money live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All tests pass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Breaks in production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Accounting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Books look closed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doesn't reconcile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Analysis sounds right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Outcome proves it wrong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 a live trading contest (Alpha Arena), frontier models made money in only 6 of 32 runs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gap: </a:t>
            </a:r>
            <a:r>
              <a:rPr lang="zh-CN" sz="19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agents have nowhere realistic to practice, and no source of truth to learn from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Picture 23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0"/>
            <a:ext cx="6949440" cy="438253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Solution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 loop that turns real outcomes into better agents,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with AI inside it from day one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635240" y="170078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What's different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7635240" y="19568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35240" y="2066544"/>
            <a:ext cx="40050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Today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635240" y="2414016"/>
            <a:ext cx="400507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Humans hand-write every task, label and rubric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635240" y="2852928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635240" y="2962656"/>
            <a:ext cx="40050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SimReal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635240" y="3310128"/>
            <a:ext cx="400507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Agents help write new tasks and data, find failure modes and improve the environments they train in. Next, they will write the verifiers too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635240" y="4005072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7635240" y="4133088"/>
            <a:ext cx="4005072" cy="10789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909560" y="422452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Proof point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909560" y="4443984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9235440" y="4443984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 trading days it never saw,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 training in our loop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+12% is the best of several independent replications, measured on trading days held out from training.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Product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Seven environments in 14 days.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Each is scored by something the agent can't argue with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81328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602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432304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 across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 open benchmarks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30175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As of October 4, 2026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3493008"/>
            <a:ext cx="3017520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3621024"/>
            <a:ext cx="301752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Give the agent a world to practice in.</a:t>
            </a:r>
          </a:p>
          <a:p>
            <a:pPr marL="0" marR="0" lvl="0" indent="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Make the reward come from a market, a proof, hidden labels, an executable system or a real-world outcome.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931920" y="1572768"/>
            <a:ext cx="770839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931920" y="159105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Domain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257800" y="1591056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Environment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7315200" y="1591056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Scored by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10835640" y="1591056"/>
            <a:ext cx="713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Stars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3931920" y="1883664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3931920" y="1883664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257800" y="1883664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0" y="1883664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Profit on unseen market days, vs. the best human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0835640" y="1883664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102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3931920" y="2395728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3931920" y="239572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ML research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257800" y="2395728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0" y="2395728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official Kaggle leaderboard, on hidden labels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0835640" y="2395728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302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3931920" y="2907792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3931920" y="2907792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Math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257800" y="2907792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MathmoBench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315200" y="2907792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Whether the proof is correct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835640" y="2907792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101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3931920" y="3419856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3931920" y="3419856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Reasoning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257800" y="3419856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Puzzle Benchmark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7315200" y="3419856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Hidden answers to 749 human-written puzzles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835640" y="3419856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70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3931920" y="3931920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3931920" y="3931920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5257800" y="3931920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7315200" y="3931920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real outcome, after the deadline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835640" y="3931920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27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3931920" y="4443984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3931920" y="4443984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5257800" y="4443984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SWE-Forward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7315200" y="4443984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Hidden tests the code must pass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0835640" y="4443984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Private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3931920" y="4956048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3931920" y="495604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Accounting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5257800" y="4956048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Close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7315200" y="4956048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Whether the books reconcile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10835640" y="4956048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Private</a:t>
            </a:r>
          </a:p>
        </p:txBody>
      </p:sp>
      <p:sp>
        <p:nvSpPr>
          <p:cNvPr id="5050" name="SimReal 5050"/>
          <p:cNvSpPr/>
          <p:nvPr/>
        </p:nvSpPr>
        <p:spPr>
          <a:xfrm>
            <a:off x="3931920" y="5468112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1" name="SimReal 5051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SWE-Forward and Month-End Close are not open-sourced.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53" name="SimReal 505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Picture 336" descr="xitad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2928" y="1517904"/>
            <a:ext cx="8732520" cy="1353312"/>
          </a:xfrm>
          <a:prstGeom prst="rect">
            <a:avLst/>
          </a:prstGeom>
        </p:spPr>
      </p:pic>
      <p:pic>
        <p:nvPicPr>
          <p:cNvPr id="338" name="Picture 337" descr="mlbe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2928" y="2926080"/>
            <a:ext cx="8732520" cy="1353312"/>
          </a:xfrm>
          <a:prstGeom prst="rect">
            <a:avLst/>
          </a:prstGeom>
        </p:spPr>
      </p:pic>
      <p:pic>
        <p:nvPicPr>
          <p:cNvPr id="339" name="Picture 338" descr="foreca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928" y="4334256"/>
            <a:ext cx="8732520" cy="1353312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How it works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environments up close.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Each scores the AI against something real: a human, a leaderboard, an outcome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2313432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11576304" y="1517904"/>
            <a:ext cx="64008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/>
          <p:nvPr/>
        </p:nvSpPr>
        <p:spPr>
          <a:xfrm>
            <a:off x="548640" y="1517904"/>
            <a:ext cx="45720" cy="135331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777240" y="166420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777240" y="1865376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777240" y="2194560"/>
            <a:ext cx="19659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AI writes a trading strategy.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Score: risk-adjusted profit vs. the best human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2926080"/>
            <a:ext cx="2313432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/>
          <p:nvPr/>
        </p:nvSpPr>
        <p:spPr>
          <a:xfrm>
            <a:off x="11576304" y="2926080"/>
            <a:ext cx="64008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548640" y="2926080"/>
            <a:ext cx="45720" cy="135331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77240" y="3072384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AI research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77240" y="3273552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777240" y="3602736"/>
            <a:ext cx="19659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AI runs an ML project.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Score: rank on the real Kaggle leaderboard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4334256"/>
            <a:ext cx="2313432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/>
          <p:nvPr/>
        </p:nvSpPr>
        <p:spPr>
          <a:xfrm>
            <a:off x="11576304" y="4334256"/>
            <a:ext cx="64008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/>
          <p:nvPr/>
        </p:nvSpPr>
        <p:spPr>
          <a:xfrm>
            <a:off x="548640" y="4334256"/>
            <a:ext cx="45720" cy="135331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777240" y="448056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777240" y="4681728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77240" y="5010912"/>
            <a:ext cx="19659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AI forecasts real events.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Score: error once the outcome is known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Xitadel: published results; the human benchmark is the best real strategy from IMC Prosperity, a global trading competition. MLBench: a baseline run, scored on the official leaderboard. FuturePredict: the numbers are illustrative.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1845663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1896957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99603" y="1768972"/>
            <a:ext cx="989745" cy="485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1886053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46879" y="1885493"/>
            <a:ext cx="1368530" cy="252374"/>
          </a:xfrm>
          <a:prstGeom prst="rect">
            <a:avLst/>
          </a:prstGeom>
        </p:spPr>
      </p:pic>
      <p:pic>
        <p:nvPicPr>
          <p:cNvPr id="9429" name="Google Shape;429;p15" descr="harvard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26236" y="4507992"/>
            <a:ext cx="69341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0" name="Google Shape;430;p15" descr="stanford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092958" y="45079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1" name="Google Shape;431;p15" descr="mit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749166" y="4507992"/>
            <a:ext cx="842008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2" name="Google Shape;432;p15" descr="oxford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70142" y="4574186"/>
            <a:ext cx="1097280" cy="324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3" name="Google Shape;433;p15" descr="cambridge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610219" y="450799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4" name="Google Shape;434;p15" descr="princeton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167366" y="4586963"/>
            <a:ext cx="1097279" cy="299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5" name="Google Shape;435;p15" descr="yale-ink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173861" y="5148072"/>
            <a:ext cx="59817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6" name="Google Shape;436;p15" descr="berkeley-ink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2772918" y="5206989"/>
            <a:ext cx="1097280" cy="339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7" name="Google Shape;437;p15" descr="tsinghua-ink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621530" y="5198252"/>
            <a:ext cx="1097280" cy="356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8" name="Google Shape;438;p15" descr="columbia-ink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685407" y="5148072"/>
            <a:ext cx="6667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9" name="Google Shape;439;p15" descr="uchicago-ink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8318754" y="5242036"/>
            <a:ext cx="1097280" cy="269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0" name="Google Shape;440;p15" descr="duke-ink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188321" y="5148072"/>
            <a:ext cx="105537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Network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Experts from the most competitive entry-level jobs and from research,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work agents are now built to do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17904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Practitioners in our R&amp;D come from top trading firms and markets, including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23957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/>
          <p:nvPr/>
        </p:nvSpPr>
        <p:spPr>
          <a:xfrm>
            <a:off x="548640" y="2523744"/>
            <a:ext cx="5408676" cy="96926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/>
          <p:nvPr/>
        </p:nvSpPr>
        <p:spPr>
          <a:xfrm>
            <a:off x="548640" y="2523744"/>
            <a:ext cx="45720" cy="9692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2615184"/>
            <a:ext cx="495147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most competitive entry-level jobs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22960" y="2926080"/>
            <a:ext cx="495147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Trading, finance, software and more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182112"/>
            <a:ext cx="49514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for agents that streamline everyday work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31636" y="2523744"/>
            <a:ext cx="5408676" cy="96926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6231636" y="2523744"/>
            <a:ext cx="45720" cy="9692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505956" y="2615184"/>
            <a:ext cx="495147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Research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505956" y="2926080"/>
            <a:ext cx="495147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AI, mathematics and quantitative research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505956" y="3182112"/>
            <a:ext cx="49514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for agents that automate research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200K+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2011680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Reachable experts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815584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Experts on the waitlist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156448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619488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universities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169664"/>
            <a:ext cx="110916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424281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Students and alumni of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Logos show where practitioners work or study; no endorsement implied.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Market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a year today.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One vendor, Mercor, grew revenue 27x in 16 months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Today: training data and RL environments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/ year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Combined revenue of 50+ vendors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2030: the AI economy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$700B / year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If AI becomes a $7T economy and 10% goes to training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27x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run-rate revenue: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$75M to $2B in 16 months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Demand for expert data is exploding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10x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valuation: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$2B to $20B in 17 months (in talks)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Investors are paying up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18x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AI's new data business: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growth in one year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Demand is shifting to experts and environments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Deedy Das market map (Jul 2026); Mercor (TechCrunch, Dealroom); Snorkel AI (Sep 2026). The 2030 figure is our estimate.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us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Data vendors sell expert hours.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build assets that compound with every customer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035040" y="1572768"/>
            <a:ext cx="5605272" cy="3511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251460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Expert-data vendors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172200" y="1591056"/>
            <a:ext cx="546811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685800" y="188366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What compounds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514600" y="188366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 hours. Each project starts from scratch.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172200" y="188366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Proprietary environments, verifiers and maps of where models fail, plus the models we train in them. Every customer and loop adds to them.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2374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85800" y="252374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Cost curve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514600" y="252374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Rises with headcount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172200" y="252374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Falls with scale: once a verifier exists, new data is generated and checked automatically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16382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685800" y="316382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Proof of quality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2514600" y="316382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Spot checks and reviewer judgment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172200" y="316382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Hidden tests, out-of-sample results, hash-locked published results and measured training gains (+12%)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0390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685800" y="380390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Velocity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2514600" y="380390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new domain means new recruiting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172200" y="380390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environments in 14 days; $7M ARR in 24 days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44439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685800" y="444398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Network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514600" y="444398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Large expert pools, paid by the hour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172200" y="444398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Practitioners from top trading firms and 200K+ reachable experts, whose work our verifiers check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50840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/>
          <p:nvPr/>
        </p:nvSpPr>
        <p:spPr>
          <a:xfrm>
            <a:off x="548640" y="5248656"/>
            <a:ext cx="11091672" cy="5486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777240" y="5248656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In short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2286000" y="5248656"/>
            <a:ext cx="917143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They sell hours; we sell verified gains. 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Their costs rise with scale; ours fall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now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Agents are starting to improve themselves.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Environments are now the bottleneck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583680" y="1572768"/>
            <a:ext cx="5056632" cy="32735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changed in 2026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81228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have built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31520" y="2011680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is doing AI research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31520" y="239572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OpenAI: agents do 3.1 days of work for every researcher-day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31520" y="2633472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OpenAI, Sep 2026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1883664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812280" y="1883664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SimReal-MLBench: an exam for AI research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302 GitHub stars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87121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31520" y="299923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is improving itself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31520" y="338328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 agent rewrote its own code and improved 7 times in 8 days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" y="3621024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Weco AIDE², Sep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172200" y="2871216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812280" y="2871216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RSI working in trading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to +12% on unseen trading days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587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98678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are the bottleneck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" y="437083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When the environment gets noisy, top agents drop from 83.9% to 57.6%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" y="460857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Breaking the Environment Wall, Sep 2026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172200" y="3858768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812280" y="3858768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Seven environments in 14 days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200K+ experts to build more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846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5138928"/>
            <a:ext cx="15544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Our position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377440" y="5138928"/>
            <a:ext cx="907999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gate RSI; they are our core research. 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Most neolabs have no revenue; we hit $7M ARR in 24 days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OpenAI (Sep 6, 2026); Weco AI, arXiv 2609.26457; Breaking the Environment Wall, arXiv 2609.29773; Deedy Das neolab list (May 2026). +12% is the best of several replications.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Traction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Founded September 10, 2026.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$7M ARR in 24 days, with no outside capital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901952"/>
            <a:ext cx="11091672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8096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14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shipped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 training loop working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90138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9594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Week 3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390138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10+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390138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Types of data delivered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451092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24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31636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$7M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231636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ARR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9073134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9292590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24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9073134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602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073134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073134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Across 5 open benchmarks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48640" y="340156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Days counted from founding; as of October 4, 2026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548640" y="387705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Customers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48640" y="41148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77316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labs in talks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429000" y="387705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Training infrastructure: more training per unit of compute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3429000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3429000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1/4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429000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Each practice run takes a quarter of the time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6257544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6257544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+64%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257544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More scored attempts on the same compute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9086088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9086088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086088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Less time spent saving model checkpoints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Infrastructure figures come from separate internal tests and should not be added together.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round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Raising a $6M seed round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to scale environments, RSI and delivery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651760" cy="35295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47088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Raising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139696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$6M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3090672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Seed round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4535424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Three directions, each with a milestone  →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429000" y="1572768"/>
            <a:ext cx="2584704" cy="35295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685032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685032" y="1993392"/>
            <a:ext cx="2127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and data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85032" y="2761488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Take the trading playbook to more expert domains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3685032" y="3401568"/>
            <a:ext cx="21275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3685032" y="3493008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the money goes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3685032" y="3694176"/>
            <a:ext cx="21275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 engineers  ·  Expert network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3685032" y="4187952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Milestone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685032" y="4389120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10+ expert-domain environments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6242304" y="1572768"/>
            <a:ext cx="2584704" cy="35295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6498336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498336" y="1993392"/>
            <a:ext cx="2127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RSI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498336" y="2761488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Scale self-improvement to larger models and more domains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6498336" y="3401568"/>
            <a:ext cx="21275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6498336" y="3493008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the money goes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498336" y="3694176"/>
            <a:ext cx="21275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Compute  ·  Researchers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498336" y="4187952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Milestone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498336" y="4389120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RSI on open-weight large models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9055608" y="1572768"/>
            <a:ext cx="2584704" cy="35295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931164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9311640" y="1993392"/>
            <a:ext cx="2127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Delivery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9311640" y="2761488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Turn early demand into lasting contracts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9311640" y="3401568"/>
            <a:ext cx="21275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9311640" y="3493008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the money goes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311640" y="3694176"/>
            <a:ext cx="21275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Delivery team  ·  Sales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9311640" y="4187952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Milestone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9311640" y="4389120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 customers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548640" y="5358384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business@simreal.co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·   </a:t>
            </a: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simreal.com.cn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Business model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We sell environments, data and evals.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Frontier labs pay today; enterprise and personal agents next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514344" cy="37673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Now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Frontier AI labs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261518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Environments, verified tasks and evals to post-train their models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22960" y="3108960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22960" y="32004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22960" y="34015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environment and per task, on quarterly contracts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22960" y="3895344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22960" y="398678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22960" y="416966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$300K–$1M+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22960" y="457200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lab, per quarter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22960" y="4791456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 rates: $200–$2,000 a task; about $300K for a complex environment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337304" y="1517904"/>
            <a:ext cx="3514344" cy="3767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11624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Next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11624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Enterprise agents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4611624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4611624" y="261518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Custom environments and tests that prove an agent can do the job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611624" y="31089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611624" y="32004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611624" y="34015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paid pilot, then an annual license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4611624" y="38953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4611624" y="398678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611624" y="416966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$200K–$800K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4611624" y="457200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customer, per year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4611624" y="4791456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Pilot: $50K–$150K over 8–12 weeks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8125968" y="1517904"/>
            <a:ext cx="3514344" cy="3767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8400288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Later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8400288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Personal agents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8400288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400288" y="261518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Short practice runs that fit an agent to one person's habits before it acts for them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400288" y="31089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400288" y="32004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400288" y="34015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monthly subscription, direct or through agent apps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8400288" y="38953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8400288" y="398678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8400288" y="416966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$5–$10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8400288" y="457200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user, per month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8400288" y="4791456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reference, consumer AI plans cost about $20 a month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One set of environments serves all three, 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and every new model needs new tasks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548640" y="590702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Estimates, not signed prices. Lab prices are market rates from Epoch AI interviews with environment builders and AI labs (January 2026). Enterprise and personal prices are our assumptions.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