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59" r:id="rId5"/>
    <p:sldId id="269" r:id="rId15"/>
    <p:sldId id="278" r:id="rId45"/>
    <p:sldId id="262" r:id="rId8"/>
    <p:sldId id="264" r:id="rId10"/>
    <p:sldId id="265" r:id="rId11"/>
    <p:sldId id="275" r:id="rId21"/>
    <p:sldId id="271" r:id="rId17"/>
    <p:sldId id="263" r:id="rId9"/>
    <p:sldId id="270" r:id="rId16"/>
    <p:sldId id="266" r:id="rId12"/>
    <p:sldId id="267" r:id="rId13"/>
    <p:sldId id="268" r:id="rId14"/>
    <p:sldId id="272" r:id="rId18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每个行业最强的AI，出自这里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下一次跃迁，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在真实世界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独家环境，AI自我进化（RSI）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420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未见过的交易日上最高+12%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2030年情景，为今天82倍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70832"/>
            <a:ext cx="34838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人民币（等值美元）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谁有最好的训练世界，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谁就有最好的AI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放弃顶级量化offer，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只做这一件事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889504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U稳定币一年从0到14亿美元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一个月上线Binance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负责机构关系：SIG、DRW等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汇丰港元稳定币唯一实习生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协助推进香港金管局合规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5902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68172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889504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师从统计学教授Po-Ling Loh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国际数理统计学会会士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剑桥研究中心最年轻本科AI研究员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量化经历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5902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68172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剑桥数学一等荣誉（奖学金）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889504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另类数据团队史上首位应届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落地Plug and Play香港首场活动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联合香港科技园，200+人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强生MedTech峰会主持（200+人）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5902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681728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这一波，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属于最快的人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瓶颈从数据，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转向世界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7889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推理模型靠可验证结果做强化学习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6576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76732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27889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975104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48716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6576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76732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27889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1975104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48716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32轮仅6轮盈利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6576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76732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易验证、差距大：先做交易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535424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535424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697480" y="4535424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约20家早期公司，将收敛到3–5家  · 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先做出增益，先拿长期合同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窗口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只开一次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environments》，2026年1月）；Mercor收购Deeptune（SiliconANGLE、TechCrunch，2026年7月）；Alpha Arena（Nof1，2026年5月）；Meta、OpenAI发布（2026年9月）；Wing VC（2026年）。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不会做事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9884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240280" y="4498848"/>
            <a:ext cx="3625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49884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014716" y="4498848"/>
            <a:ext cx="3625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6：77分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仍低于人类最佳80分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AI缺一个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会反应的世界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每次跃迁，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都是反馈的升级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80136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5740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78892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502152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611880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会说话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150108" y="205740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378708" y="1600200"/>
            <a:ext cx="2601468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607308" y="180136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05740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07308" y="278892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3607308" y="3502152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3607308" y="3611880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好用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980176" y="205740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08776" y="1600200"/>
            <a:ext cx="2601468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37376" y="180136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37376" y="205740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37376" y="278892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37376" y="3502152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37376" y="3611880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会推理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810244" y="2057400"/>
            <a:ext cx="228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9038844" y="1600200"/>
            <a:ext cx="2601468" cy="30632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267444" y="180136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267444" y="205740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278892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真实结果为每个动作结算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267444" y="3502152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267444" y="3611880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9267444" y="4215384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0749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第四代反馈，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我们在起点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行动，反应，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22576"/>
            <a:ext cx="20413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22576"/>
            <a:ext cx="20413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22576"/>
            <a:ext cx="20413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22576"/>
            <a:ext cx="20413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761488"/>
            <a:ext cx="10973" cy="256032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77063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035808"/>
            <a:ext cx="11091672" cy="1078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16382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419856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749040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419856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419856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749040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419856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419856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749040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419856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419856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749040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169664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  ·  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526280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526280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526280"/>
            <a:ext cx="87142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每一轮，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都从上一轮出发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浪潮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每一波，都被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最快的年轻团队拿下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801368"/>
            <a:ext cx="20894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第1波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2057400"/>
            <a:ext cx="20894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04672" y="2660904"/>
            <a:ext cx="20894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04672" y="2788920"/>
            <a:ext cx="20894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04672" y="3502152"/>
            <a:ext cx="20894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19岁创立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3977640"/>
            <a:ext cx="20894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估值涨幅约17,000倍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378708" y="1600200"/>
            <a:ext cx="2601468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634740" y="1801368"/>
            <a:ext cx="20894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第2波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34740" y="2057400"/>
            <a:ext cx="20894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34740" y="2660904"/>
            <a:ext cx="20894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34740" y="2788920"/>
            <a:ext cx="20894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34740" y="3502152"/>
            <a:ext cx="20894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22岁亿万富翁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34740" y="3977640"/>
            <a:ext cx="20894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估值涨幅40倍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08776" y="1600200"/>
            <a:ext cx="2601468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64808" y="1801368"/>
            <a:ext cx="20894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第3波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64808" y="2057400"/>
            <a:ext cx="20894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464808" y="2660904"/>
            <a:ext cx="20894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464808" y="2788920"/>
            <a:ext cx="20894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32亿美元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64808" y="3502152"/>
            <a:ext cx="20894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YC最快独角兽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64808" y="3977640"/>
            <a:ext cx="20894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估值涨幅约1,800倍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9038844" y="1600200"/>
            <a:ext cx="2601468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294876" y="1801368"/>
            <a:ext cx="20894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下一波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294876" y="2057400"/>
            <a:ext cx="20894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衍真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9294876" y="2660904"/>
            <a:ext cx="20894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94876" y="2788920"/>
            <a:ext cx="20894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294876" y="3502152"/>
            <a:ext cx="20894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押注我们，就是押注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下一次范式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来源：Scale AI（路透社，2025年6月，Meta投资时估值）；Mercor（TechCrunch、福布斯，2025年10月，C轮估值）；AfterQuery（Sacra，2026年9月，据报道估值）。估值涨幅以各公司早期融资估值为起点，团队测算。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783080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7个世界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447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83080"/>
            <a:ext cx="56692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AI研究 · 开源 · 252星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063240" y="17830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60个真实竞赛任务，评测ML研究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4884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488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 · 开源 · 101星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063240" y="21488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对标同资产专业交易员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51460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25146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数学证明 · 开源 · 101星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063240" y="25146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8036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逻辑推理 · 开源 · 44星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063240" y="288036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4612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 · 部分开源 · 14星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063240" y="324612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按真实结局评分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1188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611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Month-End Close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财务结账 · 已上线 · 非公开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63240" y="361188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7764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776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SWE-Forward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 · 已上线 · 非公开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63240" y="39776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检验AI代码能否挺过下个版本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43400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52628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训练基础设施：降低训练成本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791456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846320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791456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84632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815584" y="4846320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156448" y="4791456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156448" y="484632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619488" y="4846320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智能存档：自动判断何时存档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公开仓库与星标截至2026年10月2日。三项基础设施指标各有比较口径，不能相乘或相加。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每次行动，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都是数据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每一步动作、环境反馈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以及最终任务结果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9300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用于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真实工作的示范、专业判断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9300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用于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对齐、奖励建模与任务设计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私有任务与隔离测试集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独立于训练数据保存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9300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用于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能力验收与持续评测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498848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498848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以交易为例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498848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  · 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同一份记录，既训练也复测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越练越强，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越积越多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一个循环，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三类客户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1945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755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993392"/>
            <a:ext cx="21259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523744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86384" y="2724912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86384" y="320040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86384" y="3401568"/>
            <a:ext cx="21259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378708" y="1572768"/>
            <a:ext cx="2601468" cy="21945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616452" y="1755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16452" y="1993392"/>
            <a:ext cx="21259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16452" y="2523744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16452" y="2724912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行动轨迹、专家示范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私有评测数据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16452" y="320040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16452" y="3401568"/>
            <a:ext cx="21259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08776" y="1572768"/>
            <a:ext cx="2601468" cy="21945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46520" y="1755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1993392"/>
            <a:ext cx="21259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2523744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446520" y="2724912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446520" y="320040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3401568"/>
            <a:ext cx="21259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9038844" y="1572768"/>
            <a:ext cx="2601468" cy="21945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276588" y="17556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276588" y="1993392"/>
            <a:ext cx="21259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76588" y="2523744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276588" y="2724912"/>
            <a:ext cx="21259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练习与表现记录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276588" y="320040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9276588" y="3401568"/>
            <a:ext cx="21259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按用量收费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39776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224528"/>
            <a:ext cx="249859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4224528"/>
            <a:ext cx="20413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3047238" y="422452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3412998" y="4224528"/>
            <a:ext cx="249859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3641598" y="4224528"/>
            <a:ext cx="20413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911596" y="422452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277356" y="4224528"/>
            <a:ext cx="2498598" cy="548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505956" y="4224528"/>
            <a:ext cx="20413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775954" y="422452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9141714" y="4224528"/>
            <a:ext cx="2498598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9370314" y="4224528"/>
            <a:ext cx="204139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0749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每轮升级要新任务、新测试样本，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持续更新带来复购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86318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491447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75848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0357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4892040"/>
            <a:ext cx="1487533" cy="27432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零融资，14天，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7款产品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首个付费试点的来源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完成首批7款产品开发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交付速度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5个公开仓库的GitHub星标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开发者与研究者的关注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743200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每一分钱都花在产品上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0040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584448"/>
            <a:ext cx="11091672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3584448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下一步交付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514600" y="3584448"/>
            <a:ext cx="88971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确定试点范围与验收标准  ·  推进首个付费项目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4439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标识仅表示支持者任职机构，不代表机构背书。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023360" cy="91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627632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359152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606040" y="2414016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145536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606040" y="3200400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4023360"/>
            <a:ext cx="40233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409651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岗位经验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691640" y="409651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提供真实工作示范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6227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专业判断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91640" y="446227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制定任务与评分标准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82803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482803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评审样本与反馈质量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示范、判断与失败案例都会留下，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93392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97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7556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1993392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约为当前82倍  ·  AI经济7万亿美元 × 训练投入10%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4290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5204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16052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Mercor年化毛营收，16个月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64515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4290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5204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16052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Mercor估值，17个月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64515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4290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5204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16052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64515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我们卖的，是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AI经济的研发预算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别人卖工时，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我们卖世界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交易计分需交易台经验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占用研究人力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6817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681728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  ·  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UniPat估值约25亿美元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据彭博（2026年9月）：阿里拟领投UniPat 3亿美元，估值约25亿美元。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计分、训练、交付，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都已做到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2860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逐笔撮合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盈亏扣回撤，再乘夏普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最后交易日留出，哈希预先公开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6616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785616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GPT 6得77分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2860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48716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任务资源分配、智能存档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6616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785616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Qwen3.8-27B最高+12%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2860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487168"/>
            <a:ext cx="296570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6616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785616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5个公开仓库，共512星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46320"/>
            <a:ext cx="11091672" cy="71323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46320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46320"/>
            <a:ext cx="871423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每个客户留下：任务库 · 评分器 · 失败案例 · 验证过的专家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来源：Xitadel-QuantBench公开报告与计分规范；训练基础设施指标为公司内部测试；GitHub星标截至2026年10月2日。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一个世界变十个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3544824" cy="8412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54480"/>
            <a:ext cx="3544824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45920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828800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578608"/>
            <a:ext cx="5408676" cy="3127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248" y="274320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收入引擎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248" y="2962656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248" y="343814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环境授权与数据交付，持续收入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248" y="3749040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248" y="3950208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训练环境与专家数据生产  ·  客户接入、验收与持续更新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41248" y="429768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41248" y="4389120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248" y="45902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3–4家客户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248" y="4956048"/>
            <a:ext cx="2274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首批订单交付与回款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252978" y="4389120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252978" y="45902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252978" y="4956048"/>
            <a:ext cx="2274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拓展订单与复购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2578608"/>
            <a:ext cx="5408676" cy="31272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24244" y="274320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RSI引擎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524244" y="2962656"/>
            <a:ext cx="48234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524244" y="3438144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研发自主出题、训练和独立评测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524244" y="3749040"/>
            <a:ext cx="48234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3950208"/>
            <a:ext cx="48234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算力与研究团队  ·  交易及事件预测验证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524244" y="429768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24244" y="4389120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524244" y="45902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小规模小模型实验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4956048"/>
            <a:ext cx="2274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验证自主出题与训练闭环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935974" y="4389120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935974" y="4590288"/>
            <a:ext cx="22745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10+个环境跑通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935974" y="4956048"/>
            <a:ext cx="227457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在开源大模型上实现RSI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6524244" y="5285232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6524244" y="5321808"/>
            <a:ext cx="48234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接入首批个人Agent团队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一批世界，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三类学习者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611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93392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50592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用于训练与能力验证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24281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33425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553712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55648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1993392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24281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33425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553712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55648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1993392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跨应用执行，推进长期目标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24281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33425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553712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练习环境：长任务、跨应用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与失败恢复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3218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先实验室，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再企业与个人Agent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0"/>
            <a:ext cx="4507992" cy="411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2920"/>
            <a:ext cx="850392" cy="22860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1645920" y="3127248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交易、AI研究、事件预测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3547872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645920" y="3547872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每个有结果的行业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968496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终局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1645920" y="3968496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整个物理世界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46817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  ·  让智能在真实世界里长大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513892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  ·  simreal.com.cn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4630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IMC Prosperity 3、4交易竞赛的订单簿数据（开源回测资源，MIT许可），7个任务；撮合与计分在SimReal引擎上运行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116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0116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603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5603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每个任务最后一个完整交易日留出，训练时不可见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108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108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10896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未见过的交易日上最高提升12%（最佳一次，非均值），多次独立复现；均值、95%置信区间与p值3个月内报告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657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局限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65760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竞赛市场由交易机器人构成，不等于交易所真实行情；回放不计我方订单对价格的冲击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2062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062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2062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Xitadel公开预览版：最佳人类竞赛策略记80分；前沿模型最高77.28（GPT 6），尚无模型越过人类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7548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103120" y="47548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53035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再替人做事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为什么要先练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犯错太贵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35915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出错的代价落在用户身上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80720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9864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数据稀缺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331927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真实操作轨迹很少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76732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85876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信任要证明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427939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上线前要有成绩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577072" y="1572768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怎么落地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577072" y="184708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577072" y="193852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577072" y="235915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按练习回合计费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577072" y="280720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577072" y="289864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数据换额度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577072" y="331927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脱敏共享轨迹，换练习额度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577072" y="3767328"/>
            <a:ext cx="30632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577072" y="3858768"/>
            <a:ext cx="3063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数据任务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577072" y="427939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承接实验室的数据任务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886200" y="1572768"/>
            <a:ext cx="4416552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/>
          <p:nvPr/>
        </p:nvSpPr>
        <p:spPr>
          <a:xfrm>
            <a:off x="4466844" y="1984248"/>
            <a:ext cx="3255264" cy="2340864"/>
          </a:xfrm>
          <a:prstGeom prst="ellipse">
            <a:avLst/>
          </a:prstGeom>
          <a:noFill/>
          <a:ln w="15875">
            <a:solidFill>
              <a:srgbClr val="C4C0B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 rot="6752814">
            <a:off x="6835140" y="2081620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 rot="10800000">
            <a:off x="7648956" y="3095244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/>
          <p:nvPr/>
        </p:nvSpPr>
        <p:spPr>
          <a:xfrm rot="14847185">
            <a:off x="6835140" y="4108868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 rot="17552814">
            <a:off x="5207508" y="4108868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 rot="21600000">
            <a:off x="4393692" y="3095244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/>
          <p:nvPr/>
        </p:nvSpPr>
        <p:spPr>
          <a:xfrm rot="4047185">
            <a:off x="5207508" y="2081620"/>
            <a:ext cx="146304" cy="118872"/>
          </a:xfrm>
          <a:prstGeom prst="triangl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/>
          <p:nvPr/>
        </p:nvSpPr>
        <p:spPr>
          <a:xfrm>
            <a:off x="5500116" y="1792224"/>
            <a:ext cx="118872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5500116" y="1792224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练习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6909687" y="2377440"/>
            <a:ext cx="1188720" cy="384048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6909687" y="237744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轨迹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909687" y="3547872"/>
            <a:ext cx="1188720" cy="384048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909687" y="35478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进化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5500116" y="4133088"/>
            <a:ext cx="1188720" cy="384048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5500116" y="413308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4090545" y="3547872"/>
            <a:ext cx="1188720" cy="384048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4090545" y="35478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更强的模型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4090545" y="2377440"/>
            <a:ext cx="1188720" cy="384048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4090545" y="237744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更多Agent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Agent带来规模，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实验室带来收入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公司与融资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Scale AI：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路透社（2025年6月）：Meta投资143亿美元取得49%股权，估值约290亿美元；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创始人19岁创立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TechCrunch（2025年2月，年化7,500万美元）；Dealroom、福布斯（2026年6月，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年化毛营收20亿美元）；C轮估值100亿美元（2025年10月）；200亿美元估值洽谈中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（彭博、The Information）；创始人22岁成为亿万富翁（福布斯）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Mercor收购Deeptune：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SiliconANGLE、TechCrunch（2026年7月9日）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AfterQuery：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 Wire（2026年4月，A轮投后3亿美元，年化收入1亿美元）；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Sacra（2026年9月，据报道估值32亿美元）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公司公告（2026年9月22日）：新数据服务推出近一年增长逾18倍，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年化收入3.75亿美元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UniPat：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彭博（2026年9月10日）：阿里拟领投3亿美元，估值约25亿美元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Alpha Arena：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Nof1（2026年5月）：前沿模型实盘交易32轮仅6轮盈利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Muse（2026年9月8日）；OpenAI Dots（2026年9月29日）官方发布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训练数据供应商收入：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Menlo Ventures合伙人Deedy Das，AI训练数据全景图（2026年7月）：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50余家公司合计收入约85亿美元（部分为毛营收）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2030年训练市场：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公司情景测算：AI经济规模约7万亿美元 × 训练投入占比10%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RL环境定价：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Epoch AI《An FAQ on RL environments》（2026年1月）：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单个任务200–2,000美元；合同通常每季度六到七位数美元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公开文本存量：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Epoch AI：公开人类文本预计2026–2032年用尽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赛道格局：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Wing VC（2026年）：RL环境约20家早期公司，预计收敛到3–5家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Xitadel数据与结果：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IMC Prosperity 3、4竞赛回测资源，MIT许可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（GitHub：jmerle/imc-prosperity-3-backtester等）；</a:t>
            </a:r>
            <a:br>
              <a:rPr lang="zh-CN" sz="950"/>
            </a:b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人类基准取自已公开的竞赛提交（6支队伍）；逐任务得分见公开报告REPORT.md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训练基础设施：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公司内部测试（2026年10月）；三项指标各有比较口径</a:t>
            </a:r>
          </a:p>
          <a:p>
            <a:pPr marL="0" marR="0" lvl="0" indent="0" algn="l" rtl="0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GitHub：</a:t>
            </a: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截至2026年10月2日，5个公开仓库合计512星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递归式自我改进：AI参与改进下一代AI；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每轮真实结果都成为下一轮的训练数据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专家迭代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用真实结果筛出成功轨迹，再拿来训练；今天做的是这一环，RSI是长期目标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