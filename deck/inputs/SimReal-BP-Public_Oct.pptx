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9" r:id="rId1"/>
  </p:sldMasterIdLst>
  <p:notesMasterIdLst>
    <p:notesMasterId r:id="rId15"/>
  </p:notesMasterIdLst>
  <p:sldIdLst>
    <p:sldId id="256" r:id="rId2"/>
    <p:sldId id="257" r:id="rId3"/>
    <p:sldId id="258" r:id="rId4"/>
    <p:sldId id="260" r:id="rId5"/>
    <p:sldId id="262" r:id="rId6"/>
    <p:sldId id="264" r:id="rId7"/>
    <p:sldId id="265" r:id="rId8"/>
    <p:sldId id="272" r:id="rId9"/>
    <p:sldId id="271" r:id="rId10"/>
    <p:sldId id="269" r:id="rId11"/>
    <p:sldId id="275" r:id="rId12"/>
    <p:sldId id="270" r:id="rId13"/>
    <p:sldId id="267" r:id="rId14"/>
  </p:sldIdLst>
  <p:sldSz cx="12192000" cy="6858000"/>
  <p:notesSz cx="6858000" cy="12192000"/>
  <p:embeddedFontLst>
    <p:embeddedFont>
      <p:font typeface="IBM Plex Mono" panose="020B0509050203000203" pitchFamily="49" charset="77"/>
      <p:regular r:id="rId16"/>
      <p:bold r:id="rId17"/>
      <p:italic r:id="rId18"/>
      <p:boldItalic r:id="rId19"/>
    </p:embeddedFont>
    <p:embeddedFont>
      <p:font typeface="Instrument Sans" pitchFamily="2" charset="0"/>
      <p:regular r:id="rId20"/>
      <p:bold r:id="rId21"/>
      <p:italic r:id="rId22"/>
      <p:boldItalic r:id="rId23"/>
    </p:embeddedFont>
    <p:embeddedFont>
      <p:font typeface="Newsreader" panose="02000000000000000000" pitchFamily="2" charset="77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A870364-48A8-4773-986C-DF2669CC7B71}">
  <a:tblStyle styleId="{EA870364-48A8-4773-986C-DF2669CC7B7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22"/>
    <p:restoredTop sz="94685"/>
  </p:normalViewPr>
  <p:slideViewPr>
    <p:cSldViewPr snapToGrid="0">
      <p:cViewPr varScale="1">
        <p:scale>
          <a:sx n="117" d="100"/>
          <a:sy n="117" d="100"/>
        </p:scale>
        <p:origin x="28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" name="Google Shape;3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" name="Google Shape;27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5" name="Google Shape;30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7" name="Google Shape;56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6" name="Google Shape;516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7" name="Google Shape;447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0" name="Google Shape;660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1" name="Google Shape;661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6" name="Google Shape;476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77" name="Google Shape;477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1" name="Google Shape;38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13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7.png"/><Relationship Id="rId18" Type="http://schemas.openxmlformats.org/officeDocument/2006/relationships/image" Target="../media/image26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17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24.png"/><Relationship Id="rId20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5" Type="http://schemas.openxmlformats.org/officeDocument/2006/relationships/image" Target="../media/image23.png"/><Relationship Id="rId10" Type="http://schemas.openxmlformats.org/officeDocument/2006/relationships/image" Target="../media/image19.png"/><Relationship Id="rId19" Type="http://schemas.openxmlformats.org/officeDocument/2006/relationships/image" Target="../media/image27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Relationship Id="rId1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 descr="orbi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80960" y="0"/>
            <a:ext cx="4507992" cy="411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 descr="SimRea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8640" y="502920"/>
            <a:ext cx="850392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1234440"/>
            <a:ext cx="786384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Every industry's best agents</a:t>
            </a:r>
          </a:p>
          <a:p>
            <a:pPr marL="0" marR="0" lvl="0" indent="0" algn="l" rtl="0">
              <a:lnSpc>
                <a:spcPct val="105000"/>
              </a:lnSpc>
              <a:spcBef>
                <a:spcPts val="1539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will be trained in our worlds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548640" y="3154680"/>
            <a:ext cx="74980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 dirty="0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An AI-native neolab building environments, verifiers and data for </a:t>
            </a:r>
            <a:r>
              <a:rPr lang="en-US" altLang="zh-CN" sz="1800" b="0" i="0" u="none" strike="noStrike" cap="none" dirty="0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self-improving AI</a:t>
            </a:r>
            <a:endParaRPr lang="zh-CN" sz="1800" b="0" i="0" u="none" strike="noStrike" cap="none" dirty="0">
              <a:solidFill>
                <a:srgbClr val="C2410C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5003" name="SimReal 5003"/>
          <p:cNvSpPr/>
          <p:nvPr/>
        </p:nvSpPr>
        <p:spPr>
          <a:xfrm>
            <a:off x="548640" y="4526280"/>
            <a:ext cx="822960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4" name="SimReal 5004"/>
          <p:cNvSpPr txBox="1"/>
          <p:nvPr/>
        </p:nvSpPr>
        <p:spPr>
          <a:xfrm>
            <a:off x="5486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Founded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September 10, 2026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32918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Raising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32918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$6M seed round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60350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Investor presentation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60350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October 2026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548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4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Problem   Product   Traction   Market   Edge   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Overview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An AI-native neolab building RSI engines: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the environments, verifiers and data that let agents improve themselves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810512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193852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Revenue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219456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$3M ARR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7980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Reached 24 days after founding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No outside capital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4352544" y="1810512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4352544" y="193852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Product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4352544" y="219456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7 environments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352544" y="27980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Trading, ML research, math, reasoning,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forecasting, software and accounting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8156448" y="181051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8156448" y="193852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Proof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8156448" y="219456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+12%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156448" y="27980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 model trained in our trading environment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did better on trading days it had never seen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48640" y="368503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548640" y="381304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Open source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548640" y="406908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602 GitHub stars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467258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Across 5 open benchmarks,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all shipped in our first 14 days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4352544" y="368503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4352544" y="381304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Team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4352544" y="406908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 dirty="0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Quant founders, all 21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4352544" y="467258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 dirty="0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Cambridge, LSE and Duke mathematics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 dirty="0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Jane Street, Citadel, Optiver, Millennium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8156448" y="368503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8156448" y="381304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Market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8156448" y="406908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$8.5B a year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8156448" y="467258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Spent today on training data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and RL environments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5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5" descr="jane-street-colo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78974" y="1661532"/>
            <a:ext cx="757666" cy="2979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5" descr="citadel-colo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54041" y="1719789"/>
            <a:ext cx="1244200" cy="18144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5" descr="millennium-color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503221" y="1715056"/>
            <a:ext cx="1182510" cy="190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5" descr="optiver-colo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828759" y="1693915"/>
            <a:ext cx="968102" cy="233193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5" descr="cambridge-ink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216170" y="1530535"/>
            <a:ext cx="629948" cy="559953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Problem   Product   Traction   Market   Edge   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Team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 dirty="0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Three</a:t>
            </a:r>
            <a:r>
              <a:rPr lang="en-US" altLang="zh-CN" sz="1600" b="0" i="0" u="none" strike="noStrike" cap="none" dirty="0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 21-year-old founders. </a:t>
            </a:r>
            <a:r>
              <a:rPr lang="zh-CN" sz="1600" b="0" i="0" u="none" strike="noStrike" cap="none" dirty="0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Together they turned down $</a:t>
            </a:r>
            <a:r>
              <a:rPr lang="en-US" altLang="zh-CN" sz="1600" dirty="0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1</a:t>
            </a:r>
            <a:r>
              <a:rPr lang="zh-CN" sz="1600" b="0" i="0" u="none" strike="noStrike" cap="none" dirty="0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M+ in first-year pay to build SimReal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2212848"/>
            <a:ext cx="3514344" cy="34290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 dirty="0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Charles</a:t>
            </a:r>
            <a:r>
              <a:rPr lang="zh-CN" sz="1000" b="0" i="0" u="none" strike="noStrike" cap="none" dirty="0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CEO · 21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944368"/>
            <a:ext cx="2965704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0" i="0" u="none" strike="noStrike" cap="none" dirty="0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Employee #1 </a:t>
            </a:r>
            <a:r>
              <a:rPr lang="zh-CN" sz="1100" b="0" i="0" u="none" strike="noStrike" cap="none" dirty="0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at United Stables, </a:t>
            </a:r>
            <a:r>
              <a:rPr lang="en-US" altLang="zh-CN" sz="1100" b="0" i="0" u="none" strike="noStrike" cap="none" dirty="0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building it from scratch to $1.5B+. </a:t>
            </a:r>
            <a:r>
              <a:rPr lang="en-US" altLang="zh-CN" sz="1100" dirty="0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Listed on Binance within a month.</a:t>
            </a:r>
            <a:endParaRPr lang="zh-CN" sz="1100" b="0" i="0" u="none" strike="noStrike" cap="none" dirty="0">
              <a:solidFill>
                <a:srgbClr val="33322F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 dirty="0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Led institutional partnerships with YZi Labs, SIG, DRW and Wintermute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 dirty="0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Only intern on HSBC's HKD stablecoin project, working on HKMA compliance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 dirty="0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Hedge fund intern, Citadel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822960" y="493776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822960" y="5029200"/>
            <a:ext cx="29657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 dirty="0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LSE, Mathematics</a:t>
            </a:r>
          </a:p>
          <a:p>
            <a:pPr marL="0" marR="0" lvl="0" indent="0" algn="l" rtl="0">
              <a:lnSpc>
                <a:spcPct val="112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950" b="0" i="0" u="none" strike="noStrike" cap="none" dirty="0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USAMO qualifier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4337304" y="2212848"/>
            <a:ext cx="3514344" cy="34290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4611624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Henry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CTO · 21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611624" y="2944368"/>
            <a:ext cx="2965704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 dirty="0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Cambridge Mathematics,</a:t>
            </a:r>
            <a:r>
              <a:rPr lang="en-US" altLang="zh-CN" sz="1100" dirty="0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St John‘s College,</a:t>
            </a:r>
            <a:r>
              <a:rPr lang="zh-CN" sz="1100" b="0" i="0" u="none" strike="noStrike" cap="none" dirty="0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First Class</a:t>
            </a:r>
            <a:r>
              <a:rPr lang="en-US" altLang="zh-CN" sz="1100" b="0" i="0" u="none" strike="noStrike" cap="none" dirty="0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with Scholarship</a:t>
            </a:r>
            <a:r>
              <a:rPr lang="zh-CN" sz="1100" b="0" i="0" u="none" strike="noStrike" cap="none" dirty="0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; </a:t>
            </a:r>
            <a:endParaRPr lang="en-US" altLang="zh-CN" sz="1100" dirty="0">
              <a:solidFill>
                <a:srgbClr val="33322F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altLang="zh-CN" sz="1100" dirty="0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</a:br>
            <a:r>
              <a:rPr lang="zh-CN" sz="1100" b="0" i="0" u="none" strike="noStrike" cap="none" dirty="0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Youngest researcher at the Cambridge AI research center, under Prof. Po-Ling Loh (IMS Fellow)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 dirty="0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Ex-quant at Jane Street, Citadel and Optiver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4611624" y="493776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4611624" y="5029200"/>
            <a:ext cx="29657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 dirty="0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Top 30 worldwide, Cambridge</a:t>
            </a:r>
            <a:r>
              <a:rPr lang="en-US" altLang="zh-CN" sz="950" b="0" i="0" u="none" strike="noStrike" cap="none" dirty="0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STEP</a:t>
            </a:r>
            <a:r>
              <a:rPr lang="zh-CN" sz="950" b="0" i="0" u="none" strike="noStrike" cap="none" dirty="0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maths competition</a:t>
            </a:r>
            <a:r>
              <a:rPr lang="en-US" altLang="zh-CN" sz="950" b="0" i="0" u="none" strike="noStrike" cap="none" dirty="0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(~IMO Medalist level)</a:t>
            </a:r>
            <a:endParaRPr lang="zh-CN" sz="950" b="0" i="0" u="none" strike="noStrike" cap="none" dirty="0">
              <a:solidFill>
                <a:srgbClr val="6E6C66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0" marR="0" lvl="0" indent="0" algn="l" rtl="0">
              <a:lnSpc>
                <a:spcPct val="112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950" b="0" i="0" u="none" strike="noStrike" cap="none" dirty="0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British Physics Olympiad Top Gold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8125968" y="2212848"/>
            <a:ext cx="3514344" cy="34290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8400288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Amaris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COO · 21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400288" y="2944368"/>
            <a:ext cx="2965704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 dirty="0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Data scientist, Millennium Hong Kong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 dirty="0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First graduate hire on Millennium's alternative-data team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 dirty="0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Co-organized Plug and Play's first Hong Kong event, with HKSTP (200+ attendees)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8400288" y="493776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8400288" y="5029200"/>
            <a:ext cx="29657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 dirty="0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Duke, Mathematics and Statistics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Product   Traction   Market   Edge   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Problem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 dirty="0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Agents can reason. </a:t>
            </a:r>
            <a:r>
              <a:rPr lang="zh-CN" sz="1600" b="0" i="0" u="none" strike="noStrike" cap="none" dirty="0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They still fail at real work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6720840" y="1636776"/>
            <a:ext cx="4919472" cy="27432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2194560" y="1673352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 dirty="0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Looks right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6949440" y="1673352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 actually happens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548640" y="1965960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548640" y="1965960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Trading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2194560" y="1965960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 dirty="0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Wins on past data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6217920" y="1965960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949440" y="1965960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Loses money live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256946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548640" y="2569464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Software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2194560" y="2569464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All tests pass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6217920" y="2569464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6949440" y="2569464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Breaks in production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548640" y="317296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548640" y="3172968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Accounting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2194560" y="3172968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Books look closed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6217920" y="3172968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6949440" y="3172968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Month-end doesn't reconcile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548640" y="3776472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548640" y="3776472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Forecasting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2194560" y="3776472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Analysis sounds right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6217920" y="3776472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6949440" y="3776472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Outcome proves it wrong</a:t>
            </a:r>
          </a:p>
        </p:txBody>
      </p:sp>
      <p:sp>
        <p:nvSpPr>
          <p:cNvPr id="5028" name="SimReal 5028"/>
          <p:cNvSpPr/>
          <p:nvPr/>
        </p:nvSpPr>
        <p:spPr>
          <a:xfrm>
            <a:off x="548640" y="437997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548640" y="4572000"/>
            <a:ext cx="16459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6/32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2286000" y="4572000"/>
            <a:ext cx="8686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In a live trading contest (Alpha Arena), frontier models made money in only 6 of 32 runs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53492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 dirty="0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The gap: </a:t>
            </a:r>
            <a:r>
              <a:rPr lang="zh-CN" sz="1900" b="0" i="0" u="none" strike="noStrike" cap="none" dirty="0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agents have nowhere realistic to practice, and no source of truth to learn from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Picture 237" descr="rs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463040"/>
            <a:ext cx="6949440" cy="4382530"/>
          </a:xfrm>
          <a:prstGeom prst="rect">
            <a:avLst/>
          </a:prstGeom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05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   Problem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Traction   Market   Edge   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Solution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 dirty="0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</a:t>
            </a:r>
            <a:r>
              <a:rPr lang="en-US" altLang="zh-CN" sz="1600" dirty="0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 </a:t>
            </a:r>
            <a:r>
              <a:rPr lang="zh-CN" sz="1600" b="0" i="0" u="none" strike="noStrike" cap="none" dirty="0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loop that turns real outcomes into better agents, </a:t>
            </a:r>
            <a:r>
              <a:rPr lang="zh-CN" sz="1600" b="0" i="0" u="none" strike="noStrike" cap="none" dirty="0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with AI inside it from day one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7635240" y="1700784"/>
            <a:ext cx="400507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What's different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7635240" y="1956816"/>
            <a:ext cx="40050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635240" y="2066544"/>
            <a:ext cx="40050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Today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7635240" y="2414016"/>
            <a:ext cx="400507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 dirty="0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Humans hand-write every task, label and rubric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7635240" y="2852928"/>
            <a:ext cx="40050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7635240" y="2962656"/>
            <a:ext cx="40050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SimReal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7635240" y="3310128"/>
            <a:ext cx="4005072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 dirty="0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Agents help write new tasks and data, find failure modes and improve the environments they train in. Next, they will write the verifiers too</a:t>
            </a:r>
            <a:r>
              <a:rPr lang="en-US" altLang="zh-CN" sz="1150" b="0" i="0" u="none" strike="noStrike" cap="none" dirty="0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. AI nativ</a:t>
            </a:r>
            <a:r>
              <a:rPr lang="en-US" altLang="zh-CN" sz="1150" dirty="0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 from the start.</a:t>
            </a:r>
            <a:endParaRPr lang="zh-CN" sz="1150" b="0" i="0" u="none" strike="noStrike" cap="none" dirty="0">
              <a:solidFill>
                <a:srgbClr val="33322F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012" name="SimReal 5012"/>
          <p:cNvSpPr/>
          <p:nvPr/>
        </p:nvSpPr>
        <p:spPr>
          <a:xfrm>
            <a:off x="7635240" y="4005072"/>
            <a:ext cx="40050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/>
          <p:nvPr/>
        </p:nvSpPr>
        <p:spPr>
          <a:xfrm>
            <a:off x="7635240" y="4133088"/>
            <a:ext cx="4005072" cy="1078992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7909560" y="4224528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Proof point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7909560" y="4443984"/>
            <a:ext cx="14630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+12%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9235440" y="4443984"/>
            <a:ext cx="22860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on trading days it never saw,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after training in our loop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548640" y="5815584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+12% is the best of several independent replications, measured on trading days held out from training.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11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06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   Problem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Traction   Market   Edge   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Product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Seven environments in 14 days.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Each is scored by something the agent can't argue with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481328"/>
            <a:ext cx="30175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6400" b="0" i="0" u="none" strike="noStrike" cap="none" dirty="0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6</a:t>
            </a:r>
            <a:r>
              <a:rPr lang="en-US" altLang="zh-CN" sz="6400" b="0" i="0" u="none" strike="noStrike" cap="none" dirty="0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7</a:t>
            </a:r>
            <a:r>
              <a:rPr lang="zh-CN" sz="6400" b="0" i="0" u="none" strike="noStrike" cap="none" dirty="0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2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548640" y="2432304"/>
            <a:ext cx="30175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1" i="0" u="none" strike="noStrike" cap="none" dirty="0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GitHub stars across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1" i="0" u="none" strike="noStrike" cap="none" dirty="0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5 open benchmarks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301752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 dirty="0">
                <a:solidFill>
                  <a:srgbClr val="6E6C66"/>
                </a:solidFill>
                <a:latin typeface="+mj-lt"/>
                <a:ea typeface="IBM Plex Mono"/>
                <a:cs typeface="IBM Plex Mono"/>
                <a:sym typeface="IBM Plex Mono"/>
              </a:rPr>
              <a:t>As of October 4, 2026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548640" y="3493008"/>
            <a:ext cx="3017520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548640" y="3621024"/>
            <a:ext cx="301752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 dirty="0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Give the agent a world to practice in.</a:t>
            </a:r>
          </a:p>
          <a:p>
            <a:pPr marL="0" marR="0" lvl="0" indent="0" algn="l" rtl="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zh-CN" sz="1250" b="0" i="0" u="none" strike="noStrike" cap="none" dirty="0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Make the reward come from a market, a proof, hidden labels, an executable system or a real-world outcome.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3931920" y="1572768"/>
            <a:ext cx="770839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3931920" y="1591056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Domain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5257800" y="1591056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Environment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7315200" y="1591056"/>
            <a:ext cx="3429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Scored by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10835640" y="1591056"/>
            <a:ext cx="71323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Stars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3931920" y="1883664"/>
            <a:ext cx="77083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3931920" y="1883664"/>
            <a:ext cx="123444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Trading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5257800" y="1883664"/>
            <a:ext cx="196596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Xitadel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7315200" y="1883664"/>
            <a:ext cx="338328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Profit on unseen market days, vs. the best human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10835640" y="1883664"/>
            <a:ext cx="804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 dirty="0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10</a:t>
            </a:r>
            <a:r>
              <a:rPr lang="en-US" altLang="zh-CN" sz="1100" b="1" i="0" u="none" strike="noStrike" cap="none" dirty="0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</a:t>
            </a:r>
            <a:endParaRPr lang="zh-CN" sz="1100" b="1" i="0" u="none" strike="noStrike" cap="none" dirty="0">
              <a:solidFill>
                <a:srgbClr val="C2410C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5020" name="SimReal 5020"/>
          <p:cNvSpPr/>
          <p:nvPr/>
        </p:nvSpPr>
        <p:spPr>
          <a:xfrm>
            <a:off x="3931920" y="2395728"/>
            <a:ext cx="77083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3931920" y="2395728"/>
            <a:ext cx="123444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ML research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5257800" y="2395728"/>
            <a:ext cx="196596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SimReal-MLBench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7315200" y="2395728"/>
            <a:ext cx="338328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 official Kaggle leaderboard, on hidden labels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10835640" y="2395728"/>
            <a:ext cx="804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 dirty="0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30</a:t>
            </a:r>
            <a:r>
              <a:rPr lang="en-US" altLang="zh-CN" sz="1100" b="1" i="0" u="none" strike="noStrike" cap="none" dirty="0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</a:t>
            </a:r>
            <a:endParaRPr lang="zh-CN" sz="1100" b="1" i="0" u="none" strike="noStrike" cap="none" dirty="0">
              <a:solidFill>
                <a:srgbClr val="C2410C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5025" name="SimReal 5025"/>
          <p:cNvSpPr/>
          <p:nvPr/>
        </p:nvSpPr>
        <p:spPr>
          <a:xfrm>
            <a:off x="3931920" y="2907792"/>
            <a:ext cx="77083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3931920" y="2907792"/>
            <a:ext cx="123444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Math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5257800" y="2907792"/>
            <a:ext cx="196596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MathmoBench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7315200" y="2907792"/>
            <a:ext cx="338328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Whether the proof is correct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10835640" y="2907792"/>
            <a:ext cx="804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101</a:t>
            </a:r>
          </a:p>
        </p:txBody>
      </p:sp>
      <p:sp>
        <p:nvSpPr>
          <p:cNvPr id="5030" name="SimReal 5030"/>
          <p:cNvSpPr/>
          <p:nvPr/>
        </p:nvSpPr>
        <p:spPr>
          <a:xfrm>
            <a:off x="3931920" y="3419856"/>
            <a:ext cx="77083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1" name="SimReal 5031"/>
          <p:cNvSpPr txBox="1"/>
          <p:nvPr/>
        </p:nvSpPr>
        <p:spPr>
          <a:xfrm>
            <a:off x="3931920" y="3419856"/>
            <a:ext cx="123444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Reasoning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5257800" y="3419856"/>
            <a:ext cx="196596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Puzzle Benchmark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7315200" y="3419856"/>
            <a:ext cx="338328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Hidden answers to 749 human-written puzzles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0835640" y="3419856"/>
            <a:ext cx="804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100" b="1" dirty="0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100</a:t>
            </a:r>
            <a:endParaRPr lang="zh-CN" sz="1100" b="1" i="0" u="none" strike="noStrike" cap="none" dirty="0">
              <a:solidFill>
                <a:srgbClr val="C2410C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5035" name="SimReal 5035"/>
          <p:cNvSpPr/>
          <p:nvPr/>
        </p:nvSpPr>
        <p:spPr>
          <a:xfrm>
            <a:off x="3931920" y="3931920"/>
            <a:ext cx="77083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6" name="SimReal 5036"/>
          <p:cNvSpPr txBox="1"/>
          <p:nvPr/>
        </p:nvSpPr>
        <p:spPr>
          <a:xfrm>
            <a:off x="3931920" y="3931920"/>
            <a:ext cx="123444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Forecasting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5257800" y="3931920"/>
            <a:ext cx="196596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FuturePredict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7315200" y="3931920"/>
            <a:ext cx="338328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 real outcome, after the deadline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10835640" y="3931920"/>
            <a:ext cx="804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27</a:t>
            </a:r>
          </a:p>
        </p:txBody>
      </p:sp>
      <p:sp>
        <p:nvSpPr>
          <p:cNvPr id="5040" name="SimReal 5040"/>
          <p:cNvSpPr/>
          <p:nvPr/>
        </p:nvSpPr>
        <p:spPr>
          <a:xfrm>
            <a:off x="3931920" y="4443984"/>
            <a:ext cx="77083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1" name="SimReal 5041"/>
          <p:cNvSpPr txBox="1"/>
          <p:nvPr/>
        </p:nvSpPr>
        <p:spPr>
          <a:xfrm>
            <a:off x="3931920" y="4443984"/>
            <a:ext cx="123444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Software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5257800" y="4443984"/>
            <a:ext cx="196596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SWE-Forward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7315200" y="4443984"/>
            <a:ext cx="338328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Hidden tests the code must pass</a:t>
            </a:r>
          </a:p>
        </p:txBody>
      </p:sp>
      <p:sp>
        <p:nvSpPr>
          <p:cNvPr id="5044" name="SimReal 5044"/>
          <p:cNvSpPr txBox="1"/>
          <p:nvPr/>
        </p:nvSpPr>
        <p:spPr>
          <a:xfrm>
            <a:off x="10835640" y="4443984"/>
            <a:ext cx="804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Private</a:t>
            </a:r>
          </a:p>
        </p:txBody>
      </p:sp>
      <p:sp>
        <p:nvSpPr>
          <p:cNvPr id="5045" name="SimReal 5045"/>
          <p:cNvSpPr/>
          <p:nvPr/>
        </p:nvSpPr>
        <p:spPr>
          <a:xfrm>
            <a:off x="3931920" y="4956048"/>
            <a:ext cx="77083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6" name="SimReal 5046"/>
          <p:cNvSpPr txBox="1"/>
          <p:nvPr/>
        </p:nvSpPr>
        <p:spPr>
          <a:xfrm>
            <a:off x="3931920" y="4956048"/>
            <a:ext cx="123444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Accounting</a:t>
            </a:r>
          </a:p>
        </p:txBody>
      </p:sp>
      <p:sp>
        <p:nvSpPr>
          <p:cNvPr id="5047" name="SimReal 5047"/>
          <p:cNvSpPr txBox="1"/>
          <p:nvPr/>
        </p:nvSpPr>
        <p:spPr>
          <a:xfrm>
            <a:off x="5257800" y="4956048"/>
            <a:ext cx="196596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Month-End Close</a:t>
            </a:r>
          </a:p>
        </p:txBody>
      </p:sp>
      <p:sp>
        <p:nvSpPr>
          <p:cNvPr id="5048" name="SimReal 5048"/>
          <p:cNvSpPr txBox="1"/>
          <p:nvPr/>
        </p:nvSpPr>
        <p:spPr>
          <a:xfrm>
            <a:off x="7315200" y="4956048"/>
            <a:ext cx="338328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Whether the books reconcile</a:t>
            </a:r>
          </a:p>
        </p:txBody>
      </p:sp>
      <p:sp>
        <p:nvSpPr>
          <p:cNvPr id="5049" name="SimReal 5049"/>
          <p:cNvSpPr txBox="1"/>
          <p:nvPr/>
        </p:nvSpPr>
        <p:spPr>
          <a:xfrm>
            <a:off x="10835640" y="4956048"/>
            <a:ext cx="804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Private</a:t>
            </a:r>
          </a:p>
        </p:txBody>
      </p:sp>
      <p:sp>
        <p:nvSpPr>
          <p:cNvPr id="5050" name="SimReal 5050"/>
          <p:cNvSpPr/>
          <p:nvPr/>
        </p:nvSpPr>
        <p:spPr>
          <a:xfrm>
            <a:off x="3931920" y="5468112"/>
            <a:ext cx="77083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51" name="SimReal 5051"/>
          <p:cNvSpPr txBox="1"/>
          <p:nvPr/>
        </p:nvSpPr>
        <p:spPr>
          <a:xfrm>
            <a:off x="548640" y="5815584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SWE-Forward and Month-End Close are not open-sourced.</a:t>
            </a:r>
          </a:p>
        </p:txBody>
      </p:sp>
      <p:sp>
        <p:nvSpPr>
          <p:cNvPr id="5052" name="SimReal 5052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53" name="SimReal 505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12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Picture 336" descr="xitade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2928" y="1700784"/>
            <a:ext cx="8732520" cy="1353312"/>
          </a:xfrm>
          <a:prstGeom prst="rect">
            <a:avLst/>
          </a:prstGeom>
        </p:spPr>
      </p:pic>
      <p:pic>
        <p:nvPicPr>
          <p:cNvPr id="338" name="Picture 337" descr="mlben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2928" y="3108960"/>
            <a:ext cx="8732520" cy="1353312"/>
          </a:xfrm>
          <a:prstGeom prst="rect">
            <a:avLst/>
          </a:prstGeom>
        </p:spPr>
      </p:pic>
      <p:pic>
        <p:nvPicPr>
          <p:cNvPr id="339" name="Picture 338" descr="forecas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52928" y="4517136"/>
            <a:ext cx="8732520" cy="1353312"/>
          </a:xfrm>
          <a:prstGeom prst="rect">
            <a:avLst/>
          </a:prstGeom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07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   Problem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Traction   Market   Edge   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How it works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Three environments.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Each scores the AI against something real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2962656" y="1463040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</a:t>
            </a: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  Given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5614416" y="1463040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2</a:t>
            </a: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  The AI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66176" y="1463040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3</a:t>
            </a: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  Scored against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548640" y="1700784"/>
            <a:ext cx="2313432" cy="1353312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/>
          <p:nvPr/>
        </p:nvSpPr>
        <p:spPr>
          <a:xfrm>
            <a:off x="11576304" y="1700784"/>
            <a:ext cx="64008" cy="1353312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/>
          <p:nvPr/>
        </p:nvSpPr>
        <p:spPr>
          <a:xfrm>
            <a:off x="548640" y="1700784"/>
            <a:ext cx="45720" cy="1353312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777240" y="1993392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Trading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777240" y="219456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Xitadel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777240" y="2596896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Published results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548640" y="3108960"/>
            <a:ext cx="2313432" cy="1353312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/>
          <p:nvPr/>
        </p:nvSpPr>
        <p:spPr>
          <a:xfrm>
            <a:off x="11576304" y="3108960"/>
            <a:ext cx="64008" cy="1353312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/>
          <p:nvPr/>
        </p:nvSpPr>
        <p:spPr>
          <a:xfrm>
            <a:off x="548640" y="3108960"/>
            <a:ext cx="45720" cy="1353312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777240" y="3401568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AI research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777240" y="3602736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SimReal-MLBench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777240" y="4005072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Baseline result, not an AI agent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548640" y="4517136"/>
            <a:ext cx="2313432" cy="1353312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/>
          <p:nvPr/>
        </p:nvSpPr>
        <p:spPr>
          <a:xfrm>
            <a:off x="11576304" y="4517136"/>
            <a:ext cx="64008" cy="1353312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/>
          <p:nvPr/>
        </p:nvSpPr>
        <p:spPr>
          <a:xfrm>
            <a:off x="548640" y="4517136"/>
            <a:ext cx="45720" cy="1353312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3" name="SimReal 5023"/>
          <p:cNvSpPr txBox="1"/>
          <p:nvPr/>
        </p:nvSpPr>
        <p:spPr>
          <a:xfrm>
            <a:off x="777240" y="4809744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Forecasting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777240" y="5010912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FuturePredict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777240" y="5413248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Illustrative numbers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548640" y="5961888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Best human: on each task, the best real strategy from IMC Prosperity, a global trading competition. FuturePredict baseline: a reference forecast, also locked in advance.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7" name="Google Shape;607;p1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08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   Problem   Product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Market   Edge   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Traction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Founded September 10, 2026.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$3M ARR in 24 days, with no outside capital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901952"/>
            <a:ext cx="11091672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/>
          <p:nvPr/>
        </p:nvSpPr>
        <p:spPr>
          <a:xfrm>
            <a:off x="548640" y="1837944"/>
            <a:ext cx="146304" cy="14630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68096" y="1536192"/>
            <a:ext cx="229285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Day 14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103120"/>
            <a:ext cx="256717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7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48640" y="2779776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Environments shipped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548640" y="307238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Trading training loop working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3390138" y="1837944"/>
            <a:ext cx="146304" cy="14630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3609594" y="1536192"/>
            <a:ext cx="229285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Week 3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3390138" y="2103120"/>
            <a:ext cx="256717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10+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3390138" y="2779776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Types of data delivered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6231636" y="1837944"/>
            <a:ext cx="146304" cy="14630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6451092" y="1536192"/>
            <a:ext cx="229285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Day 24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6231636" y="2103120"/>
            <a:ext cx="256717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$3M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6231636" y="2779776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ARR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9073134" y="1837944"/>
            <a:ext cx="146304" cy="14630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9292590" y="1536192"/>
            <a:ext cx="229285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 dirty="0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Day </a:t>
            </a:r>
            <a:r>
              <a:rPr lang="en-US" altLang="zh-CN" sz="1050" b="1" dirty="0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31</a:t>
            </a:r>
            <a:endParaRPr lang="zh-CN" sz="1050" b="1" i="0" u="none" strike="noStrike" cap="none" dirty="0">
              <a:solidFill>
                <a:srgbClr val="C2410C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5021" name="SimReal 5021"/>
          <p:cNvSpPr txBox="1"/>
          <p:nvPr/>
        </p:nvSpPr>
        <p:spPr>
          <a:xfrm>
            <a:off x="9073134" y="2103120"/>
            <a:ext cx="256717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 dirty="0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6</a:t>
            </a:r>
            <a:r>
              <a:rPr lang="en-US" altLang="zh-CN" sz="4000" b="0" i="0" u="none" strike="noStrike" cap="none" dirty="0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7</a:t>
            </a:r>
            <a:r>
              <a:rPr lang="zh-CN" sz="4000" b="0" i="0" u="none" strike="noStrike" cap="none" dirty="0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2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9073134" y="2779776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GitHub stars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9073134" y="307238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Across 5 open benchmarks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548640" y="3401568"/>
            <a:ext cx="110916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Days counted from founding; as of October 4, 2026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548640" y="376732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548640" y="3877056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Customers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548640" y="4114800"/>
            <a:ext cx="23774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548640" y="4773168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Frontier labs in talks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3429000" y="3877056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Training infrastructure: more training per unit of compute</a:t>
            </a:r>
          </a:p>
        </p:txBody>
      </p:sp>
      <p:sp>
        <p:nvSpPr>
          <p:cNvPr id="5030" name="SimReal 5030"/>
          <p:cNvSpPr/>
          <p:nvPr/>
        </p:nvSpPr>
        <p:spPr>
          <a:xfrm>
            <a:off x="3429000" y="4114800"/>
            <a:ext cx="255422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1" name="SimReal 5031"/>
          <p:cNvSpPr txBox="1"/>
          <p:nvPr/>
        </p:nvSpPr>
        <p:spPr>
          <a:xfrm>
            <a:off x="3429000" y="4169664"/>
            <a:ext cx="255422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1/4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3429000" y="4773168"/>
            <a:ext cx="25542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Each practice run takes a quarter of the time</a:t>
            </a:r>
          </a:p>
        </p:txBody>
      </p:sp>
      <p:sp>
        <p:nvSpPr>
          <p:cNvPr id="5033" name="SimReal 5033"/>
          <p:cNvSpPr/>
          <p:nvPr/>
        </p:nvSpPr>
        <p:spPr>
          <a:xfrm>
            <a:off x="6257544" y="4114800"/>
            <a:ext cx="255422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4" name="SimReal 5034"/>
          <p:cNvSpPr txBox="1"/>
          <p:nvPr/>
        </p:nvSpPr>
        <p:spPr>
          <a:xfrm>
            <a:off x="6257544" y="4169664"/>
            <a:ext cx="255422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+64%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6257544" y="4773168"/>
            <a:ext cx="25542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More scored attempts on the same compute</a:t>
            </a:r>
          </a:p>
        </p:txBody>
      </p:sp>
      <p:sp>
        <p:nvSpPr>
          <p:cNvPr id="5036" name="SimReal 5036"/>
          <p:cNvSpPr/>
          <p:nvPr/>
        </p:nvSpPr>
        <p:spPr>
          <a:xfrm>
            <a:off x="9086088" y="4114800"/>
            <a:ext cx="255422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7" name="SimReal 5037"/>
          <p:cNvSpPr txBox="1"/>
          <p:nvPr/>
        </p:nvSpPr>
        <p:spPr>
          <a:xfrm>
            <a:off x="9086088" y="4169664"/>
            <a:ext cx="255422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−1/3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9086088" y="4773168"/>
            <a:ext cx="25542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Less time spent saving model checkpoints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Infrastructure figures come from separate internal tests and should not be added together.</a:t>
            </a:r>
          </a:p>
        </p:txBody>
      </p:sp>
      <p:sp>
        <p:nvSpPr>
          <p:cNvPr id="5040" name="SimReal 5040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2" name="Google Shape;562;p18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09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   Problem   Product   Traction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Edge   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Why now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Agents are starting to improve themselves.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Environments are now the bottleneck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6583680" y="1572768"/>
            <a:ext cx="5056632" cy="3273552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/>
          <p:nvPr/>
        </p:nvSpPr>
        <p:spPr>
          <a:xfrm>
            <a:off x="548640" y="157276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31520" y="1591056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 changed in 2026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6812280" y="1591056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 we have built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548640" y="188366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731520" y="2011680"/>
            <a:ext cx="5669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 is doing AI research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731520" y="2395728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OpenAI: agents do 3.1 days of work for every researcher-day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731520" y="2633472"/>
            <a:ext cx="5669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OpenAI, Sep 2026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6172200" y="1883664"/>
            <a:ext cx="365760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6812280" y="1883664"/>
            <a:ext cx="4736592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SimReal-MLBench: an exam for AI research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302 GitHub stars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548640" y="287121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731520" y="2999232"/>
            <a:ext cx="5669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 is improving itself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731520" y="3383280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An agent rewrote its own code and improved 7 times in 8 days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731520" y="3621024"/>
            <a:ext cx="5669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Weco AIDE², Sep 2026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6172200" y="2871216"/>
            <a:ext cx="365760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6812280" y="2871216"/>
            <a:ext cx="4736592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RSI working in trading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Up to +12% on unseen trading days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548640" y="385876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731520" y="3986784"/>
            <a:ext cx="5669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Environments are the bottleneck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731520" y="4370832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When the environment gets noisy, top agents drop from 83.9% to 57.6%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731520" y="4608576"/>
            <a:ext cx="5669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Breaking the Environment Wall, Sep 2026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6172200" y="3858768"/>
            <a:ext cx="365760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6812280" y="3858768"/>
            <a:ext cx="4736592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Seven environments in 14 days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200K+ experts to build more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548640" y="484632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/>
          <p:nvPr/>
        </p:nvSpPr>
        <p:spPr>
          <a:xfrm>
            <a:off x="548640" y="5138928"/>
            <a:ext cx="11091672" cy="621792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777240" y="5138928"/>
            <a:ext cx="155448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Our position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2377440" y="5138928"/>
            <a:ext cx="9079992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Environments gate RSI; they are our core research. </a:t>
            </a:r>
            <a:r>
              <a:rPr lang="zh-CN" sz="1250" b="1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Most neolabs have no revenue; we hit $3M ARR in 24 days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589788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Sources: OpenAI (Sep 6, 2026); Weco AI, arXiv 2609.26457; Breaking the Environment Wall, arXiv 2609.29773; Deedy Das neolab list (May 2026). +12% is the best of several replications.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0" name="Google Shape;470;p16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10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   Problem   Product   Traction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Edge   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Market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$8.5B a year today.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One vendor, Mercor, grew revenue 27x in 16 months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11091672" cy="17373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801368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Today: training data and RL environments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057400"/>
            <a:ext cx="457200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$8.5B / year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788920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Combined revenue of 50+ vendors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486400" y="1572768"/>
            <a:ext cx="64008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6309360" y="1801368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2030: the AI economy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6309360" y="2057400"/>
            <a:ext cx="512064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$700B / year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309360" y="278892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If AI becomes a $7T economy and 10% goes to training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548640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27x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548640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Mercor run-rate revenue: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$75M to $2B in 16 months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548640" y="4919472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Demand for expert data is exploding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4352544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4352544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10x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4352544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Mercor valuation: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$2B to $20B in 17 months (in talks)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4352544" y="4919472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Investors are paying up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8156448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8156448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18x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8156448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Snorkel AI's new data business: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growth in one year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8156448" y="4919472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Demand is shifting to experts and environments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Sources: Deedy Das market map (Jul 2026); Mercor (TechCrunch, Dealroom); Snorkel AI (Sep 2026). The 2030 figure is our estimate.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Google Shape;666;p22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11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   Problem   Product   Traction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Edge   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Business model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We sell environments, data and evals.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Frontier labs pay today; enterprise and personal agents next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17904"/>
            <a:ext cx="3514344" cy="376732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700784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Now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192024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Frontier AI labs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414016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4C0B7"/>
                </a:solidFill>
                <a:latin typeface="IBM Plex Mono"/>
                <a:ea typeface="IBM Plex Mono"/>
                <a:cs typeface="IBM Plex Mono"/>
                <a:sym typeface="IBM Plex Mono"/>
              </a:rPr>
              <a:t>They buy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822960" y="2615184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Environments, verified tasks and evals to post-train their models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822960" y="3108960"/>
            <a:ext cx="296570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822960" y="3200400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4C0B7"/>
                </a:solidFill>
                <a:latin typeface="IBM Plex Mono"/>
                <a:ea typeface="IBM Plex Mono"/>
                <a:cs typeface="IBM Plex Mono"/>
                <a:sym typeface="IBM Plex Mono"/>
              </a:rPr>
              <a:t>How we charge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822960" y="3401568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Per environment and per task, on quarterly contracts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822960" y="3895344"/>
            <a:ext cx="296570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822960" y="3986784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Estimated price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822960" y="4169664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$300K–$1M+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22960" y="4572000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Per lab, per quarter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22960" y="4791456"/>
            <a:ext cx="296570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 rates: $200–$2,000 a task; about $300K for a complex environment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4337304" y="1517904"/>
            <a:ext cx="3514344" cy="37673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4611624" y="1700784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Next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4611624" y="192024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Enterprise agents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4611624" y="2414016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IBM Plex Mono"/>
                <a:cs typeface="IBM Plex Mono"/>
                <a:sym typeface="IBM Plex Mono"/>
              </a:rPr>
              <a:t>They buy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4611624" y="2615184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Custom environments and tests that prove an agent can do the job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4611624" y="310896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4611624" y="3200400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IBM Plex Mono"/>
                <a:cs typeface="IBM Plex Mono"/>
                <a:sym typeface="IBM Plex Mono"/>
              </a:rPr>
              <a:t>How we charge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4611624" y="3401568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 paid pilot, then an annual license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4611624" y="3895344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4611624" y="3986784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Estimated price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4611624" y="4169664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$200K–$800K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4611624" y="4572000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Per customer, per year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4611624" y="4791456"/>
            <a:ext cx="296570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Pilot: $50K–$150K over 8–12 weeks</a:t>
            </a:r>
          </a:p>
        </p:txBody>
      </p:sp>
      <p:sp>
        <p:nvSpPr>
          <p:cNvPr id="5031" name="SimReal 5031"/>
          <p:cNvSpPr/>
          <p:nvPr/>
        </p:nvSpPr>
        <p:spPr>
          <a:xfrm>
            <a:off x="8125968" y="1517904"/>
            <a:ext cx="3514344" cy="37673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2" name="SimReal 5032"/>
          <p:cNvSpPr txBox="1"/>
          <p:nvPr/>
        </p:nvSpPr>
        <p:spPr>
          <a:xfrm>
            <a:off x="8400288" y="1700784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Later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8400288" y="192024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Personal agents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8400288" y="2414016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IBM Plex Mono"/>
                <a:cs typeface="IBM Plex Mono"/>
                <a:sym typeface="IBM Plex Mono"/>
              </a:rPr>
              <a:t>They buy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8400288" y="2615184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cap="none" dirty="0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Fit </a:t>
            </a:r>
            <a:r>
              <a:rPr lang="zh-CN" sz="1200" b="0" i="0" u="none" strike="noStrike" cap="none" dirty="0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an agent to one person‘s habits</a:t>
            </a:r>
            <a:r>
              <a:rPr lang="en-US" altLang="zh-CN" sz="1200" b="0" i="0" u="none" strike="noStrike" cap="none" dirty="0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and strategies</a:t>
            </a:r>
            <a:r>
              <a:rPr lang="zh-CN" sz="1200" b="0" i="0" u="none" strike="noStrike" cap="none" dirty="0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before it acts for them</a:t>
            </a:r>
          </a:p>
        </p:txBody>
      </p:sp>
      <p:sp>
        <p:nvSpPr>
          <p:cNvPr id="5036" name="SimReal 5036"/>
          <p:cNvSpPr/>
          <p:nvPr/>
        </p:nvSpPr>
        <p:spPr>
          <a:xfrm>
            <a:off x="8400288" y="310896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7" name="SimReal 5037"/>
          <p:cNvSpPr txBox="1"/>
          <p:nvPr/>
        </p:nvSpPr>
        <p:spPr>
          <a:xfrm>
            <a:off x="8400288" y="3200400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IBM Plex Mono"/>
                <a:cs typeface="IBM Plex Mono"/>
                <a:sym typeface="IBM Plex Mono"/>
              </a:rPr>
              <a:t>How we charge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8400288" y="3401568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 dirty="0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 monthly subscription, direct or through agent apps</a:t>
            </a:r>
          </a:p>
        </p:txBody>
      </p:sp>
      <p:sp>
        <p:nvSpPr>
          <p:cNvPr id="5039" name="SimReal 5039"/>
          <p:cNvSpPr/>
          <p:nvPr/>
        </p:nvSpPr>
        <p:spPr>
          <a:xfrm>
            <a:off x="8400288" y="3895344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0" name="SimReal 5040"/>
          <p:cNvSpPr txBox="1"/>
          <p:nvPr/>
        </p:nvSpPr>
        <p:spPr>
          <a:xfrm>
            <a:off x="8400288" y="3986784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Estimated price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8400288" y="4169664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$5–$10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8400288" y="4572000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Per user, per month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8400288" y="4791456"/>
            <a:ext cx="296570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For reference, consumer AI plans cost about $20 a month</a:t>
            </a:r>
          </a:p>
        </p:txBody>
      </p:sp>
      <p:sp>
        <p:nvSpPr>
          <p:cNvPr id="5044" name="SimReal 5044"/>
          <p:cNvSpPr txBox="1"/>
          <p:nvPr/>
        </p:nvSpPr>
        <p:spPr>
          <a:xfrm>
            <a:off x="548640" y="539496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One set of environments serves all three, </a:t>
            </a:r>
            <a:r>
              <a:rPr lang="zh-CN" sz="1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and every new model needs new tasks</a:t>
            </a:r>
          </a:p>
        </p:txBody>
      </p:sp>
      <p:sp>
        <p:nvSpPr>
          <p:cNvPr id="5045" name="SimReal 5045"/>
          <p:cNvSpPr txBox="1"/>
          <p:nvPr/>
        </p:nvSpPr>
        <p:spPr>
          <a:xfrm>
            <a:off x="548640" y="5907024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Estimates, not signed prices. Lab prices are market rates from Epoch AI interviews with environment builders and AI labs (January 2026). Enterprise and personal prices are our assumptions.</a:t>
            </a:r>
          </a:p>
        </p:txBody>
      </p:sp>
      <p:sp>
        <p:nvSpPr>
          <p:cNvPr id="5046" name="SimReal 5046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47" name="SimReal 5047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1" name="Google Shape;511;p1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12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   Problem   Product   Traction   Market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Why us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 dirty="0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Data vendors sell expert hours. </a:t>
            </a:r>
            <a:r>
              <a:rPr lang="zh-CN" sz="1600" b="0" i="0" u="none" strike="noStrike" cap="none" dirty="0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We build assets that compound with every customer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6035040" y="1572768"/>
            <a:ext cx="5605272" cy="351129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/>
          <p:nvPr/>
        </p:nvSpPr>
        <p:spPr>
          <a:xfrm>
            <a:off x="548640" y="157276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2514600" y="1591056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Expert-data vendors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6172200" y="1591056"/>
            <a:ext cx="546811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SimReal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548640" y="188366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685800" y="1883664"/>
            <a:ext cx="1783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What compounds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2514600" y="1883664"/>
            <a:ext cx="33832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Expert hours. Each project starts from scratch.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172200" y="1883664"/>
            <a:ext cx="5330952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Proprietary environments, verifiers and maps of where models fail, plus the models we train in them. Every customer and loop adds to them.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252374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685800" y="2523744"/>
            <a:ext cx="1783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Cost curve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2514600" y="2523744"/>
            <a:ext cx="33832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Rises with headcount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6172200" y="2523744"/>
            <a:ext cx="5330952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Falls with scale: once a verifier exists, new data is generated and checked automatically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48640" y="316382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685800" y="3163824"/>
            <a:ext cx="1783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Proof of quality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2514600" y="3163824"/>
            <a:ext cx="33832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Spot checks and reviewer judgment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6172200" y="3163824"/>
            <a:ext cx="5330952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Hidden tests, out-of-sample results, hash-locked published results and measured training gains (+12%)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548640" y="380390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685800" y="3803904"/>
            <a:ext cx="1783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 dirty="0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Velocity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2514600" y="3803904"/>
            <a:ext cx="33832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1" i="0" u="none" strike="noStrike" cap="none" dirty="0">
                <a:solidFill>
                  <a:schemeClr val="tx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 new domain means new recruiting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6172200" y="3803904"/>
            <a:ext cx="5330952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1" i="0" u="none" strike="noStrike" cap="none" dirty="0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7 environments in 14 days; $3M ARR in 24 days</a:t>
            </a:r>
            <a:r>
              <a:rPr lang="en-US" altLang="zh-CN" sz="1150" b="1" dirty="0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. </a:t>
            </a:r>
            <a:endParaRPr lang="zh-CN" sz="1150" b="1" i="0" u="none" strike="noStrike" cap="none" dirty="0">
              <a:solidFill>
                <a:srgbClr val="11111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025" name="SimReal 5025"/>
          <p:cNvSpPr/>
          <p:nvPr/>
        </p:nvSpPr>
        <p:spPr>
          <a:xfrm>
            <a:off x="548640" y="444398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685800" y="4443984"/>
            <a:ext cx="1783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Network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2514600" y="4443984"/>
            <a:ext cx="33832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Large expert pools, paid by the hour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6172200" y="4443984"/>
            <a:ext cx="5330952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Practitioners from top trading firms and 200K+ reachable experts, whose work our verifiers check</a:t>
            </a:r>
          </a:p>
        </p:txBody>
      </p:sp>
      <p:sp>
        <p:nvSpPr>
          <p:cNvPr id="5029" name="SimReal 5029"/>
          <p:cNvSpPr/>
          <p:nvPr/>
        </p:nvSpPr>
        <p:spPr>
          <a:xfrm>
            <a:off x="548640" y="508406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0" name="SimReal 5030"/>
          <p:cNvSpPr/>
          <p:nvPr/>
        </p:nvSpPr>
        <p:spPr>
          <a:xfrm>
            <a:off x="548640" y="5248656"/>
            <a:ext cx="11091672" cy="54864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1" name="SimReal 5031"/>
          <p:cNvSpPr txBox="1"/>
          <p:nvPr/>
        </p:nvSpPr>
        <p:spPr>
          <a:xfrm>
            <a:off x="777240" y="5248656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In short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2286000" y="5248656"/>
            <a:ext cx="917143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They sell hours; we sell verified gains. </a:t>
            </a:r>
            <a:r>
              <a:rPr lang="zh-CN" sz="1300" b="1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Their costs rise with scale; ours fall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p14" descr="jane-street-pape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29713" y="1845663"/>
            <a:ext cx="856188" cy="33203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14" descr="imc-pape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56639" y="1896957"/>
            <a:ext cx="1239004" cy="2294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14" descr="citadel-securities-pape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599603" y="1768972"/>
            <a:ext cx="989745" cy="485416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14" descr="optiver-paper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747082" y="1886053"/>
            <a:ext cx="1131456" cy="25125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14" descr="SimReal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Picture 407" descr="polymarke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46879" y="1885493"/>
            <a:ext cx="1368530" cy="252374"/>
          </a:xfrm>
          <a:prstGeom prst="rect">
            <a:avLst/>
          </a:prstGeom>
        </p:spPr>
      </p:pic>
      <p:pic>
        <p:nvPicPr>
          <p:cNvPr id="9429" name="Google Shape;429;p15" descr="harvard-ink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26236" y="4507992"/>
            <a:ext cx="693419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0" name="Google Shape;430;p15" descr="stanford-ink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092958" y="450799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1" name="Google Shape;431;p15" descr="mit-ink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749166" y="4507992"/>
            <a:ext cx="842008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2" name="Google Shape;432;p15" descr="oxford-ink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470142" y="4574186"/>
            <a:ext cx="1097280" cy="324811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3" name="Google Shape;433;p15" descr="cambridge-ink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610219" y="4507992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4" name="Google Shape;434;p15" descr="princeton-ink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0167366" y="4586963"/>
            <a:ext cx="1097279" cy="299258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5" name="Google Shape;435;p15" descr="yale-ink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173861" y="5148072"/>
            <a:ext cx="59817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6" name="Google Shape;436;p15" descr="berkeley-ink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2772918" y="5206989"/>
            <a:ext cx="1097280" cy="33936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7" name="Google Shape;437;p15" descr="tsinghua-ink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4621530" y="5198252"/>
            <a:ext cx="1097280" cy="356839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8" name="Google Shape;438;p15" descr="columbia-ink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6685407" y="5148072"/>
            <a:ext cx="6667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9" name="Google Shape;439;p15" descr="uchicago-ink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8318754" y="5242036"/>
            <a:ext cx="1097280" cy="269271"/>
          </a:xfrm>
          <a:prstGeom prst="rect">
            <a:avLst/>
          </a:prstGeom>
          <a:noFill/>
          <a:ln>
            <a:noFill/>
          </a:ln>
        </p:spPr>
      </p:pic>
      <p:pic>
        <p:nvPicPr>
          <p:cNvPr id="9440" name="Google Shape;440;p15" descr="duke-ink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10188321" y="5148072"/>
            <a:ext cx="105537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13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   Problem   Product   Traction   Market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Network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Experts from the most competitive entry-level jobs and from research,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the work agents are now built to do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517904"/>
            <a:ext cx="9144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Practitioners in our R&amp;D come from top trading firms and markets, including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548640" y="239572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/>
          <p:nvPr/>
        </p:nvSpPr>
        <p:spPr>
          <a:xfrm>
            <a:off x="548640" y="2523744"/>
            <a:ext cx="5408676" cy="96926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8" name="SimReal 5008"/>
          <p:cNvSpPr/>
          <p:nvPr/>
        </p:nvSpPr>
        <p:spPr>
          <a:xfrm>
            <a:off x="548640" y="2523744"/>
            <a:ext cx="45720" cy="96926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822960" y="2615184"/>
            <a:ext cx="4951476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The most competitive entry-level jobs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822960" y="2926080"/>
            <a:ext cx="495147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Trading, finance, software and more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822960" y="3182112"/>
            <a:ext cx="495147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Data for agents that streamline everyday work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6231636" y="2523744"/>
            <a:ext cx="5408676" cy="96926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/>
          <p:nvPr/>
        </p:nvSpPr>
        <p:spPr>
          <a:xfrm>
            <a:off x="6231636" y="2523744"/>
            <a:ext cx="45720" cy="96926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6505956" y="2615184"/>
            <a:ext cx="4951476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Research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6505956" y="2926080"/>
            <a:ext cx="495147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AI, mathematics and quantitative research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6505956" y="3182112"/>
            <a:ext cx="495147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Data for agents that automate research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548640" y="3602736"/>
            <a:ext cx="14173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200K+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2011680" y="3602736"/>
            <a:ext cx="2020824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Reachable experts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4352544" y="3602736"/>
            <a:ext cx="14173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7,000+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815584" y="3602736"/>
            <a:ext cx="2020824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Experts on the waitlist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8156448" y="3602736"/>
            <a:ext cx="14173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21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9619488" y="3602736"/>
            <a:ext cx="2020824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Top universities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548640" y="4169664"/>
            <a:ext cx="110916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548640" y="4242816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Students and alumni of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548640" y="589788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Logos show where practitioners work or study; no endorsement implied.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1232</TotalTime>
  <Words>2007</Words>
  <Application>Microsoft Macintosh PowerPoint</Application>
  <PresentationFormat>Widescreen</PresentationFormat>
  <Paragraphs>355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Newsreader</vt:lpstr>
      <vt:lpstr>Instrument Sans</vt:lpstr>
      <vt:lpstr>IBM Plex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chern wong</cp:lastModifiedBy>
  <cp:revision>6</cp:revision>
  <dcterms:modified xsi:type="dcterms:W3CDTF">2026-10-09T15:07:25Z</dcterms:modified>
</cp:coreProperties>
</file>