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71" r:id="rId17"/>
    <p:sldId id="264" r:id="rId10"/>
    <p:sldId id="272" r:id="rId18"/>
    <p:sldId id="270" r:id="rId16"/>
    <p:sldId id="267" r:id="rId13"/>
    <p:sldId id="269" r:id="rId15"/>
    <p:sldId id="275" r:id="rId21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10" Type="http://schemas.openxmlformats.org/officeDocument/2006/relationships/slide" Target="slides/slide9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5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Financial AI will be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trained in our markets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15468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RL environments and human intelligence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for financial AI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Founded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2026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Website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simreal.co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Contact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business@simreal.co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RL environments and human intelligence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for AI that does financial work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70078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08483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$250K / month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88336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sales in September 2026,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about $3M a year at this rate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70078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08483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+ data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688336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and forecasting environments,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plus financial expert data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70078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Buyers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08483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segments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688336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labs, financial firms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vertical AI startups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 founders, all 21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Cambridge, LSE and Duke mathematics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Supply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 signed up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Financial experts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paid data work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$2.8B a year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Spent by investment managers on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alternative data in 2025 (Neudata)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5230368"/>
            <a:ext cx="11091672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77240" y="5230368"/>
            <a:ext cx="155448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How it fits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377440" y="5230368"/>
            <a:ext cx="8988552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Funds already buy their edge as data. </a:t>
            </a: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sell the environments and expert data AI needs to do financial work.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21-year-old founders.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Together they turned down $1M+ in first-year pay to build SimReal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 · 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Employee #1 at United Stables, building it from scratch to $1.5B+. Listed on Binance within a month.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institutional partnerships with YZi Labs, SIG, DRW and Wintermute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Only intern on HSBC’s HKD stablecoin project, working on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intern, Citadel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LSE, Mathematics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 · 21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Mathematics, St John’s College, First Class with Scholarship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researcher at the Cambridge AI research center, under Prof. Po-Ling Loh (IMS Fellow)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Ex-quant at Jane Street, Citadel and Optiver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 STEP maths competition (~IMO Medalist level)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British Physics Olympiad Top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 · 21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graduate hire on Millennium’s alternative-data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Co-organized Plug and Play’s first Hong Kong event, with HKSTP (200+ attendees)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Duke, Mathematics and Statistics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are moving into financial work.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Their backtests lie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right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actually happens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Profitable in backtest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live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Research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Signal looks strong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Overfit to the past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proves it wrong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closed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doesn’t reconcile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a live trading contest (Nof1’s Alpha Arena), frontier models made money in only 6 of 32 runs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 backtest you can fool will lie to you. </a:t>
            </a:r>
            <a:r>
              <a:rPr lang="zh-CN" sz="19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Agents need a test the market grades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Source: Nof1, Alpha Arena (May 2026).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and expert data for financial AI.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market grades every result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3832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Market environments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50592"/>
            <a:ext cx="296570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 and quant research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798064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research stocks, baskets and options and build strategies, tested against simulated market participants.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22960" y="4114800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22960" y="420624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Graded by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22960" y="4407408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P&amp;L on a withheld trading day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3832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Forecasting environments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11624" y="2450592"/>
            <a:ext cx="296570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Future Prediction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11624" y="2798064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forecast events with search and prediction-market tools. Copying the market’s forecast earns zero.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11624" y="411480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11624" y="420624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Graded by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11624" y="4407408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real outcome, once it is known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3832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Financial expert data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00288" y="2450592"/>
            <a:ext cx="296570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Expert data and trajectories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2798064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Demonstrations, reasoning traces and grading rubrics from financial professionals, plus agent trajectories.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00288" y="411480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00288" y="420624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Graded by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00288" y="4407408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Checked against the market result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230368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Also built: 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accounting (Month-End Close), ML research, maths, reasoning and software benchmarks</a:t>
            </a: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600+ GitHub stars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7005" y="1845663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13144" y="1768972"/>
            <a:ext cx="989745" cy="485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15207" y="1886053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69588" y="1885493"/>
            <a:ext cx="1368530" cy="252374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26236" y="4507992"/>
            <a:ext cx="69341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092958" y="45079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49166" y="4507992"/>
            <a:ext cx="84200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70142" y="4574186"/>
            <a:ext cx="1097280" cy="324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610219" y="450799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167366" y="4586963"/>
            <a:ext cx="1097279" cy="299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173861" y="5148072"/>
            <a:ext cx="59817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772918" y="5206989"/>
            <a:ext cx="1097280" cy="339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621530" y="5198252"/>
            <a:ext cx="1097280" cy="35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685407" y="5148072"/>
            <a:ext cx="666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318754" y="5242036"/>
            <a:ext cx="1097280" cy="269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188321" y="5148072"/>
            <a:ext cx="10553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Human intelligence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Financial professionals show agents how the work is done.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market checks the result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Practitioners in our R&amp;D have worked at top trading firms and markets, including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3957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/>
          <p:nvPr/>
        </p:nvSpPr>
        <p:spPr>
          <a:xfrm>
            <a:off x="548640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Financial professionals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Demonstrations and explanations of how they research and decide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do financial work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6231636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505956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Quant, maths and finance talent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05956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Students and alumni of 21 top universities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505956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do financial research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011680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Students and alumni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can reach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815584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Signed up for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paid data work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156448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619488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universities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169664"/>
            <a:ext cx="11091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424281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Students and alumni of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practitioners have worked or studied; no endorsement implied.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Funds already buy their edge as data.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AI that does financial work needs it too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Financial firms: market data and analysis, 2025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9377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$49.2B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record, up 6.5% (Burton-Taylor)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6035040" y="1801368"/>
            <a:ext cx="9144" cy="1280160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Investment managers: alternative data, 2025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$2.8B / year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17% in a year (Neudata)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$2B+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gross run-rate: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June 2026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Labs pay billions for expert data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$100M+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 run-rate, within about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15 months of founding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New data vendors scale fast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4–5x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Exclusive environments cost 4–5x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non-exclusive ones (Epoch AI)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Exclusivity is priced like data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Burton-Taylor (TP ICAP), Financial Market Data/Analysis 2026; Neudata, The state of the alternative data market in 2026; Mercor (TechCrunch, Jul 2026); AfterQuery (Dealroom, Apr 2026); Epoch AI (Jan 2026). Run-rates are gross.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 expert can’t grade a trade.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Only the market can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601468" cy="23957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56816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 expert can’t grade a trade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578608"/>
            <a:ext cx="2144268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expert can say whether a strategy will make money. Our environments match every order the way an exchange would.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78708" y="1572768"/>
            <a:ext cx="2601468" cy="23957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07308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607308" y="1956816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Markets have no answer key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07308" y="2578608"/>
            <a:ext cx="2144268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trading and forecasting the answer arrives with the outcome, and it shifts as others copy what works.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08776" y="1572768"/>
            <a:ext cx="2601468" cy="23957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437376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437376" y="1956816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 neutral supplier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437376" y="2578608"/>
            <a:ext cx="2144268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Funds won’t hand their data to a lab. We license environments to funds and labs alike, exclusively at 4–5x.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038844" y="1572768"/>
            <a:ext cx="2601468" cy="23957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267444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267444" y="1956816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Revenue funds speed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9267444" y="2578608"/>
            <a:ext cx="2144268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$250K of data a month and 7,000+ people signed up to write tasks.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415137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Landscape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4389120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environment startups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17520" y="4389120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EdotEnv (YC S26)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172200" y="4389120"/>
            <a:ext cx="54681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research environments for labs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4636008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Expert-data vendors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3017520" y="4636008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Mercor, Surge, Scale, AfterQuery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172200" y="4636008"/>
            <a:ext cx="54681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time and contractor-built environments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88289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Finance evaluation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017520" y="4882896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Halluminate, Vals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172200" y="4882896"/>
            <a:ext cx="54681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Banking and private-equity work, graded against known answers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2978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SimReal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017520" y="5129784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and financial expert data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6172200" y="5129784"/>
            <a:ext cx="54681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Graded by the market or the real outcome; neutral to funds and labs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548640" y="5522976"/>
            <a:ext cx="11091672" cy="51206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777240" y="5522976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In short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2286000" y="5522976"/>
            <a:ext cx="917143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They sell hours or answer keys; 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sell results the market grades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are entering financial work.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Funds already pay for an edge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287121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changed in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have built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1579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Funds are handing research to agents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5420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AI-agent hedge fund raised a $100M seed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7797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Abundance, Apr 2026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environments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Stocks, baskets and options, graded by the market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1638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343814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Funds buy their edge as data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82219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Investment managers spent $2.8B on alternative data in 2025, up 17%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405993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Neudata, Feb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3163824"/>
            <a:ext cx="3657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3163824"/>
            <a:ext cx="4736592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licensed like datasets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Exclusive to one fund, priced at 4–5x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777240" y="5138928"/>
            <a:ext cx="15544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Our position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377440" y="5138928"/>
            <a:ext cx="90799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AI-data startups in this space have no revenue yet. 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sell $250K of data a month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Abundance (Bloomberg, Apr 2026); Neudata, The state of the alternative data market in 2026 (Feb 2026).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$250K of data sales in September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About $3M a year at this rate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4160520" cy="35661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68680" y="1828800"/>
            <a:ext cx="3520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68680" y="2084832"/>
            <a:ext cx="3520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5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$250K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68680" y="2944368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September 2026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68680" y="3383280"/>
            <a:ext cx="352044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68680" y="3493008"/>
            <a:ext cx="352044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4 paying customers: data suppliers and AI startups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Largest: a data supplier serving frontier labs, with a $100K order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074920" y="1572768"/>
            <a:ext cx="65653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074920" y="1572768"/>
            <a:ext cx="1280160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 mix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446520" y="1755648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60% agent trajectories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446520" y="2048256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35% reasoning traces and rubrics from finance professionals; 5% verified RL tasks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074920" y="2464308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074920" y="2464308"/>
            <a:ext cx="1280160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446520" y="2647188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environments shipped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446520" y="2939796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forecasting, accounting, ML research, maths, reasoning, software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074920" y="3355848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074920" y="3355848"/>
            <a:ext cx="1280160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Supply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446520" y="3538728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7,000+ signed up for paid data work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446520" y="3831336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200K+ students and alumni of 21 top universities in reach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074920" y="4247388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074920" y="4247388"/>
            <a:ext cx="1280160" cy="89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Pipeline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446520" y="4430268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 frontier labs in talks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446520" y="4722876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environment and data contracts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074920" y="5138928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About $3M a year = September 2026 revenue x 12. Orders are placed on demand today; we are moving them to subscriptions.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buyers, one set of environments.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All three already buy our data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14344" cy="37673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Frontier AI labs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29657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Environments, trajectories and expert data to train and test their models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22960" y="3218688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22960" y="331012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22960" y="351129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environment and per task, on quarterly contracts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22960" y="3968496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22960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22960" y="424281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$300K–$1M+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4645152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lab, per quarter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4864608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rates: $200–$2,000 a task (Epoch AI)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337304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11624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11624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Financial firms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611624" y="2615184"/>
            <a:ext cx="29657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to train and test agents before they touch real money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611624" y="321868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611624" y="331012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611624" y="351129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paid pilot, then an annual licence; exclusive at 4–5x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611624" y="396849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611624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611624" y="424281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$200K–$800K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611624" y="4645152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firm, per year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611624" y="4864608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Pilot: $50K–$150K. Hedge funds and prop shops first; then banks, asset managers, exchanges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125968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8400288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400288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Vertical AI startups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400288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400288" y="2615184"/>
            <a:ext cx="29657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and environments to train finance agents and prove they work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400288" y="321868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400288" y="331012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400288" y="351129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subscriptions and environment licences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8400288" y="396849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8400288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Pricing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400288" y="424281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Subscription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8400288" y="4645152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dataset or environment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8400288" y="4864608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Several already buy our data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Recurring revenue from licences, data subscriptions and task updates; 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every new model needs new tasks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90702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Estimates, not signed prices. Lab prices are market rates from Epoch AI interviews (January 2026). Financial-firm prices are our assumptions.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