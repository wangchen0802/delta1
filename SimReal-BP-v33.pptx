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59" r:id="rId5"/>
    <p:sldId id="262" r:id="rId8"/>
    <p:sldId id="261" r:id="rId7"/>
    <p:sldId id="263" r:id="rId9"/>
    <p:sldId id="275" r:id="rId21"/>
    <p:sldId id="271" r:id="rId17"/>
    <p:sldId id="264" r:id="rId10"/>
    <p:sldId id="265" r:id="rId11"/>
    <p:sldId id="269" r:id="rId15"/>
    <p:sldId id="270" r:id="rId16"/>
    <p:sldId id="266" r:id="rId12"/>
    <p:sldId id="267" r:id="rId13"/>
    <p:sldId id="268" r:id="rId14"/>
    <p:sldId id="279" r:id="rId46"/>
    <p:sldId id="272" r:id="rId18"/>
    <p:sldId id="278" r:id="rId45"/>
    <p:sldId id="280" r:id="rId47"/>
    <p:sldId id="273" r:id="rId19"/>
    <p:sldId id="274" r:id="rId20"/>
    <p:sldId id="276" r:id="rId22"/>
    <p:sldId id="277" r:id="rId23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Relationship Id="rId46" Type="http://schemas.openxmlformats.org/officeDocument/2006/relationships/slide" Target="slides/slide24.xml"/><Relationship Id="rId47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2" name="Google Shape;61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7" name="Google Shape;62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7" name="Google Shape;68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3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交易领域的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RL训练环境与评分器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127248"/>
            <a:ext cx="87782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逐笔撮合，按风险调整后的结果计分：高分必须是真做对了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3749040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面向AI实验室：训练环境、评测与专家迭代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人民币4,000万元（等值美元）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2062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20624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2026年9月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项目概述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为AI实验室做交易领域的训练环境与评分器：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高分必须是真做对了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金融领域训练环境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逐笔撮合，按盈亏、回撤与夏普计分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卖给实验室：私有任务、留出日、Agent轨迹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公开版用于评测与获客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已做到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7个基准与环境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交易、事件预测、AI研究、数学、推理、财务、软件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5个公开仓库；零外部融资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1790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初步证据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Qwen3.8-27B经一轮专家迭代，留出日最高提升12%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单次最佳，非均值；置信区间3个月内报告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3467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量化背景创始团队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剑桥、LSE、杜克数学；2005年生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Street、Citadel、Optiver量化实习；Millennium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3467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市场 · 金融一个领域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400万–4,600万美元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每年；按实验室付费单位自下而上推算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过半预算集中在美国前沿实验室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34670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人民币（等值美元）；投后估值5亿元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12个月目标：2–3家付费实验室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先在金融拿下2–3家付费实验室，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再把同一套方法复制到下一个领域。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奥赛与名校 → 顶级量化机构：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我们最懂做题与做事的差距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United Stables首位员工：帮助U稳定币一年内从0做到14亿美元，一个月上线Binance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负责机构关系，参与SIG、DRW等合作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汇丰港元稳定币发行项目唯一实习生，全程协助推进香港金管局（HKMA）合规项目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X（Twitter）博主，内容数百万浏览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2005年生 · LSE数学本科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剑桥机器学习暑研，师从著名统计学教授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Po-Ling Loh（国际数理统计学会会士）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剑桥研究中心AI最年轻本科研究员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设计五大Benchmark与强化学习环境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2005年生 · 剑桥数学一等荣誉（奖学金）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Millennium另类数据团队史上首位应届招聘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参与落地Plug and Play香港首场活动（联合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香港科技园）；担任强生MedTech科技峰会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主持人（均200+人规模）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17岁成为出版作家；全网原创内容获10万+互动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2005年生 · 杜克数学与统计本科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55961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放弃顶级量化机构的转正offer来做这件事；</a:t>
            </a: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14天上线7个基准与环境，零外部融资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实验室已经在为交易与金融know-how付费；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模型在交易里还赚不到钱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实验室为金融know-how付钱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150美元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每小时：OpenAI雇100多名前投行人员做财务模型训练数据（Bloomberg，2025年10月）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也为交易know-how付钱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45–100美元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每小时：xAI招聘量化交易专家训练Grok（xAI招聘页）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模型还赚不到钱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前沿模型真钱交易，32组结果只有6组盈利（据Nof1，2026年5月披露）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456432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456432"/>
            <a:ext cx="16002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200–2,000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194560" y="3456432"/>
            <a:ext cx="367131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美元：单个RL任务的价格（Epoch AI，2026年1月）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6323076" y="3456432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6323076" y="3456432"/>
            <a:ext cx="16002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六到七位数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968996" y="3456432"/>
            <a:ext cx="367131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美元：RL环境合同每季度的规模（Epoch AI）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968496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968496"/>
            <a:ext cx="16002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2026年8月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968496"/>
            <a:ext cx="367131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Google Cloud推出Gemini Enterprise for Financial Services预览版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6323076" y="3968496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6323076" y="3968496"/>
            <a:ext cx="16002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2026年9月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968996" y="3968496"/>
            <a:ext cx="367131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OpenAI推出ChatGPT for Financial Services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480560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4480560"/>
            <a:ext cx="16002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51.28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194560" y="4480560"/>
            <a:ext cx="367131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GPT 6在Xitadel多资产任务上的得分（人类最佳80）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6323076" y="4480560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6323076" y="4480560"/>
            <a:ext cx="16002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不到四成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7968996" y="4480560"/>
            <a:ext cx="367131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另外三个前沿模型在Xitadel上的总分，相对人类最佳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548640" y="4992624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/>
          <p:nvPr/>
        </p:nvSpPr>
        <p:spPr>
          <a:xfrm>
            <a:off x="6323076" y="4992624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548640" y="5266944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来源：Bloomberg、Fortune（2025年10月21日）；xAI招聘页、Entrepreneur；Nof1与SUI Group新闻稿（2026年5月15日）；Epoch AI《An FAQ on RL environments》（2026年1月）；Nasdaq新闻稿（2026年8月25日）；CNBC（2026年9月10日）；Xitadel公开报告REPORT.md。详见A2。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AI已经学会推理，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却还做不好真实世界里的事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真实工作没有标准答案，只有世界的反应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6720840" y="1847088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19456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表面检查：通过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94944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真实世界：失手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176272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1762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94560" y="21762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历史回测一路上涨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217920" y="21762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949440" y="21762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进入未见过的真实行情就亏钱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7797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2779776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194560" y="2779776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17920" y="2779776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949440" y="2779776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上线后出错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3832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38328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194560" y="338328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账看起来已经做完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217920" y="338328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6949440" y="338328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月结对不平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9867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548640" y="398678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194560" y="398678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217920" y="398678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949440" y="398678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照着下注却亏钱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5902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466344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证据：Alpha Arena真钱交易中，前沿模型32组结果只有6组盈利（据Nof1披露，2026年5月）；PolyBench模拟交易中，7个模型只有2个收益为正。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1389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AI要学会做事，需要一个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用真实结果结算每个动作的环境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一个训练回合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以交易为例：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从拿到数据到被计分，全程可复现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54480"/>
            <a:ext cx="640080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5448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005840" y="155448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拿到数据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423160" y="1554480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历史订单簿与成交、仓位上限、产品规则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103120"/>
            <a:ext cx="64008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10312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005840" y="210312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做研究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423160" y="2103120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受限的文件、Python、回测与可视化工具；6或12小时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651760"/>
            <a:ext cx="64008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65176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005840" y="265176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提交策略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423160" y="2651760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写出Trader.run(state)，确认后不可撤回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200400"/>
            <a:ext cx="64008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20040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05840" y="320040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回放撮合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423160" y="3200400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在留出交易日上逐笔撮合，成交按下单时的订单簿归因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749040"/>
            <a:ext cx="64008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548640" y="374904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005840" y="374904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计分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423160" y="3749040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总分 = max(0, 盈亏 − 0.1×回撤) × 夏普系数；人类最佳记80分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4297680"/>
            <a:ext cx="64008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429768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05840" y="429768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再训练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423160" y="4297680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高分回合的轨迹进入下一轮训练（专家迭代）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846320"/>
            <a:ext cx="64008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/>
          <p:nvPr/>
        </p:nvSpPr>
        <p:spPr>
          <a:xfrm>
            <a:off x="7269480" y="1554480"/>
            <a:ext cx="4370832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7543800" y="1755648"/>
            <a:ext cx="38221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一个真实任务 · 公开预览版task_04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7543800" y="1993392"/>
            <a:ext cx="382219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篮子与成分股：96分对0分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7543800" y="2487168"/>
            <a:ext cx="38221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7543800" y="248716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GLM 5.3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9902952" y="248716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96.03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7543800" y="2852928"/>
            <a:ext cx="38221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7543800" y="285292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GPT 6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902952" y="285292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89.53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7543800" y="3218688"/>
            <a:ext cx="38221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7543800" y="321868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人类最佳竞赛策略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9902952" y="321868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80.00</a:t>
            </a:r>
          </a:p>
        </p:txBody>
      </p:sp>
      <p:sp>
        <p:nvSpPr>
          <p:cNvPr id="5042" name="SimReal 5042"/>
          <p:cNvSpPr/>
          <p:nvPr/>
        </p:nvSpPr>
        <p:spPr>
          <a:xfrm>
            <a:off x="7543800" y="3584448"/>
            <a:ext cx="38221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3" name="SimReal 5043"/>
          <p:cNvSpPr txBox="1"/>
          <p:nvPr/>
        </p:nvSpPr>
        <p:spPr>
          <a:xfrm>
            <a:off x="7543800" y="358444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Kimi K3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9902952" y="358444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Newsreader"/>
                <a:ea typeface="Newsreader"/>
                <a:cs typeface="Newsreader"/>
                <a:sym typeface="Newsreader"/>
              </a:rPr>
              <a:t>0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7543800" y="3950208"/>
            <a:ext cx="38221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7543800" y="395020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DeepSeek V4 Pro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9902952" y="395020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Newsreader"/>
                <a:ea typeface="Newsreader"/>
                <a:cs typeface="Newsreader"/>
                <a:sym typeface="Newsreader"/>
              </a:rPr>
              <a:t>0</a:t>
            </a:r>
          </a:p>
        </p:txBody>
      </p:sp>
      <p:sp>
        <p:nvSpPr>
          <p:cNvPr id="5048" name="SimReal 5048"/>
          <p:cNvSpPr/>
          <p:nvPr/>
        </p:nvSpPr>
        <p:spPr>
          <a:xfrm>
            <a:off x="7543800" y="4315968"/>
            <a:ext cx="38221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9" name="SimReal 5049"/>
          <p:cNvSpPr txBox="1"/>
          <p:nvPr/>
        </p:nvSpPr>
        <p:spPr>
          <a:xfrm>
            <a:off x="7543800" y="4370832"/>
            <a:ext cx="38221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2个篮子＋3个成分，留出1个交易日，试点时长2小时。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原始盈亏、回撤、夏普按哈希承诺保密，尽调时可复算。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548640" y="523036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评分来自模拟器，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不来自另一个AI的意见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548640" y="585216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来源：Xitadel-QuantBench公开仓库（README、REPORT、SCORING）。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解决方案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AI完成任务，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真实结果成为下一轮训练信号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4592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64592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234440" y="164592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834640" y="164592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按真实规则重建专业场景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46888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246888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234440" y="246888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结果评分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834640" y="246888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按真实结果打分，不靠另一个AI的主观判断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29184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77240" y="329184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234440" y="329184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专家反馈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834640" y="329184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提供专业判断与评分标准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4114800"/>
            <a:ext cx="6035040" cy="5943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77240" y="41148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834640" y="411480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同一套环境，打通评测、数据与训练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7086600" y="164592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360920" y="164592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AI行动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086600" y="224028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086600" y="246888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360920" y="246888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环境按规则作出反应，结果可复现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086600" y="306324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7086600" y="329184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360920" y="329184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按真实结果结算，留下Agent轨迹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086600" y="388620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7086600" y="4114800"/>
            <a:ext cx="4553712" cy="5943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7360920" y="411480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高分轨迹回流再训练（目前完成一轮）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今天做的是专家迭代：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模拟器打分，高分轨迹回流再训练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5596128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RSI（递归自我改进）需要模型改不了的外部评分器和可验证环境：金融领域的这一层，是我们在做的。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0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旗舰实证 · Xitadel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两周，我们在交易上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跑通了一轮专家迭代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54480"/>
            <a:ext cx="585216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5448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竞赛级市场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828800" y="15544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回放IMC Prosperity交易竞赛订单簿，按规则撮合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20116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201168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模拟器当裁判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828800" y="20116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按盈亏、回撤与夏普计分，不用AI打分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24688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48640" y="246888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对标人类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828800" y="24688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同一留出交易日上的最佳人类竞赛策略记80分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9260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2980944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初步结果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310896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5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2743200" y="3145536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开源模型Qwen3.8-27B训练后，</a:t>
            </a:r>
            <a:br>
              <a:rPr lang="zh-CN" sz="1250"/>
            </a:br>
            <a:r>
              <a:rPr lang="zh-CN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在未见过的竞赛交易日上表现最高提升12%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3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这是最高值，不是均值；显著性检验方案见下页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4151376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4261104"/>
            <a:ext cx="58521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交易是第一个跑通专家迭代的领域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608576"/>
            <a:ext cx="58521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下一步：多种子检验、储备任务换题、接真实行情数据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6812280" y="1554480"/>
            <a:ext cx="4828032" cy="336499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086600" y="1755648"/>
            <a:ext cx="42793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Xitadel公开预览版：7个任务，人类最佳=80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086600" y="1993392"/>
            <a:ext cx="42793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GPT-6在5/7个任务追平人类；多资产仅51分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086600" y="4608576"/>
            <a:ext cx="42793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总分为7个任务均分；公开结果用2/4小时试点时长（标准6/12小时）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10588752" y="2697480"/>
            <a:ext cx="13716" cy="177393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9857232" y="2478024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人类最佳 80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7086600" y="2880360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GPT-6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8321040" y="2926080"/>
            <a:ext cx="2190610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9908146" y="2880360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FAF9F6"/>
                </a:solidFill>
                <a:latin typeface="IBM Plex Mono"/>
                <a:ea typeface="IBM Plex Mono"/>
                <a:cs typeface="IBM Plex Mono"/>
                <a:sym typeface="IBM Plex Mono"/>
              </a:rPr>
              <a:t>77.28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7086600" y="3300984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GLM 5.3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8321040" y="3346704"/>
            <a:ext cx="853794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9229698" y="3300984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30.12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086600" y="3721608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Kimi K3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8321040" y="3767328"/>
            <a:ext cx="784628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9160532" y="3721608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27.68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7086600" y="4142232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DeepSeek V4 Pro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8321040" y="4187952"/>
            <a:ext cx="696755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072659" y="4142232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24.58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产品矩阵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14天上线7个基准与环境，已有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5个公开仓库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产品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4612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领域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43484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950976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状态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548640" y="18288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548640" y="1828800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Xitadel-QuantBench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246120" y="1828800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434840" y="1828800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回放竞赛订单簿，按盈亏、回撤与夏普计分；已跑通一轮专家迭代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9509760" y="1828800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102星标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31343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2313432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Simreal-MLBench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246120" y="2313432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AI研究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434840" y="2313432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60个研究任务、7类数据，参照OpenAI的MLE-bench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509760" y="2313432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178星标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27980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2798064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 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future-prediction-bench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3246120" y="2798064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事件预测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434840" y="2798064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预测真实事件，揭晓后按结果训练；数据实时接入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509760" y="2798064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部分开源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328269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3282696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MathmoBench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3246120" y="3282696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数学证明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434840" y="3282696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让AI证明答案，而不是猜答案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509760" y="3282696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102星标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548640" y="3767328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hard-puzzle-benchmark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246120" y="3767328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逻辑推理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4434840" y="3767328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749道人工编写的推理谜题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509760" y="3767328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17星标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548640" y="425196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548640" y="4251960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Close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3246120" y="4251960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财务结账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4434840" y="4251960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让AI零差错完成月结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509760" y="4251960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已上线  ·  非公开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73659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548640" y="4736592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SWE-Forward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3246120" y="4736592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软件工程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4434840" y="4736592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检验AI写的代码能否挺过下一个版本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9509760" y="4736592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已上线  ·  非公开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548640" y="52212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以上全部在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零外部融资</a:t>
            </a: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下完成。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5486400" y="5394960"/>
            <a:ext cx="61539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星标数截至2026年9月29日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数据业务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环境与专家网络，产出三类AI数据：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Agent轨迹、专家数据、评测数据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Agent轨迹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05456"/>
            <a:ext cx="296570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AI在真实环境中完成多步任务的全过程：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每一步动作、环境的反馈、最终结果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按真实结果标注成败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用于监督微调与强化学习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37304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611624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专家数据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11624" y="2505456"/>
            <a:ext cx="296570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背靠21所顶尖大学的学生和校友网络：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真实工作里的示范、判断与评分标准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611624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611624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覆盖各行业入门岗位与顶尖科研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用于对齐、奖励模型与评分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125968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0028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00288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评测数据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00288" y="2505456"/>
            <a:ext cx="296570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私有评测集与留出集：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只用于检验，从不参与训练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8400288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8400288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上线前经过攻防测试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用于模型验收与持续评测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413308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和只卖人工数据的公司不同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548640" y="446227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同源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463040" y="4462272"/>
            <a:ext cx="25999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数据、评分与训练，共用一套环境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4337304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4337304" y="446227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可验证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251704" y="4462272"/>
            <a:ext cx="25999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轨迹成败由真实结果判定，不靠人工意见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8125968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8125968" y="446227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会生长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9040368" y="4462272"/>
            <a:ext cx="25999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模型错在哪，下一批数据就补到哪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48640" y="523036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实验室按任务、环境和专家工时付费：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同一套环境，产出三类可交付的数据</a:t>
            </a: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每一轮都有新交付：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合作越深，收入越高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三条产品线   </a:t>
            </a: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  ·  AI数据（Agent轨迹、专家、评测） ·  迭代训练服务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8229600" y="1499616"/>
            <a:ext cx="341071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同一模式：AfterQuery 14个月做到年化1亿美元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548640" y="201168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731520" y="2066544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合作阶段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2926080" y="2066544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客户买什么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080760" y="2066544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收费依据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595360" y="2066544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为什么继续买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235915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731520" y="2359152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143000" y="2359152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926080" y="2359152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一项能力的环境、数据与评测包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080760" y="2359152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固定范围、固定验收标准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595360" y="2359152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验证接入与训练价值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29260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731520" y="2926080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143000" y="2926080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正式授权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926080" y="292608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环境、任务集、验证器、约定使用权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080760" y="292608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期限、范围、独占性；数据按交付量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595360" y="2926080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扩大领域与任务覆盖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49300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31520" y="349300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143000" y="3493008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926080" y="3493008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新场景、新任务、新轨迹、私有留出集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080760" y="3493008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年度合同或分批订单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595360" y="3493008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旧任务会饱和，新能力需要新数据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548640" y="405993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/>
          <p:nvPr/>
        </p:nvSpPr>
        <p:spPr>
          <a:xfrm>
            <a:off x="548640" y="4059936"/>
            <a:ext cx="11091672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31520" y="4059936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143000" y="4059936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2926080" y="4059936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训练实验、消融分析、迁移验证、托管运行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080760" y="4059936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项目或持续服务合同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595360" y="4059936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解决客户下一阶段的能力缺口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548640" y="4882896"/>
            <a:ext cx="3544824" cy="115214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786384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公开预览（免费）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786384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7个任务、训练数据、SDK、计分规则</a:t>
            </a:r>
          </a:p>
          <a:p>
            <a:pPr marL="0" marR="0" lvl="0" indent="0" algn="l" rtl="0">
              <a:spcBef>
                <a:spcPts val="36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用来建立信任：跑分即获客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4322064" y="4882896"/>
            <a:ext cx="3544824" cy="115214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4559808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付费授权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4559808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私有任务批次、未公开留出日、储备任务、</a:t>
            </a:r>
          </a:p>
          <a:p>
            <a:pPr marL="0" marR="0" lvl="0" indent="0" algn="l" rtl="0">
              <a:spcBef>
                <a:spcPts val="36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奖励接口与定制任务；按季度刷新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8095488" y="4882896"/>
            <a:ext cx="3544824" cy="115214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8333232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单位经济（估算）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8333232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试点5万–15万美元；同一环境授权多家</a:t>
            </a:r>
          </a:p>
          <a:p>
            <a:pPr marL="0" marR="0" lvl="0" indent="0" algn="l" rtl="0">
              <a:spcBef>
                <a:spcPts val="36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付费版成本在私有任务、留出日与季度刷新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5009487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5060781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42502" y="4904791"/>
            <a:ext cx="1103947" cy="5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5049877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产品已公开；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商业化从付费试点开始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2家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24912"/>
            <a:ext cx="256717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目标：12个月内2–3家付费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90138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390138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7个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390138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基准与环境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390138" y="2724912"/>
            <a:ext cx="256717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14天上线，零外部融资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231636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231636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231636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专家候补名单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31636" y="2724912"/>
            <a:ext cx="256717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来自21所顶尖大学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9073134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9073134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400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073134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GitHub星标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9073134" y="2724912"/>
            <a:ext cx="256717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5个公开仓库（截至9月29日）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320040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转化路径与报价（适用于在谈实验室）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3438144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3456432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阶段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103120" y="345643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内容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852160" y="3456432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周期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7132320" y="3456432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价格（美元）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9052560" y="3456432"/>
            <a:ext cx="258775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交付与验收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3712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371246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免费评测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103120" y="371246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公开预览版7个任务跑分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852160" y="371246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1–2周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7132320" y="371246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免费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9052560" y="3712464"/>
            <a:ext cx="25877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跑分报告，对标人类最佳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548640" y="39867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548640" y="398678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付费试点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2103120" y="398678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定制任务、留出交易日、奖励接口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852160" y="398678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8–12周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7132320" y="398678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5万–15万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052560" y="3986784"/>
            <a:ext cx="25877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训练前后对比，按约定指标验收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26110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548640" y="426110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年度授权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2103120" y="426110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全套环境、储备任务、Agent轨迹与专家数据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852160" y="426110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12个月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7132320" y="426110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40万–200万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9052560" y="4261104"/>
            <a:ext cx="25877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每季度更新任务与留出集</a:t>
            </a:r>
          </a:p>
        </p:txBody>
      </p:sp>
      <p:sp>
        <p:nvSpPr>
          <p:cNvPr id="5046" name="SimReal 5046"/>
          <p:cNvSpPr/>
          <p:nvPr/>
        </p:nvSpPr>
        <p:spPr>
          <a:xfrm>
            <a:off x="548640" y="45354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7" name="SimReal 5047"/>
          <p:cNvSpPr txBox="1"/>
          <p:nvPr/>
        </p:nvSpPr>
        <p:spPr>
          <a:xfrm>
            <a:off x="548640" y="464515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支持我们研发的交易机构从业者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9616745" y="4992624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Polymarket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548640" y="5632704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标识仅表示支持者任职机构，不代表机构背书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8059" y="2529597"/>
            <a:ext cx="675667" cy="445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06476" y="2478024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53425" y="2550204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66406" y="2603094"/>
            <a:ext cx="1008395" cy="2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44932" y="3572705"/>
            <a:ext cx="581921" cy="517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55513" y="3688077"/>
            <a:ext cx="1050566" cy="286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11926" y="3591509"/>
            <a:ext cx="627548" cy="479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77336" y="3678779"/>
            <a:ext cx="986535" cy="30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54853" y="4753893"/>
            <a:ext cx="962077" cy="312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949523" y="4683169"/>
            <a:ext cx="662546" cy="454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471940" y="4774436"/>
            <a:ext cx="1107519" cy="271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353823" y="4729774"/>
            <a:ext cx="833560" cy="36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7,000+专家已报名候补，来自21所顶尖大学的学生和校友：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专家数据的源头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72768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3042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已报名候补（可触达20万+）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606040" y="1572768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21所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606040" y="23042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顶尖大学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743200"/>
            <a:ext cx="393192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852928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入门岗位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600200" y="2852928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每个行业，AI最先接手的工作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3255264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顶尖科研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600200" y="3255264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最难的问题，最难的判断标准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48640" y="3657600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向上延伸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600200" y="36576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成员逐年晋升，网络延伸到资深与高层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056632" y="205740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网络覆盖的部分高校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54132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每做一个领域，资产都会留下来：</a:t>
            </a:r>
            <a:r>
              <a:rPr lang="zh-CN" sz="1300" b="0" i="0" u="none" strike="noStrike" cap="none">
                <a:solidFill>
                  <a:srgbClr val="33322F"/>
                </a:solidFill>
                <a:latin typeface="Newsreader"/>
                <a:ea typeface="Newsreader"/>
                <a:cs typeface="Newsreader"/>
                <a:sym typeface="Newsreader"/>
              </a:rPr>
              <a:t>专家网络 → 专家数据与判断标准 → 环境与验证器 → 失败案例库 → </a:t>
            </a: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复用到下一个领域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594360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网络覆盖不等于已注册或参与交付；高校标识不代表学校背书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市场规模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按实验室的付费单位自下而上：金融一个领域，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每年约400万–4,600万美元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3941064" y="1883664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7790688" y="1883664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548640" y="1517904"/>
            <a:ext cx="33924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548640" y="1645920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① 实验室按什么付钱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01952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200–2,000美元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2523744"/>
            <a:ext cx="339242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单个RL任务（Epoch AI，18人访谈）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2935224"/>
            <a:ext cx="202082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RL环境合同（每季度，美元）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569464" y="2935224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六到七位数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31927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319272"/>
            <a:ext cx="202082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金融专家时薪（美元）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569464" y="3319272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45–150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3703320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548640" y="3703320"/>
            <a:ext cx="202082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金融环境单价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569464" y="370332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无公开报价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4398264" y="1517904"/>
            <a:ext cx="33924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4398264" y="1645920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② 买家分三层 × 单家金融预算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398264" y="1901952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17–25家实验室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398264" y="2523744"/>
            <a:ext cx="339242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过半预算集中在美国前沿实验室（名单见A2）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98264" y="2935224"/>
            <a:ext cx="202082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美国前沿4–7家 × 每家（美元）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419088" y="2935224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60万–500万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4398264" y="331927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4398264" y="3319272"/>
            <a:ext cx="202082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新实验室5–8家 × 每家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419088" y="3319272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20万–80万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4398264" y="3703320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4398264" y="3703320"/>
            <a:ext cx="202082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中国8–10家 × 每家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419088" y="370332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10万–50万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4398264" y="4087368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4398264" y="4087368"/>
            <a:ext cx="202082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金融一个领域（美元/年）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6419088" y="408736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400万–4,600万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8247888" y="1517904"/>
            <a:ext cx="3392424" cy="34747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8485632" y="1645920"/>
            <a:ext cx="29169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③ 我们的12个月目标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485632" y="1901952"/>
            <a:ext cx="291693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2–3家付费实验室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8485632" y="2542032"/>
            <a:ext cx="1545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付费试点（8–12周）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0030968" y="2542032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5万–15万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8485632" y="2926080"/>
            <a:ext cx="29169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8485632" y="2926080"/>
            <a:ext cx="1545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每家年合同（美元）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0030968" y="292608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40万–100万</a:t>
            </a:r>
          </a:p>
        </p:txBody>
      </p:sp>
      <p:sp>
        <p:nvSpPr>
          <p:cNvPr id="5042" name="SimReal 5042"/>
          <p:cNvSpPr/>
          <p:nvPr/>
        </p:nvSpPr>
        <p:spPr>
          <a:xfrm>
            <a:off x="8485632" y="3310128"/>
            <a:ext cx="29169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3" name="SimReal 5043"/>
          <p:cNvSpPr txBox="1"/>
          <p:nvPr/>
        </p:nvSpPr>
        <p:spPr>
          <a:xfrm>
            <a:off x="8485632" y="3310128"/>
            <a:ext cx="1545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年化收入（美元）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030968" y="331012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80万–300万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8485632" y="3785616"/>
            <a:ext cx="2916936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规模路径（计划）：第3年做到3个领域</a:t>
            </a:r>
            <a:br>
              <a:rPr lang="zh-CN" sz="1000"/>
            </a:b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（交易、事件预测、财务结账）× 每领域</a:t>
            </a:r>
            <a:br>
              <a:rPr lang="zh-CN" sz="1000"/>
            </a:b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5–8家 × 每家50万–100万美元</a:t>
            </a:r>
            <a:br>
              <a:rPr lang="zh-CN" sz="1000"/>
            </a:br>
            <a:r>
              <a:rPr lang="zh-CN" sz="1000" b="0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≈ 年化750万–2,400万美元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548640" y="51389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先在金融拿下2–3家付费实验室，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再把同一套方法复制到事件预测和财务结账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548640" y="577900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来源：任务单价与合同规模见Epoch AI（2026年1月）；专家时薪见Bloomberg（2025年10月）、xAI招聘页。买家家数为我们按公开信息统计；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美国前沿单家 = 2–5个复杂环境 × 10万–30万美元 + 500–1,750个任务 × 800–2,000美元；中国实验室按试点或任务批次计价。以上均为假设，待首批付费试点校准。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竞争格局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别人卖专家工时或办公流程，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我们卖交易领域的评分器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591056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专家数据平台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38528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Mercor、Surge、Handshake、AfterQuery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1517904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按专家工时与人工判断交付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19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正进入RL环境：Mercor收购Deeptune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286000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235915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金融环境新公司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77240" y="2706624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Halluminate、EdotEnv、Prodigy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291840" y="2286000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Halluminate：投行办公流程环境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19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EdotEnv：RSI叙事；Prodigy：自训AI交易员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054096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77240" y="312724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中国同行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77240" y="3474720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UniPat、Humanlaya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3291840" y="3054096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评测与后训练数据，主要服务国内实验室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822192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77240" y="404164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实验室自建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3291840" y="3822192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Meta等组建内部环境团队；只做自己熟悉的领域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4590288"/>
            <a:ext cx="6400800" cy="676656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77240" y="46634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SimReal 衍真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77240" y="5010912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环境、评分器、数据、专家迭代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291840" y="4590288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逐笔撮合 + 风险调整后计分 + 留出与哈希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19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同一环境授权多家实验室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0" y="1517904"/>
            <a:ext cx="43251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我们的优势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7315200" y="1810512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7315200" y="1901952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评分器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7315200" y="2267712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回撤扣分、夏普调整写进奖励：修好一个人类策略后，盈亏+63%，夏普却从7.27跌到3.03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7315200" y="2706624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315200" y="2798064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可审计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7315200" y="3163824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模拟器计分、留出交易日、结果哈希预先公开；同一策略同一分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7315200" y="3602736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315200" y="3694176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储备任务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315200" y="4059936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未公开的任务用于换题和检验数据污染，公开榜单饱和后照样能用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7315200" y="4498848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7315200" y="4590288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交付速度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7315200" y="4956048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14天上线7个基准与环境，零外部融资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48640" y="557784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注  </a:t>
            </a: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据彭博报道，阿里拟领投UniPat 3亿美元（估值约25亿美元）；Halluminate为YC S25，EdotEnv、Prodigy为YC S26；Prodigy的140%据RuntimeWire未披露期间、杠杆与回撤。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把交易里的纪律写进评分器：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高分必须是真做对了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实验室买环境反复提到的关键标准之一：抗reward hacking（Epoch AI，2026年1月）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55648"/>
            <a:ext cx="3514344" cy="2011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3852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撮合真实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87168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订单排队、穿价或挂在后面；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每笔成交按下单时的订单簿归因，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主动、被动成交分开算，过期订单计入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37304" y="1755648"/>
            <a:ext cx="3514344" cy="2011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611624" y="193852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风险进奖励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487168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总分 = max(0, 盈亏 − 0.1×回撤) × 夏普系数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盈亏和夏普会背离：修好一个人类策略后，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盈亏+63%，夏普从7.27跌到3.03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8125968" y="1755648"/>
            <a:ext cx="3514344" cy="2011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8400288" y="193852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防钻空子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400288" y="2487168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最后一个交易日留出，Agent接口不可见；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结果哈希预先公开，同一策略永远同一分；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未公开的储备任务用于换题与污染检验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4005072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4078224"/>
            <a:ext cx="3514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量化经历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4443984"/>
            <a:ext cx="35143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Street、Citadel、Optiver量化实习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Millennium香港数据科学家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337304" y="4005072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337304" y="4078224"/>
            <a:ext cx="3514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交付速度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37304" y="4443984"/>
            <a:ext cx="35143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14天上线7个基准与环境，零外部融资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4005072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25968" y="4078224"/>
            <a:ext cx="3514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已知局限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25968" y="4443984"/>
            <a:ext cx="35143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竞赛数据与获奖代码在GitHub公开；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用储备任务与真实行情任务补上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交易里学到的纪律，正是RL环境最缺的：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不让模型钻评分的空子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融资计划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本轮融资人民币4,000万元，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投后估值5亿元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2601468" cy="10241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86384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86384" y="1810512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86384" y="2304288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人民币，等值美元投资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78708" y="1517904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616452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本轮出让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616452" y="1810512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8%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08776" y="1517904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446520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投前估值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446520" y="1810512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4.6亿元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446520" y="2304288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9038844" y="1517904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9276588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投后估值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9276588" y="1810512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5亿元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276588" y="2304288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2688336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本轮目标   </a:t>
            </a: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12个月：2–3家付费实验室，年化收入80万–300万美元；交易与事件预测上的训练增益通过显著性检验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32369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估值参照：RL环境与训练数据公司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786384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海外 · AfterQuery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86384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3亿美元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86384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A轮投后（2026年4月）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786384" y="4480560"/>
            <a:ext cx="214426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专家数据与RL环境，含金融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年化收入1亿美元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3378708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3616452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海外 · Fleet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616452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约7.25亿美元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616452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A轮估值（2026年4月）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3616452" y="4480560"/>
            <a:ext cx="214426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企业软件RL环境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年化跑率约6,000万美元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6208776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6446520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海外 · Deeptune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446520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4,300万美元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446520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A轮融资额（2026年3月）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446520" y="4480560"/>
            <a:ext cx="214426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a16z领投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2026年7月被Mercor收购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038844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276588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国内 · UniPat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276588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约25亿美元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9276588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据报道估值（2026年9月）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9276588" y="4480560"/>
            <a:ext cx="214426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阿里拟领投3亿美元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评测与后训练数据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48640" y="5065776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本轮投后5亿元人民币（约7,400万美元）：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约为AfterQuery A轮投后的四分之一</a:t>
            </a: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59612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AfterQuery为A轮投后估值，Fleet、UniPat为据报道估值，Deeptune为融资额；美元按2026年9月30日中间价6.7351折算。来源见A2。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资金用途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两台引擎：收入引擎赚今天的钱，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研发引擎把训练增益做实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5408676" cy="41148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37360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 收入引擎  · 投入2,000万元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1975104"/>
            <a:ext cx="48234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环境与数据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42032"/>
            <a:ext cx="4823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环境一次搭建，授权给多家实验室；数据按交付量收费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41248" y="2944368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41248" y="2944368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700万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755648" y="2944368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环境生产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944368" y="2944368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按行业批量搭建训练环境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41248" y="3255264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41248" y="3255264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400万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755648" y="3255264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数据生产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944368" y="3255264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Agent轨迹、专家数据、评测数据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41248" y="3566160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1248" y="356616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600万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755648" y="3566160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交付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944368" y="3566160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接入、验收与持续更新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1248" y="3877056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248" y="3877056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300万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755648" y="3877056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销售与运营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944368" y="3877056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前沿实验室、企业与Agent开发者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41248" y="4187952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41248" y="4261104"/>
            <a:ext cx="48234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5名环境工程师 · 3名交付 · 2名商务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跑道24个月；行业环境单价2万–30万美元（Epoch AI）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841248" y="4956048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84124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3个月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4124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首个付费试点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44906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6个月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44906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第2家授权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405688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12个月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405688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年化80–300万美元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31636" y="1517904"/>
            <a:ext cx="5408676" cy="41148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524244" y="1737360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 研发引擎  · 投入2,000万元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524244" y="1975104"/>
            <a:ext cx="48234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迭代训练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6524244" y="2542032"/>
            <a:ext cx="4823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先把一个领域的训练增益做实，再复制到下一个领域</a:t>
            </a:r>
          </a:p>
        </p:txBody>
      </p:sp>
      <p:sp>
        <p:nvSpPr>
          <p:cNvPr id="5038" name="SimReal 5038"/>
          <p:cNvSpPr/>
          <p:nvPr/>
        </p:nvSpPr>
        <p:spPr>
          <a:xfrm>
            <a:off x="6524244" y="2944368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9" name="SimReal 5039"/>
          <p:cNvSpPr txBox="1"/>
          <p:nvPr/>
        </p:nvSpPr>
        <p:spPr>
          <a:xfrm>
            <a:off x="6524244" y="2944368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900万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7438644" y="2944368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算力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8627364" y="2944368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迭代训练、消融与显著性检验</a:t>
            </a:r>
          </a:p>
        </p:txBody>
      </p:sp>
      <p:sp>
        <p:nvSpPr>
          <p:cNvPr id="5042" name="SimReal 5042"/>
          <p:cNvSpPr/>
          <p:nvPr/>
        </p:nvSpPr>
        <p:spPr>
          <a:xfrm>
            <a:off x="6524244" y="3255264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3" name="SimReal 5043"/>
          <p:cNvSpPr txBox="1"/>
          <p:nvPr/>
        </p:nvSpPr>
        <p:spPr>
          <a:xfrm>
            <a:off x="6524244" y="3255264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700万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7438644" y="3255264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研究团队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8627364" y="3255264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交易之后：事件预测、财务结账</a:t>
            </a:r>
          </a:p>
        </p:txBody>
      </p:sp>
      <p:sp>
        <p:nvSpPr>
          <p:cNvPr id="5046" name="SimReal 5046"/>
          <p:cNvSpPr/>
          <p:nvPr/>
        </p:nvSpPr>
        <p:spPr>
          <a:xfrm>
            <a:off x="6524244" y="3566160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7" name="SimReal 5047"/>
          <p:cNvSpPr txBox="1"/>
          <p:nvPr/>
        </p:nvSpPr>
        <p:spPr>
          <a:xfrm>
            <a:off x="6524244" y="356616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400万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438644" y="3566160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实盘与合规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8627364" y="3566160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小资金检验训练效果</a:t>
            </a:r>
          </a:p>
        </p:txBody>
      </p:sp>
      <p:sp>
        <p:nvSpPr>
          <p:cNvPr id="5050" name="SimReal 5050"/>
          <p:cNvSpPr/>
          <p:nvPr/>
        </p:nvSpPr>
        <p:spPr>
          <a:xfrm>
            <a:off x="6524244" y="3877056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1" name="SimReal 5051"/>
          <p:cNvSpPr txBox="1"/>
          <p:nvPr/>
        </p:nvSpPr>
        <p:spPr>
          <a:xfrm>
            <a:off x="6524244" y="4261104"/>
            <a:ext cx="48234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3名研究员 · 约60万GPU小时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 → 事件预测 → 财务结账：每个领域先证明增益，再规模化</a:t>
            </a:r>
          </a:p>
        </p:txBody>
      </p:sp>
      <p:sp>
        <p:nvSpPr>
          <p:cNvPr id="5052" name="SimReal 5052"/>
          <p:cNvSpPr/>
          <p:nvPr/>
        </p:nvSpPr>
        <p:spPr>
          <a:xfrm>
            <a:off x="6524244" y="4956048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3" name="SimReal 5053"/>
          <p:cNvSpPr txBox="1"/>
          <p:nvPr/>
        </p:nvSpPr>
        <p:spPr>
          <a:xfrm>
            <a:off x="652424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3个月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652424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交易增益显著性检验</a:t>
            </a:r>
          </a:p>
        </p:txBody>
      </p:sp>
      <p:sp>
        <p:nvSpPr>
          <p:cNvPr id="5055" name="SimReal 5055"/>
          <p:cNvSpPr txBox="1"/>
          <p:nvPr/>
        </p:nvSpPr>
        <p:spPr>
          <a:xfrm>
            <a:off x="813206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6个月</a:t>
            </a:r>
          </a:p>
        </p:txBody>
      </p:sp>
      <p:sp>
        <p:nvSpPr>
          <p:cNvPr id="5056" name="SimReal 5056"/>
          <p:cNvSpPr txBox="1"/>
          <p:nvPr/>
        </p:nvSpPr>
        <p:spPr>
          <a:xfrm>
            <a:off x="813206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事件预测验证增益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973988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12个月</a:t>
            </a:r>
          </a:p>
        </p:txBody>
      </p:sp>
      <p:sp>
        <p:nvSpPr>
          <p:cNvPr id="5058" name="SimReal 5058"/>
          <p:cNvSpPr txBox="1"/>
          <p:nvPr/>
        </p:nvSpPr>
        <p:spPr>
          <a:xfrm>
            <a:off x="973988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小资金实盘验证</a:t>
            </a:r>
          </a:p>
        </p:txBody>
      </p:sp>
      <p:sp>
        <p:nvSpPr>
          <p:cNvPr id="5059" name="SimReal 5059"/>
          <p:cNvSpPr txBox="1"/>
          <p:nvPr/>
        </p:nvSpPr>
        <p:spPr>
          <a:xfrm>
            <a:off x="548640" y="5760720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里程碑为本轮目标。</a:t>
            </a:r>
          </a:p>
        </p:txBody>
      </p:sp>
      <p:sp>
        <p:nvSpPr>
          <p:cNvPr id="5060" name="SimReal 506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61" name="SimReal 506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62" name="SimReal 506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20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37160"/>
            <a:ext cx="1737360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20" descr="orbi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3840" y="914400"/>
            <a:ext cx="4325112" cy="585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20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1572768"/>
            <a:ext cx="365760" cy="452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20" descr="SimRea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2194560"/>
            <a:ext cx="786384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高分，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必须是真做对了。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4023360"/>
            <a:ext cx="87782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7个基准与环境已上线；交易是第一个跑通专家迭代的领域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4425696"/>
            <a:ext cx="8778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 衍真  ·  交易领域的RL训练环境与评分器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5074920"/>
            <a:ext cx="51206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52120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  ·  simreal.co  ·  x.com/simrealhq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4" name="Google Shape;654;p21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A1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Xitadel：测试了什么，怎么测的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146304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146304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2103120" y="146304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IMC Prosperity 3、4交易竞赛的订单簿数据（开源回测资源，MIT许可），7个任务；撮合与计分在SimReal引擎上运行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0116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201168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103120" y="201168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开源模型Qwen3.8-27B，比较训练前后表现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560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56032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测试数据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03120" y="256032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每个任务最后一个完整交易日留出，训练时不可见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310896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548640" y="310896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结果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2103120" y="310896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最高提升12%（最佳一次，非均值）；均值、95%置信区间与p值3个月内报告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36576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365760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局限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2103120" y="365760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竞赛市场由交易机器人构成，不等于交易所行情；回放不计我方订单的冲击；原始数据与获奖代码在GitHub公开，留出只对Agent接口成立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420624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420624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公开基准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03120" y="420624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Xitadel公开预览版：最佳人类竞赛策略记80分；按总分，前沿模型最高77.28（GPT-6）；单个任务已有超过80分的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47548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548640" y="475488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尽调材料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2103120" y="475488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运行记录、指标定义与脚本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53035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证据：实验设计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12%是初步结果；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我们按这套方法报告显著性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5408676" cy="2926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19072"/>
            <a:ext cx="486003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现在有什么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822960" y="2249424"/>
            <a:ext cx="4860036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822960" y="2249424"/>
            <a:ext cx="8229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任务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645920" y="2249424"/>
            <a:ext cx="403707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7个：做市、篮子、期权、转换、多资产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22960" y="2779776"/>
            <a:ext cx="4860036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22960" y="2779776"/>
            <a:ext cx="8229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留出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1645920" y="2779776"/>
            <a:ext cx="403707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每任务1个交易日；竞赛原始数据在GitHub公开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22960" y="3310128"/>
            <a:ext cx="4860036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22960" y="3310128"/>
            <a:ext cx="8229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对比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645920" y="3310128"/>
            <a:ext cx="403707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Qwen3.8-27B，训练前后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822960" y="3840480"/>
            <a:ext cx="4860036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822960" y="3840480"/>
            <a:ext cx="8229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645920" y="3840480"/>
            <a:ext cx="403707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一轮专家迭代，最高+12%（单次最佳）；无置信区间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6231636" y="1517904"/>
            <a:ext cx="5408676" cy="29260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6505956" y="1719072"/>
            <a:ext cx="486003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下一步要报告的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6505956" y="2249424"/>
            <a:ext cx="48600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6505956" y="2249424"/>
            <a:ext cx="8229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种子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28916" y="2249424"/>
            <a:ext cx="403707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每个任务 × 10个随机种子，训练前后配对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6505956" y="2779776"/>
            <a:ext cx="48600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6505956" y="2779776"/>
            <a:ext cx="8229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统计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7328916" y="2779776"/>
            <a:ext cx="403707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均值、95%置信区间、配对检验p值、逐任务增减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505956" y="3310128"/>
            <a:ext cx="48600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505956" y="3310128"/>
            <a:ext cx="8229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复验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7328916" y="3310128"/>
            <a:ext cx="403707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储备任务做第二组留出，检验数据污染；事件预测跨领域复验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6505956" y="3840480"/>
            <a:ext cx="48600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6505956" y="3840480"/>
            <a:ext cx="8229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时间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7328916" y="3840480"/>
            <a:ext cx="403707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3个月内完成，原始记录可审计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48640" y="4608576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第二份证据   </a:t>
            </a: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FuturePredict用真实事件结算：同一方法、同一统计标准，报告训练前后的Brier分数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548640" y="523036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只报能复现的数字：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原始记录与结果哈希在尽调时提供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2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A2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数据来源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1481328"/>
            <a:ext cx="5285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公司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1755648"/>
            <a:ext cx="528523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1865376"/>
            <a:ext cx="5285232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Information（2026年7月）：2026年上半年毛营收约6.14亿美元，九成以上来自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少数几家基础模型公司；约三分之二付给专家；2026年7月收购Deeptune（福布斯）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SiliconANGLE、FinSMEs（2026年4月）：A轮3,000万美元，投后3亿美元，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年化收入1亿美元；业务含定制RL环境，覆盖金融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Fleet：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Sacra、Synaptic（2026年4月）：企业软件RL环境，年化跑率约6,000万美元，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A轮4,500万美元，估值约7.25亿美元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Deeptune：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SiliconANGLE、TechCrunch（2026年3月、7月）：a16z领投A轮4,300万美元；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被Mercor收购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UniPat：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彭博、腾讯新闻（2026年9月10日）：阿里拟领投3亿美元，估值约25亿美元；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Dealroom：截至2026年5月底订单约3,000万美元（单一来源）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Humanlaya：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2026年9月完成数亿元人民币Pre-A，鼎晖领投（界面新闻、东方财富）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金融环境新公司：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Halluminate（YC S25，官网）；EdotEnv、Prodigy Research（YC S26，YC公司页）；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Prodigy实盘140%的说法未披露期间、杠杆与回撤（RuntimeWire）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实验室自建：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Decoder、TechCrunch（2026年）：Meta成立应用AI工程部门；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SemiAnalysis：大量工程师全职做RL任务与环境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6355080" y="1481328"/>
            <a:ext cx="5285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市场与研究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6355080" y="1755648"/>
            <a:ext cx="528523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6355080" y="1865376"/>
            <a:ext cx="5285232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RL环境定价：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Epoch AI《An FAQ on RL environments》（2026年1月，18人访谈）：单个任务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200–2,000美元；合同通常每季度六到七位数美元；抗reward hacking是关键质量标准之一；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网站复刻约2万美元、Slack级产品约30万美元（亦见SemiAnalysis，2026年1月）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金融专家时薪：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Bloomberg、Fortune（2025年10月21日）：OpenAI雇100多名前投行人员，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每小时150美元；xAI招聘页、Entrepreneur：量化交易专家每小时45–100美元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潜在买家：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美国前沿：OpenAI、Google DeepMind、Meta、xAI、微软、亚马逊、英伟达；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新实验室：Thinking Machines、Reflection AI等；中国：阿里、字节、DeepSeek、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月之暗面、智谱、MiniMax、阶跃星辰、腾讯、小米、百度（我们按公开信息统计）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实验室金融产品：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Nasdaq新闻稿（2026年8月25日）：Gemini Enterprise for Financial Services预览版；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CNBC、Quartz（2026年9月10日）：ChatGPT for Financial Services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个人Agent：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Meta Muse（2026年9月8日上线，9月18日登顶美国App Store；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TechCrunch、Business Insider）；OpenAI Dots（DevDay，2026年9月29日；The Verge、CNBC）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Instinct：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路透社（2026年9月28日）：估值100亿美元，8月26日为25亿美元；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《大西洋月刊》、CNN（2026年9月）：擅自订位致用户被收200美元取消费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Alpha Arena：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Nof1与SUI Group新闻稿（2026年5月15日）：前沿模型真钱交易，32组结果6组盈利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事件预测：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PolyBench（arXiv 2604.14199，2026年4月）：7个模型在Polymarket数据上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模拟交易，2个收益为正（按置信度加权，非实际盈亏）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Xitadel数据与结果：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IMC Prosperity 3、4竞赛回测资源，MIT许可（GitHub：jmerle/imc-prosperity-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3-backtester等）；人类基准取自6支队伍的公开提交；逐任务得分见REPORT.md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汇率：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2026年9月30日人民币对美元中间价6.7351（中国外汇交易中心）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" name="Google Shape;716;p2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A3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术语表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让AI反复做真实工作、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从结果中学习的系统，即RL环境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3390138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3390138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390138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Agent轨迹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3390138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AI完成一项任务的全过程：每一步动作、环境的反馈与最终结果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6231636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231636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真实反馈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231636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真实发生的结果为AI的每个动作结算：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盈亏、账目、代码能否运行、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事件是否发生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73134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073134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073134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RSI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9073134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递归自我改进：模型改进的是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“产生改进”的过程本身；我们今天不是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留出集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只用于检验、从不参与训练的任务，防止模型背答案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3390138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3390138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3390138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专家迭代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3390138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模拟器打分，筛出高分轨迹再训练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（ExIt、ReST一类）；我们今天做这个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31636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231636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6231636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受控实验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231636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只改一个条件（是否在Xitadel训练），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比较前后表现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9073134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9073134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9073134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年化毛营收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073134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按当前收入推算的全年收入，含付给专家的部分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下一步 · 个人Agent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一个Agent在替人做事之前，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需要先在足够真实的地方练过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2026年9月：个人Agent开始替人花钱，也开始替人出错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5564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865376"/>
            <a:ext cx="256717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Muse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523744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Meta，9月8日上线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10天登顶美国App Store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90138" y="175564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390138" y="1865376"/>
            <a:ext cx="256717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Dots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390138" y="2523744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OpenAI，9月29日发布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常驻云端，替人持续做事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31636" y="175564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231636" y="1865376"/>
            <a:ext cx="256717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100亿美元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231636" y="2523744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Instinct估值，33天涨4倍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红杉、Benchmark、Coatue投资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73134" y="1755648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073134" y="1865376"/>
            <a:ext cx="256717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200美元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073134" y="2523744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Instinct擅自替用户订位，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用户被收的取消费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32004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我们怎么接：同一批环境，第二类客户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456432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45643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开放什么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103120" y="3456432"/>
            <a:ext cx="95371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交易与事件预测两个环境；留出集不开放练习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38404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384048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怎么收费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103120" y="3840480"/>
            <a:ext cx="95371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按练习回合计费，每回合2–10美元（按任务难度与时长）；默认保密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42245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4224528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数据规则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103120" y="4224528"/>
            <a:ext cx="95371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脱敏共享轨迹，可换练习额度与收益分成；交给实验室的数据附授权记录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6085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608576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验证节点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103120" y="4608576"/>
            <a:ext cx="95371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6个月内首批10个Agent团队接入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548640" y="49926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548640" y="523036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沙盒让Agent不闯祸，</a:t>
            </a: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我们让它做对</a:t>
            </a: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48640" y="585216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来源：Meta与OpenAI发布（2026年9月）；TechCrunch（2026年9月25日）；Instinct（路透社，2026年9月28日；《大西洋月刊》、CNN，2026年9月）。详见A2。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风险与对策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把风险写在前面：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每一条都有对应的验证节点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5448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风险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743200" y="155448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现状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080760" y="155448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对策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9418320" y="1554480"/>
            <a:ext cx="22219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验证节点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548640" y="18470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548640" y="1847088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数据污染与仿真差距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743200" y="184708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竞赛数据与获奖代码已公开；回放不计订单冲击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080760" y="184708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储备任务检验污染；接入真实行情，小资金实盘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9418320" y="1847088"/>
            <a:ext cx="222199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3个月：污染检验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384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12个月：小资金实盘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4871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2487168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数据权属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2743200" y="248716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公开版用Prosperity开源回测资源，不主张第三方数据权利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080760" y="248716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付费版改用自有或授权数据，交付附授权链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418320" y="2487168"/>
            <a:ext cx="222199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首个付费试点前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31272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3127248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统计显著性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2743200" y="312724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每个任务只有1个留出交易日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6080760" y="312724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多种子、储备任务、跨领域复验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418320" y="3127248"/>
            <a:ext cx="222199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3个月：报告置信区间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3767328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买家集中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743200" y="376732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4–7家美国前沿实验室占过半预算（推算）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080760" y="376732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同一环境授权多家；延伸到交易机构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418320" y="3767328"/>
            <a:ext cx="222199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6个月：第2家授权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548640" y="440740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548640" y="4407408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跨境合规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2743200" y="440740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中国团队，服务中美实验室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6080760" y="440740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数据按客户所在地区分开存储与交付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418320" y="4407408"/>
            <a:ext cx="222199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本轮交割前</a:t>
            </a:r>
          </a:p>
          <a:p>
            <a:pPr marL="0" marR="0" lvl="0" indent="0" algn="l" rtl="0">
              <a:lnSpc>
                <a:spcPct val="105000"/>
              </a:lnSpc>
              <a:spcBef>
                <a:spcPts val="384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开曼—香港—境内架构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548640" y="50474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不过度美化：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每个数字都能在尽调里复现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