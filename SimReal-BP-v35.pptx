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2" r:id="rId8"/>
    <p:sldId id="263" r:id="rId9"/>
    <p:sldId id="264" r:id="rId10"/>
    <p:sldId id="268" r:id="rId14"/>
    <p:sldId id="279" r:id="rId46"/>
    <p:sldId id="269" r:id="rId15"/>
    <p:sldId id="270" r:id="rId16"/>
    <p:sldId id="271" r:id="rId17"/>
    <p:sldId id="267" r:id="rId13"/>
    <p:sldId id="272" r:id="rId18"/>
    <p:sldId id="273" r:id="rId19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6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个人Agent被托付之前，先在这里练过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从交易开始：面向AI实验室与个人Agent的训练环境与数据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人民币4,000万元（等值美元）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2062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衍真为AI实验室造训练场：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已上线、已出结果、已有买家在谈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74650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7个训练环境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2316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14天上线，5个已开源，零外部融资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52544" y="1600200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352544" y="174650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352544" y="242316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开源模型在我们的交易环境里训练后，最高提升12%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156448" y="1600200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156448" y="174650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2家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156448" y="242316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前沿实验室在谈采购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329184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343814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11480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专家已报名，来自21所顶尖大学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29184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43814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360万–4,200万美元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11480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金融一个领域每年的采购规模，按实验室单价推算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8156448" y="3291840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43814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156448" y="411480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本轮融资，投后估值5亿元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先在金融拿下2–3家付费实验室，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再复制到下一个领域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奥赛与名校 → 华尔街交易台：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我们最懂做题与做事的差距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99232"/>
            <a:ext cx="2965704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United Stables首位员工：U稳定币一年从0到14亿美元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汇丰港元稳定币项目唯一实习生，协助香港金管局合规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64515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736592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LSE数学 · USAMO入围 · 2005年生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99232"/>
            <a:ext cx="2965704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剑桥机器学习暑研，师从Po-Ling Loh（IMS会士）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设计五大基准与强化学习环境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64515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736592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剑桥数学一等荣誉（奖学金）· 2005年生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99232"/>
            <a:ext cx="2965704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另类数据团队史上首位应届招聘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17岁出版作家；原创内容10万+互动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64515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736592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杜克数学与统计 · 2005年生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4406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放弃顶级量化机构的转正offer，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来做这件事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AI已经学会推理，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却还做不好真实世界里的事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会做题，不会做事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47088"/>
            <a:ext cx="512064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47088"/>
            <a:ext cx="914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1463040" y="1847088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383280" y="1847088"/>
            <a:ext cx="3657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749040" y="1847088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实盘就亏钱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5603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2560320"/>
            <a:ext cx="914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软件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463040" y="2560320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83280" y="2560320"/>
            <a:ext cx="3657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749040" y="2560320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273552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548640" y="3273552"/>
            <a:ext cx="914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463040" y="3273552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账看起来做完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3383280" y="3273552"/>
            <a:ext cx="3657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3749040" y="3273552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6309360" y="1572768"/>
            <a:ext cx="2482596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309360" y="1682496"/>
            <a:ext cx="2482596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309360" y="2304288"/>
            <a:ext cx="2482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前沿模型用真钱交易，32轮只有6轮赚钱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309360" y="2761488"/>
            <a:ext cx="2482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交易AI还没学会，对错又最好验证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9157716" y="1572768"/>
            <a:ext cx="2482596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9157716" y="1682496"/>
            <a:ext cx="2482596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51分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9157716" y="2304288"/>
            <a:ext cx="2482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6在我们的多资产交易任务上只得51分（人类最佳80）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157716" y="2761488"/>
            <a:ext cx="2482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这个差距，我们的环境量得出来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用真实结果给每个动作打分的地方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来源：Alpha Arena（Nof1，2026年5月）；Xitadel公开报告。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AI在环境里行动，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真实结果变成下一轮的训练信号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45920"/>
            <a:ext cx="2498598" cy="822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31520" y="1737360"/>
            <a:ext cx="213283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31520" y="1920240"/>
            <a:ext cx="213283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AI行动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047238" y="1645920"/>
            <a:ext cx="3657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412998" y="1645920"/>
            <a:ext cx="2498598" cy="822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595878" y="1737360"/>
            <a:ext cx="213283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595878" y="1920240"/>
            <a:ext cx="213283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环境按真实规则反应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911596" y="1645920"/>
            <a:ext cx="3657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77356" y="1645920"/>
            <a:ext cx="2498598" cy="822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460236" y="1737360"/>
            <a:ext cx="213283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460236" y="1920240"/>
            <a:ext cx="213283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模拟器按结果计分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775954" y="1645920"/>
            <a:ext cx="3657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141714" y="1645920"/>
            <a:ext cx="2498598" cy="8229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324594" y="1737360"/>
            <a:ext cx="213283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324594" y="1920240"/>
            <a:ext cx="213283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高分轨迹回流再训练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10391013" y="2468880"/>
            <a:ext cx="10973" cy="20116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1797939" y="2670048"/>
            <a:ext cx="8604047" cy="10973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1797939" y="2523744"/>
            <a:ext cx="10973" cy="15544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1615059" y="2432304"/>
            <a:ext cx="37490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↑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301752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我们卖三样东西，都出自同一套环境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29184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383280"/>
            <a:ext cx="348386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4048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按真实规则重建的交易等专业场景，授权给实验室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4352544" y="329184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4352544" y="3383280"/>
            <a:ext cx="348386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AI数据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352544" y="384048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Agent轨迹、专家数据与评测数据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56448" y="329184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156448" y="3383280"/>
            <a:ext cx="348386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迭代训练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156448" y="384048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帮实验室跑训练，交付训练前后的增益报告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今天是专家迭代，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长期目标是让AI在真实世界里自我进化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第一个结果 · Xitadel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开源模型在我们的交易环境里训练后，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最高提升12%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5448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51460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Qwen3.8-27B，在未见过的竞赛交易日上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80720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最高值；均值与置信区间3个月内报告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3291840"/>
            <a:ext cx="566928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329184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7个交易任务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286000" y="329184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做市、篮子、期权、换汇、多资产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3767328"/>
            <a:ext cx="566928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376732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模拟器计分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2286000" y="3767328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按盈亏、回撤、夏普；同一策略永远同一分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4242816"/>
            <a:ext cx="566928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4242816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人类基准80分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286000" y="4242816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6支竞赛队伍的最佳策略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718304"/>
            <a:ext cx="566928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/>
          <p:nvPr/>
        </p:nvSpPr>
        <p:spPr>
          <a:xfrm>
            <a:off x="6675120" y="1554480"/>
            <a:ext cx="4965192" cy="3383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6995160" y="1783080"/>
            <a:ext cx="43251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最强模型仍低于人类：训练空间还很大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995160" y="2157984"/>
            <a:ext cx="4325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Xitadel公开预览版 · 7个任务总分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10689336" y="2770632"/>
            <a:ext cx="13716" cy="186537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9866376" y="2551176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人类最佳 80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95160" y="2971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8275320" y="3017520"/>
            <a:ext cx="2331939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9967179" y="2971800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77.28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995160" y="341071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275320" y="3456432"/>
            <a:ext cx="908877" cy="20116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9239061" y="341071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30.12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995160" y="3849624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8275320" y="3895344"/>
            <a:ext cx="835250" cy="20116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165434" y="3849624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27.68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995160" y="428853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275320" y="4334256"/>
            <a:ext cx="741706" cy="20116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9071890" y="4288536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24.58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548640" y="52578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数据：IMC Prosperity交易竞赛订单簿（开源，MIT许可）；结果：Xitadel-QuantBench公开报告。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14天上线7个环境，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5个已开源，每个都产出训练数据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01468" cy="15727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56816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59152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已跑通一轮训练：+12%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77240" y="2816352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 · 102星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378708" y="1572768"/>
            <a:ext cx="2601468" cy="15727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07308" y="173736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AI研究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07308" y="1956816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07308" y="2359152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60个研究任务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07308" y="2816352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 · 178星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08776" y="1572768"/>
            <a:ext cx="2601468" cy="15727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37376" y="173736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437376" y="1956816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437376" y="2359152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真实事件揭晓后结算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437376" y="2816352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部分开源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38844" y="1572768"/>
            <a:ext cx="2601468" cy="15727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67444" y="173736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数学证明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267444" y="1956816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267444" y="2359152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只认证明，不认猜测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267444" y="2816352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 · 102星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374136"/>
            <a:ext cx="2601468" cy="15727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77240" y="3538728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逻辑推理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77240" y="3758184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4160520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749道人工编写谜题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46177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 · 17星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378708" y="3374136"/>
            <a:ext cx="2601468" cy="15727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607308" y="3538728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财务结账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607308" y="3758184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607308" y="4160520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月结零差错才算通过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3607308" y="46177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6208776" y="3374136"/>
            <a:ext cx="2601468" cy="15727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6437376" y="3538728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6437376" y="3758184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6437376" y="4160520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代码要挺过下一个版本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437376" y="46177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9038844" y="3374136"/>
            <a:ext cx="2601468" cy="15727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9267444" y="3538728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每个环境都产出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9267444" y="3776472"/>
            <a:ext cx="214426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专家数据 · 评测数据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9267444" y="46177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全部零外部融资完成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星标数截至2026年9月29日。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4726022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477731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621327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4766412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商业模式与进展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免费评测带来客户，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付费试点转年度授权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3422904" cy="1554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783080"/>
            <a:ext cx="2910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免费评测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2221992"/>
            <a:ext cx="2910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公开版7个任务跑分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04672" y="2560320"/>
            <a:ext cx="2910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对标人类最佳，带来客户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971544" y="1600200"/>
            <a:ext cx="4114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83024" y="1600200"/>
            <a:ext cx="3422904" cy="1554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39056" y="1783080"/>
            <a:ext cx="2910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39056" y="2221992"/>
            <a:ext cx="2910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5万–15万美元 · 8–12周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39056" y="2560320"/>
            <a:ext cx="2910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定制任务与留出交易日，交付训练前后增益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7805928" y="1600200"/>
            <a:ext cx="4114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217408" y="1600200"/>
            <a:ext cx="3422904" cy="15544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73440" y="1783080"/>
            <a:ext cx="2910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年度授权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73440" y="2221992"/>
            <a:ext cx="2910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40万–200万美元 / 年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73440" y="2560320"/>
            <a:ext cx="2910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全套环境与专家数据，每季度换题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4015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474720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2家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03120" y="347472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前沿实验室在谈采购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309360" y="3474720"/>
            <a:ext cx="533095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同样模式：AfterQuery 14个月做到年化1亿美元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548640" y="434340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支持我们研发的交易机构从业者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616745" y="47091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Polymarket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标识仅表示支持者任职机构，不代表机构背书。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7,000+专家已报名，来自21所顶尖大学：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专家数据的来源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3840480" cy="91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73352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743200" y="1673352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已报名候补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624328"/>
            <a:ext cx="384048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69748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21所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743200" y="26974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顶尖大学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3648456"/>
            <a:ext cx="384048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3721608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20万+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2743200" y="3721608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可触达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网络覆盖的部分高校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每做一个领域，专家标准和失败案例都会留下来，</a:t>
            </a: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复用到下一个领域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网络覆盖不等于已注册或参与交付；高校标识不代表学校背书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市场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实验室已经在按单价采购：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金融一个领域每年约360万–4,200万美元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2498598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49808" y="1783080"/>
            <a:ext cx="209626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①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49808" y="2011680"/>
            <a:ext cx="2096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200–2,000美元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49808" y="2514600"/>
            <a:ext cx="2096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每个训练任务的市场价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49808" y="2999232"/>
            <a:ext cx="209626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AI，18人访谈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047238" y="1600200"/>
            <a:ext cx="36576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412998" y="1600200"/>
            <a:ext cx="2498598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14166" y="1783080"/>
            <a:ext cx="209626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②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14166" y="2011680"/>
            <a:ext cx="2096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45万–450万美元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14166" y="2514600"/>
            <a:ext cx="2096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一家美国前沿实验室每年在金融上的采购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614166" y="2999232"/>
            <a:ext cx="209626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2–5个环境＋500–1,500个任务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11596" y="1600200"/>
            <a:ext cx="36576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6277356" y="1600200"/>
            <a:ext cx="2498598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478524" y="1783080"/>
            <a:ext cx="209626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③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478524" y="2011680"/>
            <a:ext cx="2096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17–24家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478524" y="2514600"/>
            <a:ext cx="2096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中美做Agent后训练的实验室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78524" y="2999232"/>
            <a:ext cx="209626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美国前沿、新实验室、中国三层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775954" y="1600200"/>
            <a:ext cx="36576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9141714" y="1600200"/>
            <a:ext cx="2498598" cy="17830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342882" y="1783080"/>
            <a:ext cx="209626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=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9342882" y="2011680"/>
            <a:ext cx="2096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360万–4,200万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9342882" y="2514600"/>
            <a:ext cx="2096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 · 金融一个领域，每年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9342882" y="2999232"/>
            <a:ext cx="209626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12个月目标：拿下其中2–3家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3657600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每多一个领域，再加一份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566160" y="3657600"/>
            <a:ext cx="80741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事件预测、AI研究已上线；与金融同规模时，3个领域每年约1,080万–1.26亿美元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548640" y="4224528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价格已经形成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566160" y="4224528"/>
            <a:ext cx="80741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RL环境合同每季度六到七位数美元；OpenAI以每小时150美元雇前投行人员做训练数据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548640" y="479145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548640" y="49834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来源：Epoch AI《An FAQ on RL environments》（2026年1月）；Bloomberg（2025年10月）。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推算：每家用量、三层家数（中国参照UniPat订单）与领域外推为我们的假设，待首批付费试点校准。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别人做一环，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我们从环境、计分到训练一条线做完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31520" y="15910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840480" y="15910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589520" y="15910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还缺什么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31520" y="1883664"/>
            <a:ext cx="30175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专家数据平台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Mercor、Surge、Handshake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840480" y="1883664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卖专家工时与人工评分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589520" y="1883664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评分靠人，不能复算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4871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31520" y="2487168"/>
            <a:ext cx="30175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中国同行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UniPat、Humanlaya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840480" y="2487168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评测与后训练数据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589520" y="2487168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主要服务国内实验室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0906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3090672"/>
            <a:ext cx="30175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AI交易评测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Nof1（Alpha Arena）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840480" y="3090672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实盘对战榜单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589520" y="3090672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只评测，不训练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36941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31520" y="3694176"/>
            <a:ext cx="30175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840480" y="3694176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自己熟悉的领域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589520" y="3694176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专业领域缺规则和专家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42976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/>
          <p:nvPr/>
        </p:nvSpPr>
        <p:spPr>
          <a:xfrm>
            <a:off x="548640" y="42976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31520" y="4297680"/>
            <a:ext cx="30175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840480" y="4297680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环境＋计分＋数据＋训练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589520" y="4297680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交易已跑通：+12%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赛道已被定价：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据彭博，阿里拟领投UniPat 3亿美元，估值约25亿美元</a:t>
            </a: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交易里最贵的教训是回测会骗人：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我们把这条教训写进了计分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3514344" cy="3154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逐笔撮合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3774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87752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订单排队，成交按下单时的订单簿归因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38328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502152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72160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分数拉得开：GPT 6得77分，其余三个前沿模型24–30分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600200"/>
            <a:ext cx="3514344" cy="3154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8013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风险进分数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3774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87752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盈亏扣除回撤，再乘夏普系数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38328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502152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72160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亏损或回撤吃掉利润就记0分：两个前沿模型各有2个任务0分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600200"/>
            <a:ext cx="3514344" cy="3154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8013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防止刷分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23774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87752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最后一个交易日不给Agent看；结果哈希预先公开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38328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502152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72160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同一策略永远同一分，任何人都能复算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三位创始人来自量化机构，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这些规则由团队自己设计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来源：Xitadel-QuantBench公开报告与计分规范（REPORT、SCORING）。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融资与资金用途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本轮4,000万元，投后5亿元：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12个月拿下2–3家付费实验室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2601468" cy="8686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64592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828800"/>
            <a:ext cx="214426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19456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人民币，等值美元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54480"/>
            <a:ext cx="2601468" cy="868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07308" y="164592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出让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07308" y="1828800"/>
            <a:ext cx="214426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08776" y="1554480"/>
            <a:ext cx="2601468" cy="868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37376" y="164592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投前估值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37376" y="1828800"/>
            <a:ext cx="214426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4.6亿元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38844" y="1554480"/>
            <a:ext cx="2601468" cy="868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267444" y="164592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267444" y="1828800"/>
            <a:ext cx="214426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267444" y="219456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约7,400万美元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2606040"/>
            <a:ext cx="5408676" cy="2331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1248" y="278892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收入引擎 · 2,000万元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1248" y="3026664"/>
            <a:ext cx="48234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1248" y="3502152"/>
            <a:ext cx="48234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环境700万 · 数据400万 · 交付600万 · 销售300万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1248" y="390448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1248" y="4023360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248" y="4251960"/>
            <a:ext cx="14980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首个付费试点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449068" y="4023360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449068" y="4251960"/>
            <a:ext cx="14980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第2家授权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056888" y="4023360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056888" y="4251960"/>
            <a:ext cx="14980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年化100–300万美元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6231636" y="2606040"/>
            <a:ext cx="5408676" cy="2331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6524244" y="278892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研发引擎 · 2,000万元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524244" y="3026664"/>
            <a:ext cx="48234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迭代训练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524244" y="3502152"/>
            <a:ext cx="48234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算力900万 · 研究团队700万 · 实盘与合规400万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524244" y="390448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24244" y="4023360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524244" y="4251960"/>
            <a:ext cx="14980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交易增益显著性检验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132064" y="4023360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132064" y="4251960"/>
            <a:ext cx="14980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事件预测验证增益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739884" y="4023360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9739884" y="4251960"/>
            <a:ext cx="14980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小资金实盘验证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估值参照：Applied Compute种子轮投后1亿美元（2025年6月）；Mirendil种子轮投后10亿美元（2026年6月）。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美元按2026年9月30日中间价6.7351折算；开曼—香港—境内架构于本轮交割前搭建。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716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2194560"/>
            <a:ext cx="786384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每个行业最强的AI，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都出自我们的世界。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4023360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三个世界已上线：交易、AI研究、事件预测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4425696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衍真  ·  让AI在真实世界里自我进化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50749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52120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下一步 · 个人Agent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个人Agent替人做事之前，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先在这里练过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82496"/>
            <a:ext cx="348386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Muse · Dots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30428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Meta、OpenAI在2026年9月推出个人Agent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6148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大厂入场，Agent开始替人做事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82496"/>
            <a:ext cx="348386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100亿美元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30428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Instinct估值，替人订行程、购物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6148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替人花钱的Agent已是大市场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82496"/>
            <a:ext cx="348386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先练再托付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30428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Agent出错，代价落在用户身上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6148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练习场就是我们的第二类客户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429000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我们怎么落地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7033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76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开放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交易与事件预测两个环境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7033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776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收费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按练习回合，每回合2–10美元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8156448" y="37033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8156448" y="3776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目标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156448" y="4069080"/>
            <a:ext cx="34838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6个月内首批10个Agent团队接入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9834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练习轨迹经脱敏与授权，回流成实验室的训练数据：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同一批环境，第二类客户</a:t>
            </a: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来源：Meta、OpenAI发布（2026年9月）；Instinct估值（路透社，2026年9月28日）。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