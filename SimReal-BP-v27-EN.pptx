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1" r:id="rId7"/>
    <p:sldId id="262" r:id="rId8"/>
    <p:sldId id="263" r:id="rId9"/>
    <p:sldId id="264" r:id="rId10"/>
    <p:sldId id="265" r:id="rId11"/>
    <p:sldId id="259" r:id="rId5"/>
    <p:sldId id="269" r:id="rId15"/>
    <p:sldId id="270" r:id="rId16"/>
    <p:sldId id="271" r:id="rId17"/>
    <p:sldId id="266" r:id="rId12"/>
    <p:sldId id="267" r:id="rId13"/>
    <p:sldId id="268" r:id="rId14"/>
    <p:sldId id="272" r:id="rId18"/>
    <p:sldId id="278" r:id="rId45"/>
    <p:sldId id="273" r:id="rId19"/>
    <p:sldId id="274" r:id="rId20"/>
    <p:sldId id="276" r:id="rId22"/>
    <p:sldId id="277" r:id="rId23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2" name="Google Shape;612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7" name="Google Shape;62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19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1" name="Google Shape;67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7" name="Google Shape;687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55448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Real workplaces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470"/>
              </a:spcBef>
              <a:spcAft>
                <a:spcPts val="0"/>
              </a:spcAft>
              <a:buNone/>
            </a:pPr>
            <a:r>
              <a:rPr lang="en-US" sz="4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for AI that actually works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520440"/>
            <a:ext cx="74980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AI data and self-improvement for AI labs and enterprises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This round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RMB 40M (paid in USD)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61188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Post-money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61188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RMB 500M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577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 plan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577840" y="4937760"/>
            <a:ext cx="3017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Give AI a real place to work, and let it fail, learn and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improve itself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do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&amp; AI data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AI labs and enterprises: agent trajectories,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and eval data; exclusive environments for RSI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Done so far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event prediction, AI research, math,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reasoning, finance, software; 5 public repos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Key result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019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5054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Trained in Xitadel, Qwen3.8-27B traded up to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12% better on unseen live markets; replicated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born 2005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Math at Cambridge, LSE and Duke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3467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</a:t>
            </a:r>
            <a:r>
              <a:rPr lang="en-US" sz="24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$700B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Labs buy $8.5B a year of data and RL environments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2030 training market: ~$700B, 82x today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34670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4747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This round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730752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40M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334256"/>
            <a:ext cx="3483864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in USD; RMB 500M post-money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RMB 20M each for the revenue and RSI engines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Own the best training world, own the best AI.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From trading to every industry: AI that improves itself.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From olympiads to Wall Street’s toughest desks: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know the gap between tests and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Stables: helped take its U stablecoin from 0 to $1.4B in a year; listed on Binance in a month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Ran institutional relations; worked on partnerships with SIG, DRW and others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Sole intern on HSBC’s HKD stablecoin issuance; supported HKMA compliance end to end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 (Twitter) writer with millions of views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 at Citadel,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LSE Mathematics · 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ML research at Cambridge with renowned statistician Po-Ling Loh (IMS Fellow)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undergraduate AI researcher at a Cambridge research centre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roles at Jane Street, Citadel, Optiver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five benchmarks and RL environments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Cambridge Mathematics, First · 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Scholar · top 30 worldwide, Cambridge math contest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UK Physics Olympiad Super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246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07792"/>
            <a:ext cx="296570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 at Millennium Hong Kong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alt-data team’s first-ever graduate hire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Helped launch Plug and Play’s first Hong Kong event (with HK Science Park); hosted J&amp;J MedTech’s tech summit (200+ attendees each)</a:t>
            </a:r>
          </a:p>
          <a:p>
            <a:pPr marL="0" marR="0" lvl="0" indent="0" algn="l" rtl="0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Published author at 17; 100K+ engagements online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8097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4882896"/>
            <a:ext cx="2965704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Born 2005 · Duke Math &amp; Statistics · YK Pao School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AI, Mercor and AfterQuery were founded by people around 20. Early investors made </a:t>
            </a:r>
            <a:r>
              <a:rPr lang="en-US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17,000x, 40x, 1,800x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 grew revenue 27x and valuation 10x in 18 months: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market is just starting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 growth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gross run-rate: $75M → $2B in 16 months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Valuation growth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 $2B → $20B in 17 months (in talks)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51790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64592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Demand growth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8836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14x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651760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agent market forecast: $7.9B → ~$111B over 7 years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456432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057400" y="3456432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run-rate revenue in a year, now $375M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323076" y="3456432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323076" y="3456432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$29B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831836" y="3456432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 valuation; Meta bought 49% for $14.3B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968496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14 months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57400" y="3968496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AfterQuery: from founding to $100M run-rate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6323076" y="3968496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6323076" y="3968496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Nearly half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831836" y="3968496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of Scale AI’s new training projects use RL environments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4480560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 months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057400" y="4480560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 valuation: $300M → $3.2B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6323076" y="4480560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6323076" y="4480560"/>
            <a:ext cx="14630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Before 2032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831836" y="4480560"/>
            <a:ext cx="3808476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human text is projected to run out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/>
          <p:nvPr/>
        </p:nvSpPr>
        <p:spPr>
          <a:xfrm>
            <a:off x="6323076" y="4992624"/>
            <a:ext cx="5317236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548640" y="5266944"/>
            <a:ext cx="1109167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Mercor (TechCrunch, Sacra, Dealroom, Bloomberg); AfterQuery (Business Wire, Forbes); Snorkel AI (company); Scale AI (Reuters, company blog); AI agents (Precedence Research); text stock (Epoch AI). See A2.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Passing checks isn’t enough.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make AI do professional work in the real world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work has no answer key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6720840" y="1847088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19456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Surface check: passed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49440" y="1883664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Real world: failed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176272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1762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94560" y="21762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backtest climbs all the way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217920" y="21762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949440" y="21762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on unseen live markets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7797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2779776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194560" y="2779776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17920" y="2779776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949440" y="2779776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3832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3832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194560" y="33832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books look finished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217920" y="33832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6949440" y="33832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won’t reconcile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9867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548640" y="39867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Prediction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194560" y="39867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analysis sounds convincing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217920" y="39867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949440" y="39867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Wrong once the result is in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45902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 learn real work, AI needs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world that reacts to its every move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Core insight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leap in AI came from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better feedback signal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 1 · Internet data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205740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Imitation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Models learn to copy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77240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3447288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that can talk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78708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7308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 2 · Human preference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07308" y="205740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Alignment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607308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People rate the output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607308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607308" y="3447288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Useful assistants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6208776" y="1600200"/>
            <a:ext cx="2601468" cy="28346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437376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 3 · Answer keys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437376" y="205740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Verification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437376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Checked against answers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6437376" y="3337560"/>
            <a:ext cx="214426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437376" y="3447288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Reasoning models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9038844" y="1600200"/>
            <a:ext cx="2601468" cy="2834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267444" y="178308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 4 · Real-world feedback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9267444" y="2057400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Practice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9267444" y="2660904"/>
            <a:ext cx="214426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enters the real economy; the world reacts to every move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9267444" y="3337560"/>
            <a:ext cx="214426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9267444" y="3447288"/>
            <a:ext cx="21442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Autonomy and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267444" y="3995928"/>
            <a:ext cx="214426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Just beginning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4632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Acing tests isn’t doing the job. The next signal </a:t>
            </a:r>
            <a:r>
              <a:rPr lang="en-US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comes from the real world</a:t>
            </a:r>
            <a:r>
              <a:rPr lang="en-US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does the task;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real outcomes become the next training signal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64592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64592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1234440" y="164592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164592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work, rebuilt for practice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46888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46888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234440" y="246888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grading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91840" y="246888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Scored by real results, not another AI’s opinion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291840"/>
            <a:ext cx="6035040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91840"/>
            <a:ext cx="4572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234440" y="329184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feedback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291840" y="329184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Professional judgment and grading standards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14800"/>
            <a:ext cx="6035040" cy="5943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4114800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3291840" y="4114800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One environment for evals, data and training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086600" y="164592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360920" y="164592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acts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224028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086600" y="246888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360920" y="246888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world responds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306324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086600" y="3291840"/>
            <a:ext cx="4553712" cy="594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360920" y="329184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Graded by outcome; trajectory saved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886200"/>
            <a:ext cx="455371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↓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7086600" y="4114800"/>
            <a:ext cx="4553712" cy="5943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360920" y="4114800"/>
            <a:ext cx="4005072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Next round of training: self-improvement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Each round starts where the last one ended: that is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 (RSI)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0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Flagship proof · Xitadel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In two weeks we ran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world’s first self-improving market-making loop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54480"/>
            <a:ext cx="5852160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battlefield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057400" y="155448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Replays real trading days and order books, with data licensed through IMC Trading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as judge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057400" y="201168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market settles every trade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4688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48640" y="246888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Learns from results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2057400" y="2468880"/>
            <a:ext cx="4343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Reviews each day’s P&amp;L and orders; each round beats the last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926080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48640" y="3108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2743200" y="3145536"/>
            <a:ext cx="36576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Open-source Qwen3.8-27B, after training,</a:t>
            </a:r>
            <a:br>
              <a:rPr lang="en-US" sz="1200"/>
            </a:br>
            <a:r>
              <a:rPr lang="en-US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traded up to 12% better on unseen live markets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419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Controlled experiment, replicated across independent runs; logs available in diligence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151376"/>
            <a:ext cx="58521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4261104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Our environments let AI improve itself in real financial markets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608576"/>
            <a:ext cx="58521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Next: more strategies, more markets, more industries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6812280" y="1554480"/>
            <a:ext cx="4828032" cy="336499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086600" y="1755648"/>
            <a:ext cx="427939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 public preview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086600" y="1993392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No model has passed the human baseline yet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10588752" y="2697480"/>
            <a:ext cx="13716" cy="177393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9857232" y="2478024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Human baseline 80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7086600" y="2880360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GPT 6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321040" y="2926080"/>
            <a:ext cx="2190610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9908146" y="2880360"/>
            <a:ext cx="548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FAF9F6"/>
                </a:solidFill>
                <a:latin typeface="IBM Plex Mono"/>
                <a:ea typeface="IBM Plex Mono"/>
                <a:cs typeface="IBM Plex Mono"/>
                <a:sym typeface="IBM Plex Mono"/>
              </a:rPr>
              <a:t>77.28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086600" y="3300984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GLM 5.3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8321040" y="3346704"/>
            <a:ext cx="853794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9229698" y="3300984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30.12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7086600" y="3721608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Kimi K3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321040" y="3767328"/>
            <a:ext cx="784628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160532" y="3721608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27.68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7086600" y="414223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DeepSeek V4 Pro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321040" y="4187952"/>
            <a:ext cx="696755" cy="2011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9072659" y="4142232"/>
            <a:ext cx="640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24.58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 shipped in 14 days,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 of them in public repos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4612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43484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it does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9509760" y="155448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Status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548640" y="18288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548640" y="182880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Xitadel-QuantBench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246120" y="182880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434840" y="182880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Replays real markets and settles on P&amp;L; self-improvement proven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9509760" y="182880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source</a:t>
            </a: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3134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231343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Simreal-MLBench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246120" y="231343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research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434840" y="231343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research tasks across 7 data types, modelled on OpenAI’s MLE-bench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509760" y="231343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source</a:t>
            </a: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178 stars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2798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2798064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 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future-prediction-bench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246120" y="2798064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Prediction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434840" y="2798064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Predicts real events and trains on the outcome; live data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509760" y="2798064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Partly open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282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282696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MathmoBench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246120" y="3282696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Math proofs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434840" y="3282696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Makes AI prove its answers instead of guessing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9509760" y="3282696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source</a:t>
            </a: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102 stars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548640" y="3767328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hard-puzzle-benchmark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246120" y="3767328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Logic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434840" y="3767328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 hand-written reasoning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509760" y="3767328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source</a:t>
            </a: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·  17 stars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548640" y="425196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548640" y="4251960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3246120" y="4251960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Finance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4434840" y="4251960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closes the books with zero errors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509760" y="4251960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  ·  private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365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548640" y="4736592"/>
            <a:ext cx="265176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3246120" y="4736592"/>
            <a:ext cx="114300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Software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4434840" y="4736592"/>
            <a:ext cx="4983480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Tests whether AI-written code survives the next release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9509760" y="4736592"/>
            <a:ext cx="2130552" cy="484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Live  ·  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548640" y="52212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built with </a:t>
            </a:r>
            <a:r>
              <a:rPr lang="en-US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zero outside funding</a:t>
            </a: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6035040" y="5394960"/>
            <a:ext cx="56052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400 stars in total  ·  September 29, 2026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business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experts produce three kinds of AI data: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trajectories, expert data, evals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 trajectories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87168"/>
            <a:ext cx="296570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full record of AI doing a multi-step task: every action, the world’s response, the result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Pass or fail set by real outcomes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fine-tuning and RL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4337304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4611624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data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11624" y="2487168"/>
            <a:ext cx="296570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our 200,000+ expert network: demonstrations, judgments and grading standards from real work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611624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611624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Entry-level roles to top research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611624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alignment, reward models and grading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125968" y="1572768"/>
            <a:ext cx="3514344" cy="2377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40028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400288" y="1975104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Eval data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400288" y="2487168"/>
            <a:ext cx="2965704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Private eval and held-out sets, used only for testing, never for training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8400288" y="325526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8400288" y="3328416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Red-teamed before launch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00288" y="3602736"/>
            <a:ext cx="296570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model acceptance and ongoing evals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4133088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Unlike human-only data vendors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548640" y="4443984"/>
            <a:ext cx="12344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Same source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783080" y="4443984"/>
            <a:ext cx="22799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Data, grading and training share one environment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4337304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4337304" y="4443984"/>
            <a:ext cx="12344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Verifiable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571744" y="4443984"/>
            <a:ext cx="22799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outcomes decide pass or fail, not human opinion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125968" y="438912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125968" y="4443984"/>
            <a:ext cx="123444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Compounding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360408" y="4443984"/>
            <a:ext cx="22799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Where the model fails, the next batch of data goes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spend $8.5B a year on training data and RL environments: </a:t>
            </a:r>
            <a:r>
              <a:rPr lang="en-US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sell both</a:t>
            </a:r>
            <a:r>
              <a:rPr lang="en-US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round brings a new delivery: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deeper the work, the more we earn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76809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Three lines   </a:t>
            </a: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 ·  AI data (trajectories, experts, evals)  ·  RSI service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8229600" y="1499616"/>
            <a:ext cx="341071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Same model: AfterQuery hit $100M run-rate in 14 months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31520" y="2066544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Stage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2926080" y="2066544"/>
            <a:ext cx="301752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buy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80760" y="2066544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595360" y="2066544"/>
            <a:ext cx="288036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Why they buy again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235915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731520" y="2359152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143000" y="2359152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Paid pilot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926080" y="2359152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Environment, data and eval pack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one capability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080760" y="235915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Fixed scope and acceptance criteria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595360" y="235915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Proves integration and training value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29260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731520" y="2926080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143000" y="292608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2926080" y="2926080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task sets, verifiers,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agreed usage rights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080760" y="29260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Term, scope, exclusivity;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by volume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595360" y="292608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Wider domains and task coverage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34930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" y="349300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143000" y="3493008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Updates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926080" y="3493008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New scenarios, tasks, trajectories,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private held-out sets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080760" y="349300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Annual contract or batch orders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595360" y="349300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Old tasks saturate; new skills need new data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548640" y="40599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/>
          <p:nvPr/>
        </p:nvSpPr>
        <p:spPr>
          <a:xfrm>
            <a:off x="548640" y="4059936"/>
            <a:ext cx="11091672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31520" y="4059936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143000" y="4059936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Joint RSI training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926080" y="4059936"/>
            <a:ext cx="30175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runs, ablations,</a:t>
            </a: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transfer tests, hosted runs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080760" y="405993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Project or ongoing service contract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595360" y="405993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E27A3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Closes the customer’s next capability gap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548640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786384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Open source vs. paid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786384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 benchmarks: public, to build trust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Paid: private tasks, data, held-out sets, verifiers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4322064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4559808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Non-exclusive vs. exclusive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4559808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Non-exclusive: one environment, many labs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Exclusive: by domain and term, premium (Epoch AI)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095488" y="4882896"/>
            <a:ext cx="3544824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333232" y="5029200"/>
            <a:ext cx="306933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 is just the start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333232" y="5376672"/>
            <a:ext cx="30693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Verifier upkeep, difficulty upgrades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New tasks and data, hosted runs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4954622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500591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42502" y="4849927"/>
            <a:ext cx="1103947" cy="54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4995012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Products are public;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lab purchasing is under way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3390138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3390138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400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in total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724912"/>
            <a:ext cx="256717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29, 2026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517904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664208"/>
            <a:ext cx="2567178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5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43230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Angels reached out to us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29184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Frontier lab purchasing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822960" y="3835908"/>
            <a:ext cx="1054303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/>
          <p:nvPr/>
        </p:nvSpPr>
        <p:spPr>
          <a:xfrm>
            <a:off x="822960" y="3826764"/>
            <a:ext cx="3514344" cy="2743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/>
          <p:nvPr/>
        </p:nvSpPr>
        <p:spPr>
          <a:xfrm>
            <a:off x="740664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91440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Contact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255008" y="3758184"/>
            <a:ext cx="164592" cy="164592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605784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Talks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605784" y="3419856"/>
            <a:ext cx="14630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7769352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120128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pilot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11283696" y="3758184"/>
            <a:ext cx="164592" cy="164592"/>
          </a:xfrm>
          <a:prstGeom prst="ellipse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10634472" y="402336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Purchase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5720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Traders who support our R&amp;D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616745" y="49377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Polymarket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57784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supporters work; they do not imply endorsement by these firms.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98059" y="2529597"/>
            <a:ext cx="675667" cy="445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06476" y="2478024"/>
            <a:ext cx="548640" cy="548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53425" y="2550204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266406" y="2603094"/>
            <a:ext cx="1008395" cy="29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44932" y="3572705"/>
            <a:ext cx="581921" cy="517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55513" y="3688077"/>
            <a:ext cx="1050566" cy="2865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11926" y="3591509"/>
            <a:ext cx="627548" cy="479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77336" y="3678779"/>
            <a:ext cx="986535" cy="305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4853" y="4753893"/>
            <a:ext cx="962077" cy="312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949523" y="4683169"/>
            <a:ext cx="662546" cy="454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471940" y="4774436"/>
            <a:ext cx="1107519" cy="271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353823" y="4729774"/>
            <a:ext cx="833560" cy="361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200,000+ reachable, verified experts from 21 top universities: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source of our expert data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Reachable, verified experts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606040" y="1572768"/>
            <a:ext cx="20116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606040" y="230428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743200"/>
            <a:ext cx="393192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852928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Entry roles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691640" y="2852928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work AI takes over first, in every industry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255264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Top research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691640" y="3255264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hardest problems and judgment calls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48640" y="3657600"/>
            <a:ext cx="1097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Moving up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691640" y="3657600"/>
            <a:ext cx="278892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Members get promoted; the network climbs to senior levels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056632" y="2057400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Selected universities in the network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54132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5486400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Each domain leaves assets behind: </a:t>
            </a:r>
            <a:r>
              <a:rPr lang="en-US" sz="1200" b="0" i="0" u="none" strike="noStrike" cap="none">
                <a:solidFill>
                  <a:srgbClr val="33322F"/>
                </a:solidFill>
                <a:latin typeface="Newsreader"/>
                <a:ea typeface="Newsreader"/>
                <a:cs typeface="Newsreader"/>
                <a:sym typeface="Newsreader"/>
              </a:rPr>
              <a:t>experts → data and standards → environments and verifiers → failure library → </a:t>
            </a:r>
            <a:r>
              <a:rPr lang="en-US" sz="1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reuse in the next domain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5943600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Network coverage does not mean registration or delivery; university logos do not imply endorsement.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 size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By 2030 the training market reaches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a year</a:t>
            </a: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, 82x today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3941064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7790688" y="1883664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548640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 · what labs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2523744"/>
            <a:ext cx="339242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data and RL environments, 50+ vendors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2889504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three by revenue (Surge: 2024; others run-rate)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3182112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600200" y="3209544"/>
            <a:ext cx="1371600" cy="2194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3044952" y="31821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$2.0B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3584448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Surge AI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1600200" y="3611880"/>
            <a:ext cx="822960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2496312" y="3584448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$1.2B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3986784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Snorkel AI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1600200" y="4014216"/>
            <a:ext cx="257175" cy="219456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1930527" y="3986784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$375M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98264" y="1517904"/>
            <a:ext cx="33924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98264" y="1645920"/>
            <a:ext cx="33924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 · AI economy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98264" y="1901952"/>
            <a:ext cx="339242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~$7T /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98264" y="2542032"/>
            <a:ext cx="23865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 (McKinsey)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784848" y="254203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$2.9T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398264" y="290779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398264" y="2907792"/>
            <a:ext cx="23865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÷ US share of world GDP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784848" y="290779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25.7%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4398264" y="327355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4398264" y="3273552"/>
            <a:ext cx="23865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world, same penetration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6784848" y="327355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$11.3T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98264" y="3639312"/>
            <a:ext cx="3392424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98264" y="3639312"/>
            <a:ext cx="238658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half penetration outside US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784848" y="363931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$7.1T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8247888" y="1517904"/>
            <a:ext cx="3392424" cy="33832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8485632" y="1645920"/>
            <a:ext cx="29169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 · Our market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8485632" y="1901952"/>
            <a:ext cx="2916936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85632" y="2542032"/>
            <a:ext cx="19110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economy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396728" y="254203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$7T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8485632" y="2907792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8485632" y="2907792"/>
            <a:ext cx="19110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 training share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396728" y="290779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10%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8485632" y="3273552"/>
            <a:ext cx="2916936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8485632" y="3273552"/>
            <a:ext cx="1911096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 training market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0396728" y="327355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$700B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8485632" y="3730752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82x today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8485632" y="4261104"/>
            <a:ext cx="29169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is the AI economy’s R&amp;D budget. Big tech spends 10–15% of revenue on R&amp;D; we use 10%.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548640" y="51389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 we sell to labs. By 2030, to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whole AI economy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548640" y="5779008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Menlo Ventures (Jul 2026); Mercor gross run-rate (Jun 2026), Surge revenue (2024), Snorkel run-rate (Sep 2026); McKinsey (Nov 2025); IMF (Apr 2026); company filings.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share and non-US penetration are assumptions; see A2.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Competition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Others do one piece. We run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whole loop that makes AI better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591056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data platforms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38528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Mercor, Surge, AfterQuery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383280" y="1517904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demos and judgments, human-graded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286000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77240" y="235915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China peers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77240" y="2706624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UniPat, Humanlaya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83280" y="2286000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Mainly serve Chinese labs: expert data and evals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054096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273552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eval companies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3383280" y="3054096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Measure today’s level; the score is the product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3822192"/>
            <a:ext cx="6400800" cy="67665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77240" y="4041648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Labs in-house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383280" y="3822192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Build only for work they already know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4590288"/>
            <a:ext cx="6400800" cy="676656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663440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5010912"/>
            <a:ext cx="2514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Environments, data, grading, RSI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3383280" y="4590288"/>
            <a:ext cx="338328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One environment for data, grading and training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84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result feeds the next round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1517904"/>
            <a:ext cx="432511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Our edge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315200" y="1810512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315200" y="1901952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Own assets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315200" y="2267712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tooling, verifiers, a professional task library, accumulated failure cases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315200" y="2706624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798064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Stickiness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315200" y="3163824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Every model upgrade needs new tasks, new data, new held-out sets and verifier upkeep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7315200" y="3602736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315200" y="3694176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Speed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7315200" y="4059936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in 14 days; self-improving market making in 2 weeks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7315200" y="4498848"/>
            <a:ext cx="43251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7315200" y="4590288"/>
            <a:ext cx="4325112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Neutral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7315200" y="4956048"/>
            <a:ext cx="432511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Owned by no lab: US and Chinese labs can both buy with confidence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522976"/>
            <a:ext cx="11091672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China today  </a:t>
            </a: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Bloomberg, Alibaba led a $300M round in UniPat at a $2.5B valuation; Humanlaya closed a CDH-led Pre-A of several hundred million RMB;</a:t>
            </a:r>
            <a:br>
              <a:rPr lang="en-US" sz="1000"/>
            </a:b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Alibaba, ByteDance and DeepSeek already buy from both.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faster the hot spots change,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better for us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9961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Every wave was won by the fastest young team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86384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labeling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182112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64992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02736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998464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181344" y="1737360"/>
            <a:ext cx="2633472" cy="42062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19088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RL environments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814816" y="1737360"/>
            <a:ext cx="1828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997696" y="1737360"/>
            <a:ext cx="2633472" cy="42062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235440" y="1737360"/>
            <a:ext cx="226771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86384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Scale AI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86384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$29B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86384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Valuation, 2025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786384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86384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by Alexandr Wang at 19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86384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86384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MIT dropout, Y Combinator alum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786384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786384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Once the youngest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self-made billionaire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3364992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3602736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Mercor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02736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$10B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602736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Valuation, 2025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602736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602736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by three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high-school friends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3602736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3602736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self-made billionaires at 22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602736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602736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Valuation up ~40x in 13 months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181344" y="2267712"/>
            <a:ext cx="2633472" cy="31089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419088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AfterQuery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6419088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$3.2B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6419088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Valuation, 18 months after YC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6419088" y="3822192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6419088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by two students around 21</a:t>
            </a:r>
          </a:p>
        </p:txBody>
      </p:sp>
      <p:sp>
        <p:nvSpPr>
          <p:cNvPr id="5043" name="SimReal 5043"/>
          <p:cNvSpPr/>
          <p:nvPr/>
        </p:nvSpPr>
        <p:spPr>
          <a:xfrm>
            <a:off x="6419088" y="4315968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4" name="SimReal 5044"/>
          <p:cNvSpPr txBox="1"/>
          <p:nvPr/>
        </p:nvSpPr>
        <p:spPr>
          <a:xfrm>
            <a:off x="6419088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founder interned at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Citadel Securities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6419088" y="4809744"/>
            <a:ext cx="21579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6419088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Fastest unicorn in YC history</a:t>
            </a:r>
          </a:p>
        </p:txBody>
      </p:sp>
      <p:sp>
        <p:nvSpPr>
          <p:cNvPr id="5047" name="SimReal 5047"/>
          <p:cNvSpPr/>
          <p:nvPr/>
        </p:nvSpPr>
        <p:spPr>
          <a:xfrm>
            <a:off x="8997696" y="2267712"/>
            <a:ext cx="2633472" cy="310896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8" name="SimReal 5048"/>
          <p:cNvSpPr txBox="1"/>
          <p:nvPr/>
        </p:nvSpPr>
        <p:spPr>
          <a:xfrm>
            <a:off x="9235440" y="2414016"/>
            <a:ext cx="21579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9235440" y="2743200"/>
            <a:ext cx="215798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14 days</a:t>
            </a:r>
          </a:p>
        </p:txBody>
      </p:sp>
      <p:sp>
        <p:nvSpPr>
          <p:cNvPr id="5050" name="SimReal 5050"/>
          <p:cNvSpPr txBox="1"/>
          <p:nvPr/>
        </p:nvSpPr>
        <p:spPr>
          <a:xfrm>
            <a:off x="9235440" y="3383280"/>
            <a:ext cx="215798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shipped</a:t>
            </a:r>
          </a:p>
        </p:txBody>
      </p:sp>
      <p:sp>
        <p:nvSpPr>
          <p:cNvPr id="5051" name="SimReal 5051"/>
          <p:cNvSpPr/>
          <p:nvPr/>
        </p:nvSpPr>
        <p:spPr>
          <a:xfrm>
            <a:off x="9235440" y="3822192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2" name="SimReal 5052"/>
          <p:cNvSpPr txBox="1"/>
          <p:nvPr/>
        </p:nvSpPr>
        <p:spPr>
          <a:xfrm>
            <a:off x="9235440" y="3877056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Quant founders, born 2005</a:t>
            </a:r>
          </a:p>
        </p:txBody>
      </p:sp>
      <p:sp>
        <p:nvSpPr>
          <p:cNvPr id="5053" name="SimReal 5053"/>
          <p:cNvSpPr/>
          <p:nvPr/>
        </p:nvSpPr>
        <p:spPr>
          <a:xfrm>
            <a:off x="9235440" y="4315968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4" name="SimReal 5054"/>
          <p:cNvSpPr txBox="1"/>
          <p:nvPr/>
        </p:nvSpPr>
        <p:spPr>
          <a:xfrm>
            <a:off x="9235440" y="4370832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Final year at Cambridge, LSE, Duke</a:t>
            </a:r>
          </a:p>
        </p:txBody>
      </p:sp>
      <p:sp>
        <p:nvSpPr>
          <p:cNvPr id="5055" name="SimReal 5055"/>
          <p:cNvSpPr/>
          <p:nvPr/>
        </p:nvSpPr>
        <p:spPr>
          <a:xfrm>
            <a:off x="9235440" y="4809744"/>
            <a:ext cx="21579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6" name="SimReal 5056"/>
          <p:cNvSpPr txBox="1"/>
          <p:nvPr/>
        </p:nvSpPr>
        <p:spPr>
          <a:xfrm>
            <a:off x="9235440" y="4864608"/>
            <a:ext cx="215798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Optiver, Millennium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548640" y="5541264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Bet on us, and you bet on </a:t>
            </a:r>
            <a:r>
              <a:rPr lang="en-US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every paradigm shift in AI</a:t>
            </a:r>
            <a:r>
              <a:rPr lang="en-US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RMB 40M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at RMB 500M post-money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601468" cy="10241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86384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86384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RMB 40M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86384" y="228600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Paid in USD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78708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616452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Dilution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616452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8%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08776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446520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Pre-money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446520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RMB 460M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38844" y="1517904"/>
            <a:ext cx="2601468" cy="10241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276588" y="1645920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Post-money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276588" y="1847088"/>
            <a:ext cx="2144268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RMB 500M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2688336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This round   </a:t>
            </a:r>
            <a:r>
              <a:rPr lang="en-US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Environments: pilot → license → renewals and updates; AI data delivered at scale; RSI live in trading and event prediction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323697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Valuation references: top investors have already priced this space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86384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China · UniPat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86384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$2.5B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86384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Reported valuation (Sep 2026)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86384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Alibaba led; Tencent, HongShan joined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3378708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3616452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China · Humanlaya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3616452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Several 100M RMB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3616452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Pre-A round size (Sep 2026)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616452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CDH led; HongShan and others joined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6208776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6446520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Global · Applied Compute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6446520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$100M → ~$3B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6446520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Seed post → 14 months later (in talks)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446520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$20M seed round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9038844" y="3493008"/>
            <a:ext cx="2601468" cy="13716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9276588" y="3621024"/>
            <a:ext cx="214426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Global · AfterQuery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276588" y="3858768"/>
            <a:ext cx="214426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$300M → $3.2B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276588" y="4261104"/>
            <a:ext cx="2144268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Series A → 5 months later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276588" y="4498848"/>
            <a:ext cx="2144268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Series A at $100M run-rate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065776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HongShan, CDH, Capital Today, BAI, Alibaba and Tencent are already in: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category is validated</a:t>
            </a: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59612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UniPat: reported valuation; Applied Compute ~$3B: valuation in talks; Humanlaya: round size; others post-money. Sources in A2.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Team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Solution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en-US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 </a:t>
            </a:r>
            <a:r>
              <a:rPr lang="en-US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Raise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Use of funds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Two engines: revenue earns today’s money; </a:t>
            </a:r>
            <a:r>
              <a:rPr lang="en-US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 wins every industry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5408676" cy="41148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  Revenue engine  ·  RMB 20M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&amp; data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Build once, license to many labs; data billed by volume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41248" y="294436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41248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7M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1755648" y="2944368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127248" y="2944368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Batch-build environments by industry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41248" y="3255264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1248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4M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1755648" y="3255264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127248" y="3255264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 trajectories, expert and eval data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41248" y="3566160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1248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6M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755648" y="3566160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3127248" y="3566160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Integration, acceptance, updates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1248" y="3877056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248" y="3877056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RMB 3M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755648" y="3877056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Sales &amp; ops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3127248" y="3877056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and enterprises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41248" y="4187952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41248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 revenue </a:t>
            </a: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=</a:t>
            </a: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environments </a:t>
            </a: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licenses </a:t>
            </a: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×</a:t>
            </a:r>
            <a:r>
              <a:rPr lang="en-US" sz="12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price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price $20K–$300K (Epoch AI)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41248" y="4956048"/>
            <a:ext cx="482346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4124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 months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4124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First paid pilot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44906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6 months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244906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Licenses, renewals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4056888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months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4056888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Update contracts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31636" y="1517904"/>
            <a:ext cx="5408676" cy="41148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524244" y="1737360"/>
            <a:ext cx="48234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02  RSI engine  ·  RMB 20M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524244" y="1975104"/>
            <a:ext cx="48234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6524244" y="2542032"/>
            <a:ext cx="48234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whole AI economy: in every industry, AI that improves itself</a:t>
            </a:r>
          </a:p>
        </p:txBody>
      </p:sp>
      <p:sp>
        <p:nvSpPr>
          <p:cNvPr id="5038" name="SimReal 5038"/>
          <p:cNvSpPr/>
          <p:nvPr/>
        </p:nvSpPr>
        <p:spPr>
          <a:xfrm>
            <a:off x="6524244" y="294436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9" name="SimReal 5039"/>
          <p:cNvSpPr txBox="1"/>
          <p:nvPr/>
        </p:nvSpPr>
        <p:spPr>
          <a:xfrm>
            <a:off x="6524244" y="2944368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RMB 9M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7438644" y="2944368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Compute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810244" y="2944368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Models train themselves, each round stronger</a:t>
            </a:r>
          </a:p>
        </p:txBody>
      </p:sp>
      <p:sp>
        <p:nvSpPr>
          <p:cNvPr id="5042" name="SimReal 5042"/>
          <p:cNvSpPr/>
          <p:nvPr/>
        </p:nvSpPr>
        <p:spPr>
          <a:xfrm>
            <a:off x="6524244" y="3255264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3" name="SimReal 5043"/>
          <p:cNvSpPr txBox="1"/>
          <p:nvPr/>
        </p:nvSpPr>
        <p:spPr>
          <a:xfrm>
            <a:off x="6524244" y="3255264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RMB 7M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438644" y="3255264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8810244" y="3255264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trading to 10 industries</a:t>
            </a:r>
          </a:p>
        </p:txBody>
      </p:sp>
      <p:sp>
        <p:nvSpPr>
          <p:cNvPr id="5046" name="SimReal 5046"/>
          <p:cNvSpPr/>
          <p:nvPr/>
        </p:nvSpPr>
        <p:spPr>
          <a:xfrm>
            <a:off x="6524244" y="3566160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7" name="SimReal 5047"/>
          <p:cNvSpPr txBox="1"/>
          <p:nvPr/>
        </p:nvSpPr>
        <p:spPr>
          <a:xfrm>
            <a:off x="6524244" y="3566160"/>
            <a:ext cx="8686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RMB 4M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438644" y="3566160"/>
            <a:ext cx="132588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Live trading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8810244" y="3566160"/>
            <a:ext cx="25374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money and settlement; compliance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6524244" y="3877056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6524244" y="4261104"/>
            <a:ext cx="48234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Trading RSI  ·  Prediction RSI  ·  10 industries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self-improving environment for every industry, in parallel</a:t>
            </a:r>
          </a:p>
        </p:txBody>
      </p:sp>
      <p:sp>
        <p:nvSpPr>
          <p:cNvPr id="5052" name="SimReal 5052"/>
          <p:cNvSpPr/>
          <p:nvPr/>
        </p:nvSpPr>
        <p:spPr>
          <a:xfrm>
            <a:off x="6524244" y="4956048"/>
            <a:ext cx="482346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3" name="SimReal 5053"/>
          <p:cNvSpPr txBox="1"/>
          <p:nvPr/>
        </p:nvSpPr>
        <p:spPr>
          <a:xfrm>
            <a:off x="652424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3 months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652424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Trading RSI live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813206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6 months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813206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Prediction RSI live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9739884" y="5010912"/>
            <a:ext cx="15163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12 months</a:t>
            </a:r>
          </a:p>
        </p:txBody>
      </p:sp>
      <p:sp>
        <p:nvSpPr>
          <p:cNvPr id="5058" name="SimReal 5058"/>
          <p:cNvSpPr txBox="1"/>
          <p:nvPr/>
        </p:nvSpPr>
        <p:spPr>
          <a:xfrm>
            <a:off x="9739884" y="5212080"/>
            <a:ext cx="156210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Across 10 industries</a:t>
            </a:r>
          </a:p>
        </p:txBody>
      </p:sp>
      <p:sp>
        <p:nvSpPr>
          <p:cNvPr id="5059" name="SimReal 5059"/>
          <p:cNvSpPr txBox="1"/>
          <p:nvPr/>
        </p:nvSpPr>
        <p:spPr>
          <a:xfrm>
            <a:off x="548640" y="5760720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Milestones are this round’s targets.</a:t>
            </a:r>
          </a:p>
        </p:txBody>
      </p:sp>
      <p:sp>
        <p:nvSpPr>
          <p:cNvPr id="5060" name="SimReal 5060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61" name="SimReal 506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" name="Google Shape;615;p20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7160"/>
            <a:ext cx="1737360" cy="164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20" descr="orbit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63840" y="914400"/>
            <a:ext cx="4325112" cy="5852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20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1572768"/>
            <a:ext cx="365760" cy="452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20" descr="SimReal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2194560"/>
            <a:ext cx="768096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industry’s best AI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come from our worlds.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4023360"/>
            <a:ext cx="713232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worlds live: trading, AI research, event prediction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4425696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  ·  The data and self-improvement engine of the AI economy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5074920"/>
            <a:ext cx="51206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521208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  ·  simreal.co  ·  x.com/simrealhq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4" name="Google Shape;654;p21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  <a:r>
              <a:rPr lang="en-US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Appendix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Xitadel: what we tested and how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55448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55448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103120" y="155448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Replays real trading days and order books with data licensed through IMC Trading; the market settles every trade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12140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21408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Model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2103120" y="2121408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Open-source Qwen3.8-27B, before vs. after training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268833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548640" y="2688336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103120" y="2688336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Real trading days the model had never seen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32552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548640" y="3255264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Result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103120" y="3255264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12% better trading than the base model, replicated across independent runs (controlled experiment)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8221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548640" y="3822192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benchmark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2103120" y="3822192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 public preview: human reference 80; best frontier model 77.28 (GPT 6); no model above the human line yet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43891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4389120"/>
            <a:ext cx="1463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Diligence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03120" y="4389120"/>
            <a:ext cx="95371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Run logs, metric definitions and scripts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495604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2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  <a:r>
              <a:rPr lang="en-US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Appendix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Sources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Companies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TechCrunch (Feb 2025, $75M); CEO (Sep 2025, $500M); Sacra (Dec 2025, $760M); Mercor (early 2026, $1B); Dealroom (Jun 2026, $2B). All gross; experts take 60–70% (Bloomberg)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Series A $250M (Sep 2024), Series B $2B (Feb 2025), Series C $10B (Oct 2025); a $20B round in early talks (Bloomberg, Jul 9, 2026)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Surge AI: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2024 revenue $1.2B (TechCrunch, Forbes)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 and TechCrunch, Sep 22, 2026 ($350M raised at a $3.5B valuation; $375M run-rate, up 18x in a year)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AfterQuery: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Feb 2025; Forbes, Sep 1, 2026 (18 months after YC, $3.2B valuation); Business Wire (Apr 2026, Series A at $300M, $100M run-rate); YC profile (co-founder interned at Citadel Securities)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AI: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in 2016 by Alexandr Wang, then 19 (Forbes); Meta bought 49% for $14.3B, ~$29B valuation (Reuters, Jun 2025); nearly half of new training projects involve RL environments (Scale AI blog, Feb 2026)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UniPat: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Bloomberg, Sep 10, 2026 (Alibaba-led $300M round, reported $2.5B valuation, with Tencent and HongShan; terms may change; Alibaba, ByteDance, DeepSeek and others buy from UniPat and Humanlaya)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Humanlaya: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Founded Oct 2025; Pre-A of several hundred million RMB on Sep 9, 2026, led by CDH with HongShan, Capital Today and BAI (Jiemian, Eastmoney)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6355080" y="1481328"/>
            <a:ext cx="52852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and research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355080" y="1755648"/>
            <a:ext cx="528523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355080" y="1865376"/>
            <a:ext cx="5285232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data spend today: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Menlo Ventures (Jul 2026): 50+ vendors, ~$8.5B combined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 AI economy: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McKinsey, Agents, robots, and us (Nov 2025): US ~$2.9T; IMF WEO (Apr 2026): US GDP $32.4T, world $126.3T; half the US penetration assumed elsewhere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market: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2030 AI economy × 10%; 10% is the low end of big tech’s 10–15% R&amp;D-to-revenue ratio; an assumption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agent market: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Precedence Research ($7.92B in 2025; 45.82% CAGR); 2028 and 2032 extrapolated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RL environment pricing: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AI, An FAQ on RL environments (Jan 2026)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Public text stock: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Epoch AI, Will we run out of data? (2024): exhausted 2026–2032 (80% confidence interval)</a:t>
            </a:r>
          </a:p>
          <a:p>
            <a:pPr marL="0" marR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8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Rounds and valuations: </a:t>
            </a:r>
            <a:r>
              <a:rPr lang="en-US" sz="8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Applied Compute: Upstarts (Jun 2025, $20M seed at $100M post); The Information (Aug 2026, ~$3B in talks)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" name="Google Shape;716;p2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  <a:r>
              <a:rPr lang="en-US" sz="1100" b="1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 Appendix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Glossary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Training environment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50545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system where AI does real work again and again and learns from the results; an RL environment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3390138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3390138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390138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 trajectory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3390138" y="250545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full record of AI doing a task: every action, the world’s response, the result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6231636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231636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Real feedback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231636" y="250545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world’s reaction to AI’s actions: P&amp;L, the books, whether code runs, whether events happen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9073134" y="164592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9073134" y="177393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9073134" y="202996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Self-improvement (RSI)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9073134" y="250545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trains on its own results in real environments, stronger each round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548640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Held-out set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48640" y="442569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Test-only tasks, never used in training, so models can’t memorize answers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3390138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3390138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3390138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Red-teaming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3390138" y="442569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Simulated cheating and attacks before launch, to find and fix grading loopholes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31636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231636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231636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Controlled experiment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231636" y="442569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Change one thing (training in Xitadel or not) and compare before and after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9073134" y="3566160"/>
            <a:ext cx="2567178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9073134" y="3694176"/>
            <a:ext cx="256717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9073134" y="3950208"/>
            <a:ext cx="2567178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Gross run-rate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073134" y="4425696"/>
            <a:ext cx="2567178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Current revenue annualized, including payouts to experts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37160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September 2026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