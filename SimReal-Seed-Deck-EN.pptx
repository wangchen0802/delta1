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embeddedFontLst>
    <p:embeddedFont>
      <p:font typeface="Newsreader" pitchFamily="18" charset="0"/>
      <p:regular r:id="rIdSimRealFont1"/>
      <p:italic r:id="rIdSimRealFont2"/>
    </p:embeddedFont>
    <p:embeddedFont>
      <p:font typeface="Instrument Sans" pitchFamily="34" charset="0"/>
      <p:regular r:id="rIdSimRealFont3"/>
      <p:bold r:id="rIdSimRealFont4"/>
    </p:embeddedFont>
    <p:embeddedFont>
      <p:font typeface="IBM Plex Mono" pitchFamily="49" charset="0"/>
      <p:regular r:id="rIdSimRealFont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SimRealFont1" Type="http://schemas.openxmlformats.org/officeDocument/2006/relationships/font" Target="fonts/font1.fntdata"/><Relationship Id="rIdSimRealFont2" Type="http://schemas.openxmlformats.org/officeDocument/2006/relationships/font" Target="fonts/font2.fntdata"/><Relationship Id="rIdSimRealFont3" Type="http://schemas.openxmlformats.org/officeDocument/2006/relationships/font" Target="fonts/font3.fntdata"/><Relationship Id="rIdSimRealFont4" Type="http://schemas.openxmlformats.org/officeDocument/2006/relationships/font" Target="fonts/font4.fntdata"/><Relationship Id="rIdSimRealFont5" Type="http://schemas.openxmlformats.org/officeDocument/2006/relationships/font" Target="fonts/font5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2"/>
          <c:w val="1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Mercor gross run-rate (US$M)</c:v>
                </c:pt>
              </c:strCache>
            </c:strRef>
          </c:tx>
          <c:spPr>
            <a:solidFill>
              <a:srgbClr val="C4C0B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$500M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$760M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$1B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$2B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Feb ’25</c:v>
                </c:pt>
                <c:pt idx="1">
                  <c:v>Sep ’25</c:v>
                </c:pt>
                <c:pt idx="2">
                  <c:v>Dec ’25</c:v>
                </c:pt>
                <c:pt idx="3">
                  <c:v>Early ’26</c:v>
                </c:pt>
                <c:pt idx="4">
                  <c:v>Jun ’26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500</c:v>
                </c:pt>
                <c:pt idx="2">
                  <c:v>760</c:v>
                </c:pt>
                <c:pt idx="3">
                  <c:v>1000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4C0B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Scale comparison (US$B)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~$111B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~$25B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$7.9B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2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$2B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AI agents · 2032E</c:v>
                </c:pt>
                <c:pt idx="1">
                  <c:v>AI agents · 2028E</c:v>
                </c:pt>
                <c:pt idx="2">
                  <c:v>AI agents · 2025</c:v>
                </c:pt>
                <c:pt idx="3">
                  <c:v>Mercor · Jun ’26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111.03</c:v>
                </c:pt>
                <c:pt idx="1">
                  <c:v>24.56</c:v>
                </c:pt>
                <c:pt idx="2">
                  <c:v>7.92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Trading performance index (base model = 100)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112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100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After Xitadel</c:v>
                </c:pt>
                <c:pt idx="1">
                  <c:v>Base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112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Leading AI training-data companies, revenue (US$B)</c:v>
                </c:pt>
              </c:strCache>
            </c:strRef>
          </c:tx>
          <c:spPr>
            <a:solidFill>
              <a:srgbClr val="C4C0B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$0.1B</a:t>
                    </a: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Instrument Sans"/>
                        <a:ea typeface="Noto Sans CJK SC"/>
                        <a:cs typeface="Instrument Sans"/>
                      </a:rPr>
                      <a:t>+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$0.375B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$1.2B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$2.0B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AfterQuery</c:v>
                </c:pt>
                <c:pt idx="1">
                  <c:v>Snorkel AI</c:v>
                </c:pt>
                <c:pt idx="2">
                  <c:v>Surge AI</c:v>
                </c:pt>
                <c:pt idx="3">
                  <c:v>Mercor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0.375</c:v>
                </c:pt>
                <c:pt idx="2">
                  <c:v>1.2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6"/>
          <c:w val="1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agent market (US$B)</c:v>
                </c:pt>
              </c:strCache>
            </c:strRef>
          </c:tx>
          <c:spPr>
            <a:solidFill>
              <a:srgbClr val="C4C0B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$7.9B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$11.6B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$16.8B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~$25B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$35.8B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$52.2B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$76.1B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9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~$111B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2025</c:v>
                </c:pt>
                <c:pt idx="1">
                  <c:v>26</c:v>
                </c:pt>
                <c:pt idx="2">
                  <c:v>27</c:v>
                </c:pt>
                <c:pt idx="3">
                  <c:v>2028E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2032E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7.92</c:v>
                </c:pt>
                <c:pt idx="1">
                  <c:v>11.55</c:v>
                </c:pt>
                <c:pt idx="2">
                  <c:v>16.84</c:v>
                </c:pt>
                <c:pt idx="3">
                  <c:v>24.56</c:v>
                </c:pt>
                <c:pt idx="4">
                  <c:v>35.81</c:v>
                </c:pt>
                <c:pt idx="5">
                  <c:v>52.22</c:v>
                </c:pt>
                <c:pt idx="6">
                  <c:v>76.14</c:v>
                </c:pt>
                <c:pt idx="7">
                  <c:v>111.03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4C0B7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 and training environments</c:v>
                </c:pt>
              </c:strCache>
            </c:strRef>
          </c:tx>
          <c:spPr>
            <a:solidFill>
              <a:srgbClr val="11111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50</a:t>
                    </a: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Instrument Sans"/>
                        <a:ea typeface="Noto Sans CJK SC"/>
                        <a:cs typeface="Instrument Sans"/>
                      </a:rPr>
                      <a:t>+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200</a:t>
                    </a: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Instrument Sans"/>
                        <a:ea typeface="Noto Sans CJK SC"/>
                        <a:cs typeface="Instrument Sans"/>
                      </a:rPr>
                      <a:t>+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Today</c:v>
                </c:pt>
                <c:pt idx="1">
                  <c:v>Month 3</c:v>
                </c:pt>
                <c:pt idx="2">
                  <c:v>Month 12</c:v>
                </c:pt>
                <c:pt idx="3">
                  <c:v>Month 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0</c:v>
                </c:pt>
                <c:pt idx="2">
                  <c:v>50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Xitadel public preview score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77.28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80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Best model (GPT 6)</c:v>
                </c:pt>
                <c:pt idx="1">
                  <c:v>Human reference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77.28</c:v>
                </c:pt>
                <c:pt idx="1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0"/>
            <a:ext cx="4507992" cy="4114800"/>
          </a:xfrm>
          <a:prstGeom prst="rect">
            <a:avLst/>
          </a:prstGeom>
        </p:spPr>
      </p:pic>
      <p:pic>
        <p:nvPicPr>
          <p:cNvPr id="3" name="Image 1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50392" cy="228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b="1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The data and self-improvement engine of the AI economy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810512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altLang="en-US" sz="5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Every industry’s best AI</a:t>
            </a:r>
            <a:endParaRPr lang="en-US" sz="5400" dirty="0"/>
          </a:p>
          <a:p>
            <a:pPr indent="0" marL="0">
              <a:lnSpc>
                <a:spcPts val="6600"/>
              </a:lnSpc>
              <a:buNone/>
            </a:pPr>
            <a:r>
              <a:rPr lang="en-US" altLang="en-US" sz="5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is made in our worlds.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758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Business plan  ·  Seed round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548640" y="4681728"/>
            <a:ext cx="11094415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Founded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10 September 2026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46778" y="4681728"/>
            <a:ext cx="0" cy="786384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29658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This round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429658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$20M (about RMB 150M)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44917" y="4681728"/>
            <a:ext cx="0" cy="786384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27797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Contact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127797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business@simreal.co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5468112"/>
            <a:ext cx="110944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worlds for real work, where AI learns from real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078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5681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worlds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We build training environments for AI labs and enterprises: AI does real work, is graded on real results, then trains on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1572768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70078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Done so far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95681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 products in 14 days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56032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14 days since founding, no outside capital, 7 products shipped. Our flagship, Xitadel, already runs self-improvement in trading.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8757" y="1572768"/>
            <a:ext cx="3454298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8757" y="170078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Key evidence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88757" y="195681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12%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56032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After training in Xitadel, open-source Qwen3.8-27B traded 12% better on real market data it had never seen, repeated across independent runs (controlled experiment).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7705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Average age 21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Four quants from Cambridge, LSE and Duke, with experience at Jane Street, Citadel, D. E. Shaw, Millennium and Optiver.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8698" y="3493008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8698" y="362102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Market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368698" y="387705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~$111B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68698" y="448056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Leading AI training-data companies already earn billions; the AI agent market is projected to grow from $7.9B in 2025 to ~$111B by 2032.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8757" y="3493008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757" y="3621024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This round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88757" y="3877056"/>
            <a:ext cx="34542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$20M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88757" y="4480560"/>
            <a:ext cx="345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 $20M seed round (about RMB 150M) to build 200+ training environments across 30+ industries within 24 months.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8640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Whoever owns the best </a:t>
            </a:r>
            <a:r>
              <a:rPr lang="en-US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world</a:t>
            </a: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owns the best AI in its industry. We have built one.</a:t>
            </a:r>
            <a:endParaRPr lang="en-US" sz="2000" dirty="0"/>
          </a:p>
        </p:txBody>
      </p:sp>
      <p:pic>
        <p:nvPicPr>
          <p:cNvPr id="29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Olympiads and top universities  </a:t>
            </a:r>
            <a:r>
              <a:rPr lang="en-US" altLang="en-US" sz="28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Wall Street’s toughest trading desks  </a:t>
            </a:r>
            <a:r>
              <a:rPr lang="en-US" altLang="en-US" sz="28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so we know the gap between passing a test and doing the job.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110944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5" name="Image 0" descr="jane-street-col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340" y="2018148"/>
            <a:ext cx="757668" cy="297959"/>
          </a:xfrm>
          <a:prstGeom prst="rect">
            <a:avLst/>
          </a:prstGeom>
        </p:spPr>
      </p:pic>
      <p:pic>
        <p:nvPicPr>
          <p:cNvPr id="6" name="Image 1" descr="citadel-col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145" y="2076405"/>
            <a:ext cx="1244199" cy="181446"/>
          </a:xfrm>
          <a:prstGeom prst="rect">
            <a:avLst/>
          </a:prstGeom>
        </p:spPr>
      </p:pic>
      <p:pic>
        <p:nvPicPr>
          <p:cNvPr id="7" name="Image 2" descr="de-shaw-col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61" y="2039895"/>
            <a:ext cx="978104" cy="254466"/>
          </a:xfrm>
          <a:prstGeom prst="rect">
            <a:avLst/>
          </a:prstGeom>
        </p:spPr>
      </p:pic>
      <p:pic>
        <p:nvPicPr>
          <p:cNvPr id="8" name="Image 3" descr="millennium-col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27" y="2071672"/>
            <a:ext cx="1182510" cy="190911"/>
          </a:xfrm>
          <a:prstGeom prst="rect">
            <a:avLst/>
          </a:prstGeom>
        </p:spPr>
      </p:pic>
      <p:pic>
        <p:nvPicPr>
          <p:cNvPr id="9" name="Image 4" descr="optiver-col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400" y="2050532"/>
            <a:ext cx="968103" cy="233193"/>
          </a:xfrm>
          <a:prstGeom prst="rect">
            <a:avLst/>
          </a:prstGeom>
        </p:spPr>
      </p:pic>
      <p:pic>
        <p:nvPicPr>
          <p:cNvPr id="10" name="Image 5" descr="cambridge-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547" y="1887151"/>
            <a:ext cx="629948" cy="559953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548640" y="2743200"/>
            <a:ext cx="263644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768096" y="2871216"/>
            <a:ext cx="2197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Charles</a:t>
            </a:r>
            <a:r>
              <a:rPr lang="en-US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CEO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768096" y="3474720"/>
            <a:ext cx="21975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First employee at United Stables: took its U stablecoin from zero to $1.4B, listed on Binance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Only intern on HSBC’s HKD stablecoin issuance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Hedge fund intern at Citadel LLC</a:t>
            </a:r>
            <a:endParaRPr lang="en-US" sz="1100" dirty="0"/>
          </a:p>
        </p:txBody>
      </p:sp>
      <p:sp>
        <p:nvSpPr>
          <p:cNvPr id="14" name="Shape 6"/>
          <p:cNvSpPr/>
          <p:nvPr/>
        </p:nvSpPr>
        <p:spPr>
          <a:xfrm>
            <a:off x="768096" y="5029200"/>
            <a:ext cx="21975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8096" y="5102352"/>
            <a:ext cx="2197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 Mathematics  ·  SCIE Shenzhen</a:t>
            </a:r>
            <a:endParaRPr lang="en-US" sz="10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USAMO qualifier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3367964" y="2743200"/>
            <a:ext cx="263644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3587420" y="2871216"/>
            <a:ext cx="2197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Henry</a:t>
            </a:r>
            <a:r>
              <a:rPr lang="en-US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CTO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3587420" y="3474720"/>
            <a:ext cx="21975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ML research with Cambridge statistics professor Po-Ling Loh (IMS Fellow, 2025 Ethel Newbold Prize)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AI/ML research at a Cambridge research centre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Quant internships at Jane Street and D. E. Shaw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587420" y="5029200"/>
            <a:ext cx="21975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3587420" y="5102352"/>
            <a:ext cx="2197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Cambridge Mathematics (scholar)</a:t>
            </a:r>
            <a:endParaRPr lang="en-US" sz="10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SCIE Shenzhen</a:t>
            </a:r>
            <a:endParaRPr lang="en-US" sz="10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STEP top 30 worldwide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6187288" y="2743200"/>
            <a:ext cx="263644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6406744" y="2871216"/>
            <a:ext cx="2197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Amaris</a:t>
            </a:r>
            <a:r>
              <a:rPr lang="en-US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COO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6406744" y="3474720"/>
            <a:ext cx="21975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Data scientist at Millennium Hong Kong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First-ever graduate hire on Millennium’s alt-data team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Published author at 17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406744" y="5029200"/>
            <a:ext cx="21975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406744" y="5102352"/>
            <a:ext cx="2197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Duke Mathematics &amp; Statistics</a:t>
            </a:r>
            <a:endParaRPr lang="en-US" sz="10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YK Pao School, Shanghai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9006611" y="2743200"/>
            <a:ext cx="263644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9226067" y="2871216"/>
            <a:ext cx="2197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James</a:t>
            </a:r>
            <a:r>
              <a:rPr lang="en-US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CPO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9226067" y="3474720"/>
            <a:ext cx="21975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Quant trading intern at Optiver (Amsterdam)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Equity research at Fidelity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226067" y="5029200"/>
            <a:ext cx="21975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226067" y="5102352"/>
            <a:ext cx="2197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 Mathematics  ·  SCIE Shenzhen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76072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founders of Scale AI, Mercor and AfterQuery all started around 20.</a:t>
            </a:r>
            <a:endParaRPr lang="en-US" sz="2000" dirty="0"/>
          </a:p>
        </p:txBody>
      </p:sp>
      <p:pic>
        <p:nvPicPr>
          <p:cNvPr id="32" name="Image 6" descr="SimRe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4" name="Text 2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Why now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AI’s next leap needs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feedback from real work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, not more 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078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2026–2032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677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Public human text is projected to run out in this window (Epoch AI, 80% confidence interval).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906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&gt;$1B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What Anthropic reportedly discussed spending on training environments within a year (Sep 2025).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52544"/>
            <a:ext cx="484632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8056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27×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47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Growth in Mercor’s gross run-rate revenue: from $75M to $2B in 16 months (including payouts to experts).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572768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 gross run-rate</a:t>
            </a:r>
            <a:r>
              <a:rPr lang="en-US" altLang="en-US" sz="1200" b="1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16 months, 27×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989320" y="1847088"/>
          <a:ext cx="5653735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989320" y="3703320"/>
            <a:ext cx="565373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89320" y="3803904"/>
            <a:ext cx="5653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Today’s fastest-growing data company is a sliver of the market it serves.</a:t>
            </a:r>
            <a:endParaRPr lang="en-US" sz="15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5989320" y="4169664"/>
          <a:ext cx="5653735" cy="17007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9436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Epoch AI (2024); The Information via TechCrunch (Sep 2025); Mercor: TechCrunch, Sacra, Dealroom (gross); AI agents: Precedence Research, $7.9B in 2025, 45.8% CAGR.</a:t>
            </a:r>
            <a:endParaRPr lang="en-US" sz="900" dirty="0"/>
          </a:p>
        </p:txBody>
      </p:sp>
      <p:pic>
        <p:nvPicPr>
          <p:cNvPr id="19" name="Image 0" descr="SimRe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that aces the test still can’t be trusted with the real job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Training tasks have answer keys; real work doesn’t. So companies can’t yet hand AI the real job.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874520"/>
            <a:ext cx="5333695" cy="3154680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Passes the test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Fails the job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577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331720"/>
            <a:ext cx="5333695" cy="0"/>
          </a:xfrm>
          <a:prstGeom prst="line">
            <a:avLst/>
          </a:prstGeom>
          <a:noFill/>
          <a:ln w="9525">
            <a:solidFill>
              <a:srgbClr val="D9D6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3172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Writes a strategy that reads like a pro’s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0" y="2779776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583680" y="2331720"/>
            <a:ext cx="4876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Loses money on a real market day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577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227832"/>
            <a:ext cx="5333695" cy="0"/>
          </a:xfrm>
          <a:prstGeom prst="line">
            <a:avLst/>
          </a:prstGeom>
          <a:noFill/>
          <a:ln w="9525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10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Finance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227832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Produces books that look finished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0" y="3675888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583680" y="3227832"/>
            <a:ext cx="4876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numbers don’t balance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577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123944"/>
            <a:ext cx="5333695" cy="0"/>
          </a:xfrm>
          <a:prstGeom prst="line">
            <a:avLst/>
          </a:prstGeom>
          <a:noFill/>
          <a:ln w="9525">
            <a:solidFill>
              <a:srgbClr val="D9D6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06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123944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Ships code that passes today’s tests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0" y="4572000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583680" y="4123944"/>
            <a:ext cx="4876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Breaks at the next release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more </a:t>
            </a:r>
            <a:r>
              <a:rPr lang="en-US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autonomous</a:t>
            </a: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the agent, the costlier a bad grader: companies won’t deploy it, labs waste compute.</a:t>
            </a:r>
            <a:endParaRPr lang="en-US" sz="2000" dirty="0"/>
          </a:p>
        </p:txBody>
      </p:sp>
      <p:pic>
        <p:nvPicPr>
          <p:cNvPr id="27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The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Every leap in AI has come from an upgrade in its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feedback signal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that aces the test can’t be trusted with real work: real work has no answer key.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63644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29968"/>
            <a:ext cx="216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Gen 1    </a:t>
            </a: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Internet data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Imitation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7121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Models learn to copy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" y="334670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474720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that can talk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67964" y="1810512"/>
            <a:ext cx="263644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5708" y="2029968"/>
            <a:ext cx="216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Gen 2    </a:t>
            </a: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Human preference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05708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Alignment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605708" y="287121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Humans 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05708" y="334670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5708" y="3474720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Helpful assistants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87288" y="1810512"/>
            <a:ext cx="263644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5032" y="2029968"/>
            <a:ext cx="216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Gen 3    </a:t>
            </a:r>
            <a:r>
              <a:rPr lang="en-US" altLang="en-US" sz="1000" b="1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Verifiable answers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25032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Verification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425032" y="287121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Models solve by the rules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25032" y="334670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5032" y="3474720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Reasoning models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06611" y="1810512"/>
            <a:ext cx="2636444" cy="25603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355" y="2029968"/>
            <a:ext cx="216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Gen 4    </a:t>
            </a:r>
            <a:r>
              <a:rPr lang="en-US" altLang="en-US" sz="1000" b="1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Real-world feedback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244355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Practice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9244355" y="287121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enters the real world and the real economy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44355" y="3346704"/>
            <a:ext cx="2160956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44355" y="3474720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Autonomy and self-improvement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44355" y="4023360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4355" y="40233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Just beginning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68172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AI’s next evolution is rooted in the real world.</a:t>
            </a:r>
            <a:endParaRPr lang="en-US" sz="3200" dirty="0"/>
          </a:p>
        </p:txBody>
      </p:sp>
      <p:pic>
        <p:nvPicPr>
          <p:cNvPr id="32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07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What we 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Every action gets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real consequences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. AI improves from each one.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Environment, grading and expert judgment in one world: AI practises real work and learns from every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9424"/>
            <a:ext cx="2844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environment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70048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Real work, rebuilt for practice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41978" y="1847088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99178" y="1847088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349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249424"/>
            <a:ext cx="2844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Outcome grading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2670048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Scored by what actually happens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92517" y="1847088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49717" y="1847088"/>
            <a:ext cx="339333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4037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24037" y="2249424"/>
            <a:ext cx="28446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Expert feedback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24037" y="2670048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The judgment behind real work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21528" y="3017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=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11094415" cy="91440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36499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SimReal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336499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 world that answers back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364992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So AI learns from every result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937760"/>
            <a:ext cx="8320811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28032"/>
            <a:ext cx="219456" cy="219456"/>
          </a:xfrm>
          <a:prstGeom prst="ellipse">
            <a:avLst/>
          </a:prstGeom>
          <a:solidFill>
            <a:srgbClr val="111110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212080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acts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22244" y="4828032"/>
            <a:ext cx="219456" cy="219456"/>
          </a:xfrm>
          <a:prstGeom prst="ellipse">
            <a:avLst/>
          </a:prstGeom>
          <a:solidFill>
            <a:srgbClr val="FAF9F6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22244" y="5212080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world answers back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5848" y="4828032"/>
            <a:ext cx="219456" cy="219456"/>
          </a:xfrm>
          <a:prstGeom prst="ellipse">
            <a:avLst/>
          </a:prstGeom>
          <a:solidFill>
            <a:srgbClr val="FAF9F6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5848" y="5212080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trains on the result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869451" y="4828032"/>
            <a:ext cx="219456" cy="219456"/>
          </a:xfrm>
          <a:prstGeom prst="ellipse">
            <a:avLst/>
          </a:prstGeom>
          <a:solidFill>
            <a:srgbClr val="C2410C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451" y="5212080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improves itself</a:t>
            </a:r>
            <a:endParaRPr lang="en-US" sz="1800" dirty="0"/>
          </a:p>
        </p:txBody>
      </p:sp>
      <p:pic>
        <p:nvPicPr>
          <p:cNvPr id="33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08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Flagship  ·  Self-improvement (RSI)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6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Xitadel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that teaches itself to trade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58978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299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Real markets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02996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trades real markets, against top human traders.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58978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0545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Market as judge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50545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The market settles every trade.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58978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809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Learns from results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980944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reviews every day’s P&amp;L; every round makes the next one stronger.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58978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02736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We trained the open-source model Qwen3.8-27B inside Xitadel. On real market data it had never seen, its trading performance rose 12%, repeated across multiple independent runs.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25696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We have shown AI can make itself better in a real market.</a:t>
            </a:r>
            <a:endParaRPr lang="en-US" sz="1700" dirty="0"/>
          </a:p>
          <a:p>
            <a:pPr indent="0" marL="0">
              <a:buNone/>
            </a:pPr>
            <a:r>
              <a:rPr lang="en-US" altLang="en-US" sz="17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Next: more strategies, more markets.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12280" y="868680"/>
            <a:ext cx="4830775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1088136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round starts from the last 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454335" y="1124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0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Schematic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508760"/>
            <a:ext cx="739384" cy="329184"/>
          </a:xfrm>
          <a:prstGeom prst="roundRect">
            <a:avLst>
              <a:gd name="adj" fmla="val 16667"/>
            </a:avLst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1508760"/>
            <a:ext cx="73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Base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25984" y="150876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72288" y="1508760"/>
            <a:ext cx="739384" cy="329184"/>
          </a:xfrm>
          <a:prstGeom prst="roundRect">
            <a:avLst>
              <a:gd name="adj" fmla="val 16667"/>
            </a:avLst>
          </a:prstGeom>
          <a:solidFill>
            <a:srgbClr val="C4C0B7"/>
          </a:solidFill>
          <a:ln w="12700">
            <a:solidFill>
              <a:srgbClr val="C4C0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72288" y="1508760"/>
            <a:ext cx="73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Round 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711672" y="150876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57976" y="1508760"/>
            <a:ext cx="739384" cy="329184"/>
          </a:xfrm>
          <a:prstGeom prst="roundRect">
            <a:avLst>
              <a:gd name="adj" fmla="val 16667"/>
            </a:avLst>
          </a:prstGeom>
          <a:solidFill>
            <a:srgbClr val="E9B089"/>
          </a:solidFill>
          <a:ln w="12700">
            <a:solidFill>
              <a:srgbClr val="E9B0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57976" y="1508760"/>
            <a:ext cx="73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597360" y="150876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43664" y="1508760"/>
            <a:ext cx="739384" cy="329184"/>
          </a:xfrm>
          <a:prstGeom prst="roundRect">
            <a:avLst>
              <a:gd name="adj" fmla="val 16667"/>
            </a:avLst>
          </a:prstGeom>
          <a:solidFill>
            <a:srgbClr val="E27A3F"/>
          </a:solidFill>
          <a:ln w="12700">
            <a:solidFill>
              <a:srgbClr val="E27A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43664" y="1508760"/>
            <a:ext cx="73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Round 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483047" y="150876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29351" y="1508760"/>
            <a:ext cx="739384" cy="329184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29351" y="1508760"/>
            <a:ext cx="73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Round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86600" y="2093976"/>
            <a:ext cx="428213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86600" y="2240280"/>
            <a:ext cx="4282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Measured result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24597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44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12%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2569464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Trading performance on real market data it had never seen</a:t>
            </a:r>
            <a:endParaRPr lang="en-US" sz="11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7086600" y="3209544"/>
          <a:ext cx="4282135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Text 36"/>
          <p:cNvSpPr txBox="1"/>
          <p:nvPr/>
        </p:nvSpPr>
        <p:spPr>
          <a:xfrm>
            <a:off x="7086600" y="4645152"/>
            <a:ext cx="42821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Trading performance indexed to the base model = 100; repeated across independent runs (controlled experiment, Qwen3.8-27B).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468112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Whoever owns the best </a:t>
            </a:r>
            <a:r>
              <a:rPr lang="en-US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world</a:t>
            </a: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owns the best AI in every field. We built it, and it works.</a:t>
            </a:r>
            <a:endParaRPr lang="en-US" sz="2000" dirty="0"/>
          </a:p>
        </p:txBody>
      </p:sp>
      <p:pic>
        <p:nvPicPr>
          <p:cNvPr id="41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09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Product 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The same method already works in AI research and forecasting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field needs its own training world. We build fast, and in public.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8718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6" name="Image 0" descr="SimReal-ML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914" y="1975104"/>
            <a:ext cx="2834640" cy="1417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529584"/>
            <a:ext cx="474710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639312"/>
            <a:ext cx="474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SimReal-MLBench</a:t>
            </a:r>
            <a:r>
              <a:rPr lang="en-US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AI researcher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078224"/>
            <a:ext cx="4747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runs a whole research project on its own, from data to experiments to results: 60 real tasks across 7 data types.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Goal: AI that improves AI, faster and faster.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5868" y="1828800"/>
            <a:ext cx="538718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12" name="Image 1" descr="Future Prediction B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141" y="1975104"/>
            <a:ext cx="2834640" cy="1417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75908" y="3529584"/>
            <a:ext cx="474710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75908" y="3639312"/>
            <a:ext cx="474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Future Prediction Bench</a:t>
            </a:r>
            <a:r>
              <a:rPr lang="en-US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AI forecaster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75908" y="4078224"/>
            <a:ext cx="4747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calls real-world events before they happen, from sports to earthquakes, and is scored once the outcome is known.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75908" y="46634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Goal: judgment that holds up in the real world.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85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 products in 14 days, no outside capital.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669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Public preview: github.com/Simreal-AI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5312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Also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74920" y="5266944"/>
            <a:ext cx="1559738" cy="58521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184648" y="5321808"/>
            <a:ext cx="13951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Month-End Close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Financial close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44386" y="5266944"/>
            <a:ext cx="1559738" cy="58521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4114" y="5321808"/>
            <a:ext cx="13951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SWE-Forward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413852" y="5266944"/>
            <a:ext cx="1559738" cy="58521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523580" y="5321808"/>
            <a:ext cx="13951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MathmoBench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Math proofs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0083317" y="5266944"/>
            <a:ext cx="1559738" cy="58521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193045" y="5321808"/>
            <a:ext cx="13951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Puzzle Benchmark</a:t>
            </a:r>
            <a:endParaRPr lang="en-US" sz="1300" dirty="0"/>
          </a:p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Logical reasoning</a:t>
            </a:r>
            <a:endParaRPr lang="en-US" sz="1300" dirty="0"/>
          </a:p>
        </p:txBody>
      </p:sp>
      <p:pic>
        <p:nvPicPr>
          <p:cNvPr id="28" name="Image 2" descr="SimRe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10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Quality and anti-cheating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400 cheating attacks,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0 successes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66928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9222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  Why it matters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6654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If grading has a loophole, models exploit it; every exploitable task wastes a lab’s training compute.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71216"/>
            <a:ext cx="566928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  How we do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101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test is attacked before launch; grading looks only at real outcomes, never at another AI’s opinion.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66928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793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  What customers 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5371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Scores they can trust, and compute spent on real learning.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2415388" cy="182880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67144" y="1828800"/>
            <a:ext cx="20496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0 / 400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867144" y="2542032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cheating attacks succeeded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3108960"/>
            <a:ext cx="2003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Puzzle Benchmark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27668" y="1627632"/>
            <a:ext cx="24153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5412" y="1828800"/>
            <a:ext cx="20496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6 </a:t>
            </a:r>
            <a:r>
              <a:rPr lang="en-US" altLang="en-US" sz="4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465412" y="2542032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grading loopholes, across two controlled rounds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465412" y="3108960"/>
            <a:ext cx="2003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Month-End Close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3639312"/>
            <a:ext cx="24153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67144" y="3840480"/>
            <a:ext cx="20496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709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4553712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puzzles AI cannot cheat its way through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5120640"/>
            <a:ext cx="2003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Puzzle Benchmark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27668" y="3639312"/>
            <a:ext cx="24153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65412" y="3840480"/>
            <a:ext cx="20496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~$2,400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9465412" y="4553712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compute cost per RL task at a frontier lab, in US$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65412" y="5120640"/>
            <a:ext cx="2003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Mechanize estimate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Red-team logs are available in due diligence. Compute estimate: Mechanize, cited in Epoch AI, An FAQ on RL environments (Jan 2026).</a:t>
            </a:r>
            <a:endParaRPr lang="en-US" sz="900" dirty="0"/>
          </a:p>
        </p:txBody>
      </p:sp>
      <p:pic>
        <p:nvPicPr>
          <p:cNvPr id="30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11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Build an environment once;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get paid again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with every model upgrade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Core business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56786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Expert data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567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Demonstrations and judgments from professionals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824" y="1810512"/>
            <a:ext cx="256786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0824" y="190195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RL training environments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2286000"/>
            <a:ext cx="2567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Real work, rebuilt so agents can practise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810512"/>
            <a:ext cx="256786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90195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Evaluation and red-teaming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2286000"/>
            <a:ext cx="2567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Private evals, public benchmarks, adversarial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5191" y="1810512"/>
            <a:ext cx="256786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5191" y="190195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Enterprise custom work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075191" y="2286000"/>
            <a:ext cx="2567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Environments built around a company’s own workflows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94415" cy="91440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85292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Only us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8529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RSI as a service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852928"/>
            <a:ext cx="5333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model upgrade comes back to our environments to keep training, which makes it recurring revenue.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041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How labs pay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Each new model a lab trains comes back for another round.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22392"/>
            <a:ext cx="1531620" cy="475488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5513832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  </a:t>
            </a: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Free benchmark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71700" y="5148072"/>
            <a:ext cx="1531620" cy="749808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1428" y="5239512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  </a:t>
            </a: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Private evaluation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94760" y="4873752"/>
            <a:ext cx="1531620" cy="1024128"/>
          </a:xfrm>
          <a:prstGeom prst="rect">
            <a:avLst/>
          </a:prstGeom>
          <a:solidFill>
            <a:srgbClr val="C4C0B7"/>
          </a:solidFill>
          <a:ln w="12700">
            <a:solidFill>
              <a:srgbClr val="C4C0B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04488" y="4965192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  </a:t>
            </a: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Environment license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17820" y="4599432"/>
            <a:ext cx="1531620" cy="12984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27548" y="4690872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FAF9F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  </a:t>
            </a:r>
            <a:r>
              <a:rPr lang="en-US" altLang="en-US" sz="1100" b="1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Continuous training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9480" y="4041648"/>
            <a:ext cx="0" cy="1856232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0" y="411480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Six to seven figures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846320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US$ per lab contract, per quarter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Exclusive licenses at 4–5× (industry reference, Epoch AI)</a:t>
            </a:r>
            <a:endParaRPr lang="en-US" sz="1200" dirty="0"/>
          </a:p>
        </p:txBody>
      </p:sp>
      <p:pic>
        <p:nvPicPr>
          <p:cNvPr id="34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</a:t>
            </a:r>
            <a:r>
              <a:rPr lang="en-US" altLang="en-US" sz="1100" b="1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Traction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Two weeks in, and partners are already lining up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2567864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01952"/>
            <a:ext cx="2567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70048"/>
            <a:ext cx="243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frontier AI labs in discussions; target: first paying customer by month 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783080"/>
            <a:ext cx="2567864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90824" y="1901952"/>
            <a:ext cx="2567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7,000</a:t>
            </a:r>
            <a:r>
              <a:rPr lang="en-US" altLang="en-US" sz="44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90824" y="2670048"/>
            <a:ext cx="243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experts on the waitlist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783080"/>
            <a:ext cx="2567864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33008" y="1901952"/>
            <a:ext cx="2567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500</a:t>
            </a:r>
            <a:r>
              <a:rPr lang="en-US" altLang="en-US" sz="44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33008" y="2670048"/>
            <a:ext cx="243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GitHub stars in week one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5191" y="1783080"/>
            <a:ext cx="2567864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75191" y="1901952"/>
            <a:ext cx="2567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075191" y="2670048"/>
            <a:ext cx="243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top-tier Silicon Valley angels reached out first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People from the world’s top trading firms already support us.</a:t>
            </a:r>
            <a:endParaRPr lang="en-US" sz="2200" dirty="0"/>
          </a:p>
        </p:txBody>
      </p:sp>
      <p:pic>
        <p:nvPicPr>
          <p:cNvPr id="19" name="Image 1" descr="jane-street-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88" y="4753455"/>
            <a:ext cx="856188" cy="332034"/>
          </a:xfrm>
          <a:prstGeom prst="rect">
            <a:avLst/>
          </a:prstGeom>
        </p:spPr>
      </p:pic>
      <p:pic>
        <p:nvPicPr>
          <p:cNvPr id="20" name="Image 2" descr="imc-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463" y="4804749"/>
            <a:ext cx="1239004" cy="229445"/>
          </a:xfrm>
          <a:prstGeom prst="rect">
            <a:avLst/>
          </a:prstGeom>
        </p:spPr>
      </p:pic>
      <p:pic>
        <p:nvPicPr>
          <p:cNvPr id="21" name="Image 3" descr="citadel-securities-pap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176" y="4732773"/>
            <a:ext cx="761343" cy="373397"/>
          </a:xfrm>
          <a:prstGeom prst="rect">
            <a:avLst/>
          </a:prstGeom>
        </p:spPr>
      </p:pic>
      <p:pic>
        <p:nvPicPr>
          <p:cNvPr id="22" name="Image 4" descr="optiver-pa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003" y="4793845"/>
            <a:ext cx="1131456" cy="251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24172" y="4736592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Polymarket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85216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Logos show where supporters work. They do not imply endorsement by these firms.</a:t>
            </a:r>
            <a:endParaRPr lang="en-US" sz="900" dirty="0"/>
          </a:p>
        </p:txBody>
      </p:sp>
      <p:pic>
        <p:nvPicPr>
          <p:cNvPr id="25" name="Image 5" descr="SimRe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0"/>
            <a:ext cx="3136392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13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Expert network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200,000</a:t>
            </a:r>
            <a:r>
              <a:rPr lang="en-US" altLang="en-US" sz="2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reachable, verified experts across 21 top universities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training world is graded to standards set by people who actually know the work.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6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200,000</a:t>
            </a:r>
            <a:r>
              <a:rPr lang="en-US" altLang="en-US" sz="60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reachable, verified experts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01568"/>
            <a:ext cx="35661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5295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21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top universities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920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Universities in our network include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212848"/>
            <a:ext cx="69796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3291840"/>
            <a:ext cx="69796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4370832"/>
            <a:ext cx="69796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5449824"/>
            <a:ext cx="69796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pic>
        <p:nvPicPr>
          <p:cNvPr id="16" name="Image 1" descr="harvard-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059" y="2529597"/>
            <a:ext cx="675667" cy="445495"/>
          </a:xfrm>
          <a:prstGeom prst="rect">
            <a:avLst/>
          </a:prstGeom>
        </p:spPr>
      </p:pic>
      <p:pic>
        <p:nvPicPr>
          <p:cNvPr id="17" name="Image 2" descr="stanford-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76" y="2478024"/>
            <a:ext cx="548640" cy="548640"/>
          </a:xfrm>
          <a:prstGeom prst="rect">
            <a:avLst/>
          </a:prstGeom>
        </p:spPr>
      </p:pic>
      <p:pic>
        <p:nvPicPr>
          <p:cNvPr id="18" name="Image 3" descr="mit-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425" y="2550204"/>
            <a:ext cx="744548" cy="404280"/>
          </a:xfrm>
          <a:prstGeom prst="rect">
            <a:avLst/>
          </a:prstGeom>
        </p:spPr>
      </p:pic>
      <p:pic>
        <p:nvPicPr>
          <p:cNvPr id="19" name="Image 4" descr="oxford-in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406" y="2603094"/>
            <a:ext cx="1008395" cy="298500"/>
          </a:xfrm>
          <a:prstGeom prst="rect">
            <a:avLst/>
          </a:prstGeom>
        </p:spPr>
      </p:pic>
      <p:pic>
        <p:nvPicPr>
          <p:cNvPr id="20" name="Image 5" descr="cambridge-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932" y="3572705"/>
            <a:ext cx="581921" cy="517263"/>
          </a:xfrm>
          <a:prstGeom prst="rect">
            <a:avLst/>
          </a:prstGeom>
        </p:spPr>
      </p:pic>
      <p:pic>
        <p:nvPicPr>
          <p:cNvPr id="21" name="Image 6" descr="princeton-in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513" y="3688077"/>
            <a:ext cx="1050566" cy="286518"/>
          </a:xfrm>
          <a:prstGeom prst="rect">
            <a:avLst/>
          </a:prstGeom>
        </p:spPr>
      </p:pic>
      <p:pic>
        <p:nvPicPr>
          <p:cNvPr id="22" name="Image 7" descr="yale-in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1926" y="3591509"/>
            <a:ext cx="627548" cy="479654"/>
          </a:xfrm>
          <a:prstGeom prst="rect">
            <a:avLst/>
          </a:prstGeom>
        </p:spPr>
      </p:pic>
      <p:pic>
        <p:nvPicPr>
          <p:cNvPr id="23" name="Image 8" descr="berkeley-in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7336" y="3678779"/>
            <a:ext cx="986535" cy="305114"/>
          </a:xfrm>
          <a:prstGeom prst="rect">
            <a:avLst/>
          </a:prstGeom>
        </p:spPr>
      </p:pic>
      <p:pic>
        <p:nvPicPr>
          <p:cNvPr id="24" name="Image 9" descr="tsinghua-in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4853" y="4753893"/>
            <a:ext cx="962077" cy="312871"/>
          </a:xfrm>
          <a:prstGeom prst="rect">
            <a:avLst/>
          </a:prstGeom>
        </p:spPr>
      </p:pic>
      <p:pic>
        <p:nvPicPr>
          <p:cNvPr id="25" name="Image 10" descr="columbia-in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523" y="4683169"/>
            <a:ext cx="662546" cy="454317"/>
          </a:xfrm>
          <a:prstGeom prst="rect">
            <a:avLst/>
          </a:prstGeom>
        </p:spPr>
      </p:pic>
      <p:pic>
        <p:nvPicPr>
          <p:cNvPr id="26" name="Image 11" descr="uchicago-in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1940" y="4774436"/>
            <a:ext cx="1107519" cy="271784"/>
          </a:xfrm>
          <a:prstGeom prst="rect">
            <a:avLst/>
          </a:prstGeom>
        </p:spPr>
      </p:pic>
      <p:pic>
        <p:nvPicPr>
          <p:cNvPr id="27" name="Image 12" descr="duke-in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3823" y="4729774"/>
            <a:ext cx="833560" cy="361109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548640" y="585216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Logos identify where members of our network studied or work. They do not imply endorsement.</a:t>
            </a:r>
            <a:endParaRPr lang="en-US" sz="900" dirty="0"/>
          </a:p>
        </p:txBody>
      </p:sp>
      <p:pic>
        <p:nvPicPr>
          <p:cNvPr id="29" name="Image 13" descr="SimReal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1" name="Text 1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14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Today: AI labs. Tomorrow: every company that deploys AI.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Revenue of leading AI training-data companies</a:t>
            </a: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US$ billions, latest reported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65376"/>
          <a:ext cx="5760720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Mercor: gross run-rate, Jul 2026  ·  Surge AI: 2024 revenue  ·  Snorkel AI: run-rate, Sep 2026  ·  AfterQuery: run-rate, Apr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720840" y="1554480"/>
            <a:ext cx="4922215" cy="2697480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AI agent market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920240"/>
            <a:ext cx="4373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$7.9B in 2025  </a:t>
            </a:r>
            <a:r>
              <a:rPr lang="en-US" altLang="en-US" sz="15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~$111B by 2032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995160" y="2304288"/>
          <a:ext cx="4373575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995160" y="3950208"/>
            <a:ext cx="4373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Precedence Research; 2026–2032 extrapolated at its 45.8% CAGR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57607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4608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Economic value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84632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Generative AI could create $2.6–4.4T of value a year (value created, not spend)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McKinsey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20840" y="4480560"/>
            <a:ext cx="49222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20840" y="4608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Category signal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720840" y="4846320"/>
            <a:ext cx="4922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Mercor, AfterQuery, Snorkel and UniPat each do one piece of the loop, and each is valued in the billions.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altLang="en-US" sz="11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SimReal combines the pieces into one self-improving loop.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705856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Lab training is our entry point. The </a:t>
            </a:r>
            <a:r>
              <a:rPr lang="en-US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autonomous economy</a:t>
            </a: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is our market.</a:t>
            </a:r>
            <a:endParaRPr lang="en-US" sz="2000" dirty="0"/>
          </a:p>
        </p:txBody>
      </p:sp>
      <p:pic>
        <p:nvPicPr>
          <p:cNvPr id="20" name="Image 0" descr="SimRe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15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Competition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Others sell pieces. We sell the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whole loop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that makes AI better.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46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Expert data platforms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12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Mercor, Surge, AfterQuery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3337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Expert demonstrations and judgments, graded by human opinion.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evaluation companies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UniPat and others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42616"/>
            <a:ext cx="3337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Measure how good a model is today; the score is the product.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Labs in-house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197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Frontier labs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685032"/>
            <a:ext cx="3337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Only build for the work they already know.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6400800" cy="932688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873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5239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Data, environments, outcome grading, self-improvement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727448"/>
            <a:ext cx="3337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We don’t just score AI, we make it better: every score becomes the next round of training.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600200"/>
            <a:ext cx="4327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920240"/>
            <a:ext cx="4327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2011680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Our own assets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377440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Environments, grading systems and the outcome data from every run are all 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2852928"/>
            <a:ext cx="4327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94436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Stickiness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310128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model upgrade is compared and retrained on the same environments.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3785616"/>
            <a:ext cx="4327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3877056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Speed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242816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7 products in 14 days. The faster AI changes, the more that counts.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4718304"/>
            <a:ext cx="4327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4809744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Independence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175504"/>
            <a:ext cx="4327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No equity from model companies, so every lab can buy from us with confidence.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5650992"/>
            <a:ext cx="4327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pic>
        <p:nvPicPr>
          <p:cNvPr id="34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16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The 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This market’s breakouts started young and moved fast.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So do we.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83080"/>
            <a:ext cx="2160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Scale AI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0552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$29B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88920"/>
            <a:ext cx="2160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valuation,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317296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24612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Founded in 2016 by Alexandr Wang, then 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" y="381304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88620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MIT dropout, Y Combinator alum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445312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52628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Once the youngest self-made billionaire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7964" y="1600200"/>
            <a:ext cx="26364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5708" y="1783080"/>
            <a:ext cx="2160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Mercor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05708" y="2130552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$10B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3605708" y="2788920"/>
            <a:ext cx="2160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valuation, 2025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05708" y="317296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05708" y="324612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Founded by three high-school friends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05708" y="381304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05708" y="388620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Youngest self-made billionaires, at 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05708" y="445312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05708" y="452628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Valuation up ~40× in 13 months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7288" y="1600200"/>
            <a:ext cx="26364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5032" y="1783080"/>
            <a:ext cx="2160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AfterQuery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5032" y="2130552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$3.2B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6425032" y="2788920"/>
            <a:ext cx="2160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reported, 18 months after YC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25032" y="317296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5032" y="324612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Founded at about 21 by two high-school friends, still in college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25032" y="381304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5032" y="388620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 co-founder interned at Citadel Securities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25032" y="4453128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5032" y="452628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Fastest unicorn in YC history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06611" y="1600200"/>
            <a:ext cx="2636444" cy="36118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4355" y="1783080"/>
            <a:ext cx="2160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244355" y="2130552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40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14 days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9244355" y="2788920"/>
            <a:ext cx="2160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to ship 7 products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44355" y="3172968"/>
            <a:ext cx="2160956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44355" y="324612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Four quants, average age 21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44355" y="3813048"/>
            <a:ext cx="2160956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44355" y="388620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Final-year students at Cambridge, LSE and Duke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44355" y="4453128"/>
            <a:ext cx="2160956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44355" y="4526280"/>
            <a:ext cx="21609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Quant experience: Jane Street, Citadel, D. E. Shaw, Optiver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468112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Same starting point, same market. We have been here </a:t>
            </a:r>
            <a:r>
              <a:rPr lang="en-US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since day one</a:t>
            </a:r>
            <a:r>
              <a:rPr lang="en-US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.</a:t>
            </a:r>
            <a:endParaRPr lang="en-US" sz="2000" dirty="0"/>
          </a:p>
        </p:txBody>
      </p:sp>
      <p:pic>
        <p:nvPicPr>
          <p:cNvPr id="4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17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Milestones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24 months: from 7 products to 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</a:t>
            </a:r>
            <a:r>
              <a:rPr lang="en-US" altLang="en-US" sz="28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environments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in 30</a:t>
            </a:r>
            <a:r>
              <a:rPr lang="en-US" altLang="en-US" sz="2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industries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Products / training environments live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94415" cy="21305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13632"/>
            <a:ext cx="11094415" cy="0"/>
          </a:xfrm>
          <a:prstGeom prst="line">
            <a:avLst/>
          </a:prstGeom>
          <a:noFill/>
          <a:ln w="15875">
            <a:solidFill>
              <a:srgbClr val="11111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35442" y="3913632"/>
            <a:ext cx="0" cy="146304"/>
          </a:xfrm>
          <a:prstGeom prst="line">
            <a:avLst/>
          </a:prstGeom>
          <a:noFill/>
          <a:ln w="15875">
            <a:solidFill>
              <a:srgbClr val="11111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87952"/>
            <a:ext cx="277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480560"/>
            <a:ext cx="2590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 products live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175504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 frontier labs in discussions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046" y="3913632"/>
            <a:ext cx="0" cy="146304"/>
          </a:xfrm>
          <a:prstGeom prst="line">
            <a:avLst/>
          </a:prstGeom>
          <a:noFill/>
          <a:ln w="15875">
            <a:solidFill>
              <a:srgbClr val="11111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22244" y="4187952"/>
            <a:ext cx="277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13684" y="4480560"/>
            <a:ext cx="2590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First paying frontier lab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459404" y="5175504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Proves labs will pay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82650" y="3913632"/>
            <a:ext cx="0" cy="146304"/>
          </a:xfrm>
          <a:prstGeom prst="line">
            <a:avLst/>
          </a:prstGeom>
          <a:noFill/>
          <a:ln w="15875">
            <a:solidFill>
              <a:srgbClr val="11111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95848" y="4187952"/>
            <a:ext cx="277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12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87288" y="4480560"/>
            <a:ext cx="2590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</a:t>
            </a:r>
            <a:r>
              <a:rPr lang="en-US" altLang="en-US" sz="1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training environments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33008" y="5175504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Repeatable delivery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56253" y="3913632"/>
            <a:ext cx="0" cy="146304"/>
          </a:xfrm>
          <a:prstGeom prst="line">
            <a:avLst/>
          </a:prstGeom>
          <a:noFill/>
          <a:ln w="15875">
            <a:solidFill>
              <a:srgbClr val="C241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69451" y="4187952"/>
            <a:ext cx="2773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24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960891" y="4480560"/>
            <a:ext cx="2590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</a:t>
            </a:r>
            <a:r>
              <a:rPr lang="en-US" altLang="en-US" sz="1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environments across 30</a:t>
            </a:r>
            <a:r>
              <a:rPr lang="en-US" altLang="en-US" sz="1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industries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06611" y="5175504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Enter the enterprise market; fund the next round</a:t>
            </a:r>
            <a:endParaRPr lang="en-US" sz="1200" dirty="0"/>
          </a:p>
        </p:txBody>
      </p:sp>
      <p:pic>
        <p:nvPicPr>
          <p:cNvPr id="23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18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The raise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Raising $20M (about RMB 150M) to fund the next 24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5603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Seed round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64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$20M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10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About RMB 150M  ·  24 months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711677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874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874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environments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1874520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Each new industry adds a new line of lab revenue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441448"/>
            <a:ext cx="711677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4414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41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Experts and data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441448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From our 7,000+ waitlist, so each world ships in weeks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008376"/>
            <a:ext cx="711677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0083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0083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Compute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008376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Training and self-improvement experiments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3575304"/>
            <a:ext cx="711677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5753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5753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Anti-cheating and security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3575304"/>
            <a:ext cx="3824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Every test is attacked first, so labs trust every score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142232"/>
            <a:ext cx="711677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98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Milestones this round funds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3423818" cy="9875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" y="4882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5102352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First paying lab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063898" y="5248656"/>
            <a:ext cx="22860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3938" y="4754880"/>
            <a:ext cx="3423818" cy="9875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21682" y="4882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12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21682" y="5102352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</a:t>
            </a:r>
            <a:r>
              <a:rPr lang="en-US" altLang="en-US" sz="17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training environments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99197" y="5248656"/>
            <a:ext cx="22860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19237" y="4754880"/>
            <a:ext cx="3423818" cy="987552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56981" y="4882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Month 24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456981" y="5102352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</a:t>
            </a:r>
            <a:r>
              <a:rPr lang="en-US" altLang="en-US" sz="17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7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environments, 30</a:t>
            </a:r>
            <a:r>
              <a:rPr lang="en-US" altLang="en-US" sz="17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en-US" altLang="en-US" sz="17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industries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97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Valuation and terms to be discussed.</a:t>
            </a:r>
            <a:endParaRPr lang="en-US" sz="1100" dirty="0"/>
          </a:p>
        </p:txBody>
      </p:sp>
      <p:pic>
        <p:nvPicPr>
          <p:cNvPr id="39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7360" cy="1645920"/>
          </a:xfrm>
          <a:prstGeom prst="rect">
            <a:avLst/>
          </a:prstGeom>
        </p:spPr>
      </p:pic>
      <p:pic>
        <p:nvPicPr>
          <p:cNvPr id="3" name="Image 1" descr="or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4325112" cy="5852160"/>
          </a:xfrm>
          <a:prstGeom prst="rect">
            <a:avLst/>
          </a:prstGeom>
        </p:spPr>
      </p:pic>
      <p:pic>
        <p:nvPicPr>
          <p:cNvPr id="4" name="Image 2" descr="SimRe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365760" cy="4526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2286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altLang="en-US" sz="4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Every industry’s best AI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altLang="en-US" sz="4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is made in our worlds.</a:t>
            </a:r>
            <a:endParaRPr lang="en-US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3913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Three worlds are live: trading, AI research and forecasting.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3159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The data and self-improvement engine of the AI economy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548640" y="4956048"/>
            <a:ext cx="51206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" y="5084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business@simreal.co  ·  simreal.co  ·  x.com/simrealhq</a:t>
            </a:r>
            <a:endParaRPr lang="en-US" sz="1100" dirty="0"/>
          </a:p>
        </p:txBody>
      </p:sp>
      <p:pic>
        <p:nvPicPr>
          <p:cNvPr id="10" name="Image 3" descr="SimRe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A1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Xitadel: what we tested, and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0020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Replays real trading days with the real order book; the market settles every trade.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2585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Open-source Qwen3.8-27B, compared before and after training in Xitadel.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169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1693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Real trading days the model had never seen.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753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57530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Trading performance </a:t>
            </a:r>
            <a:r>
              <a:rPr lang="en-US" altLang="en-US" sz="1300" b="1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12% above the base model</a:t>
            </a: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, repeated across independent runs (controlled experiment).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336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Public benchmark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233672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Xitadel public preview: human reference 80; best frontier model 77.28 (GPT 6). No model has crossed the human line yet.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92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89204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Full run logs, metric definitions and scripts are available in due diligence.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50408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600200"/>
            <a:ext cx="4007815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1783080"/>
            <a:ext cx="34591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Xitadel public preview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02996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No model has crossed the human line yet</a:t>
            </a:r>
            <a:endParaRPr lang="en-US" sz="17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909560" y="2606040"/>
          <a:ext cx="345917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27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A2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Product list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34440"/>
                <a:gridCol w="5303520"/>
                <a:gridCol w="222473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Product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Domain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Description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Status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Xitadel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Trading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 trades live markets, graded on P&amp;L; self-improvement proven (+12%)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Open source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Xitadel-QuantBench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SimReal-MLBench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 research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60 research tasks, 7 data types, modelled on OpenAI’s MLE-bench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Open source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Simreal-MLBench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Future Prediction Bench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Forecasting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Predicts real events, graded once they resolve; live data feeds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Live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Month-End Close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Finance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 closes the books with zero errors; grading loopholes 6 → 0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Live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SWE-Forward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Software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Tests whether AI-written code survives the next release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Live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MathmoBench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Math proofs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 proves answers instead of guessing them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Open source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MathmoBench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Puzzle Benchmark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Reasoning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709 cheat-proof puzzles; 400 cheating attacks, 0 successes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Open source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hard-puzzle-benchmark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A3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Sources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534924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38528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 run-rate: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TechCrunch (Feb 2025, $75M); Mercor CEO (Sep 2025, $500M); Sacra (Dec 2025, $760M); Mercor (early 2026, $1B); Dealroom (Jun 2026, $2B). All gross; experts receive 60–70% (Bloomberg)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 valuation: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Series A at $250M (Sep 2024) to Series C at $10B (Oct 2025); a $20B round in early talks (Bloomberg, 9 Jul 2026)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Surge AI: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$1.2B revenue in 2024 (TechCrunch, Forbes)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Snorkel AI: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Company announcement and TechCrunch, 22 Sep 2026 ($350M raised at $3.5B; $375M run-rate, up 18× in a year)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AfterQuery: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Forbes, 1 Sep 2026 (valued at $3.2B 18 months after joining YC; founded Feb 2025); YC company page (a co-founder interned at Citadel Securities)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Scale AI: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Founded in 2016 by Alexandr Wang, then 19 (Forbes); Meta took a 49% stake for $14.3B, valuing it at ~$29B (Reuters, Jun 2025)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UniPat: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Bloomberg, 10 Sep 2026 (Alibaba-led $300M round at a reported $2.5B valuation; terms may change)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536192"/>
            <a:ext cx="5351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Market and research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792224"/>
            <a:ext cx="5351983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1938528"/>
            <a:ext cx="5351983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Anthropic: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The Information via TechCrunch, Sep 2025 (discussed spending over $1B on RL environments in the following year)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agent market: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Precedence Research ($7.92B in 2025; 45.82% CAGR, $236B by 2034). 2026–2032 figures extrapolated on this path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McKinsey, The economic potential of generative AI: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$2.6–4.4T of economic value a year (value created, not spend)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RL environment pricing and per-task compute: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Epoch AI, An FAQ on RL environments (Jan 2026)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Public text stock: </a:t>
            </a:r>
            <a:r>
              <a:rPr lang="en-US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Epoch AI, Will we run out of data? (2024): ~300T effective tokens, projected to be used up between 2026 and 2032 (80% CI)</a:t>
            </a:r>
            <a:endParaRPr lang="en-US" sz="1000" dirty="0"/>
          </a:p>
        </p:txBody>
      </p:sp>
      <p:pic>
        <p:nvPicPr>
          <p:cNvPr id="10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A4</a:t>
            </a:r>
            <a:r>
              <a:rPr lang="en-US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Appendix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Glossary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Training environment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 system where AI repeatedly does real work and is graded on the result. Often called an “RL environment”.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Outcome grading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Grading by real results (P&amp;L, whether the books balance, whether code runs), not by another AI’s judgment.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8757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88757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Self-improvement (RSI)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 trains itself on its own results in real environments, getting stronger every round.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Red-teaming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Simulating cheats and attacks before launch to find and fix grading loopholes.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68698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8698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368698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Controlled experiment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368698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Changes one condition (training in Xitadel or not) and compares performance before and after.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8757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757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88757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Gross run-rate revenue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188757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Annualised revenue from current sales, including payouts to experts.</a:t>
            </a:r>
            <a:endParaRPr lang="en-US" sz="1300" dirty="0"/>
          </a:p>
        </p:txBody>
      </p:sp>
      <p:pic>
        <p:nvPicPr>
          <p:cNvPr id="28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Confidential  ·  For invited investors only  ·  v1.0  ·  September 2026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Noto Serif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SimReal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· Seed round</dc:title>
  <dc:subject>PptxGenJS Presentation</dc:subject>
  <dc:creator>SimReal</dc:creator>
  <cp:lastModifiedBy>SimReal</cp:lastModifiedBy>
  <cp:revision>1</cp:revision>
  <dcterms:created xsi:type="dcterms:W3CDTF">2026-09-25T19:13:45Z</dcterms:created>
  <dcterms:modified xsi:type="dcterms:W3CDTF">2026-09-25T19:13:45Z</dcterms:modified>
</cp:coreProperties>
</file>