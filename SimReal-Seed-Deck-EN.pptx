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embeddedFontLst>
    <p:embeddedFont>
      <p:font typeface="Newsreader" pitchFamily="18" charset="0"/>
      <p:regular r:id="rIdSimRealFont1"/>
      <p:italic r:id="rIdSimRealFont2"/>
    </p:embeddedFont>
    <p:embeddedFont>
      <p:font typeface="Instrument Sans" pitchFamily="34" charset="0"/>
      <p:regular r:id="rIdSimRealFont3"/>
      <p:bold r:id="rIdSimRealFont4"/>
    </p:embeddedFont>
    <p:embeddedFont>
      <p:font typeface="IBM Plex Mono" pitchFamily="49" charset="0"/>
      <p:regular r:id="rIdSimRealFont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SimRealFont1" Type="http://schemas.openxmlformats.org/officeDocument/2006/relationships/font" Target="fonts/font1.fntdata"/><Relationship Id="rIdSimRealFont2" Type="http://schemas.openxmlformats.org/officeDocument/2006/relationships/font" Target="fonts/font2.fntdata"/><Relationship Id="rIdSimRealFont3" Type="http://schemas.openxmlformats.org/officeDocument/2006/relationships/font" Target="fonts/font3.fntdata"/><Relationship Id="rIdSimRealFont4" Type="http://schemas.openxmlformats.org/officeDocument/2006/relationships/font" Target="fonts/font4.fntdata"/><Relationship Id="rIdSimRealFont5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0"/>
            <a:ext cx="4507992" cy="4114800"/>
          </a:xfrm>
          <a:prstGeom prst="rect">
            <a:avLst/>
          </a:prstGeom>
        </p:spPr>
      </p:pic>
      <p:pic>
        <p:nvPicPr>
          <p:cNvPr id="3" name="Image 1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850392" cy="2286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71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data and self-improvement engine of the AI economy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755648"/>
            <a:ext cx="82296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Every industry’s best AI</a:t>
            </a:r>
            <a:endParaRPr lang="en-US" sz="5400" dirty="0"/>
          </a:p>
          <a:p>
            <a:pPr indent="0" marL="0">
              <a:buNone/>
            </a:pPr>
            <a:r>
              <a:rPr lang="en-US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grows in our worlds.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393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  ·  Seed round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754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Founded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92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10 September 2026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474720" y="4754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This round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474720" y="4992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$20M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754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Contact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4992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business@simreal.co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Give AI a real place to work, and let it loop: fail, learn,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improve itself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What we do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10512"/>
            <a:ext cx="34238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worlds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342381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We provide data, benchmarks and training environments for AI labs and enterprises: AI does real work, is graded on real results, then trains on them.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83938" y="1572768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Progress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383938" y="1810512"/>
            <a:ext cx="34238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 products, 14 days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83938" y="2395728"/>
            <a:ext cx="342381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14 days since founding, no outside capital, 7 products shipped. Our flagship, Xitadel, is an RSI-as-a-Service (RaaS) product already running self-improvement in trading.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19237" y="1572768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Key evidence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19237" y="1810512"/>
            <a:ext cx="34238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19237" y="2395728"/>
            <a:ext cx="342381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After training in Xitadel, open-source Qwen3.8-27B traded 12% better on real market data it had never seen, repeated across independent runs (controlled experiment).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19856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Team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57600"/>
            <a:ext cx="34238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Average age 21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42816"/>
            <a:ext cx="342381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Four quants from Cambridge, LSE and Duke, with experience at Jane Street, Citadel, D. E. Shaw, Millennium and Optiver.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383938" y="3419856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Market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83938" y="3657600"/>
            <a:ext cx="34238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$8.5B </a:t>
            </a:r>
            <a:r>
              <a:rPr lang="en-US" altLang="en-US" sz="3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$100B</a:t>
            </a:r>
            <a:r>
              <a:rPr lang="en-US" altLang="en-US" sz="3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4242816"/>
            <a:ext cx="342381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More than 50 companies selling training data and RL environments to AI labs already earn ~$8.5B a year combined; the industry expects annual spend to pass $100B within two years.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19237" y="3419856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This round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219237" y="3657600"/>
            <a:ext cx="34238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19237" y="4242816"/>
            <a:ext cx="342381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 $20M seed round to build 200+ training environments across 30+ industries within 24 months.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394960"/>
            <a:ext cx="11094415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Whoever owns the best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world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owns the best AI in every field.</a:t>
            </a:r>
            <a:endParaRPr lang="en-US" sz="2000" dirty="0"/>
          </a:p>
          <a:p>
            <a:pPr indent="0" marL="0">
              <a:buNone/>
            </a:pP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Self-improving AI.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We start with trading, and take it to the whole world.</a:t>
            </a:r>
            <a:endParaRPr lang="en-US" sz="2000" dirty="0"/>
          </a:p>
        </p:txBody>
      </p:sp>
      <p:pic>
        <p:nvPicPr>
          <p:cNvPr id="23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Olympiads &amp; top universities </a:t>
            </a:r>
            <a:r>
              <a:rPr lang="en-US" altLang="en-US" sz="28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Wall Street’s toughest trading desks:</a:t>
            </a:r>
            <a:endParaRPr lang="en-US" sz="2800" dirty="0"/>
          </a:p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we know the gap between passing a test and doing the job.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00784"/>
            <a:ext cx="11094415" cy="640080"/>
          </a:xfrm>
          <a:prstGeom prst="rect">
            <a:avLst/>
          </a:prstGeom>
          <a:solidFill>
            <a:srgbClr val="F2F1EC"/>
          </a:solidFill>
          <a:ln/>
        </p:spPr>
      </p:sp>
      <p:pic>
        <p:nvPicPr>
          <p:cNvPr id="5" name="Image 0" descr="jane-street-col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641" y="1877468"/>
            <a:ext cx="729067" cy="286712"/>
          </a:xfrm>
          <a:prstGeom prst="rect">
            <a:avLst/>
          </a:prstGeom>
        </p:spPr>
      </p:pic>
      <p:pic>
        <p:nvPicPr>
          <p:cNvPr id="6" name="Image 1" descr="citadel-col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3628" y="1933526"/>
            <a:ext cx="1197231" cy="174596"/>
          </a:xfrm>
          <a:prstGeom prst="rect">
            <a:avLst/>
          </a:prstGeom>
        </p:spPr>
      </p:pic>
      <p:pic>
        <p:nvPicPr>
          <p:cNvPr id="7" name="Image 2" descr="de-shaw-col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723" y="1898394"/>
            <a:ext cx="941181" cy="244860"/>
          </a:xfrm>
          <a:prstGeom prst="rect">
            <a:avLst/>
          </a:prstGeom>
        </p:spPr>
      </p:pic>
      <p:pic>
        <p:nvPicPr>
          <p:cNvPr id="8" name="Image 3" descr="millennium-col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447" y="1928972"/>
            <a:ext cx="1137871" cy="183704"/>
          </a:xfrm>
          <a:prstGeom prst="rect">
            <a:avLst/>
          </a:prstGeom>
        </p:spPr>
      </p:pic>
      <p:pic>
        <p:nvPicPr>
          <p:cNvPr id="9" name="Image 4" descr="optiver-col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673" y="1908629"/>
            <a:ext cx="931557" cy="224390"/>
          </a:xfrm>
          <a:prstGeom prst="rect">
            <a:avLst/>
          </a:prstGeom>
        </p:spPr>
      </p:pic>
      <p:pic>
        <p:nvPicPr>
          <p:cNvPr id="10" name="Image 5" descr="cambridge-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6958" y="1779435"/>
            <a:ext cx="543126" cy="482779"/>
          </a:xfrm>
          <a:prstGeom prst="rect">
            <a:avLst/>
          </a:prstGeom>
        </p:spPr>
      </p:pic>
      <p:sp>
        <p:nvSpPr>
          <p:cNvPr id="11" name="Shape 3"/>
          <p:cNvSpPr/>
          <p:nvPr/>
        </p:nvSpPr>
        <p:spPr>
          <a:xfrm>
            <a:off x="548640" y="2468880"/>
            <a:ext cx="2650160" cy="2980944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2" name="Text 4"/>
          <p:cNvSpPr txBox="1"/>
          <p:nvPr/>
        </p:nvSpPr>
        <p:spPr>
          <a:xfrm>
            <a:off x="740664" y="2615184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Charles</a:t>
            </a:r>
            <a:r>
              <a:rPr lang="en-US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CEO</a:t>
            </a:r>
            <a:endParaRPr lang="en-US" sz="1300" dirty="0"/>
          </a:p>
        </p:txBody>
      </p:sp>
      <p:sp>
        <p:nvSpPr>
          <p:cNvPr id="13" name="Text 5"/>
          <p:cNvSpPr txBox="1"/>
          <p:nvPr/>
        </p:nvSpPr>
        <p:spPr>
          <a:xfrm>
            <a:off x="740664" y="3163824"/>
            <a:ext cx="2266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First employee at United Stables: took its U stablecoin from zero to $1.4B, listed on Binance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Only intern on HSBC’s HKD stablecoin issuance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Hedge fund intern at Citadel LLC</a:t>
            </a:r>
            <a:endParaRPr lang="en-US" sz="1100" dirty="0"/>
          </a:p>
        </p:txBody>
      </p:sp>
      <p:sp>
        <p:nvSpPr>
          <p:cNvPr id="14" name="Text 6"/>
          <p:cNvSpPr txBox="1"/>
          <p:nvPr/>
        </p:nvSpPr>
        <p:spPr>
          <a:xfrm>
            <a:off x="740664" y="4882896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 Mathematics</a:t>
            </a:r>
            <a:endParaRPr lang="en-US" sz="10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SCIE  ·  USAMO qualifier</a:t>
            </a:r>
            <a:endParaRPr lang="en-US" sz="1000" dirty="0"/>
          </a:p>
        </p:txBody>
      </p:sp>
      <p:sp>
        <p:nvSpPr>
          <p:cNvPr id="15" name="Shape 7"/>
          <p:cNvSpPr/>
          <p:nvPr/>
        </p:nvSpPr>
        <p:spPr>
          <a:xfrm>
            <a:off x="3363392" y="2468880"/>
            <a:ext cx="2650160" cy="2980944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6" name="Text 8"/>
          <p:cNvSpPr txBox="1"/>
          <p:nvPr/>
        </p:nvSpPr>
        <p:spPr>
          <a:xfrm>
            <a:off x="3555416" y="2615184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Henry</a:t>
            </a:r>
            <a:r>
              <a:rPr lang="en-US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CTO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3555416" y="3163824"/>
            <a:ext cx="2266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ML research with Cambridge statistics professor Po-Ling Loh (IMS Fellow, 2025 Ethel Newbold Prize)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Youngest AI/ML researcher at a Cambridge research center (2026)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Quant internships at Jane Street and D. E. Shaw</a:t>
            </a:r>
            <a:endParaRPr lang="en-US" sz="1100" dirty="0"/>
          </a:p>
        </p:txBody>
      </p:sp>
      <p:sp>
        <p:nvSpPr>
          <p:cNvPr id="18" name="Text 10"/>
          <p:cNvSpPr txBox="1"/>
          <p:nvPr/>
        </p:nvSpPr>
        <p:spPr>
          <a:xfrm>
            <a:off x="3555416" y="4882896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Cambridge Mathematics (scholarship)</a:t>
            </a:r>
            <a:endParaRPr lang="en-US" sz="10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SCIE  ·  STEP top 30 worldwide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6178144" y="2468880"/>
            <a:ext cx="2650160" cy="2980944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20" name="Text 12"/>
          <p:cNvSpPr txBox="1"/>
          <p:nvPr/>
        </p:nvSpPr>
        <p:spPr>
          <a:xfrm>
            <a:off x="6370168" y="2615184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Amaris</a:t>
            </a:r>
            <a:r>
              <a:rPr lang="en-US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COO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6370168" y="3163824"/>
            <a:ext cx="2266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Data scientist at Millennium Hong Kong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First-ever graduate hire on Millennium’s alt-data team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Published author at 17</a:t>
            </a:r>
            <a:endParaRPr lang="en-US" sz="1100" dirty="0"/>
          </a:p>
        </p:txBody>
      </p:sp>
      <p:sp>
        <p:nvSpPr>
          <p:cNvPr id="22" name="Text 14"/>
          <p:cNvSpPr txBox="1"/>
          <p:nvPr/>
        </p:nvSpPr>
        <p:spPr>
          <a:xfrm>
            <a:off x="6370168" y="4882896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Duke Mathematics &amp; Statistics</a:t>
            </a:r>
            <a:endParaRPr lang="en-US" sz="10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YK Pao School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8992895" y="2468880"/>
            <a:ext cx="2650160" cy="2980944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184919" y="2615184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James</a:t>
            </a:r>
            <a:r>
              <a:rPr lang="en-US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CPO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9184919" y="3163824"/>
            <a:ext cx="2266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Quant trading intern at Optiver (Amsterdam)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Equity research at Fidelity</a:t>
            </a:r>
            <a:endParaRPr lang="en-US" sz="1100" dirty="0"/>
          </a:p>
        </p:txBody>
      </p:sp>
      <p:sp>
        <p:nvSpPr>
          <p:cNvPr id="26" name="Text 18"/>
          <p:cNvSpPr txBox="1"/>
          <p:nvPr/>
        </p:nvSpPr>
        <p:spPr>
          <a:xfrm>
            <a:off x="9184919" y="4882896"/>
            <a:ext cx="226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 Mathematics</a:t>
            </a:r>
            <a:endParaRPr lang="en-US" sz="10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SCIE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669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founders of Scale AI, Mercor and AfterQuery all started around 20.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59618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Returns for their first-round investors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7589520" y="5614416"/>
            <a:ext cx="13511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17,000x</a:t>
            </a:r>
            <a:endParaRPr lang="en-US" sz="2200" dirty="0"/>
          </a:p>
        </p:txBody>
      </p:sp>
      <p:sp>
        <p:nvSpPr>
          <p:cNvPr id="30" name="Text 22"/>
          <p:cNvSpPr txBox="1"/>
          <p:nvPr/>
        </p:nvSpPr>
        <p:spPr>
          <a:xfrm>
            <a:off x="7589520" y="5961888"/>
            <a:ext cx="1351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Scale AI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8940698" y="5614416"/>
            <a:ext cx="13511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40x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8940698" y="5961888"/>
            <a:ext cx="1351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Mercor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10291877" y="5614416"/>
            <a:ext cx="13511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1,800x</a:t>
            </a:r>
            <a:endParaRPr lang="en-US" sz="2200" dirty="0"/>
          </a:p>
        </p:txBody>
      </p:sp>
      <p:sp>
        <p:nvSpPr>
          <p:cNvPr id="34" name="Text 26"/>
          <p:cNvSpPr txBox="1"/>
          <p:nvPr/>
        </p:nvSpPr>
        <p:spPr>
          <a:xfrm>
            <a:off x="10291877" y="5961888"/>
            <a:ext cx="13511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AfterQuery</a:t>
            </a:r>
            <a:endParaRPr lang="en-US" sz="900" dirty="0"/>
          </a:p>
        </p:txBody>
      </p:sp>
      <p:pic>
        <p:nvPicPr>
          <p:cNvPr id="35" name="Image 6" descr="SimRe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7" name="Text 2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Why now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AI’s next leap needs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feedback from real work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, not more text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2026–2032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21408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Public human text is projected to run out in this window (Epoch AI, 80% confidence interval).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950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&gt;$1B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56432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What Anthropic reportedly discussed spending on training environments within a year (Sep 2025).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2452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27×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9145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Growth in Mercor’s gross run-rate revenue: from $75M to $2B in 16 months (including payouts to experts).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554480"/>
            <a:ext cx="5653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 gross run-rate</a:t>
            </a:r>
            <a:r>
              <a:rPr lang="en-US" altLang="en-US" sz="12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16 months, 27×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3738" y="3233999"/>
            <a:ext cx="621911" cy="39553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2959679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$75M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3346704"/>
            <a:ext cx="131362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Feb ’25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4485" y="3009865"/>
            <a:ext cx="621911" cy="263687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28627" y="2735545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$500M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28627" y="3346704"/>
            <a:ext cx="131362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Sep ’25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505232" y="2872747"/>
            <a:ext cx="621911" cy="400805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59374" y="2598427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$760M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59374" y="3346704"/>
            <a:ext cx="131362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Dec ’25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635979" y="2746177"/>
            <a:ext cx="621911" cy="527375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90121" y="2471857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$1B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290121" y="3346704"/>
            <a:ext cx="131362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Early ’26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766726" y="2218802"/>
            <a:ext cx="621911" cy="105475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20868" y="1944482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$2B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420868" y="3346704"/>
            <a:ext cx="131362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Jun ’26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3895344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Even the fastest-growing company has barely started.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4261104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</a:t>
            </a:r>
            <a:endParaRPr lang="en-US" sz="1100" dirty="0"/>
          </a:p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Jun ’26, gross run-rate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58200" y="4357665"/>
            <a:ext cx="45432" cy="245791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595072" y="4261104"/>
            <a:ext cx="313942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$2B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989320" y="4700016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Training data and RL environments</a:t>
            </a:r>
            <a:endParaRPr lang="en-US" sz="1100" dirty="0"/>
          </a:p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50+ companies, 2026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458200" y="4796577"/>
            <a:ext cx="193087" cy="245791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42727" y="4700016"/>
            <a:ext cx="299176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~$8.5B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51389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Industry estimate</a:t>
            </a:r>
            <a:endParaRPr lang="en-US" sz="1100" dirty="0"/>
          </a:p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annual spend within two years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458200" y="5235489"/>
            <a:ext cx="2271607" cy="245791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821247" y="5138928"/>
            <a:ext cx="91324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$100B</a:t>
            </a:r>
            <a:r>
              <a:rPr lang="en-US" altLang="en-US" sz="13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779008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 (2024); The Information via TechCrunch (Sep 2025); Mercor: TechCrunch, Sacra, Dealroom (gross); training data and RL environments: Menlo Ventures market map (Jul 2026); $100B+: micro1 CEO Ali Ansari via Norwest (Mar 2026), an industry estimate.</a:t>
            </a:r>
            <a:endParaRPr lang="en-US" sz="900" dirty="0"/>
          </a:p>
        </p:txBody>
      </p:sp>
      <p:pic>
        <p:nvPicPr>
          <p:cNvPr id="37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that aces the test still can’t be trusted with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real job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Training tasks have answer keys; real work doesn’t.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55080" y="1783080"/>
            <a:ext cx="5287975" cy="3200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00200" y="19659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Passes the test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47688" y="19659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Fails the job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945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19456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Writes a strategy that reads like a pro’s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21945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6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647688" y="2194560"/>
            <a:ext cx="4830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Loses money on a real market day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1089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Finance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10896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Produces books that look finished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3108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6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647688" y="3108960"/>
            <a:ext cx="4830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numbers don’t balance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233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Software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02336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Ships code that passes today’s tests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40233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6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4023360"/>
            <a:ext cx="4830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Breaks at the next release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85232"/>
            <a:ext cx="11094415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more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autonomous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the agent, the costlier a bad grader:</a:t>
            </a:r>
            <a:endParaRPr lang="en-US" sz="2000" dirty="0"/>
          </a:p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companies won’t deploy it, and labs waste compute.</a:t>
            </a:r>
            <a:endParaRPr lang="en-US" sz="2000" dirty="0"/>
          </a:p>
        </p:txBody>
      </p:sp>
      <p:pic>
        <p:nvPicPr>
          <p:cNvPr id="21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The insight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Every leap in AI has come from an upgrade in its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feedback signal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36444" cy="301752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21243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Gen 1   </a:t>
            </a: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Internet data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121408"/>
            <a:ext cx="21243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Imitation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24912"/>
            <a:ext cx="21243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Models learn to copy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419856"/>
            <a:ext cx="21243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that can talk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67964" y="1572768"/>
            <a:ext cx="2636444" cy="301752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23996" y="1828800"/>
            <a:ext cx="21243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Gen 2   </a:t>
            </a: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Human preference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23996" y="2121408"/>
            <a:ext cx="21243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Alignment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623996" y="2724912"/>
            <a:ext cx="21243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Humans score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623996" y="3419856"/>
            <a:ext cx="21243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Helpful assistants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187288" y="1572768"/>
            <a:ext cx="2636444" cy="301752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3320" y="1828800"/>
            <a:ext cx="21243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Gen 3   </a:t>
            </a: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Verifiable answers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43320" y="2121408"/>
            <a:ext cx="21243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Verification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6443320" y="2724912"/>
            <a:ext cx="21243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Models solve by the rules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3320" y="3419856"/>
            <a:ext cx="21243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Reasoning models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06611" y="1572768"/>
            <a:ext cx="2636444" cy="3017520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62643" y="1828800"/>
            <a:ext cx="21243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Gen 4   </a:t>
            </a:r>
            <a:r>
              <a:rPr lang="en-US" altLang="en-US" sz="1000" b="1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Real-world feedback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262643" y="2121408"/>
            <a:ext cx="21243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Practice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262643" y="2724912"/>
            <a:ext cx="21243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enters the real world and the real economy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262643" y="3419856"/>
            <a:ext cx="21243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Autonomy and</a:t>
            </a:r>
            <a:endParaRPr lang="en-US" sz="1800" dirty="0"/>
          </a:p>
          <a:p>
            <a:pPr indent="0" marL="0">
              <a:buNone/>
            </a:pPr>
            <a:r>
              <a:rPr lang="en-US" altLang="en-US" sz="18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self-improvement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262643" y="4096512"/>
            <a:ext cx="21243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Just beginning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138928"/>
            <a:ext cx="11094415" cy="531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AI’s next feedback signal is rooted in </a:t>
            </a:r>
            <a:r>
              <a:rPr lang="en-US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real world</a:t>
            </a: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.</a:t>
            </a:r>
            <a:endParaRPr lang="en-US" sz="3000" dirty="0"/>
          </a:p>
        </p:txBody>
      </p:sp>
      <p:pic>
        <p:nvPicPr>
          <p:cNvPr id="26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What we do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Every action gets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real-world feedback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. AI improves from each one.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Environment, grading and expert judgment in one world: AI practices real work and learns from every result.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393338" cy="1024128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84248"/>
            <a:ext cx="28446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environment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04872"/>
            <a:ext cx="28446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Real work, rebuilt for practice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941978" y="1783080"/>
            <a:ext cx="457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99178" y="1783080"/>
            <a:ext cx="3393338" cy="1024128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3498" y="1984248"/>
            <a:ext cx="28446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Outcome grading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2404872"/>
            <a:ext cx="28446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Scored by what actually happens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92517" y="1783080"/>
            <a:ext cx="457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49717" y="1783080"/>
            <a:ext cx="3393338" cy="1024128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24037" y="1984248"/>
            <a:ext cx="28446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Expert feedback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524037" y="2404872"/>
            <a:ext cx="28446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judgment behind real work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821528" y="284378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=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48640" y="3209544"/>
            <a:ext cx="11094415" cy="914400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209544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SimReal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3209544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 world that always answers back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720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loop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28032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acts</a:t>
            </a:r>
            <a:r>
              <a:rPr lang="en-US" altLang="en-US" sz="2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→   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world answers back</a:t>
            </a:r>
            <a:r>
              <a:rPr lang="en-US" altLang="en-US" sz="2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→   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trains on the result</a:t>
            </a:r>
            <a:r>
              <a:rPr lang="en-US" altLang="en-US" sz="2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→  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improves itself</a:t>
            </a:r>
            <a:endParaRPr lang="en-US" sz="2000" dirty="0"/>
          </a:p>
        </p:txBody>
      </p:sp>
      <p:pic>
        <p:nvPicPr>
          <p:cNvPr id="22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Flagship  ·  Self-improvement (RSI)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6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Xitadel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that teaches itself to trade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482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Real markets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40280" y="204825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trades real markets, against top human traders.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2374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Market as judge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252374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market settles every trade.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9923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Learns from results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299923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reviews every day’s P&amp;L; every round makes the next one stronger.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57600"/>
            <a:ext cx="5897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We trained the open-source model Qwen3.8-27B inside Xitadel. On real market data it had never seen, its trading performance rose 12%, repeated across multiple independent runs.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35424"/>
            <a:ext cx="5897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We have shown AI can make itself better in a real market.</a:t>
            </a:r>
            <a:endParaRPr lang="en-US" sz="1700" dirty="0"/>
          </a:p>
          <a:p>
            <a:pPr indent="0" marL="0">
              <a:buNone/>
            </a:pPr>
            <a:r>
              <a:rPr lang="en-US" altLang="en-US" sz="17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Next: more strategies, more markets.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812280" y="868680"/>
            <a:ext cx="4830775" cy="434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04888" y="1124712"/>
            <a:ext cx="33311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round starts from the last one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436047" y="11430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0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Schematic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04888" y="1527048"/>
            <a:ext cx="732069" cy="329184"/>
          </a:xfrm>
          <a:prstGeom prst="rect">
            <a:avLst/>
          </a:prstGeom>
          <a:solidFill>
            <a:srgbClr val="E2E0D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04888" y="1527048"/>
            <a:ext cx="7320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Base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836957" y="1527048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83261" y="1527048"/>
            <a:ext cx="732069" cy="329184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83261" y="1527048"/>
            <a:ext cx="7320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Round 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715329" y="1527048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61633" y="1527048"/>
            <a:ext cx="732069" cy="329184"/>
          </a:xfrm>
          <a:prstGeom prst="rect">
            <a:avLst/>
          </a:prstGeom>
          <a:solidFill>
            <a:srgbClr val="E9B08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861633" y="1527048"/>
            <a:ext cx="7320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Round 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593702" y="1527048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740006" y="1527048"/>
            <a:ext cx="732069" cy="329184"/>
          </a:xfrm>
          <a:prstGeom prst="rect">
            <a:avLst/>
          </a:prstGeom>
          <a:solidFill>
            <a:srgbClr val="E27A3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40006" y="1527048"/>
            <a:ext cx="7320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Round 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472075" y="1527048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618379" y="1527048"/>
            <a:ext cx="732069" cy="329184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18379" y="1527048"/>
            <a:ext cx="7320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Round 4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104888" y="2240280"/>
            <a:ext cx="42455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Measured result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104888" y="24780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44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025128" y="2569464"/>
            <a:ext cx="2325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Trading performance on real market data it had never seen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335584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Base model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93608" y="3456432"/>
            <a:ext cx="2125593" cy="256032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510641" y="3355848"/>
            <a:ext cx="9312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100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104888" y="381304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After Xitadel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93608" y="3913632"/>
            <a:ext cx="2380664" cy="25603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765712" y="3813048"/>
            <a:ext cx="676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112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04888" y="4608576"/>
            <a:ext cx="42455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Trading performance indexed to the base model = 100; repeated across independent runs (controlled experiment, Qwen3.8-27B).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577840"/>
            <a:ext cx="11094415" cy="372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Whoever owns the best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world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owns the best AI in every field. We built one, and it works.</a:t>
            </a:r>
            <a:endParaRPr lang="en-US" sz="2000" dirty="0"/>
          </a:p>
        </p:txBody>
      </p:sp>
      <p:pic>
        <p:nvPicPr>
          <p:cNvPr id="41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Product line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same method already works in AI research and forecasting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field needs its own training world. We build fast, and in public.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10048" cy="3246120"/>
          </a:xfrm>
          <a:prstGeom prst="rect">
            <a:avLst/>
          </a:prstGeom>
          <a:solidFill>
            <a:srgbClr val="F2F1EC"/>
          </a:solidFill>
          <a:ln/>
        </p:spPr>
      </p:sp>
      <p:pic>
        <p:nvPicPr>
          <p:cNvPr id="6" name="Image 0" descr="SimReal-ML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344" y="1947672"/>
            <a:ext cx="2834640" cy="1417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77824" y="3575304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SimReal-MLBench</a:t>
            </a:r>
            <a:r>
              <a:rPr lang="en-US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AI researcher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014216"/>
            <a:ext cx="475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runs a whole research project on its own, from data to experiments to results: 60 real tasks across 7 data types.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4617720"/>
            <a:ext cx="475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Goal: AI that improves AI, faster and faster.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33008" y="1783080"/>
            <a:ext cx="5410048" cy="3246120"/>
          </a:xfrm>
          <a:prstGeom prst="rect">
            <a:avLst/>
          </a:prstGeom>
          <a:solidFill>
            <a:srgbClr val="F2F1EC"/>
          </a:solidFill>
          <a:ln/>
        </p:spPr>
      </p:sp>
      <p:pic>
        <p:nvPicPr>
          <p:cNvPr id="11" name="Image 1" descr="Future Prediction B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0711" y="1947672"/>
            <a:ext cx="2834640" cy="1417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62192" y="3575304"/>
            <a:ext cx="475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Future Prediction Bench</a:t>
            </a:r>
            <a:r>
              <a:rPr lang="en-US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AI forecaster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562192" y="4014216"/>
            <a:ext cx="475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calls real-world events before they happen, from sports to earthquakes, and is scored once the outcome is known.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562192" y="4617720"/>
            <a:ext cx="475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Goal: judgment that holds up in the real world.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2852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 products in 14 days, no outside capital.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6509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Public preview: github.com/Simreal-AI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53583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74920" y="5285232"/>
            <a:ext cx="1559738" cy="585216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202936" y="5303520"/>
            <a:ext cx="1376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Month-End Close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Financial close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744386" y="5285232"/>
            <a:ext cx="1559738" cy="585216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872402" y="5303520"/>
            <a:ext cx="1376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SWE-Forward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Software engineering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8413852" y="5285232"/>
            <a:ext cx="1559738" cy="585216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8541868" y="5303520"/>
            <a:ext cx="1376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MathmoBench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Math proofs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83317" y="5285232"/>
            <a:ext cx="1559738" cy="585216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0211333" y="5303520"/>
            <a:ext cx="1376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Puzzle Benchmark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Logical reasoning</a:t>
            </a:r>
            <a:endParaRPr lang="en-US" sz="1300" dirty="0"/>
          </a:p>
        </p:txBody>
      </p:sp>
      <p:pic>
        <p:nvPicPr>
          <p:cNvPr id="26" name="Image 2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10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Quality and anti-cheating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400 cheating attacks,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0 successes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If grading has a loophole, models exploit it; every exploitable task wastes a lab’s training compute.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How we do it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08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test is attacked before launch; grading looks only at real outcomes, never at another AI’s opinion.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What customers get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3891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Scores they can trust, and compute spent on real learning.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29400" y="1481328"/>
            <a:ext cx="2415388" cy="1828800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1700784"/>
            <a:ext cx="2049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0 / 400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885432" y="2395728"/>
            <a:ext cx="1958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cheating attacks succeeded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85432" y="2944368"/>
            <a:ext cx="1958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Puzzle Benchmark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227668" y="1481328"/>
            <a:ext cx="2415388" cy="18288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483700" y="1700784"/>
            <a:ext cx="2049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6 </a:t>
            </a:r>
            <a:r>
              <a:rPr lang="en-US" altLang="en-US" sz="4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9483700" y="2395728"/>
            <a:ext cx="1958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grading loopholes, across two controlled rounds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483700" y="2944368"/>
            <a:ext cx="1958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Month-End Close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29400" y="3493008"/>
            <a:ext cx="2415388" cy="18288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85432" y="3712464"/>
            <a:ext cx="2049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709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885432" y="4407408"/>
            <a:ext cx="1958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puzzles AI cannot cheat its way through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85432" y="4956048"/>
            <a:ext cx="1958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Puzzle Benchmark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227668" y="3493008"/>
            <a:ext cx="2415388" cy="18288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483700" y="3712464"/>
            <a:ext cx="2049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~$2,400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9483700" y="4407408"/>
            <a:ext cx="1958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compute cost per RL task at a frontier lab, in US$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483700" y="4956048"/>
            <a:ext cx="1958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Mechanize estimate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8521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Red-team logs are available in due diligence. Compute estimate: Mechanize, cited in Epoch AI, An FAQ on RL environments (Jan 2026).</a:t>
            </a:r>
            <a:endParaRPr lang="en-US" sz="900" dirty="0"/>
          </a:p>
        </p:txBody>
      </p:sp>
      <p:pic>
        <p:nvPicPr>
          <p:cNvPr id="27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11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Business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Build once, earn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recurring revenue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with every model upgrade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Core business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73936"/>
            <a:ext cx="256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Expert data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984"/>
            <a:ext cx="256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Demonstrations and judgments from professionals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90824" y="1773936"/>
            <a:ext cx="256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RL training environments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390824" y="2157984"/>
            <a:ext cx="256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Real work, rebuilt so agents can practice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3008" y="1773936"/>
            <a:ext cx="256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Evaluation and red-teaming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233008" y="2157984"/>
            <a:ext cx="256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Private evals, public benchmarks, adversarial tests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075191" y="1773936"/>
            <a:ext cx="256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Enterprise custom work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075191" y="2157984"/>
            <a:ext cx="256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Environments built around a company’s own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11094415" cy="914400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" y="28346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Only us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RSI-as-a-Service (RaaS)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2834640"/>
            <a:ext cx="5242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model upgrade comes back to our environments to keep training, which makes it recurring revenue.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233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How labs pay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42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Each new model a lab trains comes back for another round.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5431536"/>
            <a:ext cx="1531620" cy="512064"/>
          </a:xfrm>
          <a:prstGeom prst="rect">
            <a:avLst/>
          </a:prstGeom>
          <a:solidFill>
            <a:srgbClr val="E2E0D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5522976"/>
            <a:ext cx="13487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Free benchmark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1700" y="5157216"/>
            <a:ext cx="1531620" cy="786384"/>
          </a:xfrm>
          <a:prstGeom prst="rect">
            <a:avLst/>
          </a:prstGeom>
          <a:solidFill>
            <a:srgbClr val="D9D6C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99716" y="5248656"/>
            <a:ext cx="13487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Private evaluation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94760" y="4882896"/>
            <a:ext cx="1531620" cy="1060704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22776" y="4974336"/>
            <a:ext cx="13487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Environment license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17820" y="4608576"/>
            <a:ext cx="1531620" cy="1335024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45836" y="4700016"/>
            <a:ext cx="13487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FAF9F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100" b="1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Continuous training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4114800"/>
            <a:ext cx="4050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Six to seven figures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4809744"/>
            <a:ext cx="4050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US$ per lab contract, per quarter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Exclusive licenses at 4–5× (industry reference, Epoch AI)</a:t>
            </a:r>
            <a:endParaRPr lang="en-US" sz="1200" dirty="0"/>
          </a:p>
        </p:txBody>
      </p:sp>
      <p:pic>
        <p:nvPicPr>
          <p:cNvPr id="2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r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</a:t>
            </a:r>
            <a:r>
              <a:rPr lang="en-US" altLang="en-US" sz="1100" b="1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Traction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Two weeks in, and partners are already lining up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359152"/>
            <a:ext cx="2476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frontier AI labs in discussions; target: first paying customer by month 3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390824" y="1572768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7,000</a:t>
            </a:r>
            <a:r>
              <a:rPr lang="en-US" altLang="en-US" sz="44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90824" y="2359152"/>
            <a:ext cx="2476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experts on the waitlist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233008" y="1572768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500</a:t>
            </a:r>
            <a:r>
              <a:rPr lang="en-US" altLang="en-US" sz="44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33008" y="2359152"/>
            <a:ext cx="2476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GitHub stars in week one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075191" y="1572768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75191" y="2359152"/>
            <a:ext cx="2476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top-tier Silicon Valley angels reached out first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675888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People from the world’s top trading firms already support us.</a:t>
            </a:r>
            <a:endParaRPr lang="en-US" sz="2200" dirty="0"/>
          </a:p>
        </p:txBody>
      </p:sp>
      <p:pic>
        <p:nvPicPr>
          <p:cNvPr id="14" name="Image 1" descr="jane-street-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88" y="4680303"/>
            <a:ext cx="856188" cy="332034"/>
          </a:xfrm>
          <a:prstGeom prst="rect">
            <a:avLst/>
          </a:prstGeom>
        </p:spPr>
      </p:pic>
      <p:pic>
        <p:nvPicPr>
          <p:cNvPr id="15" name="Image 2" descr="imc-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463" y="4731597"/>
            <a:ext cx="1239004" cy="229445"/>
          </a:xfrm>
          <a:prstGeom prst="rect">
            <a:avLst/>
          </a:prstGeom>
        </p:spPr>
      </p:pic>
      <p:pic>
        <p:nvPicPr>
          <p:cNvPr id="16" name="Image 3" descr="citadel-securities-pap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176" y="4659621"/>
            <a:ext cx="761343" cy="373397"/>
          </a:xfrm>
          <a:prstGeom prst="rect">
            <a:avLst/>
          </a:prstGeom>
        </p:spPr>
      </p:pic>
      <p:pic>
        <p:nvPicPr>
          <p:cNvPr id="17" name="Image 4" descr="optiver-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9003" y="4720693"/>
            <a:ext cx="1131456" cy="25125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424172" y="4663440"/>
            <a:ext cx="22188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700" b="1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Polymarket</a:t>
            </a:r>
            <a:endParaRPr lang="en-US" sz="170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594360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Logos show where supporters work. They do not imply endorsement by these firms.</a:t>
            </a:r>
            <a:endParaRPr lang="en-US" sz="800" dirty="0"/>
          </a:p>
        </p:txBody>
      </p:sp>
      <p:pic>
        <p:nvPicPr>
          <p:cNvPr id="20" name="Image 5" descr="SimRe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2" name="Text 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13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Expert network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200,000</a:t>
            </a:r>
            <a:r>
              <a:rPr lang="en-US" altLang="en-US" sz="2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reachable, verified experts across 21 top universities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training world is graded to standards set by people who actually know the work.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4023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6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200,000</a:t>
            </a:r>
            <a:r>
              <a:rPr lang="en-US" altLang="en-US" sz="6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reachable, verified experts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top universities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011680"/>
            <a:ext cx="6979615" cy="3328416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175564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Universities in our network include</a:t>
            </a:r>
            <a:endParaRPr lang="en-US" sz="1000" dirty="0"/>
          </a:p>
        </p:txBody>
      </p:sp>
      <p:pic>
        <p:nvPicPr>
          <p:cNvPr id="11" name="Image 0" descr="harvard-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059" y="2374149"/>
            <a:ext cx="675667" cy="445495"/>
          </a:xfrm>
          <a:prstGeom prst="rect">
            <a:avLst/>
          </a:prstGeom>
        </p:spPr>
      </p:pic>
      <p:pic>
        <p:nvPicPr>
          <p:cNvPr id="12" name="Image 1" descr="stanford-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476" y="2322576"/>
            <a:ext cx="548640" cy="548640"/>
          </a:xfrm>
          <a:prstGeom prst="rect">
            <a:avLst/>
          </a:prstGeom>
        </p:spPr>
      </p:pic>
      <p:pic>
        <p:nvPicPr>
          <p:cNvPr id="13" name="Image 2" descr="mit-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425" y="2394756"/>
            <a:ext cx="744548" cy="404280"/>
          </a:xfrm>
          <a:prstGeom prst="rect">
            <a:avLst/>
          </a:prstGeom>
        </p:spPr>
      </p:pic>
      <p:pic>
        <p:nvPicPr>
          <p:cNvPr id="14" name="Image 3" descr="oxford-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6406" y="2447646"/>
            <a:ext cx="1008395" cy="298500"/>
          </a:xfrm>
          <a:prstGeom prst="rect">
            <a:avLst/>
          </a:prstGeom>
        </p:spPr>
      </p:pic>
      <p:pic>
        <p:nvPicPr>
          <p:cNvPr id="15" name="Image 4" descr="cambridge-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4932" y="3417257"/>
            <a:ext cx="581921" cy="517263"/>
          </a:xfrm>
          <a:prstGeom prst="rect">
            <a:avLst/>
          </a:prstGeom>
        </p:spPr>
      </p:pic>
      <p:pic>
        <p:nvPicPr>
          <p:cNvPr id="16" name="Image 5" descr="princeton-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5513" y="3532629"/>
            <a:ext cx="1050566" cy="286518"/>
          </a:xfrm>
          <a:prstGeom prst="rect">
            <a:avLst/>
          </a:prstGeom>
        </p:spPr>
      </p:pic>
      <p:pic>
        <p:nvPicPr>
          <p:cNvPr id="17" name="Image 6" descr="yale-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1926" y="3436061"/>
            <a:ext cx="627548" cy="479654"/>
          </a:xfrm>
          <a:prstGeom prst="rect">
            <a:avLst/>
          </a:prstGeom>
        </p:spPr>
      </p:pic>
      <p:pic>
        <p:nvPicPr>
          <p:cNvPr id="18" name="Image 7" descr="berkeley-in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77336" y="3523331"/>
            <a:ext cx="986535" cy="305114"/>
          </a:xfrm>
          <a:prstGeom prst="rect">
            <a:avLst/>
          </a:prstGeom>
        </p:spPr>
      </p:pic>
      <p:pic>
        <p:nvPicPr>
          <p:cNvPr id="19" name="Image 8" descr="tsinghua-in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4853" y="4598445"/>
            <a:ext cx="962077" cy="312871"/>
          </a:xfrm>
          <a:prstGeom prst="rect">
            <a:avLst/>
          </a:prstGeom>
        </p:spPr>
      </p:pic>
      <p:pic>
        <p:nvPicPr>
          <p:cNvPr id="20" name="Image 9" descr="columbia-in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523" y="4527721"/>
            <a:ext cx="662546" cy="454317"/>
          </a:xfrm>
          <a:prstGeom prst="rect">
            <a:avLst/>
          </a:prstGeom>
        </p:spPr>
      </p:pic>
      <p:pic>
        <p:nvPicPr>
          <p:cNvPr id="21" name="Image 10" descr="uchicago-in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1940" y="4618988"/>
            <a:ext cx="1107519" cy="271784"/>
          </a:xfrm>
          <a:prstGeom prst="rect">
            <a:avLst/>
          </a:prstGeom>
        </p:spPr>
      </p:pic>
      <p:pic>
        <p:nvPicPr>
          <p:cNvPr id="22" name="Image 11" descr="duke-ink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53823" y="4574326"/>
            <a:ext cx="833560" cy="36110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548640" y="594360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Logos identify where members of our network studied or work. They do not imply endorsement.</a:t>
            </a:r>
            <a:endParaRPr lang="en-US" sz="800" dirty="0"/>
          </a:p>
        </p:txBody>
      </p:sp>
      <p:pic>
        <p:nvPicPr>
          <p:cNvPr id="24" name="Image 12" descr="SimRe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6" name="Text 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14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Today: AI labs.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Tomorrow: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every company that deploys AI.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Today  ·  AI labs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73936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data and RL environments: ~$8.5B a year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Revenue of leading companies, US$ billions, latest reported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1401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91640" y="2487168"/>
            <a:ext cx="3220278" cy="201168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03358" y="2414016"/>
            <a:ext cx="1214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$2.0B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76148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Surge AI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691640" y="2834640"/>
            <a:ext cx="1932167" cy="201168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15247" y="2761488"/>
            <a:ext cx="250267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$1.2B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1089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Snorkel AI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691640" y="3182112"/>
            <a:ext cx="603802" cy="201168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386882" y="3108960"/>
            <a:ext cx="38310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$0.375B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5643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AfterQuery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691640" y="3529584"/>
            <a:ext cx="161014" cy="201168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944094" y="3456432"/>
            <a:ext cx="4273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$0.1B</a:t>
            </a:r>
            <a:r>
              <a:rPr lang="en-US" altLang="en-US" sz="13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77056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Menlo Ventures market map (Jul 2026). Mercor: gross run-rate, Jun 2026  ·  Surge AI: 2024 revenue  ·  Snorkel AI: run-rate, Sep 2026  ·  AfterQuery: run-rate, Apr 2026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536192"/>
            <a:ext cx="5059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Tomorrow  ·  every company that deploys AI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1773936"/>
            <a:ext cx="5059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agent market: $7.9B in 2025 </a:t>
            </a:r>
            <a:r>
              <a:rPr lang="en-US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~$111B by 2032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678543" y="3560754"/>
            <a:ext cx="442695" cy="78558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92240" y="3286434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$7.9B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712464"/>
            <a:ext cx="8153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2025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0965" y="3524749"/>
            <a:ext cx="442695" cy="114563"/>
          </a:xfrm>
          <a:prstGeom prst="rect">
            <a:avLst/>
          </a:prstGeom>
          <a:solidFill>
            <a:srgbClr val="D9D6C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24662" y="3250429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$11.6B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24662" y="3712464"/>
            <a:ext cx="8153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43387" y="3472277"/>
            <a:ext cx="442695" cy="167035"/>
          </a:xfrm>
          <a:prstGeom prst="rect">
            <a:avLst/>
          </a:prstGeom>
          <a:solidFill>
            <a:srgbClr val="D9D6C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57084" y="3197957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$16.8B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757084" y="3712464"/>
            <a:ext cx="8153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575809" y="3395703"/>
            <a:ext cx="442695" cy="243609"/>
          </a:xfrm>
          <a:prstGeom prst="rect">
            <a:avLst/>
          </a:prstGeom>
          <a:solidFill>
            <a:srgbClr val="C4C0B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89506" y="3121383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~$25B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389506" y="3712464"/>
            <a:ext cx="8153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2028E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208231" y="3284116"/>
            <a:ext cx="442695" cy="355196"/>
          </a:xfrm>
          <a:prstGeom prst="rect">
            <a:avLst/>
          </a:prstGeom>
          <a:solidFill>
            <a:srgbClr val="D9D6C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021928" y="3009796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$35.8B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9021928" y="3712464"/>
            <a:ext cx="8153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29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840653" y="3121346"/>
            <a:ext cx="442695" cy="517966"/>
          </a:xfrm>
          <a:prstGeom prst="rect">
            <a:avLst/>
          </a:prstGeom>
          <a:solidFill>
            <a:srgbClr val="D9D6C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654350" y="2847026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$52.2B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654350" y="3712464"/>
            <a:ext cx="8153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30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473075" y="2884086"/>
            <a:ext cx="442695" cy="755226"/>
          </a:xfrm>
          <a:prstGeom prst="rect">
            <a:avLst/>
          </a:prstGeom>
          <a:solidFill>
            <a:srgbClr val="D9D6C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286771" y="2609766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$76.1B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286771" y="3712464"/>
            <a:ext cx="8153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31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1105497" y="2538015"/>
            <a:ext cx="442695" cy="1101297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919193" y="2263695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~$111B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0919193" y="3712464"/>
            <a:ext cx="8153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2032E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0" y="3877056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Precedence Research; 2026–2032 extrapolated at its 45.8% CAGR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44439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Economic value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46817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Generative AI could create $2.6–4.4T of value a year</a:t>
            </a:r>
            <a:endParaRPr lang="en-US" sz="17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029200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Value created, not spend  ·  McKinsey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0" y="44439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Category signal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0" y="4700016"/>
            <a:ext cx="5059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Mercor, AfterQuery, Snorkel and UniPat each do one piece of the loop, and each is valued in the billions.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SimReal combines the pieces into one self-improving loop.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5669280"/>
            <a:ext cx="11094415" cy="372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Lab training is our entry point. The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autonomous economy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is our total addressable market.</a:t>
            </a:r>
            <a:endParaRPr lang="en-US" sz="2000" dirty="0"/>
          </a:p>
        </p:txBody>
      </p:sp>
      <p:pic>
        <p:nvPicPr>
          <p:cNvPr id="53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54" name="Text 5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15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Competition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Others sell pieces. We sell the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whole loop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that makes AI better.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400800" cy="950976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Expert data platforms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Mercor, Surge, AfterQuery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481328"/>
            <a:ext cx="3337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Expert demonstrations and judgments, graded by human opinion.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42032"/>
            <a:ext cx="6400800" cy="950976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0662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evaluation companies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540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UniPat and others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3337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Measure how good a model is today; the score is the product.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02736"/>
            <a:ext cx="6400800" cy="950976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7673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Labs in-house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114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Frontier labs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3602736"/>
            <a:ext cx="3337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Only build for the work they already know.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6400800" cy="950976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755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Data, environments, outcome grading, self-improvement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4663440"/>
            <a:ext cx="3337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We don’t just score AI, we make it better: every score becomes the next round of training.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1481328"/>
            <a:ext cx="4327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Why we win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1810512"/>
            <a:ext cx="4327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Our own assets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2157984"/>
            <a:ext cx="4327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Environments, grading systems and the outcome data from every run are all ours.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2761488"/>
            <a:ext cx="4327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Stickiness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3108960"/>
            <a:ext cx="4327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model upgrade is compared and retrained on the same environments.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3712464"/>
            <a:ext cx="4327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Speed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4059936"/>
            <a:ext cx="4327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7 products in 14 days. The faster AI changes, the more our speed counts.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4663440"/>
            <a:ext cx="4327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Independence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5010912"/>
            <a:ext cx="4327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No equity from model companies, so every lab can buy from us with confidence.</a:t>
            </a:r>
            <a:endParaRPr lang="en-US" sz="1100" dirty="0"/>
          </a:p>
        </p:txBody>
      </p:sp>
      <p:pic>
        <p:nvPicPr>
          <p:cNvPr id="2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16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The 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This market’s breakouts started young and moved fast.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So do we.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36444" cy="3657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700784"/>
            <a:ext cx="212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Scale AI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048256"/>
            <a:ext cx="21243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$29B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06624"/>
            <a:ext cx="21243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valuation, 2025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163824"/>
            <a:ext cx="21243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Founded in 2016 by Alexandr Wang, then 19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MIT dropout, Y Combinator alum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Once the youngest self-made billionaire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67964" y="1481328"/>
            <a:ext cx="2636444" cy="3657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23996" y="1700784"/>
            <a:ext cx="212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Mercor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23996" y="2048256"/>
            <a:ext cx="21243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$10B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623996" y="2706624"/>
            <a:ext cx="21243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valuation, 2025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23996" y="3163824"/>
            <a:ext cx="21243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Founded by three high-school friends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Youngest self-made billionaires, at 22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Valuation up ~40× in 13 months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7288" y="1481328"/>
            <a:ext cx="2636444" cy="3657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3320" y="1700784"/>
            <a:ext cx="212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AfterQuery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43320" y="2048256"/>
            <a:ext cx="21243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$3.2B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443320" y="2706624"/>
            <a:ext cx="21243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reported, 18 months after YC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43320" y="3163824"/>
            <a:ext cx="21243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Founded at about 21 by two high-school friends, still in college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 co-founder interned at Citadel Securities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Fastest unicorn in YC history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06611" y="1481328"/>
            <a:ext cx="2636444" cy="3657600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62643" y="1700784"/>
            <a:ext cx="212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62643" y="2048256"/>
            <a:ext cx="21243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 days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9262643" y="2706624"/>
            <a:ext cx="21243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 ship 7 products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262643" y="3163824"/>
            <a:ext cx="21243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Four quants, average age 21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Final-year students at Cambridge, LSE and Duke</a:t>
            </a:r>
            <a:endParaRPr lang="en-US" sz="1100" dirty="0"/>
          </a:p>
          <a:p>
            <a:pPr indent="0" marL="0">
              <a:spcAft>
                <a:spcPts val="1000"/>
              </a:spcAft>
              <a:buNone/>
            </a:pPr>
            <a:r>
              <a:rPr lang="en-US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Quant experience: Jane Street, Citadel, D. E. Shaw, Optiver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504688"/>
            <a:ext cx="11094415" cy="372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Same starting point, same market. We have been here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since day one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.</a:t>
            </a:r>
            <a:endParaRPr lang="en-US" sz="2000" dirty="0"/>
          </a:p>
        </p:txBody>
      </p:sp>
      <p:pic>
        <p:nvPicPr>
          <p:cNvPr id="25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17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The ask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Raising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to fund the next 24 months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6160" cy="2651760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7824" y="17007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Seed round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199339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66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About RMB 150M  ·  24 months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737360"/>
            <a:ext cx="457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17373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environments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1737360"/>
            <a:ext cx="38249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Each new industry adds a new line of lab revenue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22576"/>
            <a:ext cx="457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32257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Experts and data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818120" y="2322576"/>
            <a:ext cx="38249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From our 7,000+ waitlist, so each world ships in weeks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907792"/>
            <a:ext cx="457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290779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Compute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2907792"/>
            <a:ext cx="38249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Training and self-improvement experiments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3493008"/>
            <a:ext cx="457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49300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Anti-cheating and security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818120" y="3493008"/>
            <a:ext cx="38249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test is attacked first, so labs trust every score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439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Milestones this round funds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681728"/>
            <a:ext cx="3423818" cy="1060704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 3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5084064"/>
            <a:ext cx="3012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First paying lab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3972458" y="4681728"/>
            <a:ext cx="4114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6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383938" y="4681728"/>
            <a:ext cx="3423818" cy="1060704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39970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 12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639970" y="5084064"/>
            <a:ext cx="3012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</a:t>
            </a:r>
            <a:r>
              <a:rPr lang="en-US" altLang="en-US" sz="17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training environments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807757" y="4681728"/>
            <a:ext cx="4114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6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219237" y="4681728"/>
            <a:ext cx="3423818" cy="1060704"/>
          </a:xfrm>
          <a:prstGeom prst="rect">
            <a:avLst/>
          </a:prstGeom>
          <a:solidFill>
            <a:srgbClr val="11111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475269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 24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475269" y="5084064"/>
            <a:ext cx="3012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</a:t>
            </a:r>
            <a:r>
              <a:rPr lang="en-US" altLang="en-US" sz="17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17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environments, 30</a:t>
            </a:r>
            <a:r>
              <a:rPr lang="en-US" altLang="en-US" sz="17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17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industries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0702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Valuation and terms to be discussed.</a:t>
            </a:r>
            <a:endParaRPr lang="en-US" sz="1100" dirty="0"/>
          </a:p>
        </p:txBody>
      </p:sp>
      <p:pic>
        <p:nvPicPr>
          <p:cNvPr id="34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Noto Serif CJK S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strument Sans"/>
        <a:ea typeface="Noto Sans CJK S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SimReal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SimReal · Seed round</dc:title>
  <dc:subject>PptxGenJS Presentation</dc:subject>
  <dc:creator>SimReal</dc:creator>
  <cp:lastModifiedBy>SimReal</cp:lastModifiedBy>
  <cp:revision>1</cp:revision>
  <dcterms:created xsi:type="dcterms:W3CDTF">2026-09-26T09:06:55Z</dcterms:created>
  <dcterms:modified xsi:type="dcterms:W3CDTF">2026-09-26T09:06:55Z</dcterms:modified>
</cp:coreProperties>
</file>