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75" r:id="rId21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2" r:id="rId18"/>
    <p:sldId id="278" r:id="rId45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55448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52044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用真实数据重建真实场景：面向AI实验室与企业的训练环境与AI数据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给AI真实的工作环境，让它反复犯错、学习、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面向AI实验室与企业：Agent轨迹、专家与评测数据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独家环境让AI自我进化（RSI）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下一步：向个人agent开放练习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3个世界已上线：交易、AI研究、事件预测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Qwen3.8-27B经Xitadel训练，在未见过的真实行情上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 </a:t>
            </a:r>
            <a:r>
              <a:rPr lang="zh-CN" sz="2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今天实验室每年采购85亿美元训练数据与RL环境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2030年训练市场约7,000亿美元，是今天的82倍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人民币（等值美元）；投后估值5亿元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收入引擎与RSI引擎各2,000万元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谁有一个行业最好的训练世界，谁就有这个行业最好的AI；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从交易出发，让AI自我进化，走向整个世界。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华尔街最残酷的交易台：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汇丰港元稳定币发行项目唯一实习生，全程协助推进香港金管局（HKMA）合规项目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参与落地Plug and Play香港首场活动（联合香港科技园）；担任强生MedTech科技峰会主持人（均200+人规模）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AI、Mercor、AfterQuery创始人都在20岁左右起步；早期投资人回报：</a:t>
            </a: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17,000倍、40倍、1,800倍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 18个月内收入涨27倍、估值涨10倍：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赛道才刚开始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收入增长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27倍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估值增长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10倍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需求增长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14倍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AI智能体市场预测：7年，79亿→约1,110亿美元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011680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AI年化收入一年增至3.75亿美元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290亿美元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86116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AI估值，Meta以143亿美元入股49%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14个月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AfterQuery从成立到年化收入1亿美元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近一半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86116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AI新训练项目已涉及RL环境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11680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AfterQuery估值：3亿→32亿美元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2032年前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786116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公开的人类文本预计被用尽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来源：Mercor（TechCrunch、Sacra、Dealroom、彭博）；AfterQuery（Business Wire、福布斯）；Snorkel AI（公司公告）；Scale AI（路透社、公司博客）；AI智能体（Precedence Research）；文本存量（Epoch AI）。详见A2。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核心洞察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AI的每一次跃迁，都来自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反馈信号的升级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第一代 · 互联网数据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模仿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模型学会抄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77240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会说话的AI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78708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第二代 · 人类偏好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对齐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人来打分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607308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607308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好用的AI助手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08776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37376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第三代 · 标准答案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验证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37376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按答案判对错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437376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437376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推理模型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038844" y="1600200"/>
            <a:ext cx="2601468" cy="2834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第四代 · 真实世界的反馈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67444" y="2039112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实践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267444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AI在真实场景中行动，真实结果为每个动作结算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267444" y="3337560"/>
            <a:ext cx="214426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67444" y="344728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自主运行与自我进化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67444" y="3886200"/>
            <a:ext cx="21442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刚刚起步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463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考满分的AI，未必能放心交付。下一代AI的进步，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要靠真实世界的反应</a:t>
            </a: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AI完成任务，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真实结果成为下一轮训练信号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834640" y="164592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用真实数据重建真实场景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834640" y="24688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按真实结果打分，不靠另一个AI的主观判断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专家反馈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834640" y="32918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提供专业判断与评分标准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834640" y="41148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同一套环境，打通评测、数据与训练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世界按真实发生的情况作出反应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按真实结果结算，留下Agent轨迹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下一轮训练：自我进化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每一轮都从上一轮出发：这就是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旗舰实证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两周，我们跑通了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全球首个做市交易的自我进化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上真实战场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828800" y="1554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回放真实交易日与订单簿，采用IMC Trading合作授权数据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市场当裁判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每笔交易由市场结算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从结果中进化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82880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每天复盘盈亏与订单，一轮比一轮强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开源模型Qwen3.8-27B训练后，</a:t>
            </a:r>
            <a:br>
              <a:rPr lang="zh-CN" sz="1250"/>
            </a:b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在未见过的真实行情上交易表现最高提升12%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3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受控实验，多次独立复现；运行记录尽调时提供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交易是第一个跑通的世界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下一步：多策略、多市场、多行业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尚无模型越过人类水平线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人类基准 80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产品矩阵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14天上线7款产品，已有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5个公开仓库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状态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回放真实交易日与订单簿，按盈亏结算；已跑通自我进化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AI研究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60个研究任务、7类数据，参照OpenAI的MLE-bench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178星标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预测真实事件，揭晓后按结果训练；数据实时接入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部分开源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让AI证明答案，而不是猜答案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749道人工编写的推理谜题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17星标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检验AI写的代码能否挺过下一个版本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以上全部在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零外部融资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下完成。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035040" y="5394960"/>
            <a:ext cx="56052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合计400星标  ·  2026年9月29日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环境与专家网络，产出三类AI数据：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Agent轨迹、专家数据、评测数据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AI在真实环境中完成多步任务的全过程：每一步动作、世界的反馈、最终结果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按真实结果标注成败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背靠21所顶尖大学的学生和校友网络：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真实工作里的示范、判断与评分标准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覆盖各行业入门岗位与顶尖科研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用于对齐、奖励模型与评分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私有评测集与留出集：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只用于检验，从不参与训练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上线前经过攻防测试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用于模型验收与持续评测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和只卖人工数据的公司不同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同源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463040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数据、评分与训练，共用一套环境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可验证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1704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轨迹成败由真实结果判定，不靠人工意见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会生长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040368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模型错在哪，下一批数据就补到哪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今天实验室每年花85亿美元买训练数据与RL环境：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这两样，我们都做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每一轮都有新交付：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三条产品线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AI数据（Agent轨迹、专家、评测）  ·  RSI自我进化服务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合作阶段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收费依据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一项能力的环境、数据与评测包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固定范围、固定验收标准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验证接入与训练价值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正式授权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环境、任务集、验证器、约定使用权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期限、范围、独占性；数据按交付量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扩大领域与任务覆盖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新场景、新任务、新轨迹、私有留出集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年度合同或分批订单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旧任务会饱和，新能力需要新数据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联合训练（RSI）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开源 vs 付费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开源基准：公开，用来建立信任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付费产品：私有任务、数据、留出集与验证器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非独家 vs 独家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非独家：同一环境可授权给多家实验室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独家：按领域与期限锁定，溢价较大（Epoch AI）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下一步 · 个人agent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同一个世界，两类客户：实验室与agent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agent开发者付费练习，默认保密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9546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059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8499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950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产品已公开，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商业采购正在推进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GitHub星标合计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2026年9月29日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5位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天使投资人主动联系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前沿实验室采购进度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22960" y="3835908"/>
            <a:ext cx="10543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822960" y="3826764"/>
            <a:ext cx="3514344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740664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91440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接触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255008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605784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洽谈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605784" y="34198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当前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769352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120128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付费试点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11283696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10634472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采购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720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支持我们研发的交易机构从业者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616745" y="49377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57784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16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可触达、可验证的专家：21所顶尖大学的学生和校友，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专家数据的源头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20万</a:t>
            </a:r>
            <a:r>
              <a:rPr lang="zh-CN" sz="3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00200" y="28529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00200" y="32552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最难的问题，最难的判断标准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0020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每做一个领域，资产都会留下来：</a:t>
            </a:r>
            <a:r>
              <a:rPr lang="zh-CN" sz="13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专家网络 → 专家数据与判断标准 → 环境与验证器 → 失败案例库 → 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市场规模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2030年：训练市场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7,000亿美元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，是今天的82倍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今天 · 实验室在买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85亿美元/年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训练数据与RL环境，50余家供应商合计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88950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头部三家收入（Surge为2024年，其余为年化）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18211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600200" y="3209544"/>
            <a:ext cx="1371600" cy="2194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044952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20亿美元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358444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Surge AI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1600200" y="3611880"/>
            <a:ext cx="822960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2496312" y="35844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12亿美元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98678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Snorkel AI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1600200" y="4014216"/>
            <a:ext cx="257175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1930527" y="39867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3.75亿美元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AI经济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约7万亿美元/年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98264" y="254203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美国（麦肯锡）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601968" y="25420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2.9万亿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398264" y="290779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398264" y="290779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÷ 美国占全球GDP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601968" y="29077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25.7%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4398264" y="327355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4398264" y="327355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全球，同等渗透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601968" y="32735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11.3万亿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98264" y="363931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98264" y="3639312"/>
            <a:ext cx="2203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美国以外渗透减半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601968" y="363931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7.1万亿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247888" y="1517904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2030年 · 我们的市场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7,000亿美元/年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85632" y="254203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AI经济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213848" y="25420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7万亿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8485632" y="290779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8485632" y="290779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训练占比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213848" y="29077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10%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485632" y="327355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485632" y="3273552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训练市场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213848" y="32735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7,000亿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8485632" y="3730752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今天的82倍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8485632" y="4261104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训练是AI经济的研发预算。大型科技公司研发约占收入10–15%，取下限。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今天卖给实验室，2030年卖给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整个AI经济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来源：Menlo Ventures（2026.7）；Mercor年化毛营收（2026.6）、Surge收入（2024）、Snorkel年化收入（2026.9）；麦肯锡（2025.11）；IMF（2026.4）；科技公司年报。训练占比、美国以外渗透率为假设，详见A2。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竞争格局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别人做一环，我们做让AI持续进步的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完整闭环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17904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专家示范与判断，按人工意见打分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286000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主要服务国内实验室：专家数据与评测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735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AI评测公司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291840" y="3054096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测今天的水平，分数就是产品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40416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3822192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只做自己熟悉的领域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663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501091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环境、数据、评分、自我进化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91840" y="4590288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同一套环境打通数据、评分与训练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每次结果都进入下一轮，AI越练越强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我们的优势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自有资产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环境构建工具、验证器、专业任务库和失败案例积累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客户粘性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每轮模型升级，都需要新任务、新数据、新留出集和验证器维护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14天7款产品，两周跑通做市交易的自我进化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独立中立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不属于任何一家实验室：中美实验室都能放心采购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国内现状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据彭博报道，UniPat获阿里领投3亿美元（估值25亿美元）；Humanlaya完成鼎晖领投的数亿元Pre-A；阿里、字节、DeepSeek都已向两家采购。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热点变得越快，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我们越有利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每一波热点，都由跑得最快的年轻团队拿下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86384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数据标注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182112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64992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2736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998464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181344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19088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RL环境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814816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997696" y="1737360"/>
            <a:ext cx="2633472" cy="42062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35440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86384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86384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290亿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86384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86384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19岁的Alexandr Wang创立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86384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86384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MIT辍学，出自Y Combinator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86384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86384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曾是最年轻的白手起家亿万富翁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64992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02736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02736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100亿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02736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美元估值，2025年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602736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02736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三位高中同学创立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3602736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602736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22岁成最年轻白手起家亿万富翁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602736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602736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13个月估值上涨约40倍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181344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419088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19088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32亿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419088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美元估值，加入YC 18个月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6419088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6419088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两位约21岁的在校大学生创立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6419088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6419088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创始人曾在Citadel Securities实习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6419088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6419088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YC史上最快的独角兽</a:t>
            </a:r>
          </a:p>
        </p:txBody>
      </p:sp>
      <p:sp>
        <p:nvSpPr>
          <p:cNvPr id="5047" name="SimReal 5047"/>
          <p:cNvSpPr/>
          <p:nvPr/>
        </p:nvSpPr>
        <p:spPr>
          <a:xfrm>
            <a:off x="8997696" y="2267712"/>
            <a:ext cx="2633472" cy="31089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8" name="SimReal 5048"/>
          <p:cNvSpPr txBox="1"/>
          <p:nvPr/>
        </p:nvSpPr>
        <p:spPr>
          <a:xfrm>
            <a:off x="9235440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9235440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14天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9235440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7款产品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全球首个自我进化做市环境</a:t>
            </a:r>
          </a:p>
        </p:txBody>
      </p:sp>
      <p:sp>
        <p:nvSpPr>
          <p:cNvPr id="5051" name="SimReal 5051"/>
          <p:cNvSpPr/>
          <p:nvPr/>
        </p:nvSpPr>
        <p:spPr>
          <a:xfrm>
            <a:off x="9235440" y="3822192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2" name="SimReal 5052"/>
          <p:cNvSpPr txBox="1"/>
          <p:nvPr/>
        </p:nvSpPr>
        <p:spPr>
          <a:xfrm>
            <a:off x="9235440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05后量化创始团队</a:t>
            </a:r>
          </a:p>
        </p:txBody>
      </p:sp>
      <p:sp>
        <p:nvSpPr>
          <p:cNvPr id="5053" name="SimReal 5053"/>
          <p:cNvSpPr/>
          <p:nvPr/>
        </p:nvSpPr>
        <p:spPr>
          <a:xfrm>
            <a:off x="9235440" y="4315968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4" name="SimReal 5054"/>
          <p:cNvSpPr txBox="1"/>
          <p:nvPr/>
        </p:nvSpPr>
        <p:spPr>
          <a:xfrm>
            <a:off x="9235440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剑桥、LSE、杜克最后一年在读</a:t>
            </a:r>
          </a:p>
        </p:txBody>
      </p:sp>
      <p:sp>
        <p:nvSpPr>
          <p:cNvPr id="5055" name="SimReal 5055"/>
          <p:cNvSpPr/>
          <p:nvPr/>
        </p:nvSpPr>
        <p:spPr>
          <a:xfrm>
            <a:off x="9235440" y="4809744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6" name="SimReal 5056"/>
          <p:cNvSpPr txBox="1"/>
          <p:nvPr/>
        </p:nvSpPr>
        <p:spPr>
          <a:xfrm>
            <a:off x="9235440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放弃顶级量化机构的转正offer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548640" y="554126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押注我们，就是押注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AI每一次范式变化中的机会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融资计划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本轮融资人民币4,000万元，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投后估值5亿元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28600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人民币，等值美元投资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16452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投前估值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4.6亿元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46520" y="228600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9038844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276588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76588" y="228600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68833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本轮目标 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环境从付费试点推进到授权与复购；AI数据批量交付；RSI在实盘交易与事件预测上线；向个人agent开放练习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369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估值参照：同赛道公司已由头部机构定价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86384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UniPat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86384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据报道估值（2026年9月）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86384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阿里领投，腾讯、红杉中国跟投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78708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16452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Humanlaya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数亿元人民币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16452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Pre-A融资额（2026年9月）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616452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鼎晖领投，红杉中国等参投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208776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446520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Applied Compute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1亿 → 约30亿美元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446520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种子轮投后 → 14个月后（洽谈中）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446520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种子轮2,000万美元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38844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276588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3亿 → 32亿美元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9276588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 → 5个月后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276588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A轮时年化收入1亿美元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065776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国内同赛道已获红杉中国、鼎晖、今日资本、BAI投资，阿里、腾讯也已入局：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赛道已被验证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59612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UniPat为据报道估值，Applied Compute约30亿美元为洽谈中估值，Humanlaya为融资额；其余为投后估值。来源见A2。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资金用途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RSI引擎拿下每个行业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  ·  投入2,000万元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环境一次搭建，授权给多家实验室；数据按交付量收费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755648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944368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按行业批量搭建训练环境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248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755648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数据生产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944368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600万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755648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944368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接入、验收与持续更新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877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300万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755648" y="3877056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944368" y="3877056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前沿实验室、企业与agent开发者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环境收入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环境数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授权次数 </a:t>
            </a: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单价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环境单价2万–30万美元（Epoch AI）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环境授权与复购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持续更新合同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RSI引擎  ·  投入2,000万元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瞄准整个AI经济：每个行业，一个自己变强的AI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6524244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900万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438644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627364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模型自己训练自己，一轮比一轮强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438644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627364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从交易走向10个行业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438644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627364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真实资金、真实市场、真实结算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  ·  事件预测RSI  ·  10个行业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每个行业，同步开发自我进化环境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实盘交易RSI上线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事件预测RSI上线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拓展至10个行业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里程碑为本轮目标。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三个世界已上线：交易、AI研究、事件预测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让AI在真实世界里自我进化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Xitadel：测试了什么，怎么测的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554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5544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5544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回放真实交易日与订单簿，采用IMC Trading合作授权数据，每笔交易由市场结算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121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21408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121408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开源模型Qwen3.8-27B，比较训练前后表现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6883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68833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测试数据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688336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模型未见过的真实交易日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2552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25526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255264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交易表现较基础模型最高提升12%，多次独立复现（受控实验）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82219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公开基准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822192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Xitadel公开预览版：人类参考分80，前沿模型最高77.28（GPT 6），尚无模型越过人类水平线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3891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3891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尽调材料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3891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运行记录、指标定义与脚本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9560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下一步 · 个人agent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一个agent在替人做事之前，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需要先在足够真实的地方练过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需求信号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6537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关注度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0665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39万</a:t>
            </a:r>
            <a:r>
              <a:rPr lang="zh-CN" sz="3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0662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开源个人agent OpenClaw的GitHub星标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2025年11月建仓，已居全站第6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75564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6537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头部实验室下场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0665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OpenAI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0662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2026年2月，OpenClaw作者加入OpenAI：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“把agent带给每个人”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75564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6537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还做不好真实的事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0665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67.2%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06624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WildClawBench真实任务评测：最强模型67.2%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34个模型中，29个低于60%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55264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让这个循环持续转动的，是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046720" y="3255264"/>
            <a:ext cx="35935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深色：Xitadel已跑通  ·  浅色：本轮计划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639312"/>
            <a:ext cx="1998878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13232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本轮计划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13232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进场练习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13232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交易与事件预测先开放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留出集不开放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547518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2821838" y="3639312"/>
            <a:ext cx="1998878" cy="1097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2986430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已跑通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86430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真实结果结算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986430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市场结算交易，现实揭晓事件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每次练习留下轨迹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820717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095037" y="3639312"/>
            <a:ext cx="1998878" cy="1097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259629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已跑通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9629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agent变强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259629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Qwen3.8-27B训练后，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交易表现最高提升12%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93915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368235" y="3639312"/>
            <a:ext cx="1998878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532827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本轮计划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7532827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世界更真实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532827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钻出的漏洞被修补，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失败变成新任务与验证器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367114" y="3639312"/>
            <a:ext cx="274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9641434" y="3639312"/>
            <a:ext cx="1998878" cy="1097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9806026" y="3749040"/>
            <a:ext cx="172455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本轮计划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9806026" y="3968496"/>
            <a:ext cx="172455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数据交给实验室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9806026" y="4315968"/>
            <a:ext cx="172455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训练更强的模型，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带来更多个人agent</a:t>
            </a:r>
          </a:p>
        </p:txBody>
      </p:sp>
      <p:sp>
        <p:nvSpPr>
          <p:cNvPr id="5044" name="SimReal 5044"/>
          <p:cNvSpPr/>
          <p:nvPr/>
        </p:nvSpPr>
        <p:spPr>
          <a:xfrm>
            <a:off x="10640873" y="4736592"/>
            <a:ext cx="10973" cy="18288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5" name="SimReal 5045"/>
          <p:cNvSpPr/>
          <p:nvPr/>
        </p:nvSpPr>
        <p:spPr>
          <a:xfrm>
            <a:off x="1548079" y="4919472"/>
            <a:ext cx="9103766" cy="10973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/>
          <p:nvPr/>
        </p:nvSpPr>
        <p:spPr>
          <a:xfrm>
            <a:off x="1548079" y="4828032"/>
            <a:ext cx="10973" cy="10058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1365199" y="4718304"/>
            <a:ext cx="376733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↑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06577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数据规则   </a:t>
            </a: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怎么用由合作方决定：可以保密、付费练习，也可以脱敏共享轨迹，换取练习额度和收益分成；交给实验室的每条数据都带授权记录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468112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沙盒让agent不闯祸，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我们让它做对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548640" y="5980176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来源：OpenClaw（GitHub，2026年9月30日）；OpenAI（Peter Steinberger博客，2026年2月15日）；WildClawBench（InternLM排行榜，2026年9月）。详见A2。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数据来源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Mercor年化收入：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TechCrunch（2025年2月，7,500万美元）；CEO（2025年9月，5亿美元）；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Sacra（2025年12月，7.6亿美元）；Mercor（2026年初，10亿美元）；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Dealroom（2026年6月，20亿美元）。均为毛营收，专家拿走60–70%（彭博）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A轮2.5亿（2024年9月）、B轮20亿（2025年2月）、C轮100亿美元（2025年10月）；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200亿美元估值轮次处于早期洽谈（彭博，2026年7月9日）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Surge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2024年收入12亿美元（TechCrunch、福布斯）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公司公告及TechCrunch，2026年9月22日（以35亿美元估值融资3.5亿美元；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年化收入3.75亿美元，一年增长18倍）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2025年2月成立；福布斯，2026年9月1日（加入YC 18个月，估值32亿美元）；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Wire（2026年4月，A轮估值3亿美元，年化收入1亿美元）；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YC公司页（联合创始人曾在Citadel Securities实习）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2016年由19岁的Alexandr Wang创立（福布斯）；Meta以143亿美元取得49%股份，估值约290亿美元（路透社，2025年6月）；近一半新训练项目涉及RL环境（Scale AI博客，2026年2月）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彭博，2026年9月10日（阿里领投3亿美元，据报道估值25亿美元，腾讯、红杉中国跟投；条款可能变化；阿里、字节、DeepSeek等向UniPat与Humanlaya采购）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2025年10月成立；2026年9月9日完成数亿元人民币Pre-A，鼎晖领投，红杉中国、今日资本、BAI参投（界面新闻、东方财富）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市场与研究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今天的训练数据采购：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Menlo Ventures（2026年7月）：50余家供应商合计约85亿美元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2030年AI经济推算：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麦肯锡《Agents, robots, and us》（2025年11月）：美国约2.9万亿美元；IMF（2026年4月）：美国GDP 32.4万亿、全球126.3万亿美元；美国以外按一半渗透率推算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训练市场推算：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2030年AI经济 × 10%；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10%参照大型科技公司研发占收入约10–15%，取下限，为推算假设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AI智能体市场：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Precedence Research（2025年79.2亿美元；年复合增长45.82%），2028、2032年按此路径推算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RL环境定价：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AI《An FAQ on RL environments》（2026年1月）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公开文本存量：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AI《Will we run out of data?》（2024）：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预计2026–2032年间用尽（80%置信区间）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融资与估值：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Compute：Upstarts（2025年6月，种子轮2,000万美元，投后1亿美元）；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Information（2026年8月，约30亿美元洽谈）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OpenClaw：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GitHub（2026年9月30日查阅）：390,837星标，按星标居全站第6；2025年11月24日建仓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OpenAI与OpenClaw：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Peter Steinberger博客（2026年2月15日）：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加入OpenAI，“把agent带给每个人”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WildClawBench：</a:t>
            </a: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InternLM，GitHub项目说明与排行榜（2026年9月30日查阅）：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OpenClaw环境中60个人工原创真实任务；</a:t>
            </a:r>
            <a:br>
              <a:rPr lang="zh-CN" sz="900"/>
            </a:b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34个模型中最高67.2%，29个低于60%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术语表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让AI反复做真实工作、从结果中学习的系统，即RL环境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AI完成一项任务的全过程：每一步动作、世界的反馈与最终结果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真实发生的结果为AI的每个动作结算：盈亏、账目、代码能否运行、事件是否发生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AI用自己在真实环境中的结果训练自己，一轮比一轮强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留出集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只用于检验、从不参与训练的任务，防止模型背答案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攻防测试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上线前模拟作弊与攻击，修补评分漏洞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受控实验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只改一个条件（是否在Xitadel训练），比较前后表现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年化毛营收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按当前收入推算的全年收入，含付给专家的部分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