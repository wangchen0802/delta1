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embeddedFontLst>
    <p:embeddedFont>
      <p:font typeface="Newsreader" pitchFamily="18" charset="0"/>
      <p:regular r:id="rIdSimRealFont1"/>
      <p:italic r:id="rIdSimRealFont2"/>
    </p:embeddedFont>
    <p:embeddedFont>
      <p:font typeface="Instrument Sans" pitchFamily="34" charset="0"/>
      <p:regular r:id="rIdSimRealFont3"/>
    </p:embeddedFont>
    <p:embeddedFont>
      <p:font typeface="Instrument Sans SemiBold" pitchFamily="34" charset="0"/>
      <p:regular r:id="rIdSimRealFont4"/>
    </p:embeddedFont>
    <p:embeddedFont>
      <p:font typeface="IBM Plex Mono" pitchFamily="49" charset="0"/>
      <p:regular r:id="rIdSimRealFont5"/>
    </p:embeddedFont>
    <p:embeddedFont>
      <p:font typeface="Noto Serif CJK SC" pitchFamily="18" charset="-122"/>
      <p:regular r:id="rIdSimRealFont6"/>
    </p:embeddedFont>
    <p:embeddedFont>
      <p:font typeface="Noto Sans CJK SC" pitchFamily="34" charset="-122"/>
      <p:regular r:id="rIdSimRealFont7"/>
    </p:embeddedFont>
    <p:embeddedFont>
      <p:font typeface="Noto Sans CJK SC Medium" pitchFamily="34" charset="-122"/>
      <p:regular r:id="rIdSimRealFont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SimRealFont1" Type="http://schemas.openxmlformats.org/officeDocument/2006/relationships/font" Target="fonts/font1.fntdata"/><Relationship Id="rIdSimRealFont2" Type="http://schemas.openxmlformats.org/officeDocument/2006/relationships/font" Target="fonts/font2.fntdata"/><Relationship Id="rIdSimRealFont3" Type="http://schemas.openxmlformats.org/officeDocument/2006/relationships/font" Target="fonts/font3.fntdata"/><Relationship Id="rIdSimRealFont4" Type="http://schemas.openxmlformats.org/officeDocument/2006/relationships/font" Target="fonts/font4.fntdata"/><Relationship Id="rIdSimRealFont5" Type="http://schemas.openxmlformats.org/officeDocument/2006/relationships/font" Target="fonts/font5.fntdata"/><Relationship Id="rIdSimRealFont6" Type="http://schemas.openxmlformats.org/officeDocument/2006/relationships/font" Target="fonts/font6.fntdata"/><Relationship Id="rIdSimRealFont7" Type="http://schemas.openxmlformats.org/officeDocument/2006/relationships/font" Target="fonts/font7.fntdata"/><Relationship Id="rIdSimRealFont8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spc="100" kern="0" dirty="0">
                <a:solidFill>
                  <a:srgbClr val="C2410C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05</a:t>
            </a:r>
            <a:r>
              <a:rPr lang="zh-CN" altLang="en-US" sz="1100" b="1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    问题</a:t>
            </a:r>
            <a:endParaRPr lang="zh-CN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8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AI已经很会做题，但企业和个人要的是</a:t>
            </a:r>
            <a:r>
              <a:rPr lang="zh-CN" altLang="en-US" sz="2800" dirty="0">
                <a:solidFill>
                  <a:srgbClr val="C2410C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会做事</a:t>
            </a:r>
            <a:endParaRPr lang="zh-CN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训练题有标准答案，真实工作没有。</a:t>
            </a:r>
            <a:endParaRPr lang="zh-CN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73936"/>
            <a:ext cx="5437480" cy="24871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9536" y="1993392"/>
            <a:ext cx="4815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spc="50" kern="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做题  ·  AI已经很强</a:t>
            </a:r>
            <a:endParaRPr lang="zh-CN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59536" y="2212848"/>
            <a:ext cx="48156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46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奥赛金牌</a:t>
            </a:r>
            <a:endParaRPr lang="zh-CN" sz="4600" dirty="0"/>
          </a:p>
        </p:txBody>
      </p:sp>
      <p:sp>
        <p:nvSpPr>
          <p:cNvPr id="8" name="Shape 6"/>
          <p:cNvSpPr/>
          <p:nvPr/>
        </p:nvSpPr>
        <p:spPr>
          <a:xfrm>
            <a:off x="859536" y="3090672"/>
            <a:ext cx="3261208" cy="91440"/>
          </a:xfrm>
          <a:prstGeom prst="rect">
            <a:avLst/>
          </a:prstGeom>
          <a:solidFill>
            <a:srgbClr val="E2E0DA"/>
          </a:solidFill>
          <a:ln w="12700">
            <a:solidFill>
              <a:srgbClr val="E2E0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9536" y="3090672"/>
            <a:ext cx="2717673" cy="91440"/>
          </a:xfrm>
          <a:prstGeom prst="rect">
            <a:avLst/>
          </a:prstGeom>
          <a:solidFill>
            <a:srgbClr val="111110"/>
          </a:solidFill>
          <a:ln w="12700">
            <a:solidFill>
              <a:srgbClr val="11111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257904" y="29992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111110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35 / 42 分</a:t>
            </a:r>
            <a:endParaRPr lang="zh-CN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59536" y="3328416"/>
            <a:ext cx="4815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33322F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2025年国际数学奥林匹克，AI 6道题做对5道，拿到官方认证的金牌分数；630名人类选手中只有67人拿到金牌。</a:t>
            </a:r>
            <a:endParaRPr lang="zh-CN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59536" y="3950208"/>
            <a:ext cx="4815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900" spc="50" kern="0" dirty="0">
                <a:solidFill>
                  <a:srgbClr val="9A978F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Google DeepMind，2025年7月</a:t>
            </a:r>
            <a:endParaRPr lang="zh-CN" sz="900" dirty="0"/>
          </a:p>
        </p:txBody>
      </p:sp>
      <p:sp>
        <p:nvSpPr>
          <p:cNvPr id="13" name="Shape 11"/>
          <p:cNvSpPr/>
          <p:nvPr/>
        </p:nvSpPr>
        <p:spPr>
          <a:xfrm>
            <a:off x="6205576" y="1773936"/>
            <a:ext cx="5437480" cy="2487168"/>
          </a:xfrm>
          <a:prstGeom prst="rect">
            <a:avLst/>
          </a:prstGeom>
          <a:solidFill>
            <a:srgbClr val="111110"/>
          </a:solidFill>
          <a:ln w="12700">
            <a:solidFill>
              <a:srgbClr val="11111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16472" y="1993392"/>
            <a:ext cx="4815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spc="50" kern="0" dirty="0">
                <a:solidFill>
                  <a:srgbClr val="E27A3F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做事  ·  AI还远远不够</a:t>
            </a:r>
            <a:endParaRPr lang="zh-CN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516472" y="2212848"/>
            <a:ext cx="48156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5600" dirty="0">
                <a:solidFill>
                  <a:srgbClr val="E27A3F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15.8%</a:t>
            </a:r>
            <a:endParaRPr lang="zh-CN" sz="5600" dirty="0"/>
          </a:p>
        </p:txBody>
      </p:sp>
      <p:sp>
        <p:nvSpPr>
          <p:cNvPr id="16" name="Shape 14"/>
          <p:cNvSpPr/>
          <p:nvPr/>
        </p:nvSpPr>
        <p:spPr>
          <a:xfrm>
            <a:off x="6516472" y="3090672"/>
            <a:ext cx="3261208" cy="91440"/>
          </a:xfrm>
          <a:prstGeom prst="rect">
            <a:avLst/>
          </a:prstGeom>
          <a:solidFill>
            <a:srgbClr val="3A3935"/>
          </a:solidFill>
          <a:ln w="12700">
            <a:solidFill>
              <a:srgbClr val="3A393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16472" y="3090672"/>
            <a:ext cx="515271" cy="91440"/>
          </a:xfrm>
          <a:prstGeom prst="rect">
            <a:avLst/>
          </a:prstGeom>
          <a:solidFill>
            <a:srgbClr val="E27A3F"/>
          </a:solidFill>
          <a:ln w="12700">
            <a:solidFill>
              <a:srgbClr val="E27A3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914839" y="29992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FAF9F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15.8% 的项目</a:t>
            </a:r>
            <a:endParaRPr lang="zh-CN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516472" y="3328416"/>
            <a:ext cx="4815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FAF9F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240个真实的付费远程项目，最强的AI只有15.8%做到了客户愿意付钱的水平；2025年10月这个数字是2.5%。</a:t>
            </a:r>
            <a:endParaRPr lang="zh-CN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516472" y="3950208"/>
            <a:ext cx="4815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900" spc="50" kern="0" dirty="0">
                <a:solidFill>
                  <a:srgbClr val="C4C0B7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Remote Labor Index（Scale AI与CAIS），2026年7月</a:t>
            </a:r>
            <a:endParaRPr lang="zh-CN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425696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spc="50" kern="0" dirty="0">
                <a:solidFill>
                  <a:srgbClr val="C2410C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每一个缺口，都是一个训练世界</a:t>
            </a:r>
            <a:endParaRPr lang="zh-CN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4663440"/>
            <a:ext cx="3576218" cy="896112"/>
          </a:xfrm>
          <a:prstGeom prst="rect">
            <a:avLst/>
          </a:prstGeom>
          <a:solidFill>
            <a:srgbClr val="F2F1EC"/>
          </a:solidFill>
          <a:ln w="12700">
            <a:solidFill>
              <a:srgbClr val="F2F1E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49808" y="4773168"/>
            <a:ext cx="32104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b="1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交易</a:t>
            </a:r>
            <a:r>
              <a:rPr lang="zh-CN" altLang="en-US" sz="90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  ·  Xitadel</a:t>
            </a:r>
            <a:endParaRPr lang="zh-CN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749808" y="5010912"/>
            <a:ext cx="32104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写出的策略看起来很专业</a:t>
            </a:r>
            <a:endParaRPr lang="zh-CN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49808" y="5230368"/>
            <a:ext cx="3210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C2410C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→  </a:t>
            </a:r>
            <a:r>
              <a:rPr lang="zh-CN" altLang="en-US" sz="15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真实交易日一上场就亏钱</a:t>
            </a:r>
            <a:endParaRPr lang="zh-CN" sz="1300" dirty="0"/>
          </a:p>
        </p:txBody>
      </p:sp>
      <p:sp>
        <p:nvSpPr>
          <p:cNvPr id="26" name="Shape 24"/>
          <p:cNvSpPr/>
          <p:nvPr/>
        </p:nvSpPr>
        <p:spPr>
          <a:xfrm>
            <a:off x="4307738" y="4663440"/>
            <a:ext cx="3576218" cy="896112"/>
          </a:xfrm>
          <a:prstGeom prst="rect">
            <a:avLst/>
          </a:prstGeom>
          <a:solidFill>
            <a:srgbClr val="F2F1EC"/>
          </a:solidFill>
          <a:ln w="12700">
            <a:solidFill>
              <a:srgbClr val="F2F1E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08906" y="4773168"/>
            <a:ext cx="32104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b="1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财务</a:t>
            </a:r>
            <a:r>
              <a:rPr lang="zh-CN" altLang="en-US" sz="90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  ·  Month-End Close</a:t>
            </a:r>
            <a:endParaRPr lang="zh-CN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508906" y="5010912"/>
            <a:ext cx="32104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做出的账看起来已经完成</a:t>
            </a:r>
            <a:endParaRPr lang="zh-CN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508906" y="5230368"/>
            <a:ext cx="3210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C2410C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→  </a:t>
            </a:r>
            <a:r>
              <a:rPr lang="zh-CN" altLang="en-US" sz="15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账却对不平</a:t>
            </a:r>
            <a:endParaRPr lang="zh-CN" sz="1300" dirty="0"/>
          </a:p>
        </p:txBody>
      </p:sp>
      <p:sp>
        <p:nvSpPr>
          <p:cNvPr id="30" name="Shape 28"/>
          <p:cNvSpPr/>
          <p:nvPr/>
        </p:nvSpPr>
        <p:spPr>
          <a:xfrm>
            <a:off x="8066837" y="4663440"/>
            <a:ext cx="3576218" cy="896112"/>
          </a:xfrm>
          <a:prstGeom prst="rect">
            <a:avLst/>
          </a:prstGeom>
          <a:solidFill>
            <a:srgbClr val="F2F1EC"/>
          </a:solidFill>
          <a:ln w="12700">
            <a:solidFill>
              <a:srgbClr val="F2F1E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68005" y="4773168"/>
            <a:ext cx="32104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b="1" dirty="0">
                <a:solidFill>
                  <a:srgbClr val="111110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软件工程</a:t>
            </a:r>
            <a:r>
              <a:rPr lang="zh-CN" altLang="en-US" sz="90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  ·  SWE-Forward</a:t>
            </a:r>
            <a:endParaRPr lang="zh-CN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8268005" y="5010912"/>
            <a:ext cx="32104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提交的代码通过了今天的测试</a:t>
            </a:r>
            <a:endParaRPr lang="zh-CN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8268005" y="5230368"/>
            <a:ext cx="3210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C2410C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→  </a:t>
            </a:r>
            <a:r>
              <a:rPr lang="zh-CN" altLang="en-US" sz="15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下一个版本就出问题</a:t>
            </a:r>
            <a:endParaRPr lang="zh-CN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5705856"/>
            <a:ext cx="110944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9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智能体越</a:t>
            </a:r>
            <a:r>
              <a:rPr lang="zh-CN" altLang="en-US" sz="1900" dirty="0">
                <a:solidFill>
                  <a:srgbClr val="C2410C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自主</a:t>
            </a:r>
            <a:r>
              <a:rPr lang="zh-CN" altLang="en-US" sz="1900" dirty="0">
                <a:solidFill>
                  <a:srgbClr val="111110"/>
                </a:solidFill>
                <a:latin typeface="Newsreader" pitchFamily="34" charset="0"/>
                <a:ea typeface="Noto Serif CJK SC" pitchFamily="34" charset="-122"/>
                <a:cs typeface="Newsreader" pitchFamily="34" charset="-120"/>
              </a:rPr>
              <a:t>，评分标准出错的代价越大：企业不敢用，实验室白白浪费算力。</a:t>
            </a:r>
            <a:endParaRPr lang="zh-CN" sz="1900" dirty="0"/>
          </a:p>
        </p:txBody>
      </p:sp>
      <p:pic>
        <p:nvPicPr>
          <p:cNvPr id="35" name="Image 0" descr="SimRe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19088"/>
            <a:ext cx="640080" cy="172822"/>
          </a:xfrm>
          <a:prstGeom prst="rect">
            <a:avLst/>
          </a:prstGeom>
        </p:spPr>
      </p:pic>
      <p:sp>
        <p:nvSpPr>
          <p:cNvPr id="36" name="Text 33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800" dirty="0">
                <a:solidFill>
                  <a:srgbClr val="6E6C66"/>
                </a:solidFill>
                <a:latin typeface="Instrument Sans" pitchFamily="34" charset="0"/>
                <a:ea typeface="Noto Sans CJK SC" pitchFamily="34" charset="-122"/>
                <a:cs typeface="Instrument Sans" pitchFamily="34" charset="-120"/>
              </a:rPr>
              <a:t>机密  ·  仅供受邀投资机构内部评估使用  ·  v1.0  ·  2026年9月</a:t>
            </a:r>
            <a:endParaRPr lang="zh-CN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10728655" y="63825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900" dirty="0">
                <a:solidFill>
                  <a:srgbClr val="6E6C66"/>
                </a:solidFill>
                <a:latin typeface="IBM Plex Mono" pitchFamily="34" charset="0"/>
                <a:ea typeface="Noto Sans CJK SC" pitchFamily="34" charset="-122"/>
                <a:cs typeface="IBM Plex Mono" pitchFamily="34" charset="-120"/>
              </a:rPr>
              <a:t>05</a:t>
            </a:r>
            <a:endParaRPr lang="zh-CN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ewsreader"/>
        <a:ea typeface="Noto Serif CJK SC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strument Sans"/>
        <a:ea typeface="Noto Sans CJK SC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2026-09-25T20:31:58Z</dcterms:created>
  <dcterms:modified xsi:type="dcterms:W3CDTF">2026-09-25T20:31:58Z</dcterms:modified>
</cp:coreProperties>
</file>