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59" r:id="rId5"/>
    <p:sldId id="269" r:id="rId15"/>
    <p:sldId id="275" r:id="rId21"/>
    <p:sldId id="262" r:id="rId8"/>
    <p:sldId id="264" r:id="rId10"/>
    <p:sldId id="265" r:id="rId11"/>
    <p:sldId id="271" r:id="rId17"/>
    <p:sldId id="270" r:id="rId16"/>
    <p:sldId id="266" r:id="rId12"/>
    <p:sldId id="267" r:id="rId13"/>
    <p:sldId id="278" r:id="rId45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  <p:embeddedFont>
      <p:font typeface="Noto Serif CJK SC" pitchFamily="18" charset="-122"/>
      <p:regular r:id="rIdSimRealCJK1"/>
    </p:embeddedFont>
    <p:embeddedFont>
      <p:font typeface="Noto Sans CJK SC" pitchFamily="34" charset="-122"/>
      <p:regular r:id="rIdSimRealCJK2"/>
      <p:bold r:id="rIdSimRealCJK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Relationship Id="rIdSimRealCJK1" Type="http://schemas.openxmlformats.org/officeDocument/2006/relationships/font" Target="fonts/cjk1.fntdata"/><Relationship Id="rIdSimRealCJK2" Type="http://schemas.openxmlformats.org/officeDocument/2006/relationships/font" Target="fonts/cjk2.fntdata"/><Relationship Id="rIdSimRealCJK3" Type="http://schemas.openxmlformats.org/officeDocument/2006/relationships/font" Target="fonts/cjk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7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8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4630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679"/>
              </a:spcBef>
              <a:spcAft>
                <a:spcPts val="0"/>
              </a:spcAft>
              <a:buNone/>
            </a:pPr>
            <a:r>
              <a:rPr lang="zh-CN" sz="4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人民币4,000万元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42062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42062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2026年10月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公司概述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衍真是一家Neolab，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为下一代AI搭建数据基础设施和强化学习环境，研发递归自我改进（RSI）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371600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SimReal, a neolab building Data Infra, RL environments and recursive self-improvement (RSI) for future AI.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收入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ARR 3,000万元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约450万美元，零外部融资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创立三周交付数百万需求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开源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GitHub 602星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交易、AI研究、事件预测环境已上线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效果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模型在我们的交易环境里训练后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没见过的交易日上表现最高提升12%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三位21岁创始人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剑桥、LSE、杜克数学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Street、Citadel、Optiver、Millennium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训练数据与RL环境，今天的年收入规模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头部公司16个月收入涨27倍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人民币，投后估值5亿元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一半做收入，一半做RSI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三位21岁创始人，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放弃首年合计600万+薪酬的工作，搭建下一代训练引擎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CEO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United Stables首位员工：U稳定币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一年从0做到14亿美元，一个月上线币安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负责机构合作，对接SIG、DRW等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汇丰港元稳定币项目唯一实习生，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参与香港金管局合规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LSE数学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CTO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剑桥数学一等荣誉，奖学金获得者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剑桥机器学习暑研，导师Po-Ling Loh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（国际数理统计学会会士）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主导设计全部5个开源基准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COO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Millennium另类数据团队首位应届生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参与筹办Plug and Play香港首场活动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（联合香港科技园，200+人）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杜克数学与统计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训练的瓶颈从数据转到环境，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钱已经在花，专业领域的好环境还很少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训练方式变了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推理模型靠能自动判对错的任务做强化学习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公开的人类文本预计2026–2032年用完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能自动打分的环境成了稀缺资源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一个强化学习任务卖200–2,000美元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2026年7月收购环境公司Deeptune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训练环境成了实验室的固定采购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专业任务还没解决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大模型做交易、做财务仍频繁出错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Meta、OpenAI 9月推出替人办事的Agent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交易对错一目了然，最适合先做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窗口期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RL环境赛道约20家早期公司，预计最后剩3–5家。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先做出效果的，先拿下长期合同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来源：Epoch AI（2026年1月）；TechCrunch（2026年7月）；Meta、OpenAI发布（2026年9月）；Wing VC（2026年）。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但干不好真实的活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看上去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实际上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回测一路上涨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实盘行情里亏钱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一上线就出错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账看着做完了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月底对不上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结果一出就错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前沿大模型拿真钱做交易，32轮只有6轮赚钱（Alpha Arena）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缺的是一个</a:t>
            </a:r>
            <a:r>
              <a:rPr lang="zh-CN" sz="21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按真实结果打分的训练场</a:t>
            </a: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RSI方法论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模型在环境里做题、被打分、补短板，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一圈比一圈强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57276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以交易为例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828800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182880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做题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641080" y="182880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模型写交易策略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286000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28600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打分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641080" y="228600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回放行情，按盈亏和风险打分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2743200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7635240" y="274320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找弱点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641080" y="274320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找出哪类行情亏钱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7635240" y="3200400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635240" y="320040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出新题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641080" y="320040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多造这类行情的题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7635240" y="3657600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7635240" y="365760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再训练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365760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用高分记录训练模型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7635240" y="4114800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/>
          <p:nvPr/>
        </p:nvSpPr>
        <p:spPr>
          <a:xfrm>
            <a:off x="7635240" y="4315968"/>
            <a:ext cx="4005072" cy="12344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7909560" y="440740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已验证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909560" y="4626864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9235440" y="4626864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在交易环境里训练后，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表现最高提升12%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第4步“AI自动出题”研发中；+12%为多次独立复现中的最佳一次。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395728"/>
            <a:ext cx="5760720" cy="2978137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产品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5个开源基准，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GitHub 602星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63040"/>
            <a:ext cx="23774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602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2743200" y="1463040"/>
            <a:ext cx="35661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GitHub星标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5个开源基准，截至2026年10月4日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6629400" y="1572768"/>
            <a:ext cx="501091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6629400" y="16276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SimReal-MLBench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302星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629400" y="1901952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60道真实机器学习竞赛题，测AI做研究的能力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6629400" y="2176272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6629400" y="223113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Xitadel-QuantBench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102星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629400" y="2505456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测AI做交易，和同一资产上的专业交易员比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629400" y="2779776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629400" y="28346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MathmoBench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101星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629400" y="3108960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高难度数学题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6629400" y="3383280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6629400" y="343814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Puzzle Benchmark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70星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629400" y="3712464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749道人工编写的推理题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6629400" y="3986784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6629400" y="404164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FuturePredict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27星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629400" y="43159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预测真实事件，结果揭晓后打分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6629400" y="4590288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6629400" y="4754880"/>
            <a:ext cx="501091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已上线的训练环境</a:t>
            </a:r>
          </a:p>
          <a:p>
            <a:pPr marL="0" marR="0" lvl="0" indent="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交易  ·  AI研究  ·  事件预测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数据业务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环境每跑一遍，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就产出三类能卖的数据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29968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轨迹数据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670048"/>
            <a:ext cx="296570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AI每一步怎么做、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结果怎么样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58444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7307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用来训练模型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29968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专家数据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670048"/>
            <a:ext cx="296570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专业人士的示范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和打分标准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58444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7307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用来教模型、出题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29968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评测数据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670048"/>
            <a:ext cx="296570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不公开的考题，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和训练数据隔开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58444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7307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用来验收模型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548640" y="475488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模型每升级一次，就要新题、新数据，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需求一直在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卖环境、卖数据、做联合训练，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模型一升级就要复购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1554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环境授权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6151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按期限和范围收费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37304" y="1572768"/>
            <a:ext cx="3514344" cy="1554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629912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629912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数据交付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29912" y="26151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按量收费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25968" y="1572768"/>
            <a:ext cx="3514344" cy="1554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418576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418576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418576" y="26151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按项目收费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342900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合作路径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675888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777240" y="3675888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需求与验收标准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3047238" y="3675888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3412998" y="3675888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3641598" y="3675888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5911596" y="3675888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6277356" y="3675888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6505956" y="3675888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授权交付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8775954" y="3675888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9141714" y="3675888"/>
            <a:ext cx="2498598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9370314" y="3675888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模型每升级一次都要换题，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环境和数据要持续更新，客户持续付费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3637887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3689181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18637" y="3570531"/>
            <a:ext cx="951678" cy="466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3678277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87378" y="3666744"/>
            <a:ext cx="1487533" cy="274320"/>
          </a:xfrm>
          <a:prstGeom prst="rect">
            <a:avLst/>
          </a:prstGeom>
        </p:spPr>
      </p:pic>
      <p:pic>
        <p:nvPicPr>
          <p:cNvPr id="9429" name="Google Shape;429;p15" descr="harvard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800143" y="4489704"/>
            <a:ext cx="637946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0" name="Google Shape;430;p15" descr="stanford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94476" y="4489704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1" name="Google Shape;431;p15" descr="mit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118186" y="4497876"/>
            <a:ext cx="744548" cy="40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2" name="Google Shape;432;p15" descr="oxford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18932" y="4564678"/>
            <a:ext cx="914400" cy="270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3" name="Google Shape;433;p15" descr="cambridge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625203" y="4489704"/>
            <a:ext cx="473202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4" name="Google Shape;434;p15" descr="princeton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590276" y="4575325"/>
            <a:ext cx="914399" cy="249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5" name="Google Shape;435;p15" descr="yale-ink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843958" y="5111495"/>
            <a:ext cx="550316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6" name="Google Shape;436;p15" descr="berkeley-ink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847588" y="5180405"/>
            <a:ext cx="914400" cy="282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7" name="Google Shape;437;p15" descr="tsinghua-ink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033260" y="5173124"/>
            <a:ext cx="914400" cy="297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8" name="Google Shape;438;p15" descr="columbia-ink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369427" y="5111495"/>
            <a:ext cx="613410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9" name="Google Shape;439;p15" descr="uchicago-ink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9404604" y="5209611"/>
            <a:ext cx="914400" cy="224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0" name="Google Shape;440;p15" descr="duke-ink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630696" y="5141253"/>
            <a:ext cx="833560" cy="3611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当前进展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零外部融资，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ARR 3,000万元，GitHub 602星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3,000万元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约450万美元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90138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390138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3周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390138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创立三周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390138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交付数百万需求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231636" y="1572768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231636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602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231636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GitHub星标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31636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9073134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9073134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2家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073134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2999232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截至2026年10月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3346704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参与研发的从业者来自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42245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548640" y="4334256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20万+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057400" y="4334256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可触达的专家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4809744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7,000+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057400" y="4809744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已报名的候补专家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48640" y="5285232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21所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057400" y="5285232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高校的学生和校友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标识仅表示从业者任职机构或网络覆盖的部分高校，不代表背书。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市场空间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今天85亿美元，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头部公司16个月收入涨27倍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今天：训练数据与RL环境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 / 年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50余家供应商的收入合计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2030年：公司测算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7,000亿美元 / 年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按AI经济7万亿美元、10%投入训练估算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27倍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Mercor年化收入16个月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从7,500万涨到20亿美元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专家数据需求在爆发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10倍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Mercor估值17个月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从20亿涨到200亿美元（洽谈中）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资本在加注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18倍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Snorkel AI新数据业务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一年增长18倍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需求转向专家和环境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来源：Deedy Das行业图谱（2026年7月）；Mercor（TechCrunch、Dealroom）；Snorkel AI公告（2026年9月）。2030年为公司测算。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竞争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对手强在规模，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我们强在专业领域的打分和速度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503920" y="1572768"/>
            <a:ext cx="3136392" cy="303580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客户现在的选择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1591056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强在哪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943600" y="1591056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弱在哪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数据外包公司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Scale AI、Mercor等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291840" y="186537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人多，实验室关系深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43600" y="1865376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靠堆人，做不了专业打分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8620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量化出身，打分专业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7797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779776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公开榜单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Alpha Arena等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291840" y="277977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方便比较模型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43600" y="2779776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只能测不能训，很快被刷爆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779776"/>
            <a:ext cx="28620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同一个环境既能测也能训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6941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694176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实验室自建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291840" y="369417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贴合自己的需求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943600" y="3694176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缺行业规则和专家，占研究人力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694176"/>
            <a:ext cx="28620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现成环境，20万+专家随时调用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6085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98348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可比交易：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阿里拟领投UniPat 3亿美元，估值约25亿美元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548640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来源：彭博（2026年9月）。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懂行、有效、够快，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三件事都有结果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29260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9222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懂行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39572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怎么做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615184"/>
            <a:ext cx="2929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量化出身，按交易台的标准打分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41248" y="3328416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41248" y="343814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41248" y="3657600"/>
            <a:ext cx="292912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最强模型77分，其余24–30分，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人类最佳80分：分数拉得开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4337304" y="1572768"/>
            <a:ext cx="3514344" cy="29260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629912" y="179222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有效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29912" y="239572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怎么做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29912" y="2615184"/>
            <a:ext cx="2929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同一个环境既能测，也能训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4629912" y="3328416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4629912" y="343814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29912" y="3657600"/>
            <a:ext cx="292912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训练后，没见过的交易日上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表现最高提升12%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125968" y="1572768"/>
            <a:ext cx="3514344" cy="29260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418576" y="179222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够快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418576" y="239572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怎么做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418576" y="2615184"/>
            <a:ext cx="2929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自己的环境搭建工具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20万+可触达的专家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8418576" y="3328416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8418576" y="343814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18576" y="3657600"/>
            <a:ext cx="292912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创立三周交付数百万需求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14天上线7款产品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754880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4754880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越做越难追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697480" y="4754880"/>
            <a:ext cx="87142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每接一个客户，题库、打分器和验证过的专家都沉淀下来，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下一个客户直接复用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分数来自Xitadel公开测评；+12%为多次独立复现中的最佳一次。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本轮融资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融资4,000万元，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一半做收入，一半做RSI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44824" cy="7863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04672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本轮融资（人民币）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04672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4322064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4578096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投后估值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4578096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5亿元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095488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351520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本轮出让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351520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8%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487168"/>
            <a:ext cx="5408676" cy="3108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41248" y="2670048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收入 · 2,000万元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41248" y="2907792"/>
            <a:ext cx="48234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数据与环境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41248" y="3493008"/>
            <a:ext cx="1068705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1248" y="3566160"/>
            <a:ext cx="1068705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700万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1248" y="3950208"/>
            <a:ext cx="106870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搭环境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2047113" y="3493008"/>
            <a:ext cx="1068705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2047113" y="3566160"/>
            <a:ext cx="1068705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400万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2047113" y="3950208"/>
            <a:ext cx="106870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做数据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3252978" y="3493008"/>
            <a:ext cx="1068705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3252978" y="3566160"/>
            <a:ext cx="1068705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600万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3252978" y="3950208"/>
            <a:ext cx="106870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4458843" y="3493008"/>
            <a:ext cx="1068705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4458843" y="3566160"/>
            <a:ext cx="1068705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300万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458843" y="3950208"/>
            <a:ext cx="106870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销售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841248" y="4425696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841248" y="4535424"/>
            <a:ext cx="227457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前3个月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841248" y="4754880"/>
            <a:ext cx="227457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新增3–4家客户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252978" y="4535424"/>
            <a:ext cx="227457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第6个月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3252978" y="4754880"/>
            <a:ext cx="227457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累计20家客户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31636" y="2487168"/>
            <a:ext cx="5408676" cy="310896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524244" y="2670048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RSI · 2,000万元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524244" y="2907792"/>
            <a:ext cx="48234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递归自我改进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6524244" y="3493008"/>
            <a:ext cx="1068705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6524244" y="3566160"/>
            <a:ext cx="1068705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900万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6524244" y="3950208"/>
            <a:ext cx="106870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算力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7730109" y="3493008"/>
            <a:ext cx="1068705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7730109" y="3566160"/>
            <a:ext cx="1068705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700万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7730109" y="3950208"/>
            <a:ext cx="106870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研究团队</a:t>
            </a:r>
          </a:p>
        </p:txBody>
      </p:sp>
      <p:sp>
        <p:nvSpPr>
          <p:cNvPr id="5043" name="SimReal 5043"/>
          <p:cNvSpPr/>
          <p:nvPr/>
        </p:nvSpPr>
        <p:spPr>
          <a:xfrm>
            <a:off x="8935974" y="3493008"/>
            <a:ext cx="1068705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 txBox="1"/>
          <p:nvPr/>
        </p:nvSpPr>
        <p:spPr>
          <a:xfrm>
            <a:off x="8935974" y="3566160"/>
            <a:ext cx="1068705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400万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8935974" y="3950208"/>
            <a:ext cx="106870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验证与合规</a:t>
            </a:r>
          </a:p>
        </p:txBody>
      </p:sp>
      <p:sp>
        <p:nvSpPr>
          <p:cNvPr id="5046" name="SimReal 5046"/>
          <p:cNvSpPr/>
          <p:nvPr/>
        </p:nvSpPr>
        <p:spPr>
          <a:xfrm>
            <a:off x="6524244" y="4425696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7" name="SimReal 5047"/>
          <p:cNvSpPr txBox="1"/>
          <p:nvPr/>
        </p:nvSpPr>
        <p:spPr>
          <a:xfrm>
            <a:off x="6524244" y="4535424"/>
            <a:ext cx="227457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前3个月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6524244" y="4754880"/>
            <a:ext cx="227457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小模型跑通全流程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8935974" y="4535424"/>
            <a:ext cx="227457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第6个月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8935974" y="4754880"/>
            <a:ext cx="227457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10+个环境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开源大模型实现RSI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548640" y="576072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business@simreal.co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· 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53" name="SimReal 505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54" name="SimReal 505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先卖给AI实验室，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再到企业和个人Agent团队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2918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现在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AI实验室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买环境和数据，训练更强的模型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41248" y="3950208"/>
            <a:ext cx="292912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41248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我们卖什么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41248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环境授权、训练数据、评测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337304" y="1572768"/>
            <a:ext cx="3514344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29912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下一步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29912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企业Agent团队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29912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29912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把业务流程做成练习题，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上线前先练、先验收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629912" y="395020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29912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我们卖什么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29912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定制环境与验收评测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25968" y="1572768"/>
            <a:ext cx="3514344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8576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再下一步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18576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个人Agent团队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18576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18576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替人办事的Agent，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要练长任务、跨应用操作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418576" y="395020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418576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我们卖什么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418576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长任务练习环境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同一套环境，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卖给三类客户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