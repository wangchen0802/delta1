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9" r:id="rId15"/>
    <p:sldId id="275" r:id="rId21"/>
    <p:sldId id="262" r:id="rId8"/>
    <p:sldId id="264" r:id="rId10"/>
    <p:sldId id="272" r:id="rId18"/>
    <p:sldId id="265" r:id="rId11"/>
    <p:sldId id="271" r:id="rId17"/>
    <p:sldId id="270" r:id="rId16"/>
    <p:sldId id="266" r:id="rId12"/>
    <p:sldId id="267" r:id="rId13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595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为未来的AI构建数据基础设施、RL环境与自我进化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 neolab building Data Infra, RL environments and RSI for future AI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年化收入（ARR）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3,000万元人民币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项目概述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衍真是一家Neolab：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为未来的AI构建数据基础设施、RL环境与递归自我改进（RSI）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 · 环境 · RSI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数据基础设施：Agent轨迹、专家与评测数据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RL环境已上线：交易、AI研究、事件预测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3,000万元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约450万美元；创立三周交付数百万需求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14天上线7款产品，零外部融资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7007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核心成果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568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603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Qwen3.8-27B经Xitadel训练，在未见过的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交易日上最高提升12%，多次独立复现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21岁量化创始团队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剑桥、LSE、杜克数学本科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Street、Citadel、Optiver、Millennium经历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4015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 → 7,000亿美元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今天：训练数据与RL环境供应商年收入约85亿美元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2030年公司情景测算：约为今天的82倍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4015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529584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85616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8912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人民币（等值美元）；投后估值5亿元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收入引擎与RSI引擎各2,000万元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谁有最好的训练世界，谁就有最好的AI。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从交易出发，走向整个世界。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三位21岁创始人，数学、机器学习与量化背景，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放弃量化机构转正offer来做这件事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Stables首位员工：帮助U稳定币一年内从0做到14亿美元，一个月上线Binance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汇丰港元稳定币发行项目唯一实习生，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全程协助推进香港金管局（HKMA）合规项目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X（Twitter）博主，内容数百万浏览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LSE数学本科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剑桥机器学习暑研，师从统计学教授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Po-Ling Loh（国际数理统计学会会士）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剑桥研究中心AI最年轻本科研究员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设计5个基准与强化学习环境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剑桥数学一等荣誉（奖学金）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Millennium另类数据团队首位应届招聘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参与落地Plug and Play香港首场活动</a:t>
            </a:r>
            <a:br>
              <a:rPr lang="zh-CN" sz="1050"/>
            </a:b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（联合香港科技园；200+人规模）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强生MedTech科技峰会主持人（200+人规模）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17岁成为出版作家；全网原创内容获10万+互动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28032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901184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杜克数学与统计本科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778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交易台纪律、机器学习研究、机构关系，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做专业训练环境要的三样能力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训练的瓶颈从数据转向环境：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预算已到位，专业领域还缺好环境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推理模型靠可自动验证的结果做强化学习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公开人类文本预计2026–2032年用尽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稀缺的是能自动打分的环境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预算已经到位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每个RL任务200–2,000美元；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环境合同每季度六到七位数美元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Mercor在2026年7月收购环境公司Deeptune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环境已是实验室的新采购品类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专业任务还没解决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60320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前沿模型真钱交易，32轮仅6轮盈利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</a:t>
            </a:r>
            <a:br>
              <a:rPr lang="zh-CN" sz="1150"/>
            </a:b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在2026年9月开始替人做事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交易对错易验证、差距大：最适合先做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RL环境赛道约20家早期公司，预计收敛到3–5家（据Wing VC）：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先做出可验证的增益，先拿实验室长期合同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AI（公开文本存量预测；《An FAQ on RL environments》，2026年1月）；SiliconANGLE、TechCrunch（2026年7月）；Nof1（2026年5月）；Meta、OpenAI发布（2026年9月）；Wing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做不好真实世界里的事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真实工作没有标准答案，只有世界的反应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5968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表面检查：通过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真实世界：失手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历史回测一路上涨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没见过的行情里亏钱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432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43200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43200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4320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43200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上线后出错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101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10128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10128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账看起来已经做完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10128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10128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87705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877056"/>
            <a:ext cx="1554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877056"/>
            <a:ext cx="4023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87705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877056"/>
            <a:ext cx="45720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结果一出就落空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148840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前沿模型用真钱交易，32轮只有6轮赚钱（Alpha Arena）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323076" y="45262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77 &lt; 80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923276" y="4526280"/>
            <a:ext cx="3717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Xitadel上最强的GPT 6总分77，仍低于人类80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AI要学会做事，需要一个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按真实结果打分的世界</a:t>
            </a: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数据、环境、RSI三层：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按任务结果训练，在没见过的任务上验收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基础Agent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接入客户已有模型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与工具调用能力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按需适配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监督微调，学习示范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人类反馈，对齐偏好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环境训练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按结果奖励，强化学习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更新模型或策略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独立评测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40864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用未见任务验证效果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达到约定标准后交付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训练中的薄弱任务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RSI · 自我出题循环 · 研发方向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分析训练失败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定位训练中的薄弱任务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智能体出题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生成或挑选新任务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任务与评分校验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规则、执行器与专家验证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回到环境训练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校验通过后进入下一轮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自主出题为研发方向；独立评测任务不参与训练或出题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衍真交付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754880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数据基础设施  ·  RL环境与评分工具  ·  评测报告  ·  RSI研究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参考：InstructGPT（arXiv 2203.02155）；DeepSeek-R1（arXiv 2501.12948）；Absolute Zero（arXiv 2505.03335）。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647233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5个基准已开源，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训练基础设施压低每轮成本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288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60个真实竞赛任务，按竞赛真实答案外部评分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225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回放竞赛订单簿，对标同资产上的专业交易员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1635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高阶数学题，检验推理与解题能力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01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749道人工推理题，15类主题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0390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截止前锁定概率与证据，按真实结局打分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microVM深度隔离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815584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同等资源完成的已评分尝试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9488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存档耗时，存档次数减半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公开仓库与星标截至2026年10月4日，5个共602星。三项基础设施指标为公司内部测试，口径不同，不能相乘或相加。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数据业务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环境执行与专家工作，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产出三类可交付的数据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697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Agent轨迹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651760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每一步动作、环境反馈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以及最终任务结果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5387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67588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用于监督微调与强化学习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2697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651760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真实工作的示范、专业判断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以及评分标准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5387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67588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用于对齐、奖励建模与任务设计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2697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2996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评测数据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651760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私有任务与隔离测试集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独立于训练数据保存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5387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675888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用于能力验收与持续评测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498848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498848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以交易为例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743200" y="4498848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一次回合留下订单、成交与计分记录：可用于训练，也可重放复核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每轮模型升级都要新任务、新轨迹和新的测试样本，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数据需求持续发生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面向AI实验室与企业，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按交付范围与使用权收费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057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6032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可执行任务与结果评分工具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309067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9184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按期限、范围与使用权授权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057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6032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761488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行动轨迹、专家示范与私有评测数据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09067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29184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按交付量或批次收费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057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6032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交付内容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00288" y="2761488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训练实验、迁移验证与托管运行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090672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收费方式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291840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5876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114800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4114800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047238" y="411480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12998" y="4114800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641598" y="4114800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911596" y="411480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77356" y="4114800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505956" y="4114800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775954" y="4114800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141714" y="4114800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370314" y="4114800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548640" y="50749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模型每升级一轮都要换新任务和测试样本，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持续更新带来复购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收费方式以实际合同为准。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36378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36891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8637" y="3570531"/>
            <a:ext cx="951678" cy="46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36782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666744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0143" y="4489704"/>
            <a:ext cx="63794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4476" y="44897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18186" y="4497876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18932" y="4564678"/>
            <a:ext cx="914400" cy="2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5203" y="4489704"/>
            <a:ext cx="473202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90276" y="4575325"/>
            <a:ext cx="914399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43958" y="5111495"/>
            <a:ext cx="55031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47588" y="5180405"/>
            <a:ext cx="914400" cy="28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033260" y="5173124"/>
            <a:ext cx="914400" cy="29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69427" y="5111495"/>
            <a:ext cx="61341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404604" y="5209611"/>
            <a:ext cx="914400" cy="22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630696" y="5141253"/>
            <a:ext cx="833560" cy="36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零外部融资，创立三周交付数百万需求；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3,000万元人民币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3,000万元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ARR，约450万美元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3周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创立三周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交付数百万需求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14天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上线7款产品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5个公开仓库，602星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999232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截至2026年10月；ARR为年化经常性收入；星标截至2026年10月4日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3467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支持研发的从业者背景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33425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57400" y="433425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可触达、可验证的专家网络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809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057400" y="480974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专家候补名单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52852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57400" y="52852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高校学生与校友网络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标识仅表示支持者任职机构或网络覆盖的部分高校，不代表机构或学校背书；网络覆盖不等于已注册或参与交付。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2030年公司情景测算约7,000亿美元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600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当前：训练数据与RL环境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93392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6974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50余家供应商收入估算（Deedy Das，2026年7月）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75564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2030年：公司情景测算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1993392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69748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约为当前的82倍；假设AI经济规模7万亿美元、训练投入占10%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4564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547872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2062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Mercor年化毛营收：16个月，7,500万→20亿美元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6634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4564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547872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2062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Mercor估值：17个月，20亿→200亿美元（洽谈中）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6634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4564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547872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2062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AI新数据服务近一年增长，年化3.75亿美元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66344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需求转向专家与环境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来源：Mercor（TechCrunch、Sacra、Dealroom）；Snorkel AI公告（2026年9月）；Deedy Das行业图谱（2026年7月）。2030年为公司情景测算，非独立研究预测。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竞争与优势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从交易与事件预测切入，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对手强在规模，我们强在专业领域的计分和速度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29809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客户已有的选择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他们的强项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他们的短板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衍真的优势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数据与环境供应商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AI、AfterQuery、Mercor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专家网络大，实验室关系深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以通用领域为主；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交易的撮合与风险计分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需要交易台经验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交易台出身设计撮合与风险计分，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同一策略永远同一分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61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61488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公开基准与评测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Arena等榜单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61488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方便比较模型能力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61488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只做评测，不产出训练数据；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公开后很快饱和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61488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同一环境产出训练数据；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储备任务持续换题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57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客户内部自建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5760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贴合自身工具和业务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57600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缺专业规则与专家，占研究人力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57600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现成的交易、事件预测环境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与专家网络，按需交付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5537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70916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可复用资产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11680" y="4709160"/>
            <a:ext cx="96286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任务库 · 评分器 · 隔离测试集 · 专家数据 · 失败案例：随客户和模型迭代持续积累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2578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可比交易：</a:t>
            </a: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据彭博，阿里拟领投UniPat 3亿美元，估值约25亿美元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专业训练环境要同时做对计分、训练和交付：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三件事我们都有结果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计分做对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交易台经验写进规则：逐笔撮合；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盈亏扣除回撤再乘夏普；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最后一个交易日留出，结果哈希预先公开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分数拉得开：GPT 6得77分，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其余前沿模型24–30分，人类最佳80分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训练有增益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同一环境既评测又训练；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microVM隔离、任务资源分配、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智能存档压低每轮成本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Qwen3.8-27B最高提升12%；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同等资源多完成64%的已评分尝试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30632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73936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交付够快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232257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做法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532888"/>
            <a:ext cx="2965704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自有环境构建工具；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20万+可触达专家网络，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7,000+已报名候补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47472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58444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803904"/>
            <a:ext cx="296570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14天上线7款产品，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5个公开仓库共602星，零外部融资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864608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4864608"/>
            <a:ext cx="18288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越做越难复制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697480" y="4864608"/>
            <a:ext cx="87142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每个客户都会留下任务库、评分器、失败案例与验证过的专家，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复用到下一个客户和下一个领域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来源：Xitadel-QuantBench公开报告与计分规范；训练基础设施指标为公司内部测试；GitHub星标截至2026年10月4日。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Picture 607" descr="xita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249424"/>
            <a:ext cx="3514344" cy="2318491"/>
          </a:xfrm>
          <a:prstGeom prst="rect">
            <a:avLst/>
          </a:prstGeom>
        </p:spPr>
      </p:pic>
      <p:pic>
        <p:nvPicPr>
          <p:cNvPr id="609" name="Picture 608" descr="ml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304" y="2249424"/>
            <a:ext cx="3514344" cy="2318491"/>
          </a:xfrm>
          <a:prstGeom prst="rect">
            <a:avLst/>
          </a:prstGeom>
        </p:spPr>
      </p:pic>
      <p:pic>
        <p:nvPicPr>
          <p:cNvPr id="610" name="Picture 609" descr="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5968" y="2249424"/>
            <a:ext cx="3514344" cy="2318491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三个环境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AI在里面做真实任务，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按真实结果打分，留下训练数据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</a:t>
            </a: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交易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01952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AI写交易策略，在竞赛订单簿回放里逐笔撮合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66928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写策略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290066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1472946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1491234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回放撮合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2214372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2397252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2415540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风险计分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138678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3321558" y="4663440"/>
            <a:ext cx="741426" cy="457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3339846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交易轨迹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337304" y="1517904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MLBench</a:t>
            </a: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AI研究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37304" y="1901952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AI做60个真实机器学习竞赛任务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4337304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4355592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写代码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078730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261610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279898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训练提交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003036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6185916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6204204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外部评分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27342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110222" y="4663440"/>
            <a:ext cx="741426" cy="457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128510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研究轨迹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8125968" y="1517904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事件预测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8125968" y="1901952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AI截止前给出概率和证据，揭晓后结算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125968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144256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查证据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867394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50274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068562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锁定概率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791700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9974580" y="4663440"/>
            <a:ext cx="741426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9992868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揭晓结算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16006" y="466344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10898886" y="4663440"/>
            <a:ext cx="741426" cy="457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10917174" y="4663440"/>
            <a:ext cx="70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预测轨迹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035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得分方式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交易：max(0, 盈亏 − 0.1×回撤) × 夏普，测试日不参与训练  ·  AI研究：外部评分  ·  事件预测：延迟奖励，按结局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界面为示意图，数字为演示，非产品截图。最后一格为该环境产出的数据。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一半做数据与环境的收入，一半做RSI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5408676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41248" y="26517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收入引擎 · 2,000万元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1248" y="2871216"/>
            <a:ext cx="48234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数据基础设施与RL环境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41248" y="338328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1248" y="3383280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700万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64208" y="338328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环境生产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807208" y="3383280"/>
            <a:ext cx="28575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按领域批量搭建训练环境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1248" y="367588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248" y="367588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400万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664208" y="367588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数据生产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807208" y="3675888"/>
            <a:ext cx="28575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Agent轨迹、专家与评测数据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41248" y="396849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41248" y="3968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600万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64208" y="3968496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807208" y="3968496"/>
            <a:ext cx="28575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接入、验收与持续更新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41248" y="426110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841248" y="4261104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300万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64208" y="4261104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销售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807208" y="4261104"/>
            <a:ext cx="28575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实验室、企业与Agent团队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41248" y="455371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41248" y="4608576"/>
            <a:ext cx="48234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5名环境工程师 · 3名交付 · 2名商务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1248" y="4956048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前3个月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41248" y="5157216"/>
            <a:ext cx="22745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新增3–4家客户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52978" y="4956048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第6个月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3252978" y="5157216"/>
            <a:ext cx="22745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6231636" y="2487168"/>
            <a:ext cx="5408676" cy="32461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6524244" y="26517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RSI引擎 · 2,000万元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6524244" y="2871216"/>
            <a:ext cx="482346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递归自我改进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524244" y="338328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524244" y="3383280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900万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347204" y="338328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490204" y="3383280"/>
            <a:ext cx="28575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迭代训练与独立评测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6524244" y="367588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6524244" y="3675888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700万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47204" y="367588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研究团队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8490204" y="3675888"/>
            <a:ext cx="28575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自主出题与训练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6524244" y="396849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6524244" y="3968496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400万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7347204" y="3968496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验证与合规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8490204" y="3968496"/>
            <a:ext cx="28575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交易、事件预测验证</a:t>
            </a:r>
          </a:p>
        </p:txBody>
      </p:sp>
      <p:sp>
        <p:nvSpPr>
          <p:cNvPr id="5054" name="SimReal 5054"/>
          <p:cNvSpPr/>
          <p:nvPr/>
        </p:nvSpPr>
        <p:spPr>
          <a:xfrm>
            <a:off x="6524244" y="426110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5" name="SimReal 5055"/>
          <p:cNvSpPr txBox="1"/>
          <p:nvPr/>
        </p:nvSpPr>
        <p:spPr>
          <a:xfrm>
            <a:off x="6524244" y="4608576"/>
            <a:ext cx="48234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3名研究员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6524244" y="4956048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前3个月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6524244" y="5157216"/>
            <a:ext cx="22745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小模型跑通出题与训练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8935974" y="4956048"/>
            <a:ext cx="227457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第6个月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8935974" y="5157216"/>
            <a:ext cx="227457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10+环境，开源大模型实现RSI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548640" y="58155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62" name="SimReal 506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63" name="SimReal 506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我们的答案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商业与进展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计划与融资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客户与应用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从专业任务训练，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拓展到持续工作的个人Agent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4290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68880"/>
            <a:ext cx="2965704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2家前沿实验室在谈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采购专业数据与训练环境，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用于模型训练和能力验证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22960" y="4059936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22960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环境授权、Agent轨迹、专家数据与评测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4337304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4611624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拓展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11624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把业务流程转成可执行任务，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在部署前训练、测试与验收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4611624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4611624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定制任务、评分工具与验收评测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8125968" y="157276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8400288" y="1773936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个人Agent开发团队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他们要什么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400288" y="2980944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独立虚拟机与浏览器，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跨应用执行任务，持续推进用户的长期目标</a:t>
            </a:r>
          </a:p>
          <a:p>
            <a:pPr marL="0" marR="0" lvl="0" indent="0" algn="l" rtl="0">
              <a:lnSpc>
                <a:spcPct val="114999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 Dots：</a:t>
            </a: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常驻云端，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调用工具、分派任务，用户离线后继续工作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00288" y="4059936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00288" y="416966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我们交付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00288" y="438912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长任务、跨应用与失败恢复的练习环境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23036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个人Agent产品示例：Meta（2026年9月8日）、OpenAI（2026年9月29日）官方发布；二者为行业示例，不是衍真客户。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5321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同一批环境，三类客户：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先卖实验室，再到企业与个人Agent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