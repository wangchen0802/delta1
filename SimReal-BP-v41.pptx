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9" r:id="rId15"/>
    <p:sldId id="275" r:id="rId21"/>
    <p:sldId id="262" r:id="rId8"/>
    <p:sldId id="264" r:id="rId10"/>
    <p:sldId id="271" r:id="rId17"/>
    <p:sldId id="270" r:id="rId16"/>
    <p:sldId id="266" r:id="rId12"/>
    <p:sldId id="267" r:id="rId13"/>
    <p:sldId id="272" r:id="rId18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6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用真实数据重建真实世界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AI实验室、企业与个人Agent的训练场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人民币4,000万元（等值美元）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2062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项目概述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给AI和个人Agent一个真实的世界，让它们反复犯错、学习、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训练环境与AI数据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603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面向AI实验室与企业：Agent轨迹、专家与评测数据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独家环境让AI自我进化（RSI）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下一步：向个人Agent开放练习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已做到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14天7款产品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603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3个世界已上线：交易、AI研究、事件预测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5个公开仓库；零外部融资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727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核心成果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603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Qwen3.8-27B经Xitadel训练，在未见过的交易日上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交易表现最高提升12%，多次独立复现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05后量化创始团队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剑桥、LSE、杜克数学本科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Street、Citadel、Optiver、Millennium经历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 → 7,000亿美元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今天训练数据与RL环境供应商年收入约85亿美元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2030年情景约7,000亿美元，为今天的82倍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4015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人民币（等值美元）；投后估值5亿元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收入引擎与RSI引擎各2,000万元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谁有一个行业最好的训练世界，谁就有这个行业最好的AI；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从交易出发，走向整个世界。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数学、机器学习、量化交易与数据科学背景；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放弃顶级量化机构的转正offer来做这件事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Stables首位员工：帮助U稳定币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一年内从0做到14亿美元，一个月上线Binance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负责机构关系，参与SIG、DRW等合作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汇丰港元稳定币发行项目唯一实习生，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全程协助推进香港金管局（HKMA）合规项目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X（Twitter）博主，内容数百万浏览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82803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901184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LSE数学本科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剑桥机器学习暑研，师从著名统计学教授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Po-Ling Loh（国际数理统计学会会士）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剑桥研究中心AI最年轻本科研究员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设计五大Benchmark与强化学习环境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82803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901184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剑桥数学一等荣誉（奖学金）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Millennium另类数据团队史上首位应届招聘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参与落地Plug and Play香港首场活动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（联合香港科技园；200+人规模）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强生MedTech科技峰会主持人（200+人规模）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17岁成为出版作家；全网原创内容获10万+互动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82803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901184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杜克数学与统计本科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5778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交易台的纪律、机器学习研究、机构关系：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正是做专业训练环境要的三样能力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训练的瓶颈正从数据转向环境：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预算已经到位，专业领域的环境还没人做好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训练方式变了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60320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推理模型靠可自动验证的结果做强化学习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公开人类文本预计2026–2032年用尽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稀缺的是能自动打分的环境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预算已经到位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60320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每个RL任务200–2,000美元；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环境合同每季度六到七位数美元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Mercor在2026年7月收购环境公司Deeptune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环境已是实验室的新采购品类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专业任务还没解决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60320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前沿模型真钱交易，32轮仅6轮盈利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Muse、OpenAI Dots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在2026年9月开始替人做事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交易对错易验证、差距大：最适合先做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RL环境赛道约20家早期公司，预计收敛到3–5家（据Wing VC）：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先在专业领域做出可验证的增益，先拿到实验室的长期合同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AI（公开文本存量预测；《An FAQ on RL environments》，2026年1月）；SiliconANGLE、TechCrunch（2026年7月）；Nof1（2026年5月）；Meta、OpenAI发布（2026年9月）；Wing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AI已经学会推理，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却还做不好真实世界里的事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真实工作没有标准答案，只有世界的反应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6720840" y="1847088"/>
            <a:ext cx="4919472" cy="25968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19456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表面检查：通过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4944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真实世界：失手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7627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76272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94560" y="2176272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历史回测一路上涨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217920" y="217627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949440" y="2176272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进入未见过的真实行情就亏钱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432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43200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194560" y="2743200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17920" y="274320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949440" y="2743200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上线后出错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3101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310128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94560" y="3310128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账看起来已经做完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217920" y="331012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49440" y="3310128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87705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877056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194560" y="3877056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217920" y="387705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49440" y="3877056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结果一出就落空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5262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148840" y="4526280"/>
            <a:ext cx="3717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前沿模型用真钱交易，32轮只有6轮赚钱（Alpha Arena）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323076" y="45262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77 &lt; 80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923276" y="4526280"/>
            <a:ext cx="3717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Xitadel上最强的GPT 6总分77，仍低于人类80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548640" y="52578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AI要学会做事，需要一个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用真实结果结算每个动作的世界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用任务结果训练模型，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用独立评测检验改进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基础Agent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接入客户已有模型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与工具调用能力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047238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12998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41598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41598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按需适配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41598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监督微调，学习示范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人类反馈，对齐偏好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11596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77356" y="1572768"/>
            <a:ext cx="2498598" cy="1234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FAF9F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环境训练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505956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按结果奖励，强化学习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更新模型或策略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775954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141714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370314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370314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独立评测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370314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用未见任务验证效果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达到约定标准后交付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526655" y="2807208"/>
            <a:ext cx="10973" cy="27432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599807" y="282549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训练中的薄弱任务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127248"/>
            <a:ext cx="11091672" cy="1143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327355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自我出题循环 · 研发方向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分析训练失败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77240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定位训练中的薄弱任务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161538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527298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智能体出题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527298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生成或挑选新任务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911596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277356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任务与评分校验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77356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规则、执行器与专家验证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661654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9027414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回到环境训练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27414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校验通过后进入下一轮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4370832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自主出题为研发方向；独立评测任务不参与训练或出题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54880"/>
            <a:ext cx="11091672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777240" y="4754880"/>
            <a:ext cx="20116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衍真交付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2743200" y="4754880"/>
            <a:ext cx="87142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专业数据  ·  训练环境  ·  评分工具  ·  评测报告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参考：InstructGPT（arXiv 2203.02155）；DeepSeek-R1（arXiv 2501.12948）；Absolute Zero（arXiv 2505.03335）。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repos-2026-10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572768"/>
            <a:ext cx="5120640" cy="245245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五款评测产品已公开；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训练基础设施把每轮训练的成本压下来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989320" y="1572768"/>
            <a:ext cx="56509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989320" y="1609344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989320" y="1828800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60个真实竞赛任务，评测机器学习研究能力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989320" y="2066544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989320" y="210312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Xitadel-QuantBench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989320" y="2322576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回放订单簿，对标同资产上的专业交易员；保留轨迹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989320" y="2560320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989320" y="2596896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5989320" y="2816352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高阶数学题，检验推理与解题能力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989320" y="3054096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989320" y="309067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989320" y="3310128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749道人工推理题，覆盖15类主题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989320" y="3547872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989320" y="358444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 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3803904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截止前锁定概率与证据，按真实结局评分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989320" y="4041648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4370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训练基础设施：同样的算力，跑更多训练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011680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microVM深度隔离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352544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352544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815584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同等资源完成的已评分尝试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任务资源分配（Rollout allocation）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8156448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619488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存档耗时，存档次数减半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智能存档：自动判断何时保存检查点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公开仓库截至2026年10月2日。三项基础设施指标各有比较口径，不能相乘或相加。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面向AI实验室与企业，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按交付范围与使用权收费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035808" cy="25603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42032"/>
            <a:ext cx="2487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761488"/>
            <a:ext cx="24871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可执行任务与结果评分工具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3602736"/>
            <a:ext cx="2487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803904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按期限、范围与使用权授权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3858768" y="1572768"/>
            <a:ext cx="4197096" cy="25603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1330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133088" y="2011680"/>
            <a:ext cx="364845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AI数据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133088" y="2542032"/>
            <a:ext cx="364845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133088" y="2761488"/>
            <a:ext cx="364845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Agent轨迹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用于监督微调与强化学习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用于对齐、奖励建模与任务设计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评测数据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用于能力验收与持续评测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133088" y="3602736"/>
            <a:ext cx="364845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133088" y="3803904"/>
            <a:ext cx="36484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按交付量或批次收费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330184" y="1572768"/>
            <a:ext cx="3310128" cy="25603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60450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604504" y="2011680"/>
            <a:ext cx="276148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604504" y="2542032"/>
            <a:ext cx="276148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604504" y="2761488"/>
            <a:ext cx="27614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训练实验、迁移验证与托管运行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604504" y="3602736"/>
            <a:ext cx="276148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04504" y="3803904"/>
            <a:ext cx="27614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242816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以交易为例：</a:t>
            </a: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一次回合留下订单、成交与计分记录，同一份记录既能训练，也能复测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45537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773168"/>
            <a:ext cx="2498598" cy="47548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4773168"/>
            <a:ext cx="204139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047238" y="4773168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12998" y="4773168"/>
            <a:ext cx="2498598" cy="47548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641598" y="4773168"/>
            <a:ext cx="204139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911596" y="4773168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77356" y="4773168"/>
            <a:ext cx="2498598" cy="47548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505956" y="4773168"/>
            <a:ext cx="204139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775954" y="4773168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141714" y="4773168"/>
            <a:ext cx="2498598" cy="4754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370314" y="4773168"/>
            <a:ext cx="204139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每轮模型升级都需要新任务、新轨迹与新的测试样本：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授权之后的持续更新，带来复购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90702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收费方式为拟议商业模式，不代表已签署合同。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3637887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3689181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18637" y="3570531"/>
            <a:ext cx="951678" cy="466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3678277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7378" y="3666744"/>
            <a:ext cx="1487533" cy="274320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00143" y="4489704"/>
            <a:ext cx="63794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4476" y="4489704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18186" y="4497876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18932" y="4564678"/>
            <a:ext cx="914400" cy="27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625203" y="4489704"/>
            <a:ext cx="473202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590276" y="4575325"/>
            <a:ext cx="914399" cy="249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843958" y="5111495"/>
            <a:ext cx="55031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847588" y="5180405"/>
            <a:ext cx="914400" cy="282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033260" y="5173124"/>
            <a:ext cx="914400" cy="297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369427" y="5111495"/>
            <a:ext cx="613410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404604" y="5209611"/>
            <a:ext cx="914400" cy="224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630696" y="5141253"/>
            <a:ext cx="833560" cy="3611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零外部融资，14天做出7款产品；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2家前沿实验室在谈，20万+专家可触达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首个付费试点的来源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完成首批7款产品开发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90138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交付速度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31636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231636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512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231636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5个公开仓库的GitHub星标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31636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开发者与研究者的关注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73134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073134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073134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外部融资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9073134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每一分钱都花在产品上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2999232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截至2026年9月29日；星标截至2026年10月2日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334670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支持研发的从业者背景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2245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334256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57400" y="4334256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可触达、可验证的专家网络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809744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057400" y="4809744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专家候补名单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528523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2057400" y="5285232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高校学生与校友网络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标识仅表示支持者任职机构或网络覆盖的部分高校，不代表机构或学校背书；网络覆盖不等于已注册或参与交付。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训练数据与环境的支出正在加速：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2030年情景约为今天的82倍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当前：训练数据与RL环境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50余家供应商收入估算（Deedy Das，2026年7月）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2030年：公司情景测算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约为当前的82倍；假设AI经济规模7万亿美元、训练投入占10%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Mercor年化毛营收：16个月，7,500万→20亿美元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Mercor估值：17个月，20亿→200亿美元（洽谈中）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资本已经为这个赛道定价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AI近一年增长，年化收入3.75亿美元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数据服务正转向专家与环境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来源：Mercor（TechCrunch、Sacra、Dealroom）；Snorkel AI公告（2026年9月）；Deedy Das行业图谱（2026年7月）。2030年为公司情景测算，非独立研究预测。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竞争与优势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从交易与事件预测切入：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别人强在规模，我们强在专业领域的计分与速度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29809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客户已有的选择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429000" y="1591056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他们的强项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89320" y="1591056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他们的短板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衍真的优势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数据与环境供应商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AI、AfterQuery、Mercor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429000" y="1865376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专家网络大，实验室关系深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89320" y="1865376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以通用领域为主；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交易的撮合与风险计分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需要交易台经验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交易台出身设计撮合与风险计分，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同一策略永远同一分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614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61488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公开基准与评测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Arena等榜单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429000" y="2761488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方便比较模型能力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2761488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只做评测，不产出训练数据；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公开后很快饱和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61488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同一环境产出训练数据；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储备任务持续换题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576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57600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客户内部自建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429000" y="3657600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贴合自身工具和业务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89320" y="3657600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缺专业规则与专家，占研究人力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57600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现成的交易、事件预测环境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与专家网络，按需交付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55371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7091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可复用资产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011680" y="4709160"/>
            <a:ext cx="96286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任务库 · 评分器 · 隔离测试集 · 专家数据 · 失败案例：随客户和模型迭代持续积累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2578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赛道已被定价：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据彭博，阿里拟领投UniPat 3亿美元，估值约25亿美元</a:t>
            </a: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专业训练环境要同时做对计分、训练和交付：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三件事我们都有结果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计分做对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3288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交易台经验写进规则：逐笔撮合；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盈亏扣除回撤再乘夏普；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最后一个交易日留出，结果哈希预先公开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分数拉得开：GPT 6得77分，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其余前沿模型24–30分，人类最佳80分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训练有增益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53288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同一环境既评测又训练；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microVM隔离、任务资源分配、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智能存档压低每轮成本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Qwen3.8-27B最高提升12%；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同等资源多完成64%的已评分尝试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交付够快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53288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自有环境构建工具；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20万+可触达专家网络，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7,000+已报名候补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14天上线7款产品，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5个公开仓库共512星，零外部融资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864608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4864608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越做越难复制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697480" y="4864608"/>
            <a:ext cx="87142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每个客户都会留下任务库、评分器、失败案例与验证过的专家，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复用到下一个客户和下一个领域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来源：Xitadel-QuantBench公开报告与计分规范；训练基础设施指标为公司内部测试；GitHub星标截至2026年10月2日。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本轮融资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融资用途与六个月目标：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收入引擎赚今天的钱，RSI引擎做自我进化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54480"/>
            <a:ext cx="3544824" cy="84124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645920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本轮融资（人民币）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1828800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22064" y="1554480"/>
            <a:ext cx="3544824" cy="8412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578096" y="1645920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578096" y="1828800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095488" y="1554480"/>
            <a:ext cx="3544824" cy="8412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351520" y="1645920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351520" y="1828800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8%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578608"/>
            <a:ext cx="5408676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41248" y="2761488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收入引擎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41248" y="2980944"/>
            <a:ext cx="48234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248" y="3456432"/>
            <a:ext cx="48234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环境授权与数据交付，形成持续收入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248" y="3785616"/>
            <a:ext cx="48234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资金投向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248" y="3986784"/>
            <a:ext cx="48234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训练环境与专家数据生产；客户接入、验收与持续更新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841248" y="436168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841248" y="4471416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前3个月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1248" y="4681728"/>
            <a:ext cx="22745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3–4家客户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248" y="5065776"/>
            <a:ext cx="227457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首批订单交付与回款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3252978" y="4471416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第6个月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252978" y="4681728"/>
            <a:ext cx="22745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累计20家客户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252978" y="5065776"/>
            <a:ext cx="227457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拓展订单与复购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31636" y="2578608"/>
            <a:ext cx="5408676" cy="30175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24244" y="2761488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RSI引擎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6524244" y="2980944"/>
            <a:ext cx="48234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524244" y="3456432"/>
            <a:ext cx="48234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研发自主出题、训练和独立评测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6524244" y="3785616"/>
            <a:ext cx="48234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资金投向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524244" y="3986784"/>
            <a:ext cx="48234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算力与研究团队；交易及事件预测验证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6524244" y="436168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6524244" y="4471416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前3个月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524244" y="4681728"/>
            <a:ext cx="22745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小规模小模型实验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524244" y="5065776"/>
            <a:ext cx="227457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验证自主出题与训练闭环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8935974" y="4471416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第6个月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935974" y="4681728"/>
            <a:ext cx="22745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10+个环境跑通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935974" y="5065776"/>
            <a:ext cx="227457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在开源大模型上实现RSI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79008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客户与应用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从专业任务训练，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拓展到持续工作的个人Agent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4290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68880"/>
            <a:ext cx="296570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2家前沿实验室在谈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80944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采购专业数据与训练环境，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用于模型训练和能力验证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22960" y="4059936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22960" y="416966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22960" y="438912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环境授权、Agent轨迹、专家数据与评测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4337304" y="157276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4611624" y="1773936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拓展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11624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2980944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把业务流程转成可执行任务，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在部署前训练、测试与验收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4611624" y="405993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4611624" y="416966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438912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定制任务、评分工具与验收评测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8125968" y="157276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8400288" y="1773936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个人Agent开发团队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8400288" y="2980944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Muse：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独立虚拟机与浏览器，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跨应用执行任务，持续推进用户的长期目标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 Dots：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常驻云端，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调用工具、分派任务，用户离线后继续工作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400288" y="405993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400288" y="416966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400288" y="438912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长任务、跨应用与失败恢复的练习环境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523036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个人Agent产品示例：Meta（2026年9月8日）、OpenAI（2026年9月29日）官方发布；二者为行业示例，不是衍真客户。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53212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同一批环境，三类客户：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先卖给实验室，再向企业与个人Agent扩展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