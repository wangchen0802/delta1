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9" r:id="rId1"/>
  </p:sldMasterIdLst>
  <p:notesMasterIdLst>
    <p:notesMasterId r:id="rId24"/>
  </p:notesMasterIdLst>
  <p:sldIdLst>
    <p:sldId id="256" r:id="rId2"/>
    <p:sldId id="257" r:id="rId3"/>
    <p:sldId id="258" r:id="rId4"/>
    <p:sldId id="260" r:id="rId6"/>
    <p:sldId id="259" r:id="rId5"/>
    <p:sldId id="269" r:id="rId15"/>
    <p:sldId id="275" r:id="rId21"/>
    <p:sldId id="262" r:id="rId8"/>
    <p:sldId id="264" r:id="rId10"/>
    <p:sldId id="271" r:id="rId17"/>
    <p:sldId id="267" r:id="rId13"/>
    <p:sldId id="268" r:id="rId14"/>
    <p:sldId id="270" r:id="rId16"/>
    <p:sldId id="266" r:id="rId12"/>
    <p:sldId id="272" r:id="rId18"/>
    <p:sldId id="278" r:id="rId45"/>
  </p:sldIdLst>
  <p:sldSz cx="12192000" cy="6858000"/>
  <p:notesSz cx="6858000" cy="12192000"/>
  <p:embeddedFontLst>
    <p:embeddedFont>
      <p:font typeface="IBM Plex Mono" panose="020B0509050203000203" pitchFamily="49" charset="77"/>
      <p:regular r:id="rId25"/>
      <p:bold r:id="rId26"/>
      <p:italic r:id="rId27"/>
      <p:boldItalic r:id="rId28"/>
    </p:embeddedFont>
    <p:embeddedFont>
      <p:font typeface="Instrument Sans"/>
      <p:regular r:id="rId29"/>
      <p:bold r:id="rId30"/>
      <p:italic r:id="rId31"/>
      <p:boldItalic r:id="rId32"/>
    </p:embeddedFont>
    <p:embeddedFont>
      <p:font typeface="Instrument Sans SemiBold" pitchFamily="2" charset="0"/>
      <p:regular r:id="rId33"/>
      <p:bold r:id="rId34"/>
      <p:italic r:id="rId35"/>
      <p:boldItalic r:id="rId36"/>
    </p:embeddedFont>
    <p:embeddedFont>
      <p:font typeface="Newsreader" panose="02000000000000000000"/>
      <p:regular r:id="rId37"/>
      <p:bold r:id="rId38"/>
      <p:italic r:id="rId39"/>
      <p:boldItalic r:id="rId4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A870364-48A8-4773-986C-DF2669CC7B71}">
  <a:tblStyle styleId="{EA870364-48A8-4773-986C-DF2669CC7B7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78"/>
  </p:normalViewPr>
  <p:slideViewPr>
    <p:cSldViewPr snapToGrid="0">
      <p:cViewPr varScale="1">
        <p:scale>
          <a:sx n="117" d="100"/>
          <a:sy n="117" d="100"/>
        </p:scale>
        <p:origin x="38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8" Type="http://schemas.openxmlformats.org/officeDocument/2006/relationships/slide" Target="slides/slide7.xml"/><Relationship Id="rId10" Type="http://schemas.openxmlformats.org/officeDocument/2006/relationships/slide" Target="slides/slide9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21" Type="http://schemas.openxmlformats.org/officeDocument/2006/relationships/slide" Target="slides/slide21.xml"/><Relationship Id="rId24" Type="http://schemas.openxmlformats.org/officeDocument/2006/relationships/notesMaster" Target="notesMasters/notesMaster1.xml"/><Relationship Id="rId25" Type="http://schemas.openxmlformats.org/officeDocument/2006/relationships/font" Target="fonts/font1.fntdata"/><Relationship Id="rId26" Type="http://schemas.openxmlformats.org/officeDocument/2006/relationships/font" Target="fonts/font2.fntdata"/><Relationship Id="rId27" Type="http://schemas.openxmlformats.org/officeDocument/2006/relationships/font" Target="fonts/font3.fntdata"/><Relationship Id="rId28" Type="http://schemas.openxmlformats.org/officeDocument/2006/relationships/font" Target="fonts/font4.fntdata"/><Relationship Id="rId29" Type="http://schemas.openxmlformats.org/officeDocument/2006/relationships/font" Target="fonts/font5.fntdata"/><Relationship Id="rId30" Type="http://schemas.openxmlformats.org/officeDocument/2006/relationships/font" Target="fonts/font6.fntdata"/><Relationship Id="rId31" Type="http://schemas.openxmlformats.org/officeDocument/2006/relationships/font" Target="fonts/font7.fntdata"/><Relationship Id="rId32" Type="http://schemas.openxmlformats.org/officeDocument/2006/relationships/font" Target="fonts/font8.fntdata"/><Relationship Id="rId33" Type="http://schemas.openxmlformats.org/officeDocument/2006/relationships/font" Target="fonts/font9.fntdata"/><Relationship Id="rId34" Type="http://schemas.openxmlformats.org/officeDocument/2006/relationships/font" Target="fonts/font10.fntdata"/><Relationship Id="rId35" Type="http://schemas.openxmlformats.org/officeDocument/2006/relationships/font" Target="fonts/font11.fntdata"/><Relationship Id="rId36" Type="http://schemas.openxmlformats.org/officeDocument/2006/relationships/font" Target="fonts/font12.fntdata"/><Relationship Id="rId37" Type="http://schemas.openxmlformats.org/officeDocument/2006/relationships/font" Target="fonts/font13.fntdata"/><Relationship Id="rId38" Type="http://schemas.openxmlformats.org/officeDocument/2006/relationships/font" Target="fonts/font14.fntdata"/><Relationship Id="rId39" Type="http://schemas.openxmlformats.org/officeDocument/2006/relationships/font" Target="fonts/font15.fntdata"/><Relationship Id="rId40" Type="http://schemas.openxmlformats.org/officeDocument/2006/relationships/font" Target="fonts/font16.fntdata"/><Relationship Id="rId41" Type="http://schemas.openxmlformats.org/officeDocument/2006/relationships/presProps" Target="presProps.xml"/><Relationship Id="rId42" Type="http://schemas.openxmlformats.org/officeDocument/2006/relationships/viewProps" Target="viewProps.xml"/><Relationship Id="rId43" Type="http://schemas.openxmlformats.org/officeDocument/2006/relationships/theme" Target="theme/theme1.xml"/><Relationship Id="rId44" Type="http://schemas.openxmlformats.org/officeDocument/2006/relationships/tableStyles" Target="tableStyles.xml"/><Relationship Id="rId45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" name="Google Shape;13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" name="Google Shape;34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" name="Google Shape;35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9" name="Google Shape;69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" name="Google Shape;70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7" name="Google Shape;107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2" name="Google Shape;132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5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3" name="Google Shape;203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" name="Google Shape;204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7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2" name="Google Shape;272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9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1" name="Google Shape;341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2" name="Google Shape;342;p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81" name="Google Shape;381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2" name="Google Shape;382;p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12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12" name="Google Shape;412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3" name="Google Shape;413;p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13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47" name="Google Shape;447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8" name="Google Shape;448;p1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14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76" name="Google Shape;476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7" name="Google Shape;477;p1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15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16" name="Google Shape;516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7" name="Google Shape;517;p1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16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67" name="Google Shape;567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8" name="Google Shape;568;p1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17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60" name="Google Shape;660;p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1" name="Google Shape;661;p2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20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9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3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2.png"/><Relationship Id="rId6" Type="http://schemas.openxmlformats.org/officeDocument/2006/relationships/image" Target="../media/image3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3.jp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Relationship Id="rId7" Type="http://schemas.openxmlformats.org/officeDocument/2006/relationships/image" Target="../media/image17.png"/><Relationship Id="rId8" Type="http://schemas.openxmlformats.org/officeDocument/2006/relationships/image" Target="../media/image18.png"/><Relationship Id="rId9" Type="http://schemas.openxmlformats.org/officeDocument/2006/relationships/image" Target="../media/image3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9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Relationship Id="rId6" Type="http://schemas.openxmlformats.org/officeDocument/2006/relationships/image" Target="../media/image22.png"/><Relationship Id="rId7" Type="http://schemas.openxmlformats.org/officeDocument/2006/relationships/image" Target="../media/image23.png"/><Relationship Id="rId8" Type="http://schemas.openxmlformats.org/officeDocument/2006/relationships/image" Target="../media/image8.png"/><Relationship Id="rId9" Type="http://schemas.openxmlformats.org/officeDocument/2006/relationships/image" Target="../media/image24.png"/><Relationship Id="rId10" Type="http://schemas.openxmlformats.org/officeDocument/2006/relationships/image" Target="../media/image25.png"/><Relationship Id="rId11" Type="http://schemas.openxmlformats.org/officeDocument/2006/relationships/image" Target="../media/image26.png"/><Relationship Id="rId12" Type="http://schemas.openxmlformats.org/officeDocument/2006/relationships/image" Target="../media/image27.png"/><Relationship Id="rId13" Type="http://schemas.openxmlformats.org/officeDocument/2006/relationships/image" Target="../media/image28.png"/><Relationship Id="rId14" Type="http://schemas.openxmlformats.org/officeDocument/2006/relationships/image" Target="../media/image29.png"/><Relationship Id="rId15" Type="http://schemas.openxmlformats.org/officeDocument/2006/relationships/image" Target="../media/image30.png"/><Relationship Id="rId16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3" descr="orbit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80960" y="0"/>
            <a:ext cx="4507992" cy="411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17;p3" descr="SimReal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48640" y="502920"/>
            <a:ext cx="850392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1234440"/>
            <a:ext cx="7863840" cy="1737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4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AI that improves itself</a:t>
            </a:r>
          </a:p>
          <a:p>
            <a:pPr marL="0" marR="0" lvl="0" indent="0" algn="l" rtl="0">
              <a:lnSpc>
                <a:spcPct val="105000"/>
              </a:lnSpc>
              <a:spcBef>
                <a:spcPts val="1539"/>
              </a:spcBef>
              <a:spcAft>
                <a:spcPts val="0"/>
              </a:spcAft>
              <a:buNone/>
            </a:pPr>
            <a:r>
              <a:rPr lang="zh-CN" sz="4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in the real world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548640" y="3200400"/>
            <a:ext cx="8412480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2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Real data. Real environments. AI that gets it right.</a:t>
            </a:r>
          </a:p>
        </p:txBody>
      </p:sp>
      <p:sp>
        <p:nvSpPr>
          <p:cNvPr id="5003" name="SimReal 5003"/>
          <p:cNvSpPr/>
          <p:nvPr/>
        </p:nvSpPr>
        <p:spPr>
          <a:xfrm>
            <a:off x="548640" y="4526280"/>
            <a:ext cx="8229600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4" name="SimReal 5004"/>
          <p:cNvSpPr txBox="1"/>
          <p:nvPr/>
        </p:nvSpPr>
        <p:spPr>
          <a:xfrm>
            <a:off x="548640" y="4681728"/>
            <a:ext cx="29260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Founded</a:t>
            </a:r>
          </a:p>
        </p:txBody>
      </p:sp>
      <p:sp>
        <p:nvSpPr>
          <p:cNvPr id="5005" name="SimReal 5005"/>
          <p:cNvSpPr txBox="1"/>
          <p:nvPr/>
        </p:nvSpPr>
        <p:spPr>
          <a:xfrm>
            <a:off x="548640" y="4937760"/>
            <a:ext cx="310896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September 10, 2026</a:t>
            </a:r>
          </a:p>
        </p:txBody>
      </p:sp>
      <p:sp>
        <p:nvSpPr>
          <p:cNvPr id="5006" name="SimReal 5006"/>
          <p:cNvSpPr txBox="1"/>
          <p:nvPr/>
        </p:nvSpPr>
        <p:spPr>
          <a:xfrm>
            <a:off x="3291840" y="4681728"/>
            <a:ext cx="29260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Raising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3291840" y="4937760"/>
            <a:ext cx="310896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RMB 40M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6035040" y="4681728"/>
            <a:ext cx="29260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Business plan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6035040" y="4937760"/>
            <a:ext cx="310896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October 2026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548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Confidential  ·  For invited investors only  ·  October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4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02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Company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Opportunity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Product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Edge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Traction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Round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Overview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SimReal is a neolab building 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data, RL environments and recursive self-improvement (RSI)</a:t>
            </a: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 for next-generation AI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810512"/>
            <a:ext cx="3483864" cy="18288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548640" y="1938528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Revenue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548640" y="2194560"/>
            <a:ext cx="3483864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RMB 45M ARR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548640" y="2798064"/>
            <a:ext cx="348386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24 days after founding</a:t>
            </a:r>
          </a:p>
          <a:p>
            <a:pPr marL="0" marR="0" lvl="0" indent="0" algn="l" rtl="0">
              <a:lnSpc>
                <a:spcPct val="114999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No outside capital</a:t>
            </a:r>
          </a:p>
        </p:txBody>
      </p:sp>
      <p:sp>
        <p:nvSpPr>
          <p:cNvPr id="5009" name="SimReal 5009"/>
          <p:cNvSpPr/>
          <p:nvPr/>
        </p:nvSpPr>
        <p:spPr>
          <a:xfrm>
            <a:off x="4352544" y="1810512"/>
            <a:ext cx="3483864" cy="18288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0" name="SimReal 5010"/>
          <p:cNvSpPr txBox="1"/>
          <p:nvPr/>
        </p:nvSpPr>
        <p:spPr>
          <a:xfrm>
            <a:off x="4352544" y="1938528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Open source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4352544" y="2194560"/>
            <a:ext cx="3483864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602 GitHub stars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4352544" y="2798064"/>
            <a:ext cx="348386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7 products shipped in 14 days</a:t>
            </a:r>
          </a:p>
          <a:p>
            <a:pPr marL="0" marR="0" lvl="0" indent="0" algn="l" rtl="0">
              <a:lnSpc>
                <a:spcPct val="114999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5 of them open benchmarks</a:t>
            </a:r>
          </a:p>
        </p:txBody>
      </p:sp>
      <p:sp>
        <p:nvSpPr>
          <p:cNvPr id="5013" name="SimReal 5013"/>
          <p:cNvSpPr/>
          <p:nvPr/>
        </p:nvSpPr>
        <p:spPr>
          <a:xfrm>
            <a:off x="8156448" y="1810512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4" name="SimReal 5014"/>
          <p:cNvSpPr txBox="1"/>
          <p:nvPr/>
        </p:nvSpPr>
        <p:spPr>
          <a:xfrm>
            <a:off x="8156448" y="1938528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Research result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8156448" y="2194560"/>
            <a:ext cx="3483864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+12%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8156448" y="2798064"/>
            <a:ext cx="348386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Training loop working in trading by week 2</a:t>
            </a:r>
          </a:p>
          <a:p>
            <a:pPr marL="0" marR="0" lvl="0" indent="0" algn="l" rtl="0">
              <a:lnSpc>
                <a:spcPct val="114999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Up to +12% on unseen trading days</a:t>
            </a:r>
          </a:p>
        </p:txBody>
      </p:sp>
      <p:sp>
        <p:nvSpPr>
          <p:cNvPr id="5017" name="SimReal 5017"/>
          <p:cNvSpPr/>
          <p:nvPr/>
        </p:nvSpPr>
        <p:spPr>
          <a:xfrm>
            <a:off x="548640" y="3685032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8" name="SimReal 5018"/>
          <p:cNvSpPr txBox="1"/>
          <p:nvPr/>
        </p:nvSpPr>
        <p:spPr>
          <a:xfrm>
            <a:off x="548640" y="3813048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Team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548640" y="4069080"/>
            <a:ext cx="3483864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Gen-Z quant team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548640" y="4672584"/>
            <a:ext cx="348386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Cambridge, LSE, Duke mathematics</a:t>
            </a:r>
          </a:p>
          <a:p>
            <a:pPr marL="0" marR="0" lvl="0" indent="0" algn="l" rtl="0">
              <a:lnSpc>
                <a:spcPct val="114999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Jane Street, Citadel, Optiver, Millennium</a:t>
            </a:r>
          </a:p>
        </p:txBody>
      </p:sp>
      <p:sp>
        <p:nvSpPr>
          <p:cNvPr id="5021" name="SimReal 5021"/>
          <p:cNvSpPr/>
          <p:nvPr/>
        </p:nvSpPr>
        <p:spPr>
          <a:xfrm>
            <a:off x="4352544" y="3685032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2" name="SimReal 5022"/>
          <p:cNvSpPr txBox="1"/>
          <p:nvPr/>
        </p:nvSpPr>
        <p:spPr>
          <a:xfrm>
            <a:off x="4352544" y="3813048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Market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4352544" y="4069080"/>
            <a:ext cx="3483864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$8.5B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4352544" y="4672584"/>
            <a:ext cx="348386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Annual spend on training data and RL envs</a:t>
            </a:r>
          </a:p>
          <a:p>
            <a:pPr marL="0" marR="0" lvl="0" indent="0" algn="l" rtl="0">
              <a:lnSpc>
                <a:spcPct val="114999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Mercor revenue up 27x in 16 months</a:t>
            </a:r>
          </a:p>
        </p:txBody>
      </p:sp>
      <p:sp>
        <p:nvSpPr>
          <p:cNvPr id="5025" name="SimReal 5025"/>
          <p:cNvSpPr/>
          <p:nvPr/>
        </p:nvSpPr>
        <p:spPr>
          <a:xfrm>
            <a:off x="8156448" y="3685032"/>
            <a:ext cx="3483864" cy="18288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6" name="SimReal 5026"/>
          <p:cNvSpPr txBox="1"/>
          <p:nvPr/>
        </p:nvSpPr>
        <p:spPr>
          <a:xfrm>
            <a:off x="8156448" y="3813048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Round</a:t>
            </a:r>
          </a:p>
        </p:txBody>
      </p:sp>
      <p:sp>
        <p:nvSpPr>
          <p:cNvPr id="5027" name="SimReal 5027"/>
          <p:cNvSpPr txBox="1"/>
          <p:nvPr/>
        </p:nvSpPr>
        <p:spPr>
          <a:xfrm>
            <a:off x="8156448" y="4069080"/>
            <a:ext cx="3483864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RMB 40M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8156448" y="4672584"/>
            <a:ext cx="348386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RMB 500M post-money</a:t>
            </a:r>
          </a:p>
          <a:p>
            <a:pPr marL="0" marR="0" lvl="0" indent="0" algn="l" rtl="0">
              <a:lnSpc>
                <a:spcPct val="114999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Environments, RSI and delivery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132588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Confidential  ·  For invited investors only  ·  October 2026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p5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pic>
        <p:nvPicPr>
          <p:cNvPr id="78" name="Google Shape;78;p5" descr="jane-street-color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78974" y="1661532"/>
            <a:ext cx="757666" cy="297959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5" descr="citadel-color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254041" y="1719789"/>
            <a:ext cx="1244200" cy="181446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p5" descr="millennium-color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503221" y="1715056"/>
            <a:ext cx="1182510" cy="190911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Google Shape;82;p5" descr="optiver-color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828759" y="1693915"/>
            <a:ext cx="968102" cy="233193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5" descr="cambridge-ink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0216170" y="1530535"/>
            <a:ext cx="629948" cy="559953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03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Company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Opportunity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Product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Edge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Traction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Round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Team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Three founders, all 21. 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They turned down RMB 6M+ in first-year pay to build the next training engine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2212848"/>
            <a:ext cx="3514344" cy="342900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822960" y="2359152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Charles</a:t>
            </a:r>
            <a:r>
              <a:rPr lang="zh-CN" sz="10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   CEO</a:t>
            </a:r>
            <a:r>
              <a:rPr lang="zh-CN" sz="11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21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822960" y="2944368"/>
            <a:ext cx="2965704" cy="2011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First employee at United Stables: took USDU</a:t>
            </a:r>
            <a:br>
              <a:rPr lang="zh-CN" sz="1100"/>
            </a:b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from 0 to $1.4B in a year; Binance listing in a month</a:t>
            </a:r>
          </a:p>
          <a:p>
            <a:pPr marL="0" marR="0" lvl="0" indent="0" algn="l" rtl="0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Led institutional partnerships (SIG, DRW)</a:t>
            </a:r>
          </a:p>
          <a:p>
            <a:pPr marL="0" marR="0" lvl="0" indent="0" algn="l" rtl="0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Sole intern on HSBC HKD stablecoin project;</a:t>
            </a:r>
            <a:br>
              <a:rPr lang="zh-CN" sz="1100"/>
            </a:b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worked on HKMA compliance</a:t>
            </a:r>
          </a:p>
          <a:p>
            <a:pPr marL="0" marR="0" lvl="0" indent="0" algn="l" rtl="0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Citadel hedge fund intern, London</a:t>
            </a:r>
          </a:p>
        </p:txBody>
      </p:sp>
      <p:sp>
        <p:nvSpPr>
          <p:cNvPr id="5008" name="SimReal 5008"/>
          <p:cNvSpPr/>
          <p:nvPr/>
        </p:nvSpPr>
        <p:spPr>
          <a:xfrm>
            <a:off x="822960" y="4937760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9" name="SimReal 5009"/>
          <p:cNvSpPr txBox="1"/>
          <p:nvPr/>
        </p:nvSpPr>
        <p:spPr>
          <a:xfrm>
            <a:off x="822960" y="5029200"/>
            <a:ext cx="2965704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LSE Mathematics · SCIE</a:t>
            </a:r>
          </a:p>
          <a:p>
            <a:pPr marL="0" marR="0" lvl="0" indent="0" algn="l" rtl="0">
              <a:lnSpc>
                <a:spcPct val="112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USAMO qualifier</a:t>
            </a:r>
          </a:p>
        </p:txBody>
      </p:sp>
      <p:sp>
        <p:nvSpPr>
          <p:cNvPr id="5010" name="SimReal 5010"/>
          <p:cNvSpPr/>
          <p:nvPr/>
        </p:nvSpPr>
        <p:spPr>
          <a:xfrm>
            <a:off x="4337304" y="2212848"/>
            <a:ext cx="3514344" cy="342900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1" name="SimReal 5011"/>
          <p:cNvSpPr txBox="1"/>
          <p:nvPr/>
        </p:nvSpPr>
        <p:spPr>
          <a:xfrm>
            <a:off x="4611624" y="2359152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Henry</a:t>
            </a:r>
            <a:r>
              <a:rPr lang="zh-CN" sz="10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   CTO</a:t>
            </a:r>
            <a:r>
              <a:rPr lang="zh-CN" sz="11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21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4611624" y="2944368"/>
            <a:ext cx="2965704" cy="2011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Cambridge Mathematics, First Class, scholar</a:t>
            </a:r>
          </a:p>
          <a:p>
            <a:pPr marL="0" marR="0" lvl="0" indent="0" algn="l" rtl="0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Cambridge ML research with Po-Ling Loh</a:t>
            </a:r>
            <a:br>
              <a:rPr lang="zh-CN" sz="1100"/>
            </a:b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(IMS Fellow)</a:t>
            </a:r>
          </a:p>
          <a:p>
            <a:pPr marL="0" marR="0" lvl="0" indent="0" algn="l" rtl="0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Quant at Jane Street, Citadel, Optiver</a:t>
            </a:r>
          </a:p>
          <a:p>
            <a:pPr marL="0" marR="0" lvl="0" indent="0" algn="l" rtl="0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Designed all 5 open benchmarks</a:t>
            </a:r>
          </a:p>
        </p:txBody>
      </p:sp>
      <p:sp>
        <p:nvSpPr>
          <p:cNvPr id="5013" name="SimReal 5013"/>
          <p:cNvSpPr/>
          <p:nvPr/>
        </p:nvSpPr>
        <p:spPr>
          <a:xfrm>
            <a:off x="4611624" y="4937760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4" name="SimReal 5014"/>
          <p:cNvSpPr txBox="1"/>
          <p:nvPr/>
        </p:nvSpPr>
        <p:spPr>
          <a:xfrm>
            <a:off x="4611624" y="5029200"/>
            <a:ext cx="2965704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SCIE</a:t>
            </a:r>
          </a:p>
          <a:p>
            <a:pPr marL="0" marR="0" lvl="0" indent="0" algn="l" rtl="0">
              <a:lnSpc>
                <a:spcPct val="112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Top 30 worldwide, Cambridge maths contest · BPhO Super Gold</a:t>
            </a:r>
          </a:p>
        </p:txBody>
      </p:sp>
      <p:sp>
        <p:nvSpPr>
          <p:cNvPr id="5015" name="SimReal 5015"/>
          <p:cNvSpPr/>
          <p:nvPr/>
        </p:nvSpPr>
        <p:spPr>
          <a:xfrm>
            <a:off x="8125968" y="2212848"/>
            <a:ext cx="3514344" cy="342900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6" name="SimReal 5016"/>
          <p:cNvSpPr txBox="1"/>
          <p:nvPr/>
        </p:nvSpPr>
        <p:spPr>
          <a:xfrm>
            <a:off x="8400288" y="2359152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Amaris</a:t>
            </a:r>
            <a:r>
              <a:rPr lang="zh-CN" sz="10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   COO</a:t>
            </a:r>
            <a:r>
              <a:rPr lang="zh-CN" sz="11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21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8400288" y="2944368"/>
            <a:ext cx="2965704" cy="2011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Data scientist, Millennium Hong Kong</a:t>
            </a:r>
          </a:p>
          <a:p>
            <a:pPr marL="0" marR="0" lvl="0" indent="0" algn="l" rtl="0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First graduate hire, Millennium alt-data team</a:t>
            </a:r>
          </a:p>
          <a:p>
            <a:pPr marL="0" marR="0" lvl="0" indent="0" algn="l" rtl="0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Co-organized Plug and Play's first HK event</a:t>
            </a:r>
            <a:br>
              <a:rPr lang="zh-CN" sz="1100"/>
            </a:b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(with HKSTP, 200+ attendees)</a:t>
            </a:r>
          </a:p>
        </p:txBody>
      </p:sp>
      <p:sp>
        <p:nvSpPr>
          <p:cNvPr id="5018" name="SimReal 5018"/>
          <p:cNvSpPr/>
          <p:nvPr/>
        </p:nvSpPr>
        <p:spPr>
          <a:xfrm>
            <a:off x="8400288" y="4937760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9" name="SimReal 5019"/>
          <p:cNvSpPr txBox="1"/>
          <p:nvPr/>
        </p:nvSpPr>
        <p:spPr>
          <a:xfrm>
            <a:off x="8400288" y="5029200"/>
            <a:ext cx="2965704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Duke Mathematics &amp; Statistics · YCIS Shanghai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132588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Confidential  ·  For invited investors only  ·  October 2026</a:t>
            </a:r>
          </a:p>
        </p:txBody>
      </p:sp>
      <p:sp>
        <p:nvSpPr>
          <p:cNvPr id="5021" name="SimReal 5021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" name="Google Shape;126;p6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05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Company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Opportunity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Product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Edge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Traction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Round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Why now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The bottleneck moved from data to environments. 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Budgets exist; expert-domain environments don't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572768"/>
            <a:ext cx="3514344" cy="301752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822960" y="1773936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01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822960" y="2011680"/>
            <a:ext cx="2965704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2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Training changed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822960" y="2578608"/>
            <a:ext cx="2965704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Reasoning models learn by RL on auto-graded tasks</a:t>
            </a:r>
          </a:p>
          <a:p>
            <a:pPr marL="0" marR="0" lvl="0" indent="0" algn="l" rtl="0">
              <a:lnSpc>
                <a:spcPct val="114999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Public human text runs out 2026–2032</a:t>
            </a:r>
          </a:p>
        </p:txBody>
      </p:sp>
      <p:sp>
        <p:nvSpPr>
          <p:cNvPr id="5009" name="SimReal 5009"/>
          <p:cNvSpPr/>
          <p:nvPr/>
        </p:nvSpPr>
        <p:spPr>
          <a:xfrm>
            <a:off x="822960" y="3767328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0" name="SimReal 5010"/>
          <p:cNvSpPr txBox="1"/>
          <p:nvPr/>
        </p:nvSpPr>
        <p:spPr>
          <a:xfrm>
            <a:off x="822960" y="3877056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0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 </a:t>
            </a:r>
            <a:r>
              <a:rPr lang="zh-CN" sz="12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Auto-graded environments are scarce</a:t>
            </a:r>
          </a:p>
        </p:txBody>
      </p:sp>
      <p:sp>
        <p:nvSpPr>
          <p:cNvPr id="5011" name="SimReal 5011"/>
          <p:cNvSpPr/>
          <p:nvPr/>
        </p:nvSpPr>
        <p:spPr>
          <a:xfrm>
            <a:off x="4337304" y="1572768"/>
            <a:ext cx="3514344" cy="301752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2" name="SimReal 5012"/>
          <p:cNvSpPr txBox="1"/>
          <p:nvPr/>
        </p:nvSpPr>
        <p:spPr>
          <a:xfrm>
            <a:off x="4611624" y="1773936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02</a:t>
            </a:r>
          </a:p>
        </p:txBody>
      </p:sp>
      <p:sp>
        <p:nvSpPr>
          <p:cNvPr id="5013" name="SimReal 5013"/>
          <p:cNvSpPr txBox="1"/>
          <p:nvPr/>
        </p:nvSpPr>
        <p:spPr>
          <a:xfrm>
            <a:off x="4611624" y="2011680"/>
            <a:ext cx="2965704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2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Money is moving</a:t>
            </a:r>
          </a:p>
        </p:txBody>
      </p:sp>
      <p:sp>
        <p:nvSpPr>
          <p:cNvPr id="5014" name="SimReal 5014"/>
          <p:cNvSpPr txBox="1"/>
          <p:nvPr/>
        </p:nvSpPr>
        <p:spPr>
          <a:xfrm>
            <a:off x="4611624" y="2578608"/>
            <a:ext cx="2965704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$200–2,000 per RL task</a:t>
            </a:r>
          </a:p>
          <a:p>
            <a:pPr marL="0" marR="0" lvl="0" indent="0" algn="l" rtl="0">
              <a:lnSpc>
                <a:spcPct val="114999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Mercor bought env company Deeptune (Jul 2026)</a:t>
            </a:r>
          </a:p>
          <a:p>
            <a:pPr marL="0" marR="0" lvl="0" indent="0" algn="l" rtl="0">
              <a:lnSpc>
                <a:spcPct val="114999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RSI neolab Recursive valued at $4.65B</a:t>
            </a:r>
          </a:p>
        </p:txBody>
      </p:sp>
      <p:sp>
        <p:nvSpPr>
          <p:cNvPr id="5015" name="SimReal 5015"/>
          <p:cNvSpPr/>
          <p:nvPr/>
        </p:nvSpPr>
        <p:spPr>
          <a:xfrm>
            <a:off x="4611624" y="3767328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6" name="SimReal 5016"/>
          <p:cNvSpPr txBox="1"/>
          <p:nvPr/>
        </p:nvSpPr>
        <p:spPr>
          <a:xfrm>
            <a:off x="4611624" y="3877056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0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 </a:t>
            </a:r>
            <a:r>
              <a:rPr lang="zh-CN" sz="12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Labs and capital pay for envs and RSI</a:t>
            </a:r>
          </a:p>
        </p:txBody>
      </p:sp>
      <p:sp>
        <p:nvSpPr>
          <p:cNvPr id="5017" name="SimReal 5017"/>
          <p:cNvSpPr/>
          <p:nvPr/>
        </p:nvSpPr>
        <p:spPr>
          <a:xfrm>
            <a:off x="8125968" y="1572768"/>
            <a:ext cx="3514344" cy="301752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8" name="SimReal 5018"/>
          <p:cNvSpPr txBox="1"/>
          <p:nvPr/>
        </p:nvSpPr>
        <p:spPr>
          <a:xfrm>
            <a:off x="8400288" y="1773936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03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8400288" y="2011680"/>
            <a:ext cx="2965704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2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Expert work unsolved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8400288" y="2578608"/>
            <a:ext cx="2965704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Models still fail at trading and finance</a:t>
            </a:r>
          </a:p>
          <a:p>
            <a:pPr marL="0" marR="0" lvl="0" indent="0" algn="l" rtl="0">
              <a:lnSpc>
                <a:spcPct val="114999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Meta, OpenAI launched personal agents (Sep)</a:t>
            </a:r>
          </a:p>
        </p:txBody>
      </p:sp>
      <p:sp>
        <p:nvSpPr>
          <p:cNvPr id="5021" name="SimReal 5021"/>
          <p:cNvSpPr/>
          <p:nvPr/>
        </p:nvSpPr>
        <p:spPr>
          <a:xfrm>
            <a:off x="8400288" y="3767328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2" name="SimReal 5022"/>
          <p:cNvSpPr txBox="1"/>
          <p:nvPr/>
        </p:nvSpPr>
        <p:spPr>
          <a:xfrm>
            <a:off x="8400288" y="3877056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0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 </a:t>
            </a:r>
            <a:r>
              <a:rPr lang="zh-CN" sz="12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Trading is clear-cut: the place to start</a:t>
            </a:r>
          </a:p>
        </p:txBody>
      </p:sp>
      <p:sp>
        <p:nvSpPr>
          <p:cNvPr id="5023" name="SimReal 5023"/>
          <p:cNvSpPr/>
          <p:nvPr/>
        </p:nvSpPr>
        <p:spPr>
          <a:xfrm>
            <a:off x="548640" y="4828032"/>
            <a:ext cx="11091672" cy="65836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4" name="SimReal 5024"/>
          <p:cNvSpPr txBox="1"/>
          <p:nvPr/>
        </p:nvSpPr>
        <p:spPr>
          <a:xfrm>
            <a:off x="777240" y="4828032"/>
            <a:ext cx="118872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E27A3F"/>
                </a:solidFill>
                <a:latin typeface="Newsreader"/>
                <a:ea typeface="Newsreader"/>
                <a:cs typeface="Newsreader"/>
                <a:sym typeface="Newsreader"/>
              </a:rPr>
              <a:t>Window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2011680" y="4828032"/>
            <a:ext cx="9400032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C4C0B7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~20 early RL-environment companies; expect 3–5 to remain. </a:t>
            </a:r>
            <a:r>
              <a:rPr lang="zh-CN" sz="1300" b="1" i="0" u="none" strike="noStrike" cap="none">
                <a:solidFill>
                  <a:srgbClr val="FAF9F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First to show gains wins the long contracts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548640" y="5760720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Sources: Epoch AI (Jan 2026); TechCrunch (Jul 2026); SiliconANGLE (May 2026); Meta and OpenAI announcements (Sep 2026); Wing VC (2026).</a:t>
            </a:r>
          </a:p>
        </p:txBody>
      </p:sp>
      <p:sp>
        <p:nvSpPr>
          <p:cNvPr id="5027" name="SimReal 5027"/>
          <p:cNvSpPr txBox="1"/>
          <p:nvPr/>
        </p:nvSpPr>
        <p:spPr>
          <a:xfrm>
            <a:off x="132588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Confidential  ·  For invited investors only  ·  October 2026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05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" name="Google Shape;160;p7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04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Company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Opportunity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Product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Edge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Traction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Round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Problem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AI can reason. 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It still fails at real work.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6720840" y="1636776"/>
            <a:ext cx="4919472" cy="274320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2194560" y="1673352"/>
            <a:ext cx="36576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Looks like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6949440" y="1673352"/>
            <a:ext cx="36576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Actually</a:t>
            </a:r>
          </a:p>
        </p:txBody>
      </p:sp>
      <p:sp>
        <p:nvSpPr>
          <p:cNvPr id="5008" name="SimReal 5008"/>
          <p:cNvSpPr/>
          <p:nvPr/>
        </p:nvSpPr>
        <p:spPr>
          <a:xfrm>
            <a:off x="548640" y="1965960"/>
            <a:ext cx="11091672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9" name="SimReal 5009"/>
          <p:cNvSpPr txBox="1"/>
          <p:nvPr/>
        </p:nvSpPr>
        <p:spPr>
          <a:xfrm>
            <a:off x="548640" y="1965960"/>
            <a:ext cx="155448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Trading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2194560" y="1965960"/>
            <a:ext cx="402336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Backtest climbs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6217920" y="1965960"/>
            <a:ext cx="4572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6949440" y="1965960"/>
            <a:ext cx="45720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Loses money live</a:t>
            </a:r>
          </a:p>
        </p:txBody>
      </p:sp>
      <p:sp>
        <p:nvSpPr>
          <p:cNvPr id="5013" name="SimReal 5013"/>
          <p:cNvSpPr/>
          <p:nvPr/>
        </p:nvSpPr>
        <p:spPr>
          <a:xfrm>
            <a:off x="548640" y="2569464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4" name="SimReal 5014"/>
          <p:cNvSpPr txBox="1"/>
          <p:nvPr/>
        </p:nvSpPr>
        <p:spPr>
          <a:xfrm>
            <a:off x="548640" y="2569464"/>
            <a:ext cx="155448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Software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2194560" y="2569464"/>
            <a:ext cx="402336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All tests pass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6217920" y="2569464"/>
            <a:ext cx="4572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6949440" y="2569464"/>
            <a:ext cx="45720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Breaks in production</a:t>
            </a:r>
          </a:p>
        </p:txBody>
      </p:sp>
      <p:sp>
        <p:nvSpPr>
          <p:cNvPr id="5018" name="SimReal 5018"/>
          <p:cNvSpPr/>
          <p:nvPr/>
        </p:nvSpPr>
        <p:spPr>
          <a:xfrm>
            <a:off x="548640" y="3172968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9" name="SimReal 5019"/>
          <p:cNvSpPr txBox="1"/>
          <p:nvPr/>
        </p:nvSpPr>
        <p:spPr>
          <a:xfrm>
            <a:off x="548640" y="3172968"/>
            <a:ext cx="155448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Finance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2194560" y="3172968"/>
            <a:ext cx="402336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Books look closed</a:t>
            </a:r>
          </a:p>
        </p:txBody>
      </p:sp>
      <p:sp>
        <p:nvSpPr>
          <p:cNvPr id="5021" name="SimReal 5021"/>
          <p:cNvSpPr txBox="1"/>
          <p:nvPr/>
        </p:nvSpPr>
        <p:spPr>
          <a:xfrm>
            <a:off x="6217920" y="3172968"/>
            <a:ext cx="4572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6949440" y="3172968"/>
            <a:ext cx="45720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Month-end won't reconcile</a:t>
            </a:r>
          </a:p>
        </p:txBody>
      </p:sp>
      <p:sp>
        <p:nvSpPr>
          <p:cNvPr id="5023" name="SimReal 5023"/>
          <p:cNvSpPr/>
          <p:nvPr/>
        </p:nvSpPr>
        <p:spPr>
          <a:xfrm>
            <a:off x="548640" y="3776472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4" name="SimReal 5024"/>
          <p:cNvSpPr txBox="1"/>
          <p:nvPr/>
        </p:nvSpPr>
        <p:spPr>
          <a:xfrm>
            <a:off x="548640" y="3776472"/>
            <a:ext cx="155448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Forecasting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2194560" y="3776472"/>
            <a:ext cx="402336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Analysis sounds right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6217920" y="3776472"/>
            <a:ext cx="4572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27" name="SimReal 5027"/>
          <p:cNvSpPr txBox="1"/>
          <p:nvPr/>
        </p:nvSpPr>
        <p:spPr>
          <a:xfrm>
            <a:off x="6949440" y="3776472"/>
            <a:ext cx="45720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Outcome proves it wrong</a:t>
            </a:r>
          </a:p>
        </p:txBody>
      </p:sp>
      <p:sp>
        <p:nvSpPr>
          <p:cNvPr id="5028" name="SimReal 5028"/>
          <p:cNvSpPr/>
          <p:nvPr/>
        </p:nvSpPr>
        <p:spPr>
          <a:xfrm>
            <a:off x="548640" y="4379976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9" name="SimReal 5029"/>
          <p:cNvSpPr txBox="1"/>
          <p:nvPr/>
        </p:nvSpPr>
        <p:spPr>
          <a:xfrm>
            <a:off x="548640" y="4572000"/>
            <a:ext cx="16459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6/32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2286000" y="4572000"/>
            <a:ext cx="86868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Frontier models trading real money made a profit in only 6 of 32 runs (Alpha Arena)</a:t>
            </a:r>
          </a:p>
        </p:txBody>
      </p:sp>
      <p:sp>
        <p:nvSpPr>
          <p:cNvPr id="5031" name="SimReal 5031"/>
          <p:cNvSpPr txBox="1"/>
          <p:nvPr/>
        </p:nvSpPr>
        <p:spPr>
          <a:xfrm>
            <a:off x="548640" y="5349240"/>
            <a:ext cx="11091672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1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What is missing: </a:t>
            </a:r>
            <a:r>
              <a:rPr lang="zh-CN" sz="21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a training ground scored by real outcomes</a:t>
            </a:r>
            <a:r>
              <a:rPr lang="zh-CN" sz="21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.</a:t>
            </a:r>
          </a:p>
        </p:txBody>
      </p:sp>
      <p:sp>
        <p:nvSpPr>
          <p:cNvPr id="5032" name="SimReal 5032"/>
          <p:cNvSpPr txBox="1"/>
          <p:nvPr/>
        </p:nvSpPr>
        <p:spPr>
          <a:xfrm>
            <a:off x="132588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Confidential  ·  For invited investors only  ·  October 2026</a:t>
            </a:r>
          </a:p>
        </p:txBody>
      </p:sp>
      <p:sp>
        <p:nvSpPr>
          <p:cNvPr id="5033" name="SimReal 5033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04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7" name="Google Shape;237;p9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" name="Picture 237" descr="rsi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1463040"/>
            <a:ext cx="6949440" cy="4382530"/>
          </a:xfrm>
          <a:prstGeom prst="rect">
            <a:avLst/>
          </a:prstGeom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08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Company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Opportunity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Product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Edge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Traction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Round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RSI method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Attempt, get scored, fix the weak spots: 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stronger every loop</a:t>
            </a:r>
          </a:p>
        </p:txBody>
      </p:sp>
      <p:sp>
        <p:nvSpPr>
          <p:cNvPr id="5005" name="SimReal 5005"/>
          <p:cNvSpPr txBox="1"/>
          <p:nvPr/>
        </p:nvSpPr>
        <p:spPr>
          <a:xfrm>
            <a:off x="7635240" y="1700784"/>
            <a:ext cx="4005072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Where we are stronger</a:t>
            </a:r>
          </a:p>
        </p:txBody>
      </p:sp>
      <p:sp>
        <p:nvSpPr>
          <p:cNvPr id="5006" name="SimReal 5006"/>
          <p:cNvSpPr/>
          <p:nvPr/>
        </p:nvSpPr>
        <p:spPr>
          <a:xfrm>
            <a:off x="7635240" y="1956816"/>
            <a:ext cx="4005072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7" name="SimReal 5007"/>
          <p:cNvSpPr txBox="1"/>
          <p:nvPr/>
        </p:nvSpPr>
        <p:spPr>
          <a:xfrm>
            <a:off x="7635240" y="2066544"/>
            <a:ext cx="40050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Expert scoring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7635240" y="2468880"/>
            <a:ext cx="400507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Trading-desk standards: top model 77, rest 24–30</a:t>
            </a:r>
          </a:p>
        </p:txBody>
      </p:sp>
      <p:sp>
        <p:nvSpPr>
          <p:cNvPr id="5009" name="SimReal 5009"/>
          <p:cNvSpPr/>
          <p:nvPr/>
        </p:nvSpPr>
        <p:spPr>
          <a:xfrm>
            <a:off x="7635240" y="2871216"/>
            <a:ext cx="4005072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0" name="SimReal 5010"/>
          <p:cNvSpPr txBox="1"/>
          <p:nvPr/>
        </p:nvSpPr>
        <p:spPr>
          <a:xfrm>
            <a:off x="7635240" y="2980944"/>
            <a:ext cx="40050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Fast, precise tasks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7635240" y="3383280"/>
            <a:ext cx="400507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Reviewed by 200K+ experts</a:t>
            </a:r>
          </a:p>
        </p:txBody>
      </p:sp>
      <p:sp>
        <p:nvSpPr>
          <p:cNvPr id="5012" name="SimReal 5012"/>
          <p:cNvSpPr/>
          <p:nvPr/>
        </p:nvSpPr>
        <p:spPr>
          <a:xfrm>
            <a:off x="7635240" y="3785616"/>
            <a:ext cx="4005072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3" name="SimReal 5013"/>
          <p:cNvSpPr/>
          <p:nvPr/>
        </p:nvSpPr>
        <p:spPr>
          <a:xfrm>
            <a:off x="7635240" y="3986784"/>
            <a:ext cx="4005072" cy="1188720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4" name="SimReal 5014"/>
          <p:cNvSpPr txBox="1"/>
          <p:nvPr/>
        </p:nvSpPr>
        <p:spPr>
          <a:xfrm>
            <a:off x="7909560" y="4096512"/>
            <a:ext cx="356616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1" i="0" u="none" strike="noStrike" cap="none">
                <a:solidFill>
                  <a:srgbClr val="E27A3F"/>
                </a:solidFill>
                <a:latin typeface="IBM Plex Mono"/>
                <a:ea typeface="IBM Plex Mono"/>
                <a:cs typeface="IBM Plex Mono"/>
                <a:sym typeface="IBM Plex Mono"/>
              </a:rPr>
              <a:t>Verified gain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7909560" y="4315968"/>
            <a:ext cx="146304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200" b="0" i="0" u="none" strike="noStrike" cap="none">
                <a:solidFill>
                  <a:srgbClr val="E27A3F"/>
                </a:solidFill>
                <a:latin typeface="Newsreader"/>
                <a:ea typeface="Newsreader"/>
                <a:cs typeface="Newsreader"/>
                <a:sym typeface="Newsreader"/>
              </a:rPr>
              <a:t>+12%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9235440" y="4315968"/>
            <a:ext cx="22860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FAF9F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Up to +12% on</a:t>
            </a: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FAF9F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unseen trading days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548640" y="5815584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Scores from the public Xitadel benchmark. +12% is the best of several independent replications.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132588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Confidential  ·  For invited investors only  ·  October 2026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0" name="Google Shape;300;p11" descr="SimReal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pic>
        <p:nvPicPr>
          <p:cNvPr id="301" name="Picture 30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" y="2395728"/>
            <a:ext cx="5760720" cy="2978137"/>
          </a:xfrm>
          <a:prstGeom prst="rect">
            <a:avLst/>
          </a:prstGeom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09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Company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Opportunity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Product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Edge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Traction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Round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Product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7 products in 14 days. 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5 open benchmarks, 602 GitHub stars</a:t>
            </a:r>
          </a:p>
        </p:txBody>
      </p:sp>
      <p:sp>
        <p:nvSpPr>
          <p:cNvPr id="5005" name="SimReal 5005"/>
          <p:cNvSpPr txBox="1"/>
          <p:nvPr/>
        </p:nvSpPr>
        <p:spPr>
          <a:xfrm>
            <a:off x="548640" y="1463040"/>
            <a:ext cx="2377440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64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602</a:t>
            </a:r>
          </a:p>
        </p:txBody>
      </p:sp>
      <p:sp>
        <p:nvSpPr>
          <p:cNvPr id="5006" name="SimReal 5006"/>
          <p:cNvSpPr txBox="1"/>
          <p:nvPr/>
        </p:nvSpPr>
        <p:spPr>
          <a:xfrm>
            <a:off x="2743200" y="1463040"/>
            <a:ext cx="3566160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GitHub stars</a:t>
            </a:r>
          </a:p>
          <a:p>
            <a:pPr marL="0" marR="0" lvl="0" indent="0" algn="l" rtl="0">
              <a:lnSpc>
                <a:spcPct val="114999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5 open benchmarks, as of Oct 4, 2026</a:t>
            </a:r>
          </a:p>
        </p:txBody>
      </p:sp>
      <p:sp>
        <p:nvSpPr>
          <p:cNvPr id="5007" name="SimReal 5007"/>
          <p:cNvSpPr/>
          <p:nvPr/>
        </p:nvSpPr>
        <p:spPr>
          <a:xfrm>
            <a:off x="6629400" y="1572768"/>
            <a:ext cx="5010912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8" name="SimReal 5008"/>
          <p:cNvSpPr txBox="1"/>
          <p:nvPr/>
        </p:nvSpPr>
        <p:spPr>
          <a:xfrm>
            <a:off x="6629400" y="1627632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SimReal-MLBench</a:t>
            </a:r>
            <a:r>
              <a:rPr lang="zh-CN" sz="105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   302★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6629400" y="1901952"/>
            <a:ext cx="5029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60 real ML competitions: can AI do research?</a:t>
            </a:r>
          </a:p>
        </p:txBody>
      </p:sp>
      <p:sp>
        <p:nvSpPr>
          <p:cNvPr id="5010" name="SimReal 5010"/>
          <p:cNvSpPr/>
          <p:nvPr/>
        </p:nvSpPr>
        <p:spPr>
          <a:xfrm>
            <a:off x="6629400" y="2176272"/>
            <a:ext cx="501091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1" name="SimReal 5011"/>
          <p:cNvSpPr txBox="1"/>
          <p:nvPr/>
        </p:nvSpPr>
        <p:spPr>
          <a:xfrm>
            <a:off x="6629400" y="2231136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Xitadel-QuantBench</a:t>
            </a:r>
            <a:r>
              <a:rPr lang="zh-CN" sz="105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   102★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6629400" y="2505456"/>
            <a:ext cx="5029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AI trading, scored against the best human strategy</a:t>
            </a:r>
          </a:p>
        </p:txBody>
      </p:sp>
      <p:sp>
        <p:nvSpPr>
          <p:cNvPr id="5013" name="SimReal 5013"/>
          <p:cNvSpPr/>
          <p:nvPr/>
        </p:nvSpPr>
        <p:spPr>
          <a:xfrm>
            <a:off x="6629400" y="2779776"/>
            <a:ext cx="501091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4" name="SimReal 5014"/>
          <p:cNvSpPr txBox="1"/>
          <p:nvPr/>
        </p:nvSpPr>
        <p:spPr>
          <a:xfrm>
            <a:off x="6629400" y="2834640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MathmoBench</a:t>
            </a:r>
            <a:r>
              <a:rPr lang="zh-CN" sz="105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   101★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6629400" y="3108960"/>
            <a:ext cx="5029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Hard mathematics</a:t>
            </a:r>
          </a:p>
        </p:txBody>
      </p:sp>
      <p:sp>
        <p:nvSpPr>
          <p:cNvPr id="5016" name="SimReal 5016"/>
          <p:cNvSpPr/>
          <p:nvPr/>
        </p:nvSpPr>
        <p:spPr>
          <a:xfrm>
            <a:off x="6629400" y="3383280"/>
            <a:ext cx="501091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7" name="SimReal 5017"/>
          <p:cNvSpPr txBox="1"/>
          <p:nvPr/>
        </p:nvSpPr>
        <p:spPr>
          <a:xfrm>
            <a:off x="6629400" y="3438144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Puzzle Benchmark</a:t>
            </a:r>
            <a:r>
              <a:rPr lang="zh-CN" sz="105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   70★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6629400" y="3712464"/>
            <a:ext cx="5029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749 human-written reasoning puzzles</a:t>
            </a:r>
          </a:p>
        </p:txBody>
      </p:sp>
      <p:sp>
        <p:nvSpPr>
          <p:cNvPr id="5019" name="SimReal 5019"/>
          <p:cNvSpPr/>
          <p:nvPr/>
        </p:nvSpPr>
        <p:spPr>
          <a:xfrm>
            <a:off x="6629400" y="3986784"/>
            <a:ext cx="501091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0" name="SimReal 5020"/>
          <p:cNvSpPr txBox="1"/>
          <p:nvPr/>
        </p:nvSpPr>
        <p:spPr>
          <a:xfrm>
            <a:off x="6629400" y="4041648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FuturePredict</a:t>
            </a:r>
            <a:r>
              <a:rPr lang="zh-CN" sz="105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   27★</a:t>
            </a:r>
          </a:p>
        </p:txBody>
      </p:sp>
      <p:sp>
        <p:nvSpPr>
          <p:cNvPr id="5021" name="SimReal 5021"/>
          <p:cNvSpPr txBox="1"/>
          <p:nvPr/>
        </p:nvSpPr>
        <p:spPr>
          <a:xfrm>
            <a:off x="6629400" y="4315968"/>
            <a:ext cx="5029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Forecast real events, scored on the outcome</a:t>
            </a:r>
          </a:p>
        </p:txBody>
      </p:sp>
      <p:sp>
        <p:nvSpPr>
          <p:cNvPr id="5022" name="SimReal 5022"/>
          <p:cNvSpPr/>
          <p:nvPr/>
        </p:nvSpPr>
        <p:spPr>
          <a:xfrm>
            <a:off x="6629400" y="4590288"/>
            <a:ext cx="501091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3" name="SimReal 5023"/>
          <p:cNvSpPr txBox="1"/>
          <p:nvPr/>
        </p:nvSpPr>
        <p:spPr>
          <a:xfrm>
            <a:off x="6629400" y="4754880"/>
            <a:ext cx="5010912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Live training environments</a:t>
            </a:r>
          </a:p>
          <a:p>
            <a:pPr marL="0" marR="0" lvl="0" indent="0" algn="l" rtl="0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Trading  ·  AI research  ·  Forecasting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132588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Confidential  ·  For invited investors only  ·  October 2026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09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6" name="Google Shape;376;p13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14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Company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Opportunity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Product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Edge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Traction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Round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Business model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Licenses, data, joint training. 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Every model upgrade means a repeat purchase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572768"/>
            <a:ext cx="3514344" cy="187452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841248" y="1755648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01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841248" y="2011680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Environment licenses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841248" y="2578608"/>
            <a:ext cx="292912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Trading, AI research, forecasting environments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841248" y="3072384"/>
            <a:ext cx="296570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Priced by term and scope</a:t>
            </a:r>
          </a:p>
        </p:txBody>
      </p:sp>
      <p:sp>
        <p:nvSpPr>
          <p:cNvPr id="5010" name="SimReal 5010"/>
          <p:cNvSpPr/>
          <p:nvPr/>
        </p:nvSpPr>
        <p:spPr>
          <a:xfrm>
            <a:off x="4337304" y="1572768"/>
            <a:ext cx="3514344" cy="187452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1" name="SimReal 5011"/>
          <p:cNvSpPr txBox="1"/>
          <p:nvPr/>
        </p:nvSpPr>
        <p:spPr>
          <a:xfrm>
            <a:off x="4629912" y="1755648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02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4629912" y="2011680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Data</a:t>
            </a:r>
          </a:p>
        </p:txBody>
      </p:sp>
      <p:sp>
        <p:nvSpPr>
          <p:cNvPr id="5013" name="SimReal 5013"/>
          <p:cNvSpPr txBox="1"/>
          <p:nvPr/>
        </p:nvSpPr>
        <p:spPr>
          <a:xfrm>
            <a:off x="4629912" y="2578608"/>
            <a:ext cx="292912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Every run produces data:</a:t>
            </a:r>
          </a:p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trajectories, expert demos, eval sets</a:t>
            </a:r>
          </a:p>
        </p:txBody>
      </p:sp>
      <p:sp>
        <p:nvSpPr>
          <p:cNvPr id="5014" name="SimReal 5014"/>
          <p:cNvSpPr txBox="1"/>
          <p:nvPr/>
        </p:nvSpPr>
        <p:spPr>
          <a:xfrm>
            <a:off x="4629912" y="3072384"/>
            <a:ext cx="296570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Priced by volume</a:t>
            </a:r>
          </a:p>
        </p:txBody>
      </p:sp>
      <p:sp>
        <p:nvSpPr>
          <p:cNvPr id="5015" name="SimReal 5015"/>
          <p:cNvSpPr/>
          <p:nvPr/>
        </p:nvSpPr>
        <p:spPr>
          <a:xfrm>
            <a:off x="8125968" y="1572768"/>
            <a:ext cx="3514344" cy="187452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6" name="SimReal 5016"/>
          <p:cNvSpPr txBox="1"/>
          <p:nvPr/>
        </p:nvSpPr>
        <p:spPr>
          <a:xfrm>
            <a:off x="8418576" y="1755648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03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8418576" y="2011680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Joint training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8418576" y="2578608"/>
            <a:ext cx="292912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We train customer models in our environments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8418576" y="3072384"/>
            <a:ext cx="296570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Priced per project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548640" y="3730752"/>
            <a:ext cx="5486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Engagement</a:t>
            </a:r>
          </a:p>
        </p:txBody>
      </p:sp>
      <p:sp>
        <p:nvSpPr>
          <p:cNvPr id="5021" name="SimReal 5021"/>
          <p:cNvSpPr/>
          <p:nvPr/>
        </p:nvSpPr>
        <p:spPr>
          <a:xfrm>
            <a:off x="548640" y="3986784"/>
            <a:ext cx="2498598" cy="566928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2" name="SimReal 5022"/>
          <p:cNvSpPr txBox="1"/>
          <p:nvPr/>
        </p:nvSpPr>
        <p:spPr>
          <a:xfrm>
            <a:off x="777240" y="3986784"/>
            <a:ext cx="2041398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Scope and acceptance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3047238" y="3986784"/>
            <a:ext cx="36576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24" name="SimReal 5024"/>
          <p:cNvSpPr/>
          <p:nvPr/>
        </p:nvSpPr>
        <p:spPr>
          <a:xfrm>
            <a:off x="3412998" y="3986784"/>
            <a:ext cx="2498598" cy="566928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5" name="SimReal 5025"/>
          <p:cNvSpPr txBox="1"/>
          <p:nvPr/>
        </p:nvSpPr>
        <p:spPr>
          <a:xfrm>
            <a:off x="3641598" y="3986784"/>
            <a:ext cx="2041398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Paid pilot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5911596" y="3986784"/>
            <a:ext cx="36576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27" name="SimReal 5027"/>
          <p:cNvSpPr/>
          <p:nvPr/>
        </p:nvSpPr>
        <p:spPr>
          <a:xfrm>
            <a:off x="6277356" y="3986784"/>
            <a:ext cx="2498598" cy="566928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8" name="SimReal 5028"/>
          <p:cNvSpPr txBox="1"/>
          <p:nvPr/>
        </p:nvSpPr>
        <p:spPr>
          <a:xfrm>
            <a:off x="6505956" y="3986784"/>
            <a:ext cx="2041398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License and delivery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8775954" y="3986784"/>
            <a:ext cx="36576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30" name="SimReal 5030"/>
          <p:cNvSpPr/>
          <p:nvPr/>
        </p:nvSpPr>
        <p:spPr>
          <a:xfrm>
            <a:off x="9141714" y="3986784"/>
            <a:ext cx="2498598" cy="56692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1" name="SimReal 5031"/>
          <p:cNvSpPr txBox="1"/>
          <p:nvPr/>
        </p:nvSpPr>
        <p:spPr>
          <a:xfrm>
            <a:off x="9370314" y="3986784"/>
            <a:ext cx="2041398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E27A3F"/>
                </a:solidFill>
                <a:latin typeface="Newsreader"/>
                <a:ea typeface="Newsreader"/>
                <a:cs typeface="Newsreader"/>
                <a:sym typeface="Newsreader"/>
              </a:rPr>
              <a:t>Ongoing refresh</a:t>
            </a:r>
          </a:p>
        </p:txBody>
      </p:sp>
      <p:sp>
        <p:nvSpPr>
          <p:cNvPr id="5032" name="SimReal 5032"/>
          <p:cNvSpPr txBox="1"/>
          <p:nvPr/>
        </p:nvSpPr>
        <p:spPr>
          <a:xfrm>
            <a:off x="548640" y="4892040"/>
            <a:ext cx="11091672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Each model upgrade needs new tasks: </a:t>
            </a:r>
            <a:r>
              <a:rPr lang="zh-CN" sz="18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environments and data refresh, customers keep paying</a:t>
            </a:r>
          </a:p>
        </p:txBody>
      </p:sp>
      <p:sp>
        <p:nvSpPr>
          <p:cNvPr id="5033" name="SimReal 5033"/>
          <p:cNvSpPr txBox="1"/>
          <p:nvPr/>
        </p:nvSpPr>
        <p:spPr>
          <a:xfrm>
            <a:off x="132588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Confidential  ·  For invited investors only  ·  October 2026</a:t>
            </a:r>
          </a:p>
        </p:txBody>
      </p:sp>
      <p:sp>
        <p:nvSpPr>
          <p:cNvPr id="5034" name="SimReal 5034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1" name="Google Shape;401;p14" descr="jane-street-paper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79880" y="2107597"/>
            <a:ext cx="1155853" cy="44824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2" name="Google Shape;402;p14" descr="imc-paper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039814" y="2176845"/>
            <a:ext cx="1672655" cy="309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3" name="Google Shape;403;p14" descr="citadel-securities-paper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447334" y="2014333"/>
            <a:ext cx="1294283" cy="634774"/>
          </a:xfrm>
          <a:prstGeom prst="rect">
            <a:avLst/>
          </a:prstGeom>
          <a:noFill/>
          <a:ln>
            <a:noFill/>
          </a:ln>
        </p:spPr>
      </p:pic>
      <p:pic>
        <p:nvPicPr>
          <p:cNvPr id="404" name="Google Shape;404;p14" descr="optiver-paper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549077" y="2162124"/>
            <a:ext cx="1527465" cy="339192"/>
          </a:xfrm>
          <a:prstGeom prst="rect">
            <a:avLst/>
          </a:prstGeom>
          <a:noFill/>
          <a:ln>
            <a:noFill/>
          </a:ln>
        </p:spPr>
      </p:pic>
      <p:pic>
        <p:nvPicPr>
          <p:cNvPr id="407" name="Google Shape;407;p14" descr="SimReal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pic>
        <p:nvPicPr>
          <p:cNvPr id="408" name="Picture 407" descr="polymarket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38625" y="2167128"/>
            <a:ext cx="1785039" cy="329184"/>
          </a:xfrm>
          <a:prstGeom prst="rect">
            <a:avLst/>
          </a:prstGeom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11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Company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Opportunity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Product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Edge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Traction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Round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Expert network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Practitioners in our R&amp;D 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come from top trading firms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3200400"/>
            <a:ext cx="11091672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548640" y="3429000"/>
            <a:ext cx="3483864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48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200K+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548640" y="4315968"/>
            <a:ext cx="348386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Reachable experts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4352544" y="3429000"/>
            <a:ext cx="3483864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48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7,000+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4352544" y="4315968"/>
            <a:ext cx="348386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Experts on the waitlist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8156448" y="3429000"/>
            <a:ext cx="3483864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8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Write · Score · Review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8156448" y="4315968"/>
            <a:ext cx="348386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What experts do in our envs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548640" y="5852160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Logos show where practitioners work; no endorsement implied.</a:t>
            </a:r>
          </a:p>
        </p:txBody>
      </p:sp>
      <p:sp>
        <p:nvSpPr>
          <p:cNvPr id="5013" name="SimReal 5013"/>
          <p:cNvSpPr txBox="1"/>
          <p:nvPr/>
        </p:nvSpPr>
        <p:spPr>
          <a:xfrm>
            <a:off x="132588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Confidential  ·  For invited investors only  ·  October 2026</a:t>
            </a:r>
          </a:p>
        </p:txBody>
      </p:sp>
      <p:sp>
        <p:nvSpPr>
          <p:cNvPr id="5014" name="SimReal 5014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9" name="Google Shape;429;p15" descr="harvard-ink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83539" y="1851660"/>
            <a:ext cx="1178813" cy="777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0" name="Google Shape;430;p15" descr="stanford-ink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932938" y="1851660"/>
            <a:ext cx="777240" cy="777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1" name="Google Shape;431;p15" descr="mit-ink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454462" y="1851660"/>
            <a:ext cx="1431415" cy="777239"/>
          </a:xfrm>
          <a:prstGeom prst="rect">
            <a:avLst/>
          </a:prstGeom>
          <a:noFill/>
          <a:ln>
            <a:noFill/>
          </a:ln>
        </p:spPr>
      </p:pic>
      <p:pic>
        <p:nvPicPr>
          <p:cNvPr id="432" name="Google Shape;432;p15" descr="oxford-ink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287262" y="2023739"/>
            <a:ext cx="1463040" cy="433081"/>
          </a:xfrm>
          <a:prstGeom prst="rect">
            <a:avLst/>
          </a:prstGeom>
          <a:noFill/>
          <a:ln>
            <a:noFill/>
          </a:ln>
        </p:spPr>
      </p:pic>
      <p:pic>
        <p:nvPicPr>
          <p:cNvPr id="433" name="Google Shape;433;p15" descr="cambridge-ink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430196" y="1851660"/>
            <a:ext cx="874395" cy="777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4" name="Google Shape;434;p15" descr="princeton-ink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984486" y="2040775"/>
            <a:ext cx="1463040" cy="39901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5" name="Google Shape;435;p15" descr="yale-ink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964501" y="2994660"/>
            <a:ext cx="1016890" cy="777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6" name="Google Shape;436;p15" descr="berkeley-ink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2590038" y="3157037"/>
            <a:ext cx="1463040" cy="452486"/>
          </a:xfrm>
          <a:prstGeom prst="rect">
            <a:avLst/>
          </a:prstGeom>
          <a:noFill/>
          <a:ln>
            <a:noFill/>
          </a:ln>
        </p:spPr>
      </p:pic>
      <p:pic>
        <p:nvPicPr>
          <p:cNvPr id="437" name="Google Shape;437;p15" descr="tsinghua-ink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4438650" y="3145387"/>
            <a:ext cx="1463040" cy="475786"/>
          </a:xfrm>
          <a:prstGeom prst="rect">
            <a:avLst/>
          </a:prstGeom>
          <a:noFill/>
          <a:ln>
            <a:noFill/>
          </a:ln>
        </p:spPr>
      </p:pic>
      <p:pic>
        <p:nvPicPr>
          <p:cNvPr id="438" name="Google Shape;438;p15" descr="columbia-ink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6452044" y="2994660"/>
            <a:ext cx="1133475" cy="777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9" name="Google Shape;439;p15" descr="uchicago-ink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8135874" y="3203766"/>
            <a:ext cx="1463040" cy="359028"/>
          </a:xfrm>
          <a:prstGeom prst="rect">
            <a:avLst/>
          </a:prstGeom>
          <a:noFill/>
          <a:ln>
            <a:noFill/>
          </a:ln>
        </p:spPr>
      </p:pic>
      <p:pic>
        <p:nvPicPr>
          <p:cNvPr id="440" name="Google Shape;440;p15" descr="duke-ink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9984486" y="3066376"/>
            <a:ext cx="1463040" cy="633807"/>
          </a:xfrm>
          <a:prstGeom prst="rect">
            <a:avLst/>
          </a:prstGeom>
          <a:noFill/>
          <a:ln>
            <a:noFill/>
          </a:ln>
        </p:spPr>
      </p:pic>
      <p:pic>
        <p:nvPicPr>
          <p:cNvPr id="442" name="Google Shape;442;p15" descr="SimReal"/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12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Company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Opportunity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Product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Edge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Traction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Round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University network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Students and alumni 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of 21 top universities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4160520"/>
            <a:ext cx="11091672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548640" y="4343400"/>
            <a:ext cx="237744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48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21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2926080" y="4343400"/>
            <a:ext cx="731520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Universities in our student and alumni network</a:t>
            </a:r>
          </a:p>
          <a:p>
            <a:pPr marL="0" marR="0" lvl="0" indent="0" algn="l" rtl="0">
              <a:lnSpc>
                <a:spcPct val="114999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From entry-level roles to frontier research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548640" y="5852160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Selected universities shown; no endorsement implied.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132588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Confidential  ·  For invited investors only  ·  October 2026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0" name="Google Shape;470;p16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06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Company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Opportunity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Product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Edge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Traction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Round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Market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$8.5B today. 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The leader grew revenue 27x in 16 months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572768"/>
            <a:ext cx="11091672" cy="173736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822960" y="1801368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Today: training data and RL environments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822960" y="2057400"/>
            <a:ext cx="457200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8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$8.5B / year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822960" y="2788920"/>
            <a:ext cx="47548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Combined revenue of 50+ vendors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5486400" y="1572768"/>
            <a:ext cx="640080" cy="1737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6309360" y="1801368"/>
            <a:ext cx="50292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2030: company estimate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6309360" y="2057400"/>
            <a:ext cx="512064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8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$700B / year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6309360" y="2788920"/>
            <a:ext cx="5120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 $7T AI economy, 10% spent on training</a:t>
            </a:r>
          </a:p>
        </p:txBody>
      </p:sp>
      <p:sp>
        <p:nvSpPr>
          <p:cNvPr id="5013" name="SimReal 5013"/>
          <p:cNvSpPr/>
          <p:nvPr/>
        </p:nvSpPr>
        <p:spPr>
          <a:xfrm>
            <a:off x="548640" y="3657600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4" name="SimReal 5014"/>
          <p:cNvSpPr txBox="1"/>
          <p:nvPr/>
        </p:nvSpPr>
        <p:spPr>
          <a:xfrm>
            <a:off x="548640" y="3749040"/>
            <a:ext cx="3483864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27x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548640" y="4425696"/>
            <a:ext cx="348386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Mercor run-rate revenue,</a:t>
            </a: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$75M to $2B in 16 months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548640" y="4919472"/>
            <a:ext cx="348386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0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 </a:t>
            </a:r>
            <a:r>
              <a:rPr lang="zh-CN" sz="12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Expert-data demand is exploding</a:t>
            </a:r>
          </a:p>
        </p:txBody>
      </p:sp>
      <p:sp>
        <p:nvSpPr>
          <p:cNvPr id="5017" name="SimReal 5017"/>
          <p:cNvSpPr/>
          <p:nvPr/>
        </p:nvSpPr>
        <p:spPr>
          <a:xfrm>
            <a:off x="4352544" y="3657600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8" name="SimReal 5018"/>
          <p:cNvSpPr txBox="1"/>
          <p:nvPr/>
        </p:nvSpPr>
        <p:spPr>
          <a:xfrm>
            <a:off x="4352544" y="3749040"/>
            <a:ext cx="3483864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10x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4352544" y="4425696"/>
            <a:ext cx="348386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Mercor valuation,</a:t>
            </a: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$2B to $20B in 17 months (in talks)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4352544" y="4919472"/>
            <a:ext cx="348386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0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 </a:t>
            </a:r>
            <a:r>
              <a:rPr lang="zh-CN" sz="12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Capital is doubling down</a:t>
            </a:r>
          </a:p>
        </p:txBody>
      </p:sp>
      <p:sp>
        <p:nvSpPr>
          <p:cNvPr id="5021" name="SimReal 5021"/>
          <p:cNvSpPr/>
          <p:nvPr/>
        </p:nvSpPr>
        <p:spPr>
          <a:xfrm>
            <a:off x="8156448" y="3657600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2" name="SimReal 5022"/>
          <p:cNvSpPr txBox="1"/>
          <p:nvPr/>
        </p:nvSpPr>
        <p:spPr>
          <a:xfrm>
            <a:off x="8156448" y="3749040"/>
            <a:ext cx="3483864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18x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8156448" y="4425696"/>
            <a:ext cx="348386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Snorkel AI new data business,</a:t>
            </a: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growth in one year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8156448" y="4919472"/>
            <a:ext cx="348386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0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 </a:t>
            </a:r>
            <a:r>
              <a:rPr lang="zh-CN" sz="12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Demand shifts to experts and envs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548640" y="5760720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Sources: Deedy Das market map (Jul 2026); Mercor (TechCrunch, Dealroom); Snorkel AI (Sep 2026). 2030 figure is a company estimate.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132588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Confidential  ·  For invited investors only  ·  October 2026</a:t>
            </a:r>
          </a:p>
        </p:txBody>
      </p:sp>
      <p:sp>
        <p:nvSpPr>
          <p:cNvPr id="5027" name="SimReal 5027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06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1" name="Google Shape;511;p17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13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Company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Opportunity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Product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Edge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Traction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Round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Competition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They win on scale. 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We win on expert scoring and speed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8503920" y="1572768"/>
            <a:ext cx="3136392" cy="3035808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/>
          <p:nvPr/>
        </p:nvSpPr>
        <p:spPr>
          <a:xfrm>
            <a:off x="548640" y="1572768"/>
            <a:ext cx="11091672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7" name="SimReal 5007"/>
          <p:cNvSpPr txBox="1"/>
          <p:nvPr/>
        </p:nvSpPr>
        <p:spPr>
          <a:xfrm>
            <a:off x="731520" y="1591056"/>
            <a:ext cx="265176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Today's option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3291840" y="1591056"/>
            <a:ext cx="256032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Strength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5943600" y="1591056"/>
            <a:ext cx="260604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Weakness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8641080" y="1591056"/>
            <a:ext cx="2999232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SimReal</a:t>
            </a:r>
          </a:p>
        </p:txBody>
      </p:sp>
      <p:sp>
        <p:nvSpPr>
          <p:cNvPr id="5011" name="SimReal 5011"/>
          <p:cNvSpPr/>
          <p:nvPr/>
        </p:nvSpPr>
        <p:spPr>
          <a:xfrm>
            <a:off x="548640" y="1865376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2" name="SimReal 5012"/>
          <p:cNvSpPr txBox="1"/>
          <p:nvPr/>
        </p:nvSpPr>
        <p:spPr>
          <a:xfrm>
            <a:off x="731520" y="1865376"/>
            <a:ext cx="246888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Data vendors</a:t>
            </a:r>
          </a:p>
          <a:p>
            <a:pPr marL="0" marR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Scale AI, Mercor</a:t>
            </a:r>
          </a:p>
        </p:txBody>
      </p:sp>
      <p:sp>
        <p:nvSpPr>
          <p:cNvPr id="5013" name="SimReal 5013"/>
          <p:cNvSpPr txBox="1"/>
          <p:nvPr/>
        </p:nvSpPr>
        <p:spPr>
          <a:xfrm>
            <a:off x="3291840" y="1865376"/>
            <a:ext cx="237744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Headcount, lab relationships</a:t>
            </a:r>
          </a:p>
        </p:txBody>
      </p:sp>
      <p:sp>
        <p:nvSpPr>
          <p:cNvPr id="5014" name="SimReal 5014"/>
          <p:cNvSpPr txBox="1"/>
          <p:nvPr/>
        </p:nvSpPr>
        <p:spPr>
          <a:xfrm>
            <a:off x="5943600" y="1865376"/>
            <a:ext cx="242316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Labor-bound; no expert scoring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8641080" y="1865376"/>
            <a:ext cx="2862072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Quant-grade scoring</a:t>
            </a:r>
          </a:p>
        </p:txBody>
      </p:sp>
      <p:sp>
        <p:nvSpPr>
          <p:cNvPr id="5016" name="SimReal 5016"/>
          <p:cNvSpPr/>
          <p:nvPr/>
        </p:nvSpPr>
        <p:spPr>
          <a:xfrm>
            <a:off x="548640" y="2779776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7" name="SimReal 5017"/>
          <p:cNvSpPr txBox="1"/>
          <p:nvPr/>
        </p:nvSpPr>
        <p:spPr>
          <a:xfrm>
            <a:off x="731520" y="2779776"/>
            <a:ext cx="246888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Public leaderboards</a:t>
            </a:r>
          </a:p>
          <a:p>
            <a:pPr marL="0" marR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Alpha Arena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3291840" y="2779776"/>
            <a:ext cx="237744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Easy model comparison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5943600" y="2779776"/>
            <a:ext cx="242316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Eval only; saturates fast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8641080" y="2779776"/>
            <a:ext cx="2862072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Same environment evals and trains</a:t>
            </a:r>
          </a:p>
        </p:txBody>
      </p:sp>
      <p:sp>
        <p:nvSpPr>
          <p:cNvPr id="5021" name="SimReal 5021"/>
          <p:cNvSpPr/>
          <p:nvPr/>
        </p:nvSpPr>
        <p:spPr>
          <a:xfrm>
            <a:off x="548640" y="3694176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2" name="SimReal 5022"/>
          <p:cNvSpPr txBox="1"/>
          <p:nvPr/>
        </p:nvSpPr>
        <p:spPr>
          <a:xfrm>
            <a:off x="731520" y="3694176"/>
            <a:ext cx="246888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Labs build in-house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3291840" y="3694176"/>
            <a:ext cx="237744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Fits their own needs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5943600" y="3694176"/>
            <a:ext cx="242316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No domain rules or experts; costs researchers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8641080" y="3694176"/>
            <a:ext cx="2862072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Ready environments, 200K+ experts</a:t>
            </a:r>
          </a:p>
        </p:txBody>
      </p:sp>
      <p:sp>
        <p:nvSpPr>
          <p:cNvPr id="5026" name="SimReal 5026"/>
          <p:cNvSpPr/>
          <p:nvPr/>
        </p:nvSpPr>
        <p:spPr>
          <a:xfrm>
            <a:off x="548640" y="4608576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7" name="SimReal 5027"/>
          <p:cNvSpPr txBox="1"/>
          <p:nvPr/>
        </p:nvSpPr>
        <p:spPr>
          <a:xfrm>
            <a:off x="548640" y="4983480"/>
            <a:ext cx="11091672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They scale headcount; we scale speed: </a:t>
            </a:r>
            <a:r>
              <a:rPr lang="zh-CN" sz="18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7 products in 14 days, RMB 45M ARR in 24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132588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Confidential  ·  For invited investors only  ·  October 2026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13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2" name="Google Shape;562;p18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10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Company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Opportunity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Product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Edge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Traction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Round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Why us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Three shifts in RSI in 2026. 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We already deliver on each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6583680" y="1572768"/>
            <a:ext cx="5056632" cy="3273552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/>
          <p:nvPr/>
        </p:nvSpPr>
        <p:spPr>
          <a:xfrm>
            <a:off x="548640" y="1572768"/>
            <a:ext cx="11091672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7" name="SimReal 5007"/>
          <p:cNvSpPr txBox="1"/>
          <p:nvPr/>
        </p:nvSpPr>
        <p:spPr>
          <a:xfrm>
            <a:off x="731520" y="1591056"/>
            <a:ext cx="36576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What changed in 2026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6812280" y="1591056"/>
            <a:ext cx="36576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SimReal</a:t>
            </a:r>
          </a:p>
        </p:txBody>
      </p:sp>
      <p:sp>
        <p:nvSpPr>
          <p:cNvPr id="5009" name="SimReal 5009"/>
          <p:cNvSpPr/>
          <p:nvPr/>
        </p:nvSpPr>
        <p:spPr>
          <a:xfrm>
            <a:off x="548640" y="1883664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0" name="SimReal 5010"/>
          <p:cNvSpPr txBox="1"/>
          <p:nvPr/>
        </p:nvSpPr>
        <p:spPr>
          <a:xfrm>
            <a:off x="731520" y="2011680"/>
            <a:ext cx="566928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AI does research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731520" y="2395728"/>
            <a:ext cx="566928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OpenAI: 3.1 agent-workdays per researcher-workday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731520" y="2633472"/>
            <a:ext cx="566928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OpenAI, Sep 2026</a:t>
            </a:r>
          </a:p>
        </p:txBody>
      </p:sp>
      <p:sp>
        <p:nvSpPr>
          <p:cNvPr id="5013" name="SimReal 5013"/>
          <p:cNvSpPr txBox="1"/>
          <p:nvPr/>
        </p:nvSpPr>
        <p:spPr>
          <a:xfrm>
            <a:off x="6172200" y="1883664"/>
            <a:ext cx="365760" cy="9875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14" name="SimReal 5014"/>
          <p:cNvSpPr txBox="1"/>
          <p:nvPr/>
        </p:nvSpPr>
        <p:spPr>
          <a:xfrm>
            <a:off x="6812280" y="1883664"/>
            <a:ext cx="4736592" cy="9875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MLBench: the exam for AI research</a:t>
            </a:r>
          </a:p>
          <a:p>
            <a:pPr marL="0" marR="0" lvl="0" indent="0" algn="l" rtl="0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302 GitHub stars</a:t>
            </a:r>
          </a:p>
        </p:txBody>
      </p:sp>
      <p:sp>
        <p:nvSpPr>
          <p:cNvPr id="5015" name="SimReal 5015"/>
          <p:cNvSpPr/>
          <p:nvPr/>
        </p:nvSpPr>
        <p:spPr>
          <a:xfrm>
            <a:off x="548640" y="2871216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6" name="SimReal 5016"/>
          <p:cNvSpPr txBox="1"/>
          <p:nvPr/>
        </p:nvSpPr>
        <p:spPr>
          <a:xfrm>
            <a:off x="731520" y="2999232"/>
            <a:ext cx="566928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AI improves itself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731520" y="3383280"/>
            <a:ext cx="566928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An agent rewrote its own code: 7 gains in 8 days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731520" y="3621024"/>
            <a:ext cx="566928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Weco AIDE², Sep 2026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6172200" y="2871216"/>
            <a:ext cx="365760" cy="9875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6812280" y="2871216"/>
            <a:ext cx="4736592" cy="9875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RSI working in trading</a:t>
            </a:r>
          </a:p>
          <a:p>
            <a:pPr marL="0" marR="0" lvl="0" indent="0" algn="l" rtl="0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Up to +12% on unseen days</a:t>
            </a:r>
          </a:p>
        </p:txBody>
      </p:sp>
      <p:sp>
        <p:nvSpPr>
          <p:cNvPr id="5021" name="SimReal 5021"/>
          <p:cNvSpPr/>
          <p:nvPr/>
        </p:nvSpPr>
        <p:spPr>
          <a:xfrm>
            <a:off x="548640" y="3858768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2" name="SimReal 5022"/>
          <p:cNvSpPr txBox="1"/>
          <p:nvPr/>
        </p:nvSpPr>
        <p:spPr>
          <a:xfrm>
            <a:off x="731520" y="3986784"/>
            <a:ext cx="566928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Environments are the bottleneck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731520" y="4370832"/>
            <a:ext cx="566928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Noisy env: top agents fall from 83.9% to 57.6%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731520" y="4608576"/>
            <a:ext cx="566928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Breaking the Environment Wall, Sep 2026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6172200" y="3858768"/>
            <a:ext cx="365760" cy="9875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6812280" y="3858768"/>
            <a:ext cx="4736592" cy="9875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200K+ experts</a:t>
            </a:r>
          </a:p>
          <a:p>
            <a:pPr marL="0" marR="0" lvl="0" indent="0" algn="l" rtl="0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Millions of tasks delivered in 3 weeks</a:t>
            </a:r>
          </a:p>
        </p:txBody>
      </p:sp>
      <p:sp>
        <p:nvSpPr>
          <p:cNvPr id="5027" name="SimReal 5027"/>
          <p:cNvSpPr/>
          <p:nvPr/>
        </p:nvSpPr>
        <p:spPr>
          <a:xfrm>
            <a:off x="548640" y="4846320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8" name="SimReal 5028"/>
          <p:cNvSpPr/>
          <p:nvPr/>
        </p:nvSpPr>
        <p:spPr>
          <a:xfrm>
            <a:off x="548640" y="5138928"/>
            <a:ext cx="11091672" cy="621792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9" name="SimReal 5029"/>
          <p:cNvSpPr txBox="1"/>
          <p:nvPr/>
        </p:nvSpPr>
        <p:spPr>
          <a:xfrm>
            <a:off x="777240" y="5138928"/>
            <a:ext cx="1188720" cy="621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E27A3F"/>
                </a:solidFill>
                <a:latin typeface="Newsreader"/>
                <a:ea typeface="Newsreader"/>
                <a:cs typeface="Newsreader"/>
                <a:sym typeface="Newsreader"/>
              </a:rPr>
              <a:t>So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1828800" y="5138928"/>
            <a:ext cx="9628632" cy="621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50" b="0" i="0" u="none" strike="noStrike" cap="none">
                <a:solidFill>
                  <a:srgbClr val="C4C0B7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RSI is gated by environments, our core research. </a:t>
            </a:r>
            <a:r>
              <a:rPr lang="zh-CN" sz="1350" b="1" i="0" u="none" strike="noStrike" cap="none">
                <a:solidFill>
                  <a:srgbClr val="FAF9F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Most neolabs have no revenue; we hit RMB 45M ARR in 24 days</a:t>
            </a:r>
          </a:p>
        </p:txBody>
      </p:sp>
      <p:sp>
        <p:nvSpPr>
          <p:cNvPr id="5031" name="SimReal 5031"/>
          <p:cNvSpPr txBox="1"/>
          <p:nvPr/>
        </p:nvSpPr>
        <p:spPr>
          <a:xfrm>
            <a:off x="548640" y="5897880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Sources: OpenAI (Sep 6, 2026); Weco AI, arXiv 2609.26457; Breaking the Environment Wall, arXiv 2609.29773; Deedy Das neolab list (May 2026). +12% is the best of several replications.</a:t>
            </a:r>
          </a:p>
        </p:txBody>
      </p:sp>
      <p:sp>
        <p:nvSpPr>
          <p:cNvPr id="5032" name="SimReal 5032"/>
          <p:cNvSpPr txBox="1"/>
          <p:nvPr/>
        </p:nvSpPr>
        <p:spPr>
          <a:xfrm>
            <a:off x="132588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Confidential  ·  For invited investors only  ·  October 2026</a:t>
            </a:r>
          </a:p>
        </p:txBody>
      </p:sp>
      <p:sp>
        <p:nvSpPr>
          <p:cNvPr id="5033" name="SimReal 5033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10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7" name="Google Shape;607;p19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15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Company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Opportunity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Product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Edge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Traction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Round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Traction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Founded September 10, 2026. 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RMB 45M ARR in 24 days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901952"/>
            <a:ext cx="11091672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/>
          <p:nvPr/>
        </p:nvSpPr>
        <p:spPr>
          <a:xfrm>
            <a:off x="548640" y="1837944"/>
            <a:ext cx="146304" cy="146304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7" name="SimReal 5007"/>
          <p:cNvSpPr txBox="1"/>
          <p:nvPr/>
        </p:nvSpPr>
        <p:spPr>
          <a:xfrm>
            <a:off x="768096" y="1536192"/>
            <a:ext cx="2292858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Day 14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548640" y="2103120"/>
            <a:ext cx="2567178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4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7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548640" y="2779776"/>
            <a:ext cx="256717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Products shipped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548640" y="3072384"/>
            <a:ext cx="256717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Trading training loop working</a:t>
            </a:r>
          </a:p>
        </p:txBody>
      </p:sp>
      <p:sp>
        <p:nvSpPr>
          <p:cNvPr id="5011" name="SimReal 5011"/>
          <p:cNvSpPr/>
          <p:nvPr/>
        </p:nvSpPr>
        <p:spPr>
          <a:xfrm>
            <a:off x="3390138" y="1837944"/>
            <a:ext cx="146304" cy="146304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2" name="SimReal 5012"/>
          <p:cNvSpPr txBox="1"/>
          <p:nvPr/>
        </p:nvSpPr>
        <p:spPr>
          <a:xfrm>
            <a:off x="3609594" y="1536192"/>
            <a:ext cx="2292858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Week 3</a:t>
            </a:r>
          </a:p>
        </p:txBody>
      </p:sp>
      <p:sp>
        <p:nvSpPr>
          <p:cNvPr id="5013" name="SimReal 5013"/>
          <p:cNvSpPr txBox="1"/>
          <p:nvPr/>
        </p:nvSpPr>
        <p:spPr>
          <a:xfrm>
            <a:off x="3390138" y="2103120"/>
            <a:ext cx="2567178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Millions</a:t>
            </a:r>
          </a:p>
        </p:txBody>
      </p:sp>
      <p:sp>
        <p:nvSpPr>
          <p:cNvPr id="5014" name="SimReal 5014"/>
          <p:cNvSpPr txBox="1"/>
          <p:nvPr/>
        </p:nvSpPr>
        <p:spPr>
          <a:xfrm>
            <a:off x="3390138" y="2779776"/>
            <a:ext cx="256717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Tasks delivered</a:t>
            </a:r>
          </a:p>
        </p:txBody>
      </p:sp>
      <p:sp>
        <p:nvSpPr>
          <p:cNvPr id="5015" name="SimReal 5015"/>
          <p:cNvSpPr/>
          <p:nvPr/>
        </p:nvSpPr>
        <p:spPr>
          <a:xfrm>
            <a:off x="6231636" y="1837944"/>
            <a:ext cx="146304" cy="146304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6" name="SimReal 5016"/>
          <p:cNvSpPr txBox="1"/>
          <p:nvPr/>
        </p:nvSpPr>
        <p:spPr>
          <a:xfrm>
            <a:off x="6451092" y="1536192"/>
            <a:ext cx="2292858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Day 24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6231636" y="2103120"/>
            <a:ext cx="2567178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4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RMB 45M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6231636" y="2779776"/>
            <a:ext cx="256717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ARR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6231636" y="3072384"/>
            <a:ext cx="256717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No outside capital</a:t>
            </a:r>
          </a:p>
        </p:txBody>
      </p:sp>
      <p:sp>
        <p:nvSpPr>
          <p:cNvPr id="5020" name="SimReal 5020"/>
          <p:cNvSpPr/>
          <p:nvPr/>
        </p:nvSpPr>
        <p:spPr>
          <a:xfrm>
            <a:off x="9073134" y="1837944"/>
            <a:ext cx="146304" cy="146304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1" name="SimReal 5021"/>
          <p:cNvSpPr txBox="1"/>
          <p:nvPr/>
        </p:nvSpPr>
        <p:spPr>
          <a:xfrm>
            <a:off x="9292590" y="1536192"/>
            <a:ext cx="2292858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Day 24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9073134" y="2103120"/>
            <a:ext cx="2567178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40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602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9073134" y="2779776"/>
            <a:ext cx="256717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GitHub stars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9073134" y="3072384"/>
            <a:ext cx="256717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5 open benchmarks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548640" y="3401568"/>
            <a:ext cx="110916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Days counted from founding; as of October 4, 2026</a:t>
            </a:r>
          </a:p>
        </p:txBody>
      </p:sp>
      <p:sp>
        <p:nvSpPr>
          <p:cNvPr id="5026" name="SimReal 5026"/>
          <p:cNvSpPr/>
          <p:nvPr/>
        </p:nvSpPr>
        <p:spPr>
          <a:xfrm>
            <a:off x="548640" y="3767328"/>
            <a:ext cx="11091672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7" name="SimReal 5027"/>
          <p:cNvSpPr txBox="1"/>
          <p:nvPr/>
        </p:nvSpPr>
        <p:spPr>
          <a:xfrm>
            <a:off x="548640" y="3877056"/>
            <a:ext cx="5486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Customers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548640" y="4114800"/>
            <a:ext cx="237744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2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548640" y="4773168"/>
            <a:ext cx="24688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Frontier labs in talks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3429000" y="3877056"/>
            <a:ext cx="73152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Training infrastructure: more training per unit of compute</a:t>
            </a:r>
          </a:p>
        </p:txBody>
      </p:sp>
      <p:sp>
        <p:nvSpPr>
          <p:cNvPr id="5031" name="SimReal 5031"/>
          <p:cNvSpPr/>
          <p:nvPr/>
        </p:nvSpPr>
        <p:spPr>
          <a:xfrm>
            <a:off x="3429000" y="4114800"/>
            <a:ext cx="255422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2" name="SimReal 5032"/>
          <p:cNvSpPr txBox="1"/>
          <p:nvPr/>
        </p:nvSpPr>
        <p:spPr>
          <a:xfrm>
            <a:off x="3429000" y="4169664"/>
            <a:ext cx="2554224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2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1/4</a:t>
            </a:r>
          </a:p>
        </p:txBody>
      </p:sp>
      <p:sp>
        <p:nvSpPr>
          <p:cNvPr id="5033" name="SimReal 5033"/>
          <p:cNvSpPr txBox="1"/>
          <p:nvPr/>
        </p:nvSpPr>
        <p:spPr>
          <a:xfrm>
            <a:off x="3429000" y="4773168"/>
            <a:ext cx="255422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Time per rollout cut to a quarter</a:t>
            </a:r>
          </a:p>
        </p:txBody>
      </p:sp>
      <p:sp>
        <p:nvSpPr>
          <p:cNvPr id="5034" name="SimReal 5034"/>
          <p:cNvSpPr/>
          <p:nvPr/>
        </p:nvSpPr>
        <p:spPr>
          <a:xfrm>
            <a:off x="6257544" y="4114800"/>
            <a:ext cx="255422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5" name="SimReal 5035"/>
          <p:cNvSpPr txBox="1"/>
          <p:nvPr/>
        </p:nvSpPr>
        <p:spPr>
          <a:xfrm>
            <a:off x="6257544" y="4169664"/>
            <a:ext cx="2554224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2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+64%</a:t>
            </a:r>
          </a:p>
        </p:txBody>
      </p:sp>
      <p:sp>
        <p:nvSpPr>
          <p:cNvPr id="5036" name="SimReal 5036"/>
          <p:cNvSpPr txBox="1"/>
          <p:nvPr/>
        </p:nvSpPr>
        <p:spPr>
          <a:xfrm>
            <a:off x="6257544" y="4773168"/>
            <a:ext cx="255422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More scored attempts on the same resources</a:t>
            </a:r>
          </a:p>
        </p:txBody>
      </p:sp>
      <p:sp>
        <p:nvSpPr>
          <p:cNvPr id="5037" name="SimReal 5037"/>
          <p:cNvSpPr/>
          <p:nvPr/>
        </p:nvSpPr>
        <p:spPr>
          <a:xfrm>
            <a:off x="9086088" y="4114800"/>
            <a:ext cx="255422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8" name="SimReal 5038"/>
          <p:cNvSpPr txBox="1"/>
          <p:nvPr/>
        </p:nvSpPr>
        <p:spPr>
          <a:xfrm>
            <a:off x="9086088" y="4169664"/>
            <a:ext cx="2554224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2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−1/3</a:t>
            </a:r>
          </a:p>
        </p:txBody>
      </p:sp>
      <p:sp>
        <p:nvSpPr>
          <p:cNvPr id="5039" name="SimReal 5039"/>
          <p:cNvSpPr txBox="1"/>
          <p:nvPr/>
        </p:nvSpPr>
        <p:spPr>
          <a:xfrm>
            <a:off x="9086088" y="4773168"/>
            <a:ext cx="255422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Checkpoint time down a third; half as many</a:t>
            </a:r>
          </a:p>
        </p:txBody>
      </p:sp>
      <p:sp>
        <p:nvSpPr>
          <p:cNvPr id="5040" name="SimReal 5040"/>
          <p:cNvSpPr txBox="1"/>
          <p:nvPr/>
        </p:nvSpPr>
        <p:spPr>
          <a:xfrm>
            <a:off x="548640" y="5760720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Infrastructure figures are internal tests on different bases; do not multiply or add them.</a:t>
            </a:r>
          </a:p>
        </p:txBody>
      </p:sp>
      <p:sp>
        <p:nvSpPr>
          <p:cNvPr id="5041" name="SimReal 5041"/>
          <p:cNvSpPr txBox="1"/>
          <p:nvPr/>
        </p:nvSpPr>
        <p:spPr>
          <a:xfrm>
            <a:off x="132588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Confidential  ·  For invited investors only  ·  October 2026</a:t>
            </a:r>
          </a:p>
        </p:txBody>
      </p:sp>
      <p:sp>
        <p:nvSpPr>
          <p:cNvPr id="5042" name="SimReal 5042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15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7" name="Google Shape;607;p19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16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Company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Opportunity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Product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Edge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Traction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Round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The round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Raising RMB 40M 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for environments, RSI and delivery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517904"/>
            <a:ext cx="3544824" cy="78638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804672" y="1609344"/>
            <a:ext cx="308762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E27A3F"/>
                </a:solidFill>
                <a:latin typeface="IBM Plex Mono"/>
                <a:ea typeface="IBM Plex Mono"/>
                <a:cs typeface="IBM Plex Mono"/>
                <a:sym typeface="IBM Plex Mono"/>
              </a:rPr>
              <a:t>Raising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804672" y="1792224"/>
            <a:ext cx="308762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800" b="0" i="0" u="none" strike="noStrike" cap="none">
                <a:solidFill>
                  <a:srgbClr val="E27A3F"/>
                </a:solidFill>
                <a:latin typeface="Newsreader"/>
                <a:ea typeface="Newsreader"/>
                <a:cs typeface="Newsreader"/>
                <a:sym typeface="Newsreader"/>
              </a:rPr>
              <a:t>RMB 40M</a:t>
            </a:r>
          </a:p>
        </p:txBody>
      </p:sp>
      <p:sp>
        <p:nvSpPr>
          <p:cNvPr id="5008" name="SimReal 5008"/>
          <p:cNvSpPr/>
          <p:nvPr/>
        </p:nvSpPr>
        <p:spPr>
          <a:xfrm>
            <a:off x="4322064" y="1517904"/>
            <a:ext cx="3544824" cy="786384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9" name="SimReal 5009"/>
          <p:cNvSpPr txBox="1"/>
          <p:nvPr/>
        </p:nvSpPr>
        <p:spPr>
          <a:xfrm>
            <a:off x="4578096" y="1609344"/>
            <a:ext cx="308762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Post-money valuation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4578096" y="1792224"/>
            <a:ext cx="308762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8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RMB 500M</a:t>
            </a:r>
          </a:p>
        </p:txBody>
      </p:sp>
      <p:sp>
        <p:nvSpPr>
          <p:cNvPr id="5011" name="SimReal 5011"/>
          <p:cNvSpPr/>
          <p:nvPr/>
        </p:nvSpPr>
        <p:spPr>
          <a:xfrm>
            <a:off x="8095488" y="1517904"/>
            <a:ext cx="3544824" cy="786384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2" name="SimReal 5012"/>
          <p:cNvSpPr txBox="1"/>
          <p:nvPr/>
        </p:nvSpPr>
        <p:spPr>
          <a:xfrm>
            <a:off x="8351520" y="1609344"/>
            <a:ext cx="308762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Dilution</a:t>
            </a:r>
          </a:p>
        </p:txBody>
      </p:sp>
      <p:sp>
        <p:nvSpPr>
          <p:cNvPr id="5013" name="SimReal 5013"/>
          <p:cNvSpPr txBox="1"/>
          <p:nvPr/>
        </p:nvSpPr>
        <p:spPr>
          <a:xfrm>
            <a:off x="8351520" y="1792224"/>
            <a:ext cx="308762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8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8%</a:t>
            </a:r>
          </a:p>
        </p:txBody>
      </p:sp>
      <p:sp>
        <p:nvSpPr>
          <p:cNvPr id="5014" name="SimReal 5014"/>
          <p:cNvSpPr/>
          <p:nvPr/>
        </p:nvSpPr>
        <p:spPr>
          <a:xfrm>
            <a:off x="548640" y="2487168"/>
            <a:ext cx="3544824" cy="301752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5" name="SimReal 5015"/>
          <p:cNvSpPr txBox="1"/>
          <p:nvPr/>
        </p:nvSpPr>
        <p:spPr>
          <a:xfrm>
            <a:off x="822960" y="2670048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01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822960" y="2907792"/>
            <a:ext cx="299618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Environments and data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822960" y="3438144"/>
            <a:ext cx="2996184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Take the trading playbook to more expert domains</a:t>
            </a:r>
          </a:p>
        </p:txBody>
      </p:sp>
      <p:sp>
        <p:nvSpPr>
          <p:cNvPr id="5018" name="SimReal 5018"/>
          <p:cNvSpPr/>
          <p:nvPr/>
        </p:nvSpPr>
        <p:spPr>
          <a:xfrm>
            <a:off x="822960" y="4114800"/>
            <a:ext cx="299618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9" name="SimReal 5019"/>
          <p:cNvSpPr txBox="1"/>
          <p:nvPr/>
        </p:nvSpPr>
        <p:spPr>
          <a:xfrm>
            <a:off x="822960" y="4224528"/>
            <a:ext cx="299618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33322F"/>
                </a:solidFill>
                <a:latin typeface="IBM Plex Mono"/>
                <a:ea typeface="IBM Plex Mono"/>
                <a:cs typeface="IBM Plex Mono"/>
                <a:sym typeface="IBM Plex Mono"/>
              </a:rPr>
              <a:t>Investment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822960" y="4425696"/>
            <a:ext cx="299618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Environment engineers  ·  Expert network</a:t>
            </a:r>
          </a:p>
        </p:txBody>
      </p:sp>
      <p:sp>
        <p:nvSpPr>
          <p:cNvPr id="5021" name="SimReal 5021"/>
          <p:cNvSpPr txBox="1"/>
          <p:nvPr/>
        </p:nvSpPr>
        <p:spPr>
          <a:xfrm>
            <a:off x="822960" y="4828032"/>
            <a:ext cx="299618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Round goal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822960" y="5029200"/>
            <a:ext cx="2996184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10+ expert-domain environments</a:t>
            </a:r>
          </a:p>
        </p:txBody>
      </p:sp>
      <p:sp>
        <p:nvSpPr>
          <p:cNvPr id="5023" name="SimReal 5023"/>
          <p:cNvSpPr/>
          <p:nvPr/>
        </p:nvSpPr>
        <p:spPr>
          <a:xfrm>
            <a:off x="4322064" y="2487168"/>
            <a:ext cx="3544824" cy="3017520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4" name="SimReal 5024"/>
          <p:cNvSpPr txBox="1"/>
          <p:nvPr/>
        </p:nvSpPr>
        <p:spPr>
          <a:xfrm>
            <a:off x="4596384" y="2670048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E27A3F"/>
                </a:solidFill>
                <a:latin typeface="IBM Plex Mono"/>
                <a:ea typeface="IBM Plex Mono"/>
                <a:cs typeface="IBM Plex Mono"/>
                <a:sym typeface="IBM Plex Mono"/>
              </a:rPr>
              <a:t>02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4596384" y="2907792"/>
            <a:ext cx="299618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 b="0" i="0" u="none" strike="noStrike" cap="none">
                <a:solidFill>
                  <a:srgbClr val="FAF9F6"/>
                </a:solidFill>
                <a:latin typeface="Newsreader"/>
                <a:ea typeface="Newsreader"/>
                <a:cs typeface="Newsreader"/>
                <a:sym typeface="Newsreader"/>
              </a:rPr>
              <a:t>RSI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4596384" y="3438144"/>
            <a:ext cx="2996184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FAF9F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Scale self-improvement to larger models and more domains</a:t>
            </a:r>
          </a:p>
        </p:txBody>
      </p:sp>
      <p:sp>
        <p:nvSpPr>
          <p:cNvPr id="5027" name="SimReal 5027"/>
          <p:cNvSpPr/>
          <p:nvPr/>
        </p:nvSpPr>
        <p:spPr>
          <a:xfrm>
            <a:off x="4596384" y="4114800"/>
            <a:ext cx="2996184" cy="9144"/>
          </a:xfrm>
          <a:prstGeom prst="rect">
            <a:avLst/>
          </a:prstGeom>
          <a:solidFill>
            <a:srgbClr val="3A393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8" name="SimReal 5028"/>
          <p:cNvSpPr txBox="1"/>
          <p:nvPr/>
        </p:nvSpPr>
        <p:spPr>
          <a:xfrm>
            <a:off x="4596384" y="4224528"/>
            <a:ext cx="299618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C4C0B7"/>
                </a:solidFill>
                <a:latin typeface="IBM Plex Mono"/>
                <a:ea typeface="IBM Plex Mono"/>
                <a:cs typeface="IBM Plex Mono"/>
                <a:sym typeface="IBM Plex Mono"/>
              </a:rPr>
              <a:t>Investment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4596384" y="4425696"/>
            <a:ext cx="299618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FAF9F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Compute  ·  Researchers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4596384" y="4828032"/>
            <a:ext cx="299618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E27A3F"/>
                </a:solidFill>
                <a:latin typeface="IBM Plex Mono"/>
                <a:ea typeface="IBM Plex Mono"/>
                <a:cs typeface="IBM Plex Mono"/>
                <a:sym typeface="IBM Plex Mono"/>
              </a:rPr>
              <a:t>Round goal</a:t>
            </a:r>
          </a:p>
        </p:txBody>
      </p:sp>
      <p:sp>
        <p:nvSpPr>
          <p:cNvPr id="5031" name="SimReal 5031"/>
          <p:cNvSpPr txBox="1"/>
          <p:nvPr/>
        </p:nvSpPr>
        <p:spPr>
          <a:xfrm>
            <a:off x="4596384" y="5029200"/>
            <a:ext cx="2996184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E27A3F"/>
                </a:solidFill>
                <a:latin typeface="Newsreader"/>
                <a:ea typeface="Newsreader"/>
                <a:cs typeface="Newsreader"/>
                <a:sym typeface="Newsreader"/>
              </a:rPr>
              <a:t>RSI on open-weight large models</a:t>
            </a:r>
          </a:p>
        </p:txBody>
      </p:sp>
      <p:sp>
        <p:nvSpPr>
          <p:cNvPr id="5032" name="SimReal 5032"/>
          <p:cNvSpPr/>
          <p:nvPr/>
        </p:nvSpPr>
        <p:spPr>
          <a:xfrm>
            <a:off x="8095488" y="2487168"/>
            <a:ext cx="3544824" cy="301752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3" name="SimReal 5033"/>
          <p:cNvSpPr txBox="1"/>
          <p:nvPr/>
        </p:nvSpPr>
        <p:spPr>
          <a:xfrm>
            <a:off x="8369808" y="2670048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03</a:t>
            </a:r>
          </a:p>
        </p:txBody>
      </p:sp>
      <p:sp>
        <p:nvSpPr>
          <p:cNvPr id="5034" name="SimReal 5034"/>
          <p:cNvSpPr txBox="1"/>
          <p:nvPr/>
        </p:nvSpPr>
        <p:spPr>
          <a:xfrm>
            <a:off x="8369808" y="2907792"/>
            <a:ext cx="299618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Delivery</a:t>
            </a:r>
          </a:p>
        </p:txBody>
      </p:sp>
      <p:sp>
        <p:nvSpPr>
          <p:cNvPr id="5035" name="SimReal 5035"/>
          <p:cNvSpPr txBox="1"/>
          <p:nvPr/>
        </p:nvSpPr>
        <p:spPr>
          <a:xfrm>
            <a:off x="8369808" y="3438144"/>
            <a:ext cx="2996184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Turn frontier-lab pilots into long-term contracts</a:t>
            </a:r>
          </a:p>
        </p:txBody>
      </p:sp>
      <p:sp>
        <p:nvSpPr>
          <p:cNvPr id="5036" name="SimReal 5036"/>
          <p:cNvSpPr/>
          <p:nvPr/>
        </p:nvSpPr>
        <p:spPr>
          <a:xfrm>
            <a:off x="8369808" y="4114800"/>
            <a:ext cx="299618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7" name="SimReal 5037"/>
          <p:cNvSpPr txBox="1"/>
          <p:nvPr/>
        </p:nvSpPr>
        <p:spPr>
          <a:xfrm>
            <a:off x="8369808" y="4224528"/>
            <a:ext cx="299618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33322F"/>
                </a:solidFill>
                <a:latin typeface="IBM Plex Mono"/>
                <a:ea typeface="IBM Plex Mono"/>
                <a:cs typeface="IBM Plex Mono"/>
                <a:sym typeface="IBM Plex Mono"/>
              </a:rPr>
              <a:t>Investment</a:t>
            </a:r>
          </a:p>
        </p:txBody>
      </p:sp>
      <p:sp>
        <p:nvSpPr>
          <p:cNvPr id="5038" name="SimReal 5038"/>
          <p:cNvSpPr txBox="1"/>
          <p:nvPr/>
        </p:nvSpPr>
        <p:spPr>
          <a:xfrm>
            <a:off x="8369808" y="4425696"/>
            <a:ext cx="299618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Delivery team  ·  Sales</a:t>
            </a:r>
          </a:p>
        </p:txBody>
      </p:sp>
      <p:sp>
        <p:nvSpPr>
          <p:cNvPr id="5039" name="SimReal 5039"/>
          <p:cNvSpPr txBox="1"/>
          <p:nvPr/>
        </p:nvSpPr>
        <p:spPr>
          <a:xfrm>
            <a:off x="8369808" y="4828032"/>
            <a:ext cx="299618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Round goal</a:t>
            </a:r>
          </a:p>
        </p:txBody>
      </p:sp>
      <p:sp>
        <p:nvSpPr>
          <p:cNvPr id="5040" name="SimReal 5040"/>
          <p:cNvSpPr txBox="1"/>
          <p:nvPr/>
        </p:nvSpPr>
        <p:spPr>
          <a:xfrm>
            <a:off x="8369808" y="5029200"/>
            <a:ext cx="2996184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20 customers</a:t>
            </a:r>
          </a:p>
        </p:txBody>
      </p:sp>
      <p:sp>
        <p:nvSpPr>
          <p:cNvPr id="5041" name="SimReal 5041"/>
          <p:cNvSpPr txBox="1"/>
          <p:nvPr/>
        </p:nvSpPr>
        <p:spPr>
          <a:xfrm>
            <a:off x="548640" y="5760720"/>
            <a:ext cx="1109167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111110"/>
                </a:solidFill>
                <a:latin typeface="IBM Plex Mono"/>
                <a:ea typeface="IBM Plex Mono"/>
                <a:cs typeface="IBM Plex Mono"/>
                <a:sym typeface="IBM Plex Mono"/>
              </a:rPr>
              <a:t>business@simreal.co</a:t>
            </a:r>
            <a:r>
              <a:rPr lang="zh-CN" sz="11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·   </a:t>
            </a:r>
            <a:r>
              <a:rPr lang="zh-CN" sz="1100" b="0" i="0" u="none" strike="noStrike" cap="none">
                <a:solidFill>
                  <a:srgbClr val="111110"/>
                </a:solidFill>
                <a:latin typeface="IBM Plex Mono"/>
                <a:ea typeface="IBM Plex Mono"/>
                <a:cs typeface="IBM Plex Mono"/>
                <a:sym typeface="IBM Plex Mono"/>
              </a:rPr>
              <a:t>simreal.com.cn</a:t>
            </a:r>
          </a:p>
        </p:txBody>
      </p:sp>
      <p:sp>
        <p:nvSpPr>
          <p:cNvPr id="5042" name="SimReal 5042"/>
          <p:cNvSpPr txBox="1"/>
          <p:nvPr/>
        </p:nvSpPr>
        <p:spPr>
          <a:xfrm>
            <a:off x="132588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Confidential  ·  For invited investors only  ·  October 2026</a:t>
            </a:r>
          </a:p>
        </p:txBody>
      </p:sp>
      <p:sp>
        <p:nvSpPr>
          <p:cNvPr id="5043" name="SimReal 5043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16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6" name="Google Shape;666;p22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07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Company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Opportunity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Product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Edge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Traction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Round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Customers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AI labs first, 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then enterprises and consumers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572768"/>
            <a:ext cx="3514344" cy="3291840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841248" y="1792224"/>
            <a:ext cx="296570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E27A3F"/>
                </a:solidFill>
                <a:latin typeface="IBM Plex Mono"/>
                <a:ea typeface="IBM Plex Mono"/>
                <a:cs typeface="IBM Plex Mono"/>
                <a:sym typeface="IBM Plex Mono"/>
              </a:rPr>
              <a:t>Now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841248" y="2048256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 b="0" i="0" u="none" strike="noStrike" cap="none">
                <a:solidFill>
                  <a:srgbClr val="FAF9F6"/>
                </a:solidFill>
                <a:latin typeface="Newsreader"/>
                <a:ea typeface="Newsreader"/>
                <a:cs typeface="Newsreader"/>
                <a:sym typeface="Newsreader"/>
              </a:rPr>
              <a:t>AI labs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841248" y="2761488"/>
            <a:ext cx="296570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C4C0B7"/>
                </a:solidFill>
                <a:latin typeface="IBM Plex Mono"/>
                <a:ea typeface="IBM Plex Mono"/>
                <a:cs typeface="IBM Plex Mono"/>
                <a:sym typeface="IBM Plex Mono"/>
              </a:rPr>
              <a:t>What they need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841248" y="2999232"/>
            <a:ext cx="2929128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FAF9F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Environments and data</a:t>
            </a: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FAF9F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to train stronger models</a:t>
            </a:r>
          </a:p>
        </p:txBody>
      </p:sp>
      <p:sp>
        <p:nvSpPr>
          <p:cNvPr id="5010" name="SimReal 5010"/>
          <p:cNvSpPr/>
          <p:nvPr/>
        </p:nvSpPr>
        <p:spPr>
          <a:xfrm>
            <a:off x="841248" y="3950208"/>
            <a:ext cx="2929128" cy="9144"/>
          </a:xfrm>
          <a:prstGeom prst="rect">
            <a:avLst/>
          </a:prstGeom>
          <a:solidFill>
            <a:srgbClr val="3A393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1" name="SimReal 5011"/>
          <p:cNvSpPr txBox="1"/>
          <p:nvPr/>
        </p:nvSpPr>
        <p:spPr>
          <a:xfrm>
            <a:off x="841248" y="4059936"/>
            <a:ext cx="296570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E27A3F"/>
                </a:solidFill>
                <a:latin typeface="IBM Plex Mono"/>
                <a:ea typeface="IBM Plex Mono"/>
                <a:cs typeface="IBM Plex Mono"/>
                <a:sym typeface="IBM Plex Mono"/>
              </a:rPr>
              <a:t>What we provide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841248" y="4279392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50" b="1" i="0" u="none" strike="noStrike" cap="none">
                <a:solidFill>
                  <a:srgbClr val="FAF9F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Env licenses, training data, evals</a:t>
            </a:r>
          </a:p>
        </p:txBody>
      </p:sp>
      <p:sp>
        <p:nvSpPr>
          <p:cNvPr id="5013" name="SimReal 5013"/>
          <p:cNvSpPr/>
          <p:nvPr/>
        </p:nvSpPr>
        <p:spPr>
          <a:xfrm>
            <a:off x="4337304" y="1572768"/>
            <a:ext cx="3514344" cy="329184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4" name="SimReal 5014"/>
          <p:cNvSpPr txBox="1"/>
          <p:nvPr/>
        </p:nvSpPr>
        <p:spPr>
          <a:xfrm>
            <a:off x="4629912" y="1792224"/>
            <a:ext cx="296570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Next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4629912" y="2048256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Enterprise agent teams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4629912" y="2761488"/>
            <a:ext cx="296570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33322F"/>
                </a:solidFill>
                <a:latin typeface="IBM Plex Mono"/>
                <a:ea typeface="IBM Plex Mono"/>
                <a:cs typeface="IBM Plex Mono"/>
                <a:sym typeface="IBM Plex Mono"/>
              </a:rPr>
              <a:t>What they need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4629912" y="2999232"/>
            <a:ext cx="2929128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Turn workflows into practice tasks;</a:t>
            </a: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train and test before go-live</a:t>
            </a:r>
          </a:p>
        </p:txBody>
      </p:sp>
      <p:sp>
        <p:nvSpPr>
          <p:cNvPr id="5018" name="SimReal 5018"/>
          <p:cNvSpPr/>
          <p:nvPr/>
        </p:nvSpPr>
        <p:spPr>
          <a:xfrm>
            <a:off x="4629912" y="3950208"/>
            <a:ext cx="2929128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9" name="SimReal 5019"/>
          <p:cNvSpPr txBox="1"/>
          <p:nvPr/>
        </p:nvSpPr>
        <p:spPr>
          <a:xfrm>
            <a:off x="4629912" y="4059936"/>
            <a:ext cx="296570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What we provide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4629912" y="4279392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Custom envs and acceptance evals</a:t>
            </a:r>
          </a:p>
        </p:txBody>
      </p:sp>
      <p:sp>
        <p:nvSpPr>
          <p:cNvPr id="5021" name="SimReal 5021"/>
          <p:cNvSpPr/>
          <p:nvPr/>
        </p:nvSpPr>
        <p:spPr>
          <a:xfrm>
            <a:off x="8125968" y="1572768"/>
            <a:ext cx="3514344" cy="329184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2" name="SimReal 5022"/>
          <p:cNvSpPr txBox="1"/>
          <p:nvPr/>
        </p:nvSpPr>
        <p:spPr>
          <a:xfrm>
            <a:off x="8418576" y="1792224"/>
            <a:ext cx="296570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Then · B2C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8418576" y="2048256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Consumers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8418576" y="2761488"/>
            <a:ext cx="296570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33322F"/>
                </a:solidFill>
                <a:latin typeface="IBM Plex Mono"/>
                <a:ea typeface="IBM Plex Mono"/>
                <a:cs typeface="IBM Plex Mono"/>
                <a:sym typeface="IBM Plex Mono"/>
              </a:rPr>
              <a:t>What they need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8418576" y="2999232"/>
            <a:ext cx="2929128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AI that knows them</a:t>
            </a: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and fits their day</a:t>
            </a:r>
          </a:p>
        </p:txBody>
      </p:sp>
      <p:sp>
        <p:nvSpPr>
          <p:cNvPr id="5026" name="SimReal 5026"/>
          <p:cNvSpPr/>
          <p:nvPr/>
        </p:nvSpPr>
        <p:spPr>
          <a:xfrm>
            <a:off x="8418576" y="3950208"/>
            <a:ext cx="2929128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7" name="SimReal 5027"/>
          <p:cNvSpPr txBox="1"/>
          <p:nvPr/>
        </p:nvSpPr>
        <p:spPr>
          <a:xfrm>
            <a:off x="8418576" y="4059936"/>
            <a:ext cx="296570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What we provide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8418576" y="4279392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AI tuned to personal habits, fast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548640" y="5120640"/>
            <a:ext cx="11091672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One set of environments, </a:t>
            </a:r>
            <a:r>
              <a:rPr lang="zh-CN" sz="20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three customer groups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132588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Confidential  ·  For invited investors only  ·  October 2026</a:t>
            </a:r>
          </a:p>
        </p:txBody>
      </p:sp>
      <p:sp>
        <p:nvSpPr>
          <p:cNvPr id="5031" name="SimReal 5031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3802</Words>
  <Application>Microsoft Macintosh PowerPoint</Application>
  <PresentationFormat>Widescreen</PresentationFormat>
  <Paragraphs>542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Instrument Sans</vt:lpstr>
      <vt:lpstr>Newsreader</vt:lpstr>
      <vt:lpstr>Arial</vt:lpstr>
      <vt:lpstr>IBM Plex Mono</vt:lpstr>
      <vt:lpstr>Instrument Sans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chern wong</cp:lastModifiedBy>
  <cp:revision>2</cp:revision>
  <dcterms:modified xsi:type="dcterms:W3CDTF">2026-09-26T15:07:34Z</dcterms:modified>
</cp:coreProperties>
</file>