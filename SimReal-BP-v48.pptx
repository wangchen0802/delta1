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9" r:id="rId1"/>
  </p:sldMasterIdLst>
  <p:notesMasterIdLst>
    <p:notesMasterId r:id="rId24"/>
  </p:notesMasterIdLst>
  <p:sldIdLst>
    <p:sldId id="256" r:id="rId2"/>
    <p:sldId id="257" r:id="rId3"/>
    <p:sldId id="258" r:id="rId4"/>
    <p:sldId id="265" r:id="rId11"/>
    <p:sldId id="267" r:id="rId13"/>
    <p:sldId id="260" r:id="rId6"/>
    <p:sldId id="259" r:id="rId5"/>
    <p:sldId id="262" r:id="rId8"/>
    <p:sldId id="264" r:id="rId10"/>
    <p:sldId id="271" r:id="rId17"/>
    <p:sldId id="269" r:id="rId15"/>
    <p:sldId id="266" r:id="rId12"/>
    <p:sldId id="270" r:id="rId16"/>
    <p:sldId id="272" r:id="rId18"/>
  </p:sldIdLst>
  <p:sldSz cx="12192000" cy="6858000"/>
  <p:notesSz cx="6858000" cy="12192000"/>
  <p:embeddedFontLst>
    <p:embeddedFont>
      <p:font typeface="IBM Plex Mono" panose="020B0509050203000203" pitchFamily="49" charset="77"/>
      <p:regular r:id="rId25"/>
      <p:bold r:id="rId26"/>
      <p:italic r:id="rId27"/>
      <p:boldItalic r:id="rId28"/>
    </p:embeddedFont>
    <p:embeddedFont>
      <p:font typeface="Instrument Sans"/>
      <p:regular r:id="rId29"/>
      <p:bold r:id="rId30"/>
      <p:italic r:id="rId31"/>
      <p:boldItalic r:id="rId32"/>
    </p:embeddedFont>
    <p:embeddedFont>
      <p:font typeface="Instrument Sans SemiBold" pitchFamily="2" charset="0"/>
      <p:regular r:id="rId33"/>
      <p:bold r:id="rId34"/>
      <p:italic r:id="rId35"/>
      <p:boldItalic r:id="rId36"/>
    </p:embeddedFont>
    <p:embeddedFont>
      <p:font typeface="Newsreader" panose="02000000000000000000"/>
      <p:regular r:id="rId37"/>
      <p:bold r:id="rId38"/>
      <p:italic r:id="rId39"/>
      <p:boldItalic r:id="rId40"/>
    </p:embeddedFont>
    <p:embeddedFont>
      <p:font typeface="Noto Serif CJK SC" pitchFamily="18" charset="-122"/>
      <p:regular r:id="rIdSimRealCJK1"/>
    </p:embeddedFont>
    <p:embeddedFont>
      <p:font typeface="Noto Sans CJK SC" pitchFamily="34" charset="-122"/>
      <p:regular r:id="rIdSimRealCJK2"/>
      <p:bold r:id="rIdSimRealCJK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A870364-48A8-4773-986C-DF2669CC7B71}">
  <a:tblStyle styleId="{EA870364-48A8-4773-986C-DF2669CC7B7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78"/>
  </p:normalViewPr>
  <p:slideViewPr>
    <p:cSldViewPr snapToGrid="0">
      <p:cViewPr varScale="1">
        <p:scale>
          <a:sx n="117" d="100"/>
          <a:sy n="117" d="100"/>
        </p:scale>
        <p:origin x="38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8" Type="http://schemas.openxmlformats.org/officeDocument/2006/relationships/slide" Target="slides/slide7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24" Type="http://schemas.openxmlformats.org/officeDocument/2006/relationships/notesMaster" Target="notesMasters/notesMaster1.xml"/><Relationship Id="rId25" Type="http://schemas.openxmlformats.org/officeDocument/2006/relationships/font" Target="fonts/font1.fntdata"/><Relationship Id="rId26" Type="http://schemas.openxmlformats.org/officeDocument/2006/relationships/font" Target="fonts/font2.fntdata"/><Relationship Id="rId27" Type="http://schemas.openxmlformats.org/officeDocument/2006/relationships/font" Target="fonts/font3.fntdata"/><Relationship Id="rId28" Type="http://schemas.openxmlformats.org/officeDocument/2006/relationships/font" Target="fonts/font4.fntdata"/><Relationship Id="rId29" Type="http://schemas.openxmlformats.org/officeDocument/2006/relationships/font" Target="fonts/font5.fntdata"/><Relationship Id="rId30" Type="http://schemas.openxmlformats.org/officeDocument/2006/relationships/font" Target="fonts/font6.fntdata"/><Relationship Id="rId31" Type="http://schemas.openxmlformats.org/officeDocument/2006/relationships/font" Target="fonts/font7.fntdata"/><Relationship Id="rId32" Type="http://schemas.openxmlformats.org/officeDocument/2006/relationships/font" Target="fonts/font8.fntdata"/><Relationship Id="rId33" Type="http://schemas.openxmlformats.org/officeDocument/2006/relationships/font" Target="fonts/font9.fntdata"/><Relationship Id="rId34" Type="http://schemas.openxmlformats.org/officeDocument/2006/relationships/font" Target="fonts/font10.fntdata"/><Relationship Id="rId35" Type="http://schemas.openxmlformats.org/officeDocument/2006/relationships/font" Target="fonts/font11.fntdata"/><Relationship Id="rId36" Type="http://schemas.openxmlformats.org/officeDocument/2006/relationships/font" Target="fonts/font12.fntdata"/><Relationship Id="rId37" Type="http://schemas.openxmlformats.org/officeDocument/2006/relationships/font" Target="fonts/font13.fntdata"/><Relationship Id="rId38" Type="http://schemas.openxmlformats.org/officeDocument/2006/relationships/font" Target="fonts/font14.fntdata"/><Relationship Id="rId39" Type="http://schemas.openxmlformats.org/officeDocument/2006/relationships/font" Target="fonts/font15.fntdata"/><Relationship Id="rId40" Type="http://schemas.openxmlformats.org/officeDocument/2006/relationships/font" Target="fonts/font16.fntdata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Relationship Id="rIdSimRealCJK1" Type="http://schemas.openxmlformats.org/officeDocument/2006/relationships/font" Target="fonts/cjk1.fntdata"/><Relationship Id="rIdSimRealCJK2" Type="http://schemas.openxmlformats.org/officeDocument/2006/relationships/font" Target="fonts/cjk2.fntdata"/><Relationship Id="rIdSimRealCJK3" Type="http://schemas.openxmlformats.org/officeDocument/2006/relationships/font" Target="fonts/cjk3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" name="Google Shape;3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Google Shape;35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7" name="Google Shape;10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2" name="Google Shape;132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5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3" name="Google Shape;203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7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2" name="Google Shape;272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5" name="Google Shape;305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1" name="Google Shape;341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2" name="Google Shape;342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1" name="Google Shape;381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2" name="Google Shape;382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12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47" name="Google Shape;447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8" name="Google Shape;448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6" name="Google Shape;476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7" name="Google Shape;477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6" name="Google Shape;516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7" name="Google Shape;517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7" name="Google Shape;567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8" name="Google Shape;568;p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17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2.png"/><Relationship Id="rId6" Type="http://schemas.openxmlformats.org/officeDocument/2006/relationships/image" Target="../media/image3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jp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Relationship Id="rId8" Type="http://schemas.openxmlformats.org/officeDocument/2006/relationships/image" Target="../media/image18.png"/><Relationship Id="rId9" Type="http://schemas.openxmlformats.org/officeDocument/2006/relationships/image" Target="../media/image35.png"/><Relationship Id="rId10" Type="http://schemas.openxmlformats.org/officeDocument/2006/relationships/image" Target="../media/image20.png"/><Relationship Id="rId11" Type="http://schemas.openxmlformats.org/officeDocument/2006/relationships/image" Target="../media/image21.png"/><Relationship Id="rId12" Type="http://schemas.openxmlformats.org/officeDocument/2006/relationships/image" Target="../media/image22.png"/><Relationship Id="rId13" Type="http://schemas.openxmlformats.org/officeDocument/2006/relationships/image" Target="../media/image23.png"/><Relationship Id="rId14" Type="http://schemas.openxmlformats.org/officeDocument/2006/relationships/image" Target="../media/image8.png"/><Relationship Id="rId15" Type="http://schemas.openxmlformats.org/officeDocument/2006/relationships/image" Target="../media/image24.png"/><Relationship Id="rId16" Type="http://schemas.openxmlformats.org/officeDocument/2006/relationships/image" Target="../media/image25.png"/><Relationship Id="rId17" Type="http://schemas.openxmlformats.org/officeDocument/2006/relationships/image" Target="../media/image26.png"/><Relationship Id="rId18" Type="http://schemas.openxmlformats.org/officeDocument/2006/relationships/image" Target="../media/image27.png"/><Relationship Id="rId19" Type="http://schemas.openxmlformats.org/officeDocument/2006/relationships/image" Target="../media/image28.png"/><Relationship Id="rId20" Type="http://schemas.openxmlformats.org/officeDocument/2006/relationships/image" Target="../media/image29.png"/><Relationship Id="rId21" Type="http://schemas.openxmlformats.org/officeDocument/2006/relationships/image" Target="../media/image3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3" descr="orbit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80960" y="0"/>
            <a:ext cx="4507992" cy="411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3" descr="SimReal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48640" y="502920"/>
            <a:ext cx="850392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1481328" y="50292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548640" y="1234440"/>
            <a:ext cx="7863840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让AI在真实世界里</a:t>
            </a:r>
          </a:p>
          <a:p>
            <a:pPr marL="0" marR="0" lvl="0" indent="0" algn="l" rtl="0">
              <a:lnSpc>
                <a:spcPct val="105000"/>
              </a:lnSpc>
              <a:spcBef>
                <a:spcPts val="1539"/>
              </a:spcBef>
              <a:spcAft>
                <a:spcPts val="0"/>
              </a:spcAft>
              <a:buNone/>
            </a:pPr>
            <a:r>
              <a:rPr lang="zh-CN" sz="4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自我进化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3127248"/>
            <a:ext cx="841248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强化学习训练环境与AI数据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3749040"/>
            <a:ext cx="877824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05后量化团队，14天上线7款产品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4526280"/>
            <a:ext cx="694944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548640" y="4681728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商业计划书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548640" y="4937760"/>
            <a:ext cx="310896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2026年10月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4206240" y="4681728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联系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4206240" y="4937760"/>
            <a:ext cx="310896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business@simreal.co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548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4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问题与时机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市场与商业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竞争与战略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概述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给AI实验室做专业领域的强化学习训练环境，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从交易做起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700784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548640" y="1828800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团队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548640" y="2084832"/>
            <a:ext cx="348386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05后量化团队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548640" y="2743200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剑桥、LSE、杜克数学</a:t>
            </a:r>
          </a:p>
          <a:p>
            <a:pPr marL="0" marR="0" lvl="0" indent="0" algn="l" rtl="0">
              <a:lnSpc>
                <a:spcPct val="114999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Jane Street、Citadel等量化机构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4352544" y="1700784"/>
            <a:ext cx="3483864" cy="1828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4352544" y="1828800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速度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4352544" y="2084832"/>
            <a:ext cx="348386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14天7款产品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4352544" y="2743200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零外部融资</a:t>
            </a:r>
          </a:p>
          <a:p>
            <a:pPr marL="0" marR="0" lvl="0" indent="0" algn="l" rtl="0">
              <a:lnSpc>
                <a:spcPct val="114999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5个公开仓库，512星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8156448" y="1700784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8156448" y="1828800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结果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8156448" y="2084832"/>
            <a:ext cx="348386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+12%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8156448" y="2743200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Qwen3.8-27B在Xitadel训练后</a:t>
            </a:r>
          </a:p>
          <a:p>
            <a:pPr marL="0" marR="0" lvl="0" indent="0" algn="l" rtl="0">
              <a:lnSpc>
                <a:spcPct val="114999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未见过的交易日上最高提升12%，多次独立复现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548640" y="3712464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548640" y="3840480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做什么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548640" y="4096512"/>
            <a:ext cx="348386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训练环境与数据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548640" y="4754880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卖RL环境、专家数据和Agent数据</a:t>
            </a:r>
          </a:p>
          <a:p>
            <a:pPr marL="0" marR="0" lvl="0" indent="0" algn="l" rtl="0">
              <a:lnSpc>
                <a:spcPct val="114999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交易、AI研究、事件预测已上线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4352544" y="3712464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4352544" y="3840480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市场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4352544" y="4096512"/>
            <a:ext cx="348386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85亿美元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4352544" y="4754880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训练数据与RL环境供应商年收入估算</a:t>
            </a:r>
          </a:p>
          <a:p>
            <a:pPr marL="0" marR="0" lvl="0" indent="0" algn="l" rtl="0">
              <a:lnSpc>
                <a:spcPct val="114999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Mercor年化毛营收16个月涨27倍</a:t>
            </a:r>
          </a:p>
        </p:txBody>
      </p:sp>
      <p:sp>
        <p:nvSpPr>
          <p:cNvPr id="5025" name="SimReal 5025"/>
          <p:cNvSpPr/>
          <p:nvPr/>
        </p:nvSpPr>
        <p:spPr>
          <a:xfrm>
            <a:off x="8156448" y="3712464"/>
            <a:ext cx="3483864" cy="1828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6" name="SimReal 5026"/>
          <p:cNvSpPr txBox="1"/>
          <p:nvPr/>
        </p:nvSpPr>
        <p:spPr>
          <a:xfrm>
            <a:off x="8156448" y="3840480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下一步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8156448" y="4096512"/>
            <a:ext cx="348386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个人Agent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8156448" y="4754880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练习场开发中</a:t>
            </a:r>
          </a:p>
          <a:p>
            <a:pPr marL="0" marR="0" lvl="0" indent="0" algn="l" rtl="0">
              <a:lnSpc>
                <a:spcPct val="114999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今天2家前沿实验室在谈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5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5" descr="jane-street-color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78974" y="1661532"/>
            <a:ext cx="757666" cy="297959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5" descr="citadel-color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254041" y="1719789"/>
            <a:ext cx="1244200" cy="181446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5" descr="millennium-color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503221" y="1715056"/>
            <a:ext cx="1182510" cy="190911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5" descr="optiver-color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828759" y="1693915"/>
            <a:ext cx="968102" cy="233193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5" descr="cambridge-ink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0216170" y="1530535"/>
            <a:ext cx="629948" cy="559953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问题与时机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市场与商业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竞争与战略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团队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三位05后创始人，都在量化机构工作或实习过，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懂交易台怎么计分，放弃转正offer全职做衍真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2212848"/>
            <a:ext cx="3514344" cy="384048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22960" y="2377440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Charles</a:t>
            </a: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   CEO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22960" y="2962656"/>
            <a:ext cx="2965704" cy="2194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United Stables首位员工：U稳定币</a:t>
            </a:r>
            <a:br>
              <a:rPr lang="zh-CN" sz="1100"/>
            </a:b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一年从0到14亿美元，一个月上线Binance</a:t>
            </a:r>
          </a:p>
          <a:p>
            <a:pPr marL="0" marR="0" lvl="0" indent="0" algn="l" rtl="0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负责机构关系，参与SIG、DRW等合作</a:t>
            </a:r>
          </a:p>
          <a:p>
            <a:pPr marL="0" marR="0" lvl="0" indent="0" algn="l" rtl="0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汇丰港元稳定币项目唯一实习生，</a:t>
            </a:r>
            <a:br>
              <a:rPr lang="zh-CN" sz="1100"/>
            </a:b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参与HKMA合规</a:t>
            </a:r>
          </a:p>
          <a:p>
            <a:pPr marL="0" marR="0" lvl="0" indent="0" algn="l" rtl="0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伦敦Citadel对冲基金实习</a:t>
            </a:r>
          </a:p>
          <a:p>
            <a:pPr marL="0" marR="0" lvl="0" indent="0" algn="l" rtl="0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X博主，内容数百万浏览</a:t>
            </a:r>
          </a:p>
        </p:txBody>
      </p:sp>
      <p:sp>
        <p:nvSpPr>
          <p:cNvPr id="5008" name="SimReal 5008"/>
          <p:cNvSpPr/>
          <p:nvPr/>
        </p:nvSpPr>
        <p:spPr>
          <a:xfrm>
            <a:off x="822960" y="5230368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9" name="SimReal 5009"/>
          <p:cNvSpPr txBox="1"/>
          <p:nvPr/>
        </p:nvSpPr>
        <p:spPr>
          <a:xfrm>
            <a:off x="822960" y="5321808"/>
            <a:ext cx="2965704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2005年生 · LSE数学 · 深国交</a:t>
            </a:r>
          </a:p>
          <a:p>
            <a:pPr marL="0" marR="0" lvl="0" indent="0" algn="l" rtl="0">
              <a:lnSpc>
                <a:spcPct val="114999"/>
              </a:lnSpc>
              <a:spcBef>
                <a:spcPts val="15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美国数学奥林匹克（USAMO）入围</a:t>
            </a:r>
          </a:p>
        </p:txBody>
      </p:sp>
      <p:sp>
        <p:nvSpPr>
          <p:cNvPr id="5010" name="SimReal 5010"/>
          <p:cNvSpPr/>
          <p:nvPr/>
        </p:nvSpPr>
        <p:spPr>
          <a:xfrm>
            <a:off x="4337304" y="2212848"/>
            <a:ext cx="3514344" cy="384048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1" name="SimReal 5011"/>
          <p:cNvSpPr txBox="1"/>
          <p:nvPr/>
        </p:nvSpPr>
        <p:spPr>
          <a:xfrm>
            <a:off x="4611624" y="2377440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Henry</a:t>
            </a: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   CTO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4611624" y="2962656"/>
            <a:ext cx="2965704" cy="2194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剑桥机器学习暑研，导师Po-Ling Loh</a:t>
            </a:r>
            <a:br>
              <a:rPr lang="zh-CN" sz="1100"/>
            </a:b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（国际数理统计学会会士）</a:t>
            </a:r>
          </a:p>
          <a:p>
            <a:pPr marL="0" marR="0" lvl="0" indent="0" algn="l" rtl="0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剑桥研究中心最年轻的本科AI研究员</a:t>
            </a:r>
          </a:p>
          <a:p>
            <a:pPr marL="0" marR="0" lvl="0" indent="0" algn="l" rtl="0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Jane Street、Citadel、Optiver量化经历</a:t>
            </a:r>
          </a:p>
          <a:p>
            <a:pPr marL="0" marR="0" lvl="0" indent="0" algn="l" rtl="0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设计了5个基准和RL环境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4611624" y="5230368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4611624" y="5321808"/>
            <a:ext cx="2965704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2005年生 · 剑桥数学一等荣誉（奖学金）· 深国交</a:t>
            </a:r>
          </a:p>
          <a:p>
            <a:pPr marL="0" marR="0" lvl="0" indent="0" algn="l" rtl="0">
              <a:lnSpc>
                <a:spcPct val="114999"/>
              </a:lnSpc>
              <a:spcBef>
                <a:spcPts val="15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剑桥数学竞赛全球前30 · 英国物理竞赛超级金奖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8125968" y="2212848"/>
            <a:ext cx="3514344" cy="384048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8400288" y="2377440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Amaris</a:t>
            </a: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   COO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8400288" y="2962656"/>
            <a:ext cx="2965704" cy="2194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Millennium香港数据科学家</a:t>
            </a:r>
          </a:p>
          <a:p>
            <a:pPr marL="0" marR="0" lvl="0" indent="0" algn="l" rtl="0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Millennium另类数据团队首位应届招聘</a:t>
            </a:r>
          </a:p>
          <a:p>
            <a:pPr marL="0" marR="0" lvl="0" indent="0" algn="l" rtl="0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参与筹办Plug and Play香港首场活动</a:t>
            </a:r>
            <a:br>
              <a:rPr lang="zh-CN" sz="1100"/>
            </a:b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（联合香港科技园，200+人）</a:t>
            </a:r>
          </a:p>
          <a:p>
            <a:pPr marL="0" marR="0" lvl="0" indent="0" algn="l" rtl="0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强生MedTech科技峰会主持人（200+人）</a:t>
            </a:r>
          </a:p>
          <a:p>
            <a:pPr marL="0" marR="0" lvl="0" indent="0" algn="l" rtl="0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17岁出版作家，原创内容10万+互动</a:t>
            </a:r>
          </a:p>
        </p:txBody>
      </p:sp>
      <p:sp>
        <p:nvSpPr>
          <p:cNvPr id="5018" name="SimReal 5018"/>
          <p:cNvSpPr/>
          <p:nvPr/>
        </p:nvSpPr>
        <p:spPr>
          <a:xfrm>
            <a:off x="8400288" y="5230368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9" name="SimReal 5019"/>
          <p:cNvSpPr txBox="1"/>
          <p:nvPr/>
        </p:nvSpPr>
        <p:spPr>
          <a:xfrm>
            <a:off x="8400288" y="5321808"/>
            <a:ext cx="2965704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2005年生 · 杜克数学与统计 · 上海包玉刚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6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07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问题与时机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市场与商业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竞争与战略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为什么是现在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实验室开始花钱买训练环境，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专业领域供给不足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3514344" cy="30175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22960" y="177393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01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22960" y="2011680"/>
            <a:ext cx="296570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训练方式变了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822960" y="2578608"/>
            <a:ext cx="2965704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推理模型靠可自动验证的结果做强化学习</a:t>
            </a:r>
          </a:p>
          <a:p>
            <a:pPr marL="0" marR="0" lvl="0" indent="0" algn="l" rtl="0">
              <a:lnSpc>
                <a:spcPct val="114999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公开人类文本预计2026–2032年用尽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822960" y="3767328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822960" y="3877056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 </a:t>
            </a: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能自动打分的环境成了稀缺品</a:t>
            </a:r>
          </a:p>
        </p:txBody>
      </p:sp>
      <p:sp>
        <p:nvSpPr>
          <p:cNvPr id="5011" name="SimReal 5011"/>
          <p:cNvSpPr/>
          <p:nvPr/>
        </p:nvSpPr>
        <p:spPr>
          <a:xfrm>
            <a:off x="4337304" y="1572768"/>
            <a:ext cx="3514344" cy="30175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2" name="SimReal 5012"/>
          <p:cNvSpPr txBox="1"/>
          <p:nvPr/>
        </p:nvSpPr>
        <p:spPr>
          <a:xfrm>
            <a:off x="4611624" y="177393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4611624" y="2011680"/>
            <a:ext cx="296570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钱已经在花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4611624" y="2578608"/>
            <a:ext cx="2965704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每个RL任务200–2,000美元</a:t>
            </a:r>
          </a:p>
          <a:p>
            <a:pPr marL="0" marR="0" lvl="0" indent="0" algn="l" rtl="0">
              <a:lnSpc>
                <a:spcPct val="114999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环境合同每季度六到七位数美元</a:t>
            </a:r>
          </a:p>
          <a:p>
            <a:pPr marL="0" marR="0" lvl="0" indent="0" algn="l" rtl="0">
              <a:lnSpc>
                <a:spcPct val="114999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Mercor收购环境公司Deeptune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4611624" y="3767328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4611624" y="3877056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 </a:t>
            </a: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环境成了实验室的采购项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8125968" y="1572768"/>
            <a:ext cx="3514344" cy="30175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8400288" y="177393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8400288" y="2011680"/>
            <a:ext cx="296570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个人Agent上线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8400288" y="2578608"/>
            <a:ext cx="2965704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Meta Muse、OpenAI Dots</a:t>
            </a:r>
          </a:p>
          <a:p>
            <a:pPr marL="0" marR="0" lvl="0" indent="0" algn="l" rtl="0">
              <a:lnSpc>
                <a:spcPct val="114999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2026年9月上线，开始替人做事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8400288" y="3767328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8400288" y="3877056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 </a:t>
            </a: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下一批客户出现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548640" y="4828032"/>
            <a:ext cx="11091672" cy="65836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777240" y="4828032"/>
            <a:ext cx="118872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E27A3F"/>
                </a:solidFill>
                <a:latin typeface="Newsreader"/>
                <a:ea typeface="Noto Serif CJK SC"/>
                <a:cs typeface="Newsreader"/>
                <a:sym typeface="Newsreader"/>
              </a:rPr>
              <a:t>窗口期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2011680" y="4828032"/>
            <a:ext cx="9400032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C4C0B7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约20家早期RL环境公司，预计收敛到3–5家（Wing VC）。</a:t>
            </a:r>
            <a:r>
              <a:rPr lang="zh-CN" sz="1250" b="1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我们从交易切入，对错可以自动验证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548640" y="576072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来源：Epoch AI（公开文本存量预测；《An FAQ on RL environments》，2026年1月）；SiliconANGLE、TechCrunch（2026年7月）；Meta、OpenAI发布（2026年9月）；Wing VC（2026年）。Muse、Dots为行业示例，不是衍真客户。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7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06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问题与时机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市场与商业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竞争与战略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问题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模型会推理，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做不好真实世界里的事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6720840" y="1682496"/>
            <a:ext cx="4919472" cy="27432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2194560" y="1719072"/>
            <a:ext cx="36576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看起来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6949440" y="1719072"/>
            <a:ext cx="36576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实际</a:t>
            </a:r>
          </a:p>
        </p:txBody>
      </p:sp>
      <p:sp>
        <p:nvSpPr>
          <p:cNvPr id="5008" name="SimReal 5008"/>
          <p:cNvSpPr/>
          <p:nvPr/>
        </p:nvSpPr>
        <p:spPr>
          <a:xfrm>
            <a:off x="548640" y="2011680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9" name="SimReal 5009"/>
          <p:cNvSpPr txBox="1"/>
          <p:nvPr/>
        </p:nvSpPr>
        <p:spPr>
          <a:xfrm>
            <a:off x="548640" y="2011680"/>
            <a:ext cx="155448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交易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2194560" y="2011680"/>
            <a:ext cx="40233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回测一路上涨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6217920" y="2011680"/>
            <a:ext cx="4572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6949440" y="2011680"/>
            <a:ext cx="45720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没见过的行情里亏钱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548640" y="2615184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548640" y="2615184"/>
            <a:ext cx="155448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软件工程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2194560" y="2615184"/>
            <a:ext cx="40233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测试全部通过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6217920" y="2615184"/>
            <a:ext cx="4572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6949440" y="2615184"/>
            <a:ext cx="45720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上线出错</a:t>
            </a:r>
          </a:p>
        </p:txBody>
      </p:sp>
      <p:sp>
        <p:nvSpPr>
          <p:cNvPr id="5018" name="SimReal 5018"/>
          <p:cNvSpPr/>
          <p:nvPr/>
        </p:nvSpPr>
        <p:spPr>
          <a:xfrm>
            <a:off x="548640" y="3218688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9" name="SimReal 5019"/>
          <p:cNvSpPr txBox="1"/>
          <p:nvPr/>
        </p:nvSpPr>
        <p:spPr>
          <a:xfrm>
            <a:off x="548640" y="3218688"/>
            <a:ext cx="155448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财务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2194560" y="3218688"/>
            <a:ext cx="40233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账看着做完了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6217920" y="3218688"/>
            <a:ext cx="4572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6949440" y="3218688"/>
            <a:ext cx="45720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月结对不平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548640" y="3822192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548640" y="3822192"/>
            <a:ext cx="155448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事件预测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2194560" y="3822192"/>
            <a:ext cx="40233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分析头头是道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6217920" y="3822192"/>
            <a:ext cx="4572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6949440" y="3822192"/>
            <a:ext cx="45720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结果押错</a:t>
            </a:r>
          </a:p>
        </p:txBody>
      </p:sp>
      <p:sp>
        <p:nvSpPr>
          <p:cNvPr id="5028" name="SimReal 5028"/>
          <p:cNvSpPr/>
          <p:nvPr/>
        </p:nvSpPr>
        <p:spPr>
          <a:xfrm>
            <a:off x="548640" y="4425696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9" name="SimReal 5029"/>
          <p:cNvSpPr txBox="1"/>
          <p:nvPr/>
        </p:nvSpPr>
        <p:spPr>
          <a:xfrm>
            <a:off x="548640" y="4572000"/>
            <a:ext cx="16459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6/32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2240280" y="457200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前沿模型真钱交易32轮，6轮赚钱（Alpha Arena）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548640" y="5394960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缺少</a:t>
            </a:r>
            <a:r>
              <a:rPr lang="zh-CN" sz="20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按真实结果打分的训练环境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237;p9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08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问题与时机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市场与商业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竞争与战略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方案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按任务结果训练，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在没见过的任务上验收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2498598" cy="123444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777240" y="1700784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01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777240" y="1901952"/>
            <a:ext cx="204139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1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接入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777240" y="2359152"/>
            <a:ext cx="2041398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客户已有的模型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和工具调用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3047238" y="1572768"/>
            <a:ext cx="365760" cy="123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0" name="SimReal 5010"/>
          <p:cNvSpPr/>
          <p:nvPr/>
        </p:nvSpPr>
        <p:spPr>
          <a:xfrm>
            <a:off x="3412998" y="1572768"/>
            <a:ext cx="2498598" cy="123444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1" name="SimReal 5011"/>
          <p:cNvSpPr txBox="1"/>
          <p:nvPr/>
        </p:nvSpPr>
        <p:spPr>
          <a:xfrm>
            <a:off x="3641598" y="1700784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3641598" y="1901952"/>
            <a:ext cx="204139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1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适配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3641598" y="2359152"/>
            <a:ext cx="2041398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监督微调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人类反馈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5911596" y="1572768"/>
            <a:ext cx="365760" cy="123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6277356" y="1572768"/>
            <a:ext cx="2498598" cy="123444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6505956" y="1700784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FAF9F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6505956" y="1901952"/>
            <a:ext cx="204139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100" b="0" i="0" u="none" strike="noStrike" cap="none">
                <a:solidFill>
                  <a:srgbClr val="FAF9F6"/>
                </a:solidFill>
                <a:latin typeface="Newsreader"/>
                <a:ea typeface="Noto Serif CJK SC"/>
                <a:cs typeface="Newsreader"/>
                <a:sym typeface="Newsreader"/>
              </a:rPr>
              <a:t>训练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6505956" y="2359152"/>
            <a:ext cx="2041398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按结果给奖励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强化学习更新模型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8775954" y="1572768"/>
            <a:ext cx="365760" cy="123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0" name="SimReal 5020"/>
          <p:cNvSpPr/>
          <p:nvPr/>
        </p:nvSpPr>
        <p:spPr>
          <a:xfrm>
            <a:off x="9141714" y="1572768"/>
            <a:ext cx="2498598" cy="123444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1" name="SimReal 5021"/>
          <p:cNvSpPr txBox="1"/>
          <p:nvPr/>
        </p:nvSpPr>
        <p:spPr>
          <a:xfrm>
            <a:off x="9370314" y="1700784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04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9370314" y="1901952"/>
            <a:ext cx="204139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1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验收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9370314" y="2359152"/>
            <a:ext cx="2041398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没见过的任务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达标才交付</a:t>
            </a:r>
          </a:p>
        </p:txBody>
      </p:sp>
      <p:sp>
        <p:nvSpPr>
          <p:cNvPr id="5024" name="SimReal 5024"/>
          <p:cNvSpPr/>
          <p:nvPr/>
        </p:nvSpPr>
        <p:spPr>
          <a:xfrm>
            <a:off x="7526655" y="2807208"/>
            <a:ext cx="10973" cy="274320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5" name="SimReal 5025"/>
          <p:cNvSpPr txBox="1"/>
          <p:nvPr/>
        </p:nvSpPr>
        <p:spPr>
          <a:xfrm>
            <a:off x="7599807" y="2825496"/>
            <a:ext cx="237744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训练暴露的薄弱任务</a:t>
            </a:r>
          </a:p>
        </p:txBody>
      </p:sp>
      <p:sp>
        <p:nvSpPr>
          <p:cNvPr id="5026" name="SimReal 5026"/>
          <p:cNvSpPr/>
          <p:nvPr/>
        </p:nvSpPr>
        <p:spPr>
          <a:xfrm>
            <a:off x="548640" y="3127248"/>
            <a:ext cx="11091672" cy="11430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7" name="SimReal 5027"/>
          <p:cNvSpPr txBox="1"/>
          <p:nvPr/>
        </p:nvSpPr>
        <p:spPr>
          <a:xfrm>
            <a:off x="777240" y="3273552"/>
            <a:ext cx="36576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自动出题 · 研发中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777240" y="3547872"/>
            <a:ext cx="2384298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找弱点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777240" y="3877056"/>
            <a:ext cx="2384298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分析训练失败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3161538" y="3547872"/>
            <a:ext cx="36576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3527298" y="3547872"/>
            <a:ext cx="2384298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出新题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3527298" y="3877056"/>
            <a:ext cx="2384298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智能体生成或挑选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5911596" y="3547872"/>
            <a:ext cx="36576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6277356" y="3547872"/>
            <a:ext cx="2384298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校验</a:t>
            </a:r>
          </a:p>
        </p:txBody>
      </p:sp>
      <p:sp>
        <p:nvSpPr>
          <p:cNvPr id="5035" name="SimReal 5035"/>
          <p:cNvSpPr txBox="1"/>
          <p:nvPr/>
        </p:nvSpPr>
        <p:spPr>
          <a:xfrm>
            <a:off x="6277356" y="3877056"/>
            <a:ext cx="2384298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规则、执行器、专家</a:t>
            </a:r>
          </a:p>
        </p:txBody>
      </p:sp>
      <p:sp>
        <p:nvSpPr>
          <p:cNvPr id="5036" name="SimReal 5036"/>
          <p:cNvSpPr txBox="1"/>
          <p:nvPr/>
        </p:nvSpPr>
        <p:spPr>
          <a:xfrm>
            <a:off x="8661654" y="3547872"/>
            <a:ext cx="36576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37" name="SimReal 5037"/>
          <p:cNvSpPr txBox="1"/>
          <p:nvPr/>
        </p:nvSpPr>
        <p:spPr>
          <a:xfrm>
            <a:off x="9027414" y="3547872"/>
            <a:ext cx="2384298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回到训练</a:t>
            </a:r>
          </a:p>
        </p:txBody>
      </p:sp>
      <p:sp>
        <p:nvSpPr>
          <p:cNvPr id="5038" name="SimReal 5038"/>
          <p:cNvSpPr txBox="1"/>
          <p:nvPr/>
        </p:nvSpPr>
        <p:spPr>
          <a:xfrm>
            <a:off x="9027414" y="3877056"/>
            <a:ext cx="2384298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通过校验进入下一轮</a:t>
            </a:r>
          </a:p>
        </p:txBody>
      </p:sp>
      <p:sp>
        <p:nvSpPr>
          <p:cNvPr id="5039" name="SimReal 5039"/>
          <p:cNvSpPr txBox="1"/>
          <p:nvPr/>
        </p:nvSpPr>
        <p:spPr>
          <a:xfrm>
            <a:off x="548640" y="4370832"/>
            <a:ext cx="11091672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验收任务不参与训练和出题</a:t>
            </a:r>
          </a:p>
        </p:txBody>
      </p:sp>
      <p:sp>
        <p:nvSpPr>
          <p:cNvPr id="5040" name="SimReal 5040"/>
          <p:cNvSpPr/>
          <p:nvPr/>
        </p:nvSpPr>
        <p:spPr>
          <a:xfrm>
            <a:off x="548640" y="4754880"/>
            <a:ext cx="11091672" cy="60350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1" name="SimReal 5041"/>
          <p:cNvSpPr txBox="1"/>
          <p:nvPr/>
        </p:nvSpPr>
        <p:spPr>
          <a:xfrm>
            <a:off x="777240" y="4754880"/>
            <a:ext cx="201168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E27A3F"/>
                </a:solidFill>
                <a:latin typeface="Newsreader"/>
                <a:ea typeface="Noto Serif CJK SC"/>
                <a:cs typeface="Newsreader"/>
                <a:sym typeface="Newsreader"/>
              </a:rPr>
              <a:t>交付物</a:t>
            </a:r>
          </a:p>
        </p:txBody>
      </p:sp>
      <p:sp>
        <p:nvSpPr>
          <p:cNvPr id="5042" name="SimReal 5042"/>
          <p:cNvSpPr txBox="1"/>
          <p:nvPr/>
        </p:nvSpPr>
        <p:spPr>
          <a:xfrm>
            <a:off x="2743200" y="4754880"/>
            <a:ext cx="8714232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FAF9F6"/>
                </a:solidFill>
                <a:latin typeface="Newsreader"/>
                <a:ea typeface="Noto Serif CJK SC"/>
                <a:cs typeface="Newsreader"/>
                <a:sym typeface="Newsreader"/>
              </a:rPr>
              <a:t>训练环境  ·  专业数据  ·  评分工具  ·  评测报告</a:t>
            </a:r>
          </a:p>
        </p:txBody>
      </p:sp>
      <p:sp>
        <p:nvSpPr>
          <p:cNvPr id="5043" name="SimReal 5043"/>
          <p:cNvSpPr txBox="1"/>
          <p:nvPr/>
        </p:nvSpPr>
        <p:spPr>
          <a:xfrm>
            <a:off x="548640" y="566928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参考：InstructGPT（arXiv 2203.02155）；DeepSeek-R1（arXiv 2501.12948）；Absolute Zero（arXiv 2505.03335）。</a:t>
            </a:r>
          </a:p>
        </p:txBody>
      </p:sp>
      <p:sp>
        <p:nvSpPr>
          <p:cNvPr id="5044" name="SimReal 5044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45" name="SimReal 5045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46" name="SimReal 5046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0" name="Google Shape;300;p11" descr="SimReal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Picture 300" descr="repos-2026-10-0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1572768"/>
            <a:ext cx="5120640" cy="2452457"/>
          </a:xfrm>
          <a:prstGeom prst="rect">
            <a:avLst/>
          </a:prstGeom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09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问题与时机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市场与商业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竞争与战略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产品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5个基准已开源，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评测环境直接用于训练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989320" y="1572768"/>
            <a:ext cx="565099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5989320" y="1609344"/>
            <a:ext cx="56692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5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SimReal-MLBench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5989320" y="1828800"/>
            <a:ext cx="566928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60个真实竞赛任务，测机器学习研究能力</a:t>
            </a:r>
          </a:p>
        </p:txBody>
      </p:sp>
      <p:sp>
        <p:nvSpPr>
          <p:cNvPr id="5008" name="SimReal 5008"/>
          <p:cNvSpPr/>
          <p:nvPr/>
        </p:nvSpPr>
        <p:spPr>
          <a:xfrm>
            <a:off x="5989320" y="2066544"/>
            <a:ext cx="565099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9" name="SimReal 5009"/>
          <p:cNvSpPr txBox="1"/>
          <p:nvPr/>
        </p:nvSpPr>
        <p:spPr>
          <a:xfrm>
            <a:off x="5989320" y="2103120"/>
            <a:ext cx="56692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5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Xitadel-QuantBench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5989320" y="2322576"/>
            <a:ext cx="566928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回放订单簿，和同资产上的专业交易员比；保留轨迹</a:t>
            </a:r>
          </a:p>
        </p:txBody>
      </p:sp>
      <p:sp>
        <p:nvSpPr>
          <p:cNvPr id="5011" name="SimReal 5011"/>
          <p:cNvSpPr/>
          <p:nvPr/>
        </p:nvSpPr>
        <p:spPr>
          <a:xfrm>
            <a:off x="5989320" y="2560320"/>
            <a:ext cx="565099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2" name="SimReal 5012"/>
          <p:cNvSpPr txBox="1"/>
          <p:nvPr/>
        </p:nvSpPr>
        <p:spPr>
          <a:xfrm>
            <a:off x="5989320" y="2596896"/>
            <a:ext cx="56692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5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MathmoBench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5989320" y="2816352"/>
            <a:ext cx="566928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高阶数学题，测推理和解题</a:t>
            </a:r>
          </a:p>
        </p:txBody>
      </p:sp>
      <p:sp>
        <p:nvSpPr>
          <p:cNvPr id="5014" name="SimReal 5014"/>
          <p:cNvSpPr/>
          <p:nvPr/>
        </p:nvSpPr>
        <p:spPr>
          <a:xfrm>
            <a:off x="5989320" y="3054096"/>
            <a:ext cx="565099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5" name="SimReal 5015"/>
          <p:cNvSpPr txBox="1"/>
          <p:nvPr/>
        </p:nvSpPr>
        <p:spPr>
          <a:xfrm>
            <a:off x="5989320" y="3090672"/>
            <a:ext cx="56692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5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Puzzle Benchmark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5989320" y="3310128"/>
            <a:ext cx="566928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749道人工推理题，15类主题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5989320" y="3547872"/>
            <a:ext cx="565099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5989320" y="3584448"/>
            <a:ext cx="56692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5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FuturePredict Bench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5989320" y="3803904"/>
            <a:ext cx="566928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截止前锁定概率和证据，按真实结局打分</a:t>
            </a:r>
          </a:p>
        </p:txBody>
      </p:sp>
      <p:sp>
        <p:nvSpPr>
          <p:cNvPr id="5020" name="SimReal 5020"/>
          <p:cNvSpPr/>
          <p:nvPr/>
        </p:nvSpPr>
        <p:spPr>
          <a:xfrm>
            <a:off x="5989320" y="4041648"/>
            <a:ext cx="565099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1" name="SimReal 5021"/>
          <p:cNvSpPr txBox="1"/>
          <p:nvPr/>
        </p:nvSpPr>
        <p:spPr>
          <a:xfrm>
            <a:off x="548640" y="4370832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训练基础设施</a:t>
            </a:r>
          </a:p>
        </p:txBody>
      </p:sp>
      <p:sp>
        <p:nvSpPr>
          <p:cNvPr id="5022" name="SimReal 5022"/>
          <p:cNvSpPr/>
          <p:nvPr/>
        </p:nvSpPr>
        <p:spPr>
          <a:xfrm>
            <a:off x="548640" y="4645152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3" name="SimReal 5023"/>
          <p:cNvSpPr txBox="1"/>
          <p:nvPr/>
        </p:nvSpPr>
        <p:spPr>
          <a:xfrm>
            <a:off x="548640" y="4718304"/>
            <a:ext cx="14173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2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1/4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2011680" y="4718304"/>
            <a:ext cx="2020824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单轮耗时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microVM隔离</a:t>
            </a:r>
          </a:p>
        </p:txBody>
      </p:sp>
      <p:sp>
        <p:nvSpPr>
          <p:cNvPr id="5025" name="SimReal 5025"/>
          <p:cNvSpPr/>
          <p:nvPr/>
        </p:nvSpPr>
        <p:spPr>
          <a:xfrm>
            <a:off x="4352544" y="4645152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6" name="SimReal 5026"/>
          <p:cNvSpPr txBox="1"/>
          <p:nvPr/>
        </p:nvSpPr>
        <p:spPr>
          <a:xfrm>
            <a:off x="4352544" y="4718304"/>
            <a:ext cx="14173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2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+64%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5815584" y="4718304"/>
            <a:ext cx="2020824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同等资源的已评分尝试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任务资源分配</a:t>
            </a:r>
          </a:p>
        </p:txBody>
      </p:sp>
      <p:sp>
        <p:nvSpPr>
          <p:cNvPr id="5028" name="SimReal 5028"/>
          <p:cNvSpPr/>
          <p:nvPr/>
        </p:nvSpPr>
        <p:spPr>
          <a:xfrm>
            <a:off x="8156448" y="4645152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9" name="SimReal 5029"/>
          <p:cNvSpPr txBox="1"/>
          <p:nvPr/>
        </p:nvSpPr>
        <p:spPr>
          <a:xfrm>
            <a:off x="8156448" y="4718304"/>
            <a:ext cx="14173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2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−1/3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9619488" y="4718304"/>
            <a:ext cx="2020824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存档耗时，存档次数减半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智能存档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548640" y="576072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公开仓库截至2026年10月2日。三项指标为公司内部测试，比较口径不同，不能相乘或相加。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6" name="Google Shape;336;p12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04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问题与时机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市场与商业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竞争与战略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速度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零外部融资，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14天上线7款产品，覆盖7个领域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3483864" cy="1828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548640" y="1682496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速度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548640" y="1901952"/>
            <a:ext cx="3483864" cy="694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0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14天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548640" y="2633472"/>
            <a:ext cx="348386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上线7款产品，覆盖7个领域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548640" y="2944368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 </a:t>
            </a:r>
            <a:r>
              <a:rPr lang="zh-CN" sz="11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5个开源，2个非公开</a:t>
            </a:r>
          </a:p>
        </p:txBody>
      </p:sp>
      <p:sp>
        <p:nvSpPr>
          <p:cNvPr id="5010" name="SimReal 5010"/>
          <p:cNvSpPr/>
          <p:nvPr/>
        </p:nvSpPr>
        <p:spPr>
          <a:xfrm>
            <a:off x="4352544" y="1572768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1" name="SimReal 5011"/>
          <p:cNvSpPr txBox="1"/>
          <p:nvPr/>
        </p:nvSpPr>
        <p:spPr>
          <a:xfrm>
            <a:off x="4352544" y="1682496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加速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4352544" y="1901952"/>
            <a:ext cx="3483864" cy="694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1/4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4352544" y="2633472"/>
            <a:ext cx="348386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训练单轮耗时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4352544" y="2944368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 </a:t>
            </a:r>
            <a:r>
              <a:rPr lang="zh-CN" sz="11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内部测试，同样算力跑更多训练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8156448" y="1572768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8156448" y="1682496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专家储备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8156448" y="1901952"/>
            <a:ext cx="3483864" cy="694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7,000+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8156448" y="2633472"/>
            <a:ext cx="348386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已报名专家候补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8156448" y="2944368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 </a:t>
            </a:r>
            <a:r>
              <a:rPr lang="zh-CN" sz="11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已报名，按领域分批考核</a:t>
            </a:r>
          </a:p>
        </p:txBody>
      </p:sp>
      <p:sp>
        <p:nvSpPr>
          <p:cNvPr id="5020" name="SimReal 5020"/>
          <p:cNvSpPr/>
          <p:nvPr/>
        </p:nvSpPr>
        <p:spPr>
          <a:xfrm>
            <a:off x="548640" y="3493008"/>
            <a:ext cx="11091672" cy="84124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1" name="SimReal 5021"/>
          <p:cNvSpPr txBox="1"/>
          <p:nvPr/>
        </p:nvSpPr>
        <p:spPr>
          <a:xfrm>
            <a:off x="777240" y="3493008"/>
            <a:ext cx="3331464" cy="841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自有构建工具</a:t>
            </a:r>
          </a:p>
          <a:p>
            <a:pPr marL="0" marR="0" lvl="0" indent="0" algn="l" rtl="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环境自建，任务库和评分器随交付积累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4428744" y="3493008"/>
            <a:ext cx="3331464" cy="841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训练基础设施</a:t>
            </a:r>
          </a:p>
          <a:p>
            <a:pPr marL="0" marR="0" lvl="0" indent="0" algn="l" rtl="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同等资源已评分尝试+64%，内部测试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8080248" y="3493008"/>
            <a:ext cx="3331464" cy="841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验收后交付</a:t>
            </a:r>
          </a:p>
          <a:p>
            <a:pPr marL="0" marR="0" lvl="0" indent="0" algn="l" rtl="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没见过的任务上验收，达标才交</a:t>
            </a:r>
          </a:p>
        </p:txBody>
      </p:sp>
      <p:sp>
        <p:nvSpPr>
          <p:cNvPr id="5024" name="SimReal 5024"/>
          <p:cNvSpPr/>
          <p:nvPr/>
        </p:nvSpPr>
        <p:spPr>
          <a:xfrm>
            <a:off x="548640" y="4553712"/>
            <a:ext cx="11091672" cy="1078992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5" name="SimReal 5025"/>
          <p:cNvSpPr txBox="1"/>
          <p:nvPr/>
        </p:nvSpPr>
        <p:spPr>
          <a:xfrm>
            <a:off x="777240" y="4553712"/>
            <a:ext cx="1828800" cy="1078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E27A3F"/>
                </a:solidFill>
                <a:latin typeface="Newsreader"/>
                <a:ea typeface="Noto Serif CJK SC"/>
                <a:cs typeface="Newsreader"/>
                <a:sym typeface="Newsreader"/>
              </a:rPr>
              <a:t>融资后先做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2743200" y="4718304"/>
            <a:ext cx="270662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E27A3F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专家数据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2743200" y="4956048"/>
            <a:ext cx="270662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50" b="0" i="0" u="none" strike="noStrike" cap="none">
                <a:solidFill>
                  <a:srgbClr val="FAF9F6"/>
                </a:solidFill>
                <a:latin typeface="Newsreader"/>
                <a:ea typeface="Noto Serif CJK SC"/>
                <a:cs typeface="Newsreader"/>
                <a:sym typeface="Newsreader"/>
              </a:rPr>
              <a:t>候补分批认证，先建交易专家池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5724144" y="4718304"/>
            <a:ext cx="270662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E27A3F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RL环境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5724144" y="4956048"/>
            <a:ext cx="270662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50" b="0" i="0" u="none" strike="noStrike" cap="none">
                <a:solidFill>
                  <a:srgbClr val="FAF9F6"/>
                </a:solidFill>
                <a:latin typeface="Newsreader"/>
                <a:ea typeface="Noto Serif CJK SC"/>
                <a:cs typeface="Newsreader"/>
                <a:sym typeface="Newsreader"/>
              </a:rPr>
              <a:t>交易、事件预测环境出授权版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8705088" y="4718304"/>
            <a:ext cx="270662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E27A3F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Agent数据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8705088" y="4956048"/>
            <a:ext cx="270662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50" b="0" i="0" u="none" strike="noStrike" cap="none">
                <a:solidFill>
                  <a:srgbClr val="FAF9F6"/>
                </a:solidFill>
                <a:latin typeface="Newsreader"/>
                <a:ea typeface="Noto Serif CJK SC"/>
                <a:cs typeface="Newsreader"/>
                <a:sym typeface="Newsreader"/>
              </a:rPr>
              <a:t>个人Agent练习场内测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548640" y="5833872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14天7款产品截至2026年9月29日，按日历天计，含5个开源、2个非公开产品，覆盖交易、AI研究、事件预测、数学、推理、财务结账、软件工程。训练基础设施为公司内部测试，口径不同，不能相乘或相加。网络覆盖不等于已注册或参与交付。融资后动作为计划。RSI即自我进化。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35" name="SimReal 5035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6" name="Google Shape;376;p13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12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问题与时机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市场与商业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竞争与战略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商业模式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先卖给实验室，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再卖给企业和个人Agent团队</a:t>
            </a:r>
          </a:p>
        </p:txBody>
      </p:sp>
      <p:sp>
        <p:nvSpPr>
          <p:cNvPr id="5005" name="SimReal 5005"/>
          <p:cNvSpPr txBox="1"/>
          <p:nvPr/>
        </p:nvSpPr>
        <p:spPr>
          <a:xfrm>
            <a:off x="548640" y="1517904"/>
            <a:ext cx="36576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谁付钱</a:t>
            </a:r>
          </a:p>
        </p:txBody>
      </p:sp>
      <p:sp>
        <p:nvSpPr>
          <p:cNvPr id="5006" name="SimReal 5006"/>
          <p:cNvSpPr/>
          <p:nvPr/>
        </p:nvSpPr>
        <p:spPr>
          <a:xfrm>
            <a:off x="548640" y="1755648"/>
            <a:ext cx="3514344" cy="960120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 txBox="1"/>
          <p:nvPr/>
        </p:nvSpPr>
        <p:spPr>
          <a:xfrm>
            <a:off x="804672" y="1847088"/>
            <a:ext cx="305714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E27A3F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现在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804672" y="2048256"/>
            <a:ext cx="305714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FAF9F6"/>
                </a:solidFill>
                <a:latin typeface="Newsreader"/>
                <a:ea typeface="Noto Serif CJK SC"/>
                <a:cs typeface="Newsreader"/>
                <a:sym typeface="Newsreader"/>
              </a:rPr>
              <a:t>AI实验室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804672" y="2395728"/>
            <a:ext cx="305714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C4C0B7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2家前沿实验室在谈</a:t>
            </a:r>
          </a:p>
        </p:txBody>
      </p:sp>
      <p:sp>
        <p:nvSpPr>
          <p:cNvPr id="5010" name="SimReal 5010"/>
          <p:cNvSpPr/>
          <p:nvPr/>
        </p:nvSpPr>
        <p:spPr>
          <a:xfrm>
            <a:off x="4337304" y="1755648"/>
            <a:ext cx="3514344" cy="9601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1" name="SimReal 5011"/>
          <p:cNvSpPr txBox="1"/>
          <p:nvPr/>
        </p:nvSpPr>
        <p:spPr>
          <a:xfrm>
            <a:off x="4593336" y="1847088"/>
            <a:ext cx="305714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拓展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4593336" y="2048256"/>
            <a:ext cx="305714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企业Agent团队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4593336" y="2395728"/>
            <a:ext cx="305714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上线前训练、测试、验收</a:t>
            </a:r>
          </a:p>
        </p:txBody>
      </p:sp>
      <p:sp>
        <p:nvSpPr>
          <p:cNvPr id="5014" name="SimReal 5014"/>
          <p:cNvSpPr/>
          <p:nvPr/>
        </p:nvSpPr>
        <p:spPr>
          <a:xfrm>
            <a:off x="8125968" y="1755648"/>
            <a:ext cx="3514344" cy="9601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5" name="SimReal 5015"/>
          <p:cNvSpPr txBox="1"/>
          <p:nvPr/>
        </p:nvSpPr>
        <p:spPr>
          <a:xfrm>
            <a:off x="8382000" y="1847088"/>
            <a:ext cx="305714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下一步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8382000" y="2048256"/>
            <a:ext cx="305714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个人Agent团队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8382000" y="2395728"/>
            <a:ext cx="305714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长任务、跨应用、失败恢复练习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548640" y="2852928"/>
            <a:ext cx="36576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买什么</a:t>
            </a:r>
          </a:p>
        </p:txBody>
      </p:sp>
      <p:sp>
        <p:nvSpPr>
          <p:cNvPr id="5019" name="SimReal 5019"/>
          <p:cNvSpPr/>
          <p:nvPr/>
        </p:nvSpPr>
        <p:spPr>
          <a:xfrm>
            <a:off x="548640" y="3090672"/>
            <a:ext cx="3514344" cy="129844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0" name="SimReal 5020"/>
          <p:cNvSpPr txBox="1"/>
          <p:nvPr/>
        </p:nvSpPr>
        <p:spPr>
          <a:xfrm>
            <a:off x="804672" y="3200400"/>
            <a:ext cx="305714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训练环境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804672" y="3602736"/>
            <a:ext cx="305714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可执行任务和评分工具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804672" y="3950208"/>
            <a:ext cx="305714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收费  </a:t>
            </a:r>
            <a:r>
              <a:rPr lang="zh-CN" sz="11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按期限、范围、使用权授权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4337304" y="3090672"/>
            <a:ext cx="3514344" cy="129844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4593336" y="3200400"/>
            <a:ext cx="305714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AI数据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4593336" y="3602736"/>
            <a:ext cx="305714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Agent轨迹、专家数据、评测数据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4593336" y="3950208"/>
            <a:ext cx="305714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收费  </a:t>
            </a:r>
            <a:r>
              <a:rPr lang="zh-CN" sz="11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按量或批次</a:t>
            </a:r>
          </a:p>
        </p:txBody>
      </p:sp>
      <p:sp>
        <p:nvSpPr>
          <p:cNvPr id="5027" name="SimReal 5027"/>
          <p:cNvSpPr/>
          <p:nvPr/>
        </p:nvSpPr>
        <p:spPr>
          <a:xfrm>
            <a:off x="8125968" y="3090672"/>
            <a:ext cx="3514344" cy="129844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8" name="SimReal 5028"/>
          <p:cNvSpPr txBox="1"/>
          <p:nvPr/>
        </p:nvSpPr>
        <p:spPr>
          <a:xfrm>
            <a:off x="8382000" y="3200400"/>
            <a:ext cx="305714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联合训练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8382000" y="3602736"/>
            <a:ext cx="305714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训练实验、迁移验证、托管运行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8382000" y="3950208"/>
            <a:ext cx="305714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收费  </a:t>
            </a:r>
            <a:r>
              <a:rPr lang="zh-CN" sz="11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项目或持续服务合同</a:t>
            </a:r>
          </a:p>
        </p:txBody>
      </p:sp>
      <p:sp>
        <p:nvSpPr>
          <p:cNvPr id="5031" name="SimReal 5031"/>
          <p:cNvSpPr/>
          <p:nvPr/>
        </p:nvSpPr>
        <p:spPr>
          <a:xfrm>
            <a:off x="548640" y="4572000"/>
            <a:ext cx="2498598" cy="4572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2" name="SimReal 5032"/>
          <p:cNvSpPr txBox="1"/>
          <p:nvPr/>
        </p:nvSpPr>
        <p:spPr>
          <a:xfrm>
            <a:off x="777240" y="4572000"/>
            <a:ext cx="204139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需求与验收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3047238" y="4572000"/>
            <a:ext cx="3657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34" name="SimReal 5034"/>
          <p:cNvSpPr/>
          <p:nvPr/>
        </p:nvSpPr>
        <p:spPr>
          <a:xfrm>
            <a:off x="3412998" y="4572000"/>
            <a:ext cx="2498598" cy="4572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5" name="SimReal 5035"/>
          <p:cNvSpPr txBox="1"/>
          <p:nvPr/>
        </p:nvSpPr>
        <p:spPr>
          <a:xfrm>
            <a:off x="3641598" y="4572000"/>
            <a:ext cx="204139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付费试点</a:t>
            </a:r>
          </a:p>
        </p:txBody>
      </p:sp>
      <p:sp>
        <p:nvSpPr>
          <p:cNvPr id="5036" name="SimReal 5036"/>
          <p:cNvSpPr txBox="1"/>
          <p:nvPr/>
        </p:nvSpPr>
        <p:spPr>
          <a:xfrm>
            <a:off x="5911596" y="4572000"/>
            <a:ext cx="3657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37" name="SimReal 5037"/>
          <p:cNvSpPr/>
          <p:nvPr/>
        </p:nvSpPr>
        <p:spPr>
          <a:xfrm>
            <a:off x="6277356" y="4572000"/>
            <a:ext cx="2498598" cy="4572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8" name="SimReal 5038"/>
          <p:cNvSpPr txBox="1"/>
          <p:nvPr/>
        </p:nvSpPr>
        <p:spPr>
          <a:xfrm>
            <a:off x="6505956" y="4572000"/>
            <a:ext cx="204139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授权交付</a:t>
            </a:r>
          </a:p>
        </p:txBody>
      </p:sp>
      <p:sp>
        <p:nvSpPr>
          <p:cNvPr id="5039" name="SimReal 5039"/>
          <p:cNvSpPr txBox="1"/>
          <p:nvPr/>
        </p:nvSpPr>
        <p:spPr>
          <a:xfrm>
            <a:off x="8775954" y="4572000"/>
            <a:ext cx="3657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40" name="SimReal 5040"/>
          <p:cNvSpPr/>
          <p:nvPr/>
        </p:nvSpPr>
        <p:spPr>
          <a:xfrm>
            <a:off x="9141714" y="4572000"/>
            <a:ext cx="2498598" cy="457200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1" name="SimReal 5041"/>
          <p:cNvSpPr txBox="1"/>
          <p:nvPr/>
        </p:nvSpPr>
        <p:spPr>
          <a:xfrm>
            <a:off x="9370314" y="4572000"/>
            <a:ext cx="204139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E27A3F"/>
                </a:solidFill>
                <a:latin typeface="Newsreader"/>
                <a:ea typeface="Noto Serif CJK SC"/>
                <a:cs typeface="Newsreader"/>
                <a:sym typeface="Newsreader"/>
              </a:rPr>
              <a:t>持续更新</a:t>
            </a:r>
          </a:p>
        </p:txBody>
      </p:sp>
      <p:sp>
        <p:nvSpPr>
          <p:cNvPr id="5042" name="SimReal 5042"/>
          <p:cNvSpPr txBox="1"/>
          <p:nvPr/>
        </p:nvSpPr>
        <p:spPr>
          <a:xfrm>
            <a:off x="548640" y="5212080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模型一升级就要换任务和测试集，</a:t>
            </a:r>
            <a:r>
              <a:rPr lang="zh-CN" sz="18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客户要持续采购新环境和数据</a:t>
            </a:r>
          </a:p>
        </p:txBody>
      </p:sp>
      <p:sp>
        <p:nvSpPr>
          <p:cNvPr id="5043" name="SimReal 5043"/>
          <p:cNvSpPr txBox="1"/>
          <p:nvPr/>
        </p:nvSpPr>
        <p:spPr>
          <a:xfrm>
            <a:off x="548640" y="5833872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收费方式为拟议商业模式，不代表已签署合同。</a:t>
            </a:r>
          </a:p>
        </p:txBody>
      </p:sp>
      <p:sp>
        <p:nvSpPr>
          <p:cNvPr id="5044" name="SimReal 5044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45" name="SimReal 5045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46" name="SimReal 5046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1" name="Google Shape;401;p14" descr="jane-street-paper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29713" y="3637887"/>
            <a:ext cx="856188" cy="332034"/>
          </a:xfrm>
          <a:prstGeom prst="rect">
            <a:avLst/>
          </a:prstGeom>
          <a:noFill/>
          <a:ln>
            <a:noFill/>
          </a:ln>
        </p:spPr>
      </p:pic>
      <p:pic>
        <p:nvPicPr>
          <p:cNvPr id="402" name="Google Shape;402;p14" descr="imc-paper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256639" y="3689181"/>
            <a:ext cx="1239004" cy="22944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3" name="Google Shape;403;p14" descr="citadel-securities-paper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618637" y="3570531"/>
            <a:ext cx="951678" cy="466746"/>
          </a:xfrm>
          <a:prstGeom prst="rect">
            <a:avLst/>
          </a:prstGeom>
          <a:noFill/>
          <a:ln>
            <a:noFill/>
          </a:ln>
        </p:spPr>
      </p:pic>
      <p:pic>
        <p:nvPicPr>
          <p:cNvPr id="404" name="Google Shape;404;p14" descr="optiver-paper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747082" y="3678277"/>
            <a:ext cx="1131456" cy="251254"/>
          </a:xfrm>
          <a:prstGeom prst="rect">
            <a:avLst/>
          </a:prstGeom>
          <a:noFill/>
          <a:ln>
            <a:noFill/>
          </a:ln>
        </p:spPr>
      </p:pic>
      <p:pic>
        <p:nvPicPr>
          <p:cNvPr id="407" name="Google Shape;407;p14" descr="SimReal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408" name="Picture 407" descr="polymarke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787378" y="3666744"/>
            <a:ext cx="1487533" cy="274320"/>
          </a:xfrm>
          <a:prstGeom prst="rect">
            <a:avLst/>
          </a:prstGeom>
        </p:spPr>
      </p:pic>
      <p:pic>
        <p:nvPicPr>
          <p:cNvPr id="9429" name="Google Shape;429;p15" descr="harvard-ink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800143" y="4489704"/>
            <a:ext cx="637946" cy="420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0" name="Google Shape;430;p15" descr="stanford-ink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094476" y="4489704"/>
            <a:ext cx="420624" cy="420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1" name="Google Shape;431;p15" descr="mit-ink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7118186" y="4497876"/>
            <a:ext cx="744548" cy="404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2" name="Google Shape;432;p15" descr="oxford-ink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8218932" y="4564678"/>
            <a:ext cx="914400" cy="270676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3" name="Google Shape;433;p15" descr="cambridge-ink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9625203" y="4489704"/>
            <a:ext cx="473202" cy="420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4" name="Google Shape;434;p15" descr="princeton-ink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10590276" y="4575325"/>
            <a:ext cx="914399" cy="249381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5" name="Google Shape;435;p15" descr="yale-ink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4843958" y="5111495"/>
            <a:ext cx="550316" cy="420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6" name="Google Shape;436;p15" descr="berkeley-ink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5847588" y="5180405"/>
            <a:ext cx="914400" cy="282804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7" name="Google Shape;437;p15" descr="tsinghua-ink"/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7033260" y="5173124"/>
            <a:ext cx="914400" cy="297366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8" name="Google Shape;438;p15" descr="columbia-ink"/>
          <p:cNvPicPr preferRelativeResize="0"/>
          <p:nvPr/>
        </p:nvPicPr>
        <p:blipFill rotWithShape="1">
          <a:blip r:embed="rId19">
            <a:alphaModFix/>
          </a:blip>
          <a:srcRect/>
          <a:stretch/>
        </p:blipFill>
        <p:spPr>
          <a:xfrm>
            <a:off x="8369427" y="5111495"/>
            <a:ext cx="613410" cy="420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9" name="Google Shape;439;p15" descr="uchicago-ink"/>
          <p:cNvPicPr preferRelativeResize="0"/>
          <p:nvPr/>
        </p:nvPicPr>
        <p:blipFill rotWithShape="1">
          <a:blip r:embed="rId20">
            <a:alphaModFix/>
          </a:blip>
          <a:srcRect/>
          <a:stretch/>
        </p:blipFill>
        <p:spPr>
          <a:xfrm>
            <a:off x="9404604" y="5209611"/>
            <a:ext cx="914400" cy="224392"/>
          </a:xfrm>
          <a:prstGeom prst="rect">
            <a:avLst/>
          </a:prstGeom>
          <a:noFill/>
          <a:ln>
            <a:noFill/>
          </a:ln>
        </p:spPr>
      </p:pic>
      <p:pic>
        <p:nvPicPr>
          <p:cNvPr id="9440" name="Google Shape;440;p15" descr="duke-ink"/>
          <p:cNvPicPr preferRelativeResize="0"/>
          <p:nvPr/>
        </p:nvPicPr>
        <p:blipFill rotWithShape="1">
          <a:blip r:embed="rId21">
            <a:alphaModFix/>
          </a:blip>
          <a:srcRect/>
          <a:stretch/>
        </p:blipFill>
        <p:spPr>
          <a:xfrm>
            <a:off x="10630696" y="5141253"/>
            <a:ext cx="833560" cy="361109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05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问题与时机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市场与商业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竞争与战略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进展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5个开源基准512星，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2家前沿实验室在谈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2567178" cy="1828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548640" y="1645920"/>
            <a:ext cx="2567178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0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2家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548640" y="2340864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前沿实验室在谈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548640" y="2633472"/>
            <a:ext cx="256717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 </a:t>
            </a:r>
            <a:r>
              <a:rPr lang="zh-CN" sz="11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争取首个付费试点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3390138" y="1572768"/>
            <a:ext cx="2567178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3390138" y="1645920"/>
            <a:ext cx="2567178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7款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3390138" y="2340864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14天上线产品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3390138" y="2633472"/>
            <a:ext cx="256717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 </a:t>
            </a:r>
            <a:r>
              <a:rPr lang="zh-CN" sz="11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交易、AI研究、事件预测已上线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6231636" y="1572768"/>
            <a:ext cx="2567178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6231636" y="1645920"/>
            <a:ext cx="2567178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512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6231636" y="2340864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GitHub星标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6231636" y="2633472"/>
            <a:ext cx="256717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 </a:t>
            </a:r>
            <a:r>
              <a:rPr lang="zh-CN" sz="11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5个公开仓库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9073134" y="1572768"/>
            <a:ext cx="2567178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9073134" y="1645920"/>
            <a:ext cx="2567178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0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9073134" y="2340864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外部融资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548640" y="2999232"/>
            <a:ext cx="11091672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截至2026年9月29日；星标截至2026年10月2日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548640" y="3346704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支持研发的从业者来自</a:t>
            </a:r>
          </a:p>
        </p:txBody>
      </p:sp>
      <p:sp>
        <p:nvSpPr>
          <p:cNvPr id="5022" name="SimReal 5022"/>
          <p:cNvSpPr/>
          <p:nvPr/>
        </p:nvSpPr>
        <p:spPr>
          <a:xfrm>
            <a:off x="548640" y="4224528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3" name="SimReal 5023"/>
          <p:cNvSpPr txBox="1"/>
          <p:nvPr/>
        </p:nvSpPr>
        <p:spPr>
          <a:xfrm>
            <a:off x="548640" y="4334256"/>
            <a:ext cx="146304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20万+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2057400" y="4334256"/>
            <a:ext cx="219456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可触达、可验证的专家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548640" y="4809744"/>
            <a:ext cx="146304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7,000+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2057400" y="4809744"/>
            <a:ext cx="219456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已报名专家候补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548640" y="5285232"/>
            <a:ext cx="146304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21所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2057400" y="5285232"/>
            <a:ext cx="219456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高校的学生和校友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548640" y="589788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标识仅表示支持者任职机构或网络覆盖的部分高校，不代表机构或学校背书；网络覆盖不等于已注册或参与交付。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0" name="Google Shape;470;p16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11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问题与时机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市场与商业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竞争与战略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市场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今天85亿美元，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头部供应商16个月内收入涨十倍以上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11091672" cy="173736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22960" y="1801368"/>
            <a:ext cx="5029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今天：训练数据与RL环境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22960" y="2057400"/>
            <a:ext cx="512064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85亿美元 / 年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822960" y="2788920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50余家供应商收入估算（Deedy Das，2026年7月）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6309360" y="1801368"/>
            <a:ext cx="5029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2030年：公司情景测算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6309360" y="2057400"/>
            <a:ext cx="512064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8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7,000亿美元 / 年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6309360" y="2788920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假设AI经济7万亿美元，训练投入占10%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5486400" y="1572768"/>
            <a:ext cx="640080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548640" y="3657600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548640" y="3749040"/>
            <a:ext cx="348386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27倍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548640" y="4425696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Mercor年化毛营收16个月由7,500万涨到20亿美元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548640" y="4882896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 </a:t>
            </a: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专家数据需求在涨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4352544" y="3657600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4352544" y="3749040"/>
            <a:ext cx="348386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10倍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4352544" y="4425696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Mercor估值17个月由20亿涨到200亿美元（洽谈中）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4352544" y="4882896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 </a:t>
            </a: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资本在加注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8156448" y="3657600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8156448" y="3749040"/>
            <a:ext cx="348386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18倍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8156448" y="4425696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Snorkel新数据服务近一年涨逾18倍，年化3.75亿美元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8156448" y="4882896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 </a:t>
            </a: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需求转向专家和环境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548640" y="5358384"/>
            <a:ext cx="1109167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可比交易  </a:t>
            </a:r>
            <a:r>
              <a:rPr lang="zh-CN" sz="1200" b="0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据彭博，阿里拟领投UniPat 3亿美元，估值约25亿美元（2026年9月）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548640" y="5815584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来源：Mercor（TechCrunch、Sacra、Dealroom）；Snorkel AI公告（2026年9月）；Deedy Das行业图谱（2026年7月）；UniPat（彭博，2026年9月）。2030年为公司情景测算，非独立研究预测。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1" name="Google Shape;511;p17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13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问题与时机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市场与商业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竞争与战略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竞争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对手强在规模，我们强在专业计分和速度。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规模看拿下几家实验室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8503920" y="1572768"/>
            <a:ext cx="3136392" cy="2980944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/>
          <p:nvPr/>
        </p:nvSpPr>
        <p:spPr>
          <a:xfrm>
            <a:off x="548640" y="1572768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 txBox="1"/>
          <p:nvPr/>
        </p:nvSpPr>
        <p:spPr>
          <a:xfrm>
            <a:off x="731520" y="1591056"/>
            <a:ext cx="27432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客户现有选择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3429000" y="1591056"/>
            <a:ext cx="242316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强项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5989320" y="1591056"/>
            <a:ext cx="2514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短板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8641080" y="1591056"/>
            <a:ext cx="2999232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衍真</a:t>
            </a:r>
          </a:p>
        </p:txBody>
      </p:sp>
      <p:sp>
        <p:nvSpPr>
          <p:cNvPr id="5011" name="SimReal 5011"/>
          <p:cNvSpPr/>
          <p:nvPr/>
        </p:nvSpPr>
        <p:spPr>
          <a:xfrm>
            <a:off x="548640" y="1865376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2" name="SimReal 5012"/>
          <p:cNvSpPr txBox="1"/>
          <p:nvPr/>
        </p:nvSpPr>
        <p:spPr>
          <a:xfrm>
            <a:off x="731520" y="1865376"/>
            <a:ext cx="2606040" cy="89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数据与环境供应商</a:t>
            </a:r>
          </a:p>
          <a:p>
            <a:pPr marL="0" marR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Scale AI、AfterQuery、Mercor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3429000" y="1865376"/>
            <a:ext cx="2286000" cy="89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规模大，专家多</a:t>
            </a:r>
          </a:p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实验室关系深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5989320" y="1865376"/>
            <a:ext cx="2377440" cy="89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专家人工为主，按人头扩张</a:t>
            </a:r>
          </a:p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撮合级交易计分不是主业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8641080" y="1865376"/>
            <a:ext cx="2907792" cy="89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量化机构出身，按交易台规则计分</a:t>
            </a:r>
          </a:p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14天上线7款，覆盖7个领域</a:t>
            </a:r>
          </a:p>
        </p:txBody>
      </p:sp>
      <p:sp>
        <p:nvSpPr>
          <p:cNvPr id="5016" name="SimReal 5016"/>
          <p:cNvSpPr/>
          <p:nvPr/>
        </p:nvSpPr>
        <p:spPr>
          <a:xfrm>
            <a:off x="548640" y="2761488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7" name="SimReal 5017"/>
          <p:cNvSpPr txBox="1"/>
          <p:nvPr/>
        </p:nvSpPr>
        <p:spPr>
          <a:xfrm>
            <a:off x="731520" y="2761488"/>
            <a:ext cx="2606040" cy="89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公开基准</a:t>
            </a:r>
          </a:p>
          <a:p>
            <a:pPr marL="0" marR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Alpha Arena等榜单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3429000" y="2761488"/>
            <a:ext cx="2286000" cy="89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方便比较模型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5989320" y="2761488"/>
            <a:ext cx="2377440" cy="89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只评测，不产训练数据</a:t>
            </a:r>
          </a:p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公开后很快饱和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8641080" y="2761488"/>
            <a:ext cx="2907792" cy="89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同一环境产训练数据</a:t>
            </a:r>
          </a:p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储备任务持续换题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548640" y="3657600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731520" y="3657600"/>
            <a:ext cx="2606040" cy="89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客户自建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3429000" y="3657600"/>
            <a:ext cx="2286000" cy="89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贴合自己的业务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5989320" y="3657600"/>
            <a:ext cx="2377440" cy="89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缺专业规则和专家</a:t>
            </a:r>
          </a:p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占研究人力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8641080" y="3657600"/>
            <a:ext cx="2907792" cy="89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交易、事件预测环境现成</a:t>
            </a:r>
          </a:p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20万+专家可触达</a:t>
            </a:r>
          </a:p>
        </p:txBody>
      </p:sp>
      <p:sp>
        <p:nvSpPr>
          <p:cNvPr id="5026" name="SimReal 5026"/>
          <p:cNvSpPr/>
          <p:nvPr/>
        </p:nvSpPr>
        <p:spPr>
          <a:xfrm>
            <a:off x="548640" y="4553712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7" name="SimReal 5027"/>
          <p:cNvSpPr/>
          <p:nvPr/>
        </p:nvSpPr>
        <p:spPr>
          <a:xfrm>
            <a:off x="548640" y="4773168"/>
            <a:ext cx="11091672" cy="78638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8" name="SimReal 5028"/>
          <p:cNvSpPr txBox="1"/>
          <p:nvPr/>
        </p:nvSpPr>
        <p:spPr>
          <a:xfrm>
            <a:off x="777240" y="4773168"/>
            <a:ext cx="1645920" cy="786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E27A3F"/>
                </a:solidFill>
                <a:latin typeface="Newsreader"/>
                <a:ea typeface="Noto Serif CJK SC"/>
                <a:cs typeface="Newsreader"/>
                <a:sym typeface="Newsreader"/>
              </a:rPr>
              <a:t>规模差距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2514600" y="4773168"/>
            <a:ext cx="8897112" cy="786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C4C0B7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Mercor 2026年上半年毛营收九成以上来自三家实验室，规模取决于拿下几家</a:t>
            </a:r>
          </a:p>
          <a:p>
            <a:pPr marL="0" marR="0" lvl="0" indent="0" algn="l" rtl="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我们2家在谈，融资后补交付和算力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548640" y="576072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Mercor收入集中度：The Information（2026年7月；aiweekly、Crypto Briefing转述），2026年上半年毛营收约6.14亿美元，九成以上来自三家基础模型公司。对手名称为行业示例。客户情况截至2026年9月29日。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2" name="Google Shape;562;p18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10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问题与时机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市场与商业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竞争与战略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个人Agent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个人Agent已经上线，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我们的练习场在开发中</a:t>
            </a:r>
          </a:p>
        </p:txBody>
      </p:sp>
      <p:sp>
        <p:nvSpPr>
          <p:cNvPr id="5005" name="SimReal 5005"/>
          <p:cNvSpPr txBox="1"/>
          <p:nvPr/>
        </p:nvSpPr>
        <p:spPr>
          <a:xfrm>
            <a:off x="548640" y="1481328"/>
            <a:ext cx="1109167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Meta Muse、OpenAI Dots 2026年9月上线，开始替人做事。上线前要先练。</a:t>
            </a:r>
          </a:p>
        </p:txBody>
      </p:sp>
      <p:sp>
        <p:nvSpPr>
          <p:cNvPr id="5006" name="SimReal 5006"/>
          <p:cNvSpPr/>
          <p:nvPr/>
        </p:nvSpPr>
        <p:spPr>
          <a:xfrm>
            <a:off x="548640" y="2011680"/>
            <a:ext cx="3514344" cy="23317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 txBox="1"/>
          <p:nvPr/>
        </p:nvSpPr>
        <p:spPr>
          <a:xfrm>
            <a:off x="841248" y="223113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01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841248" y="2487168"/>
            <a:ext cx="292912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复刻真实应用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841248" y="3182112"/>
            <a:ext cx="2929128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虚拟机和浏览器里的</a:t>
            </a:r>
          </a:p>
          <a:p>
            <a:pPr marL="0" marR="0" lvl="0" indent="0" algn="l" rtl="0">
              <a:lnSpc>
                <a:spcPct val="114999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邮件、日历、文档</a:t>
            </a:r>
          </a:p>
        </p:txBody>
      </p:sp>
      <p:sp>
        <p:nvSpPr>
          <p:cNvPr id="5010" name="SimReal 5010"/>
          <p:cNvSpPr/>
          <p:nvPr/>
        </p:nvSpPr>
        <p:spPr>
          <a:xfrm>
            <a:off x="4337304" y="2011680"/>
            <a:ext cx="3514344" cy="23317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1" name="SimReal 5011"/>
          <p:cNvSpPr txBox="1"/>
          <p:nvPr/>
        </p:nvSpPr>
        <p:spPr>
          <a:xfrm>
            <a:off x="4629912" y="223113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4629912" y="2487168"/>
            <a:ext cx="292912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跨应用长任务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4629912" y="3182112"/>
            <a:ext cx="2929128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多步骤任务</a:t>
            </a:r>
          </a:p>
          <a:p>
            <a:pPr marL="0" marR="0" lvl="0" indent="0" algn="l" rtl="0">
              <a:lnSpc>
                <a:spcPct val="114999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按最终结果打分</a:t>
            </a:r>
          </a:p>
        </p:txBody>
      </p:sp>
      <p:sp>
        <p:nvSpPr>
          <p:cNvPr id="5014" name="SimReal 5014"/>
          <p:cNvSpPr/>
          <p:nvPr/>
        </p:nvSpPr>
        <p:spPr>
          <a:xfrm>
            <a:off x="8125968" y="2011680"/>
            <a:ext cx="3514344" cy="23317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5" name="SimReal 5015"/>
          <p:cNvSpPr txBox="1"/>
          <p:nvPr/>
        </p:nvSpPr>
        <p:spPr>
          <a:xfrm>
            <a:off x="8418576" y="223113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8418576" y="2487168"/>
            <a:ext cx="292912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失败恢复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8418576" y="3182112"/>
            <a:ext cx="2929128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弹窗、断网、登录失效</a:t>
            </a:r>
          </a:p>
          <a:p>
            <a:pPr marL="0" marR="0" lvl="0" indent="0" algn="l" rtl="0">
              <a:lnSpc>
                <a:spcPct val="114999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看能否自己恢复</a:t>
            </a:r>
          </a:p>
        </p:txBody>
      </p:sp>
      <p:sp>
        <p:nvSpPr>
          <p:cNvPr id="5018" name="SimReal 5018"/>
          <p:cNvSpPr/>
          <p:nvPr/>
        </p:nvSpPr>
        <p:spPr>
          <a:xfrm>
            <a:off x="548640" y="4572000"/>
            <a:ext cx="11091672" cy="78638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9" name="SimReal 5019"/>
          <p:cNvSpPr txBox="1"/>
          <p:nvPr/>
        </p:nvSpPr>
        <p:spPr>
          <a:xfrm>
            <a:off x="777240" y="4572000"/>
            <a:ext cx="1463040" cy="786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E27A3F"/>
                </a:solidFill>
                <a:latin typeface="Newsreader"/>
                <a:ea typeface="Noto Serif CJK SC"/>
                <a:cs typeface="Newsreader"/>
                <a:sym typeface="Newsreader"/>
              </a:rPr>
              <a:t>谁买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2286000" y="4572000"/>
            <a:ext cx="9125712" cy="786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C4C0B7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个人Agent开发团队买练习；</a:t>
            </a:r>
            <a:r>
              <a:rPr lang="zh-CN" sz="1300" b="1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实验室买练习产出的轨迹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548640" y="566928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练习场开发中，功能为计划。Muse、Dots为行业示例，不是衍真客户。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7" name="Google Shape;607;p19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14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问题与时机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市场与商业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竞争与战略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战略与投入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融资后资金投向三条线，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专家数据、RL环境、Agent数据各定人手和目标</a:t>
            </a:r>
          </a:p>
        </p:txBody>
      </p:sp>
      <p:sp>
        <p:nvSpPr>
          <p:cNvPr id="5005" name="SimReal 5005"/>
          <p:cNvSpPr txBox="1"/>
          <p:nvPr/>
        </p:nvSpPr>
        <p:spPr>
          <a:xfrm>
            <a:off x="548640" y="1463040"/>
            <a:ext cx="1109167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资金投向  </a:t>
            </a: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收入引擎50%投三条线生产、交付、销售｜RSI引擎50%投算力、研究、验证</a:t>
            </a:r>
          </a:p>
        </p:txBody>
      </p:sp>
      <p:sp>
        <p:nvSpPr>
          <p:cNvPr id="5006" name="SimReal 5006"/>
          <p:cNvSpPr/>
          <p:nvPr/>
        </p:nvSpPr>
        <p:spPr>
          <a:xfrm>
            <a:off x="548640" y="1847088"/>
            <a:ext cx="3514344" cy="3730752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 txBox="1"/>
          <p:nvPr/>
        </p:nvSpPr>
        <p:spPr>
          <a:xfrm>
            <a:off x="804672" y="1993392"/>
            <a:ext cx="300228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专家数据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804672" y="2414016"/>
            <a:ext cx="300228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对标  Mercor年化毛营收20亿美元（2026年6月）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804672" y="2798064"/>
            <a:ext cx="30022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现在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804672" y="2980944"/>
            <a:ext cx="30022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20万+可触达、可验证专家，7,000+已报名候补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804672" y="3419856"/>
            <a:ext cx="30022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投入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804672" y="3602736"/>
            <a:ext cx="300228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招3名交付，负责专家认证、质检和客户验收</a:t>
            </a:r>
          </a:p>
          <a:p>
            <a:pPr marL="0" marR="0" lvl="0" indent="0" algn="l" rtl="0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候补分批考核，先建交易、事件预测专家池</a:t>
            </a:r>
          </a:p>
          <a:p>
            <a:pPr marL="0" marR="0" lvl="0" indent="0" algn="l" rtl="0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双人交叉评审，一致率写进交付报告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804672" y="4370832"/>
            <a:ext cx="3002280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804672" y="4498848"/>
            <a:ext cx="30022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下一步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804672" y="4700016"/>
            <a:ext cx="30022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认证专家覆盖7个领域，按批收费</a:t>
            </a:r>
          </a:p>
        </p:txBody>
      </p:sp>
      <p:sp>
        <p:nvSpPr>
          <p:cNvPr id="5016" name="SimReal 5016"/>
          <p:cNvSpPr/>
          <p:nvPr/>
        </p:nvSpPr>
        <p:spPr>
          <a:xfrm>
            <a:off x="4337304" y="1847088"/>
            <a:ext cx="3514344" cy="3730752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7" name="SimReal 5017"/>
          <p:cNvSpPr txBox="1"/>
          <p:nvPr/>
        </p:nvSpPr>
        <p:spPr>
          <a:xfrm>
            <a:off x="4593336" y="1993392"/>
            <a:ext cx="300228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RL环境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4593336" y="2414016"/>
            <a:ext cx="300228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对标  AfterQuery 14个月年化1亿美元（2026年4月）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4593336" y="2798064"/>
            <a:ext cx="30022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现在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4593336" y="2980944"/>
            <a:ext cx="30022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7个领域已建，交易、AI研究、事件预测已上线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4593336" y="3419856"/>
            <a:ext cx="30022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投入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4593336" y="3602736"/>
            <a:ext cx="300228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招3名环境工程师，先出交易、事件预测授权版</a:t>
            </a:r>
          </a:p>
          <a:p>
            <a:pPr marL="0" marR="0" lvl="0" indent="0" algn="l" rtl="0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招3名研究员加算力，做自动出题和迭代训练</a:t>
            </a:r>
          </a:p>
          <a:p>
            <a:pPr marL="0" marR="0" lvl="0" indent="0" algn="l" rtl="0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红队防刷分，交易及事件预测验证与合规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4593336" y="4370832"/>
            <a:ext cx="3002280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4593336" y="4498848"/>
            <a:ext cx="30022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下一步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4593336" y="4700016"/>
            <a:ext cx="30022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20+个环境可授权，试点转为授权交付</a:t>
            </a:r>
          </a:p>
        </p:txBody>
      </p:sp>
      <p:sp>
        <p:nvSpPr>
          <p:cNvPr id="5026" name="SimReal 5026"/>
          <p:cNvSpPr/>
          <p:nvPr/>
        </p:nvSpPr>
        <p:spPr>
          <a:xfrm>
            <a:off x="8125968" y="1847088"/>
            <a:ext cx="3514344" cy="3730752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7" name="SimReal 5027"/>
          <p:cNvSpPr txBox="1"/>
          <p:nvPr/>
        </p:nvSpPr>
        <p:spPr>
          <a:xfrm>
            <a:off x="8382000" y="1993392"/>
            <a:ext cx="300228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E27A3F"/>
                </a:solidFill>
                <a:latin typeface="Newsreader"/>
                <a:ea typeface="Noto Serif CJK SC"/>
                <a:cs typeface="Newsreader"/>
                <a:sym typeface="Newsreader"/>
              </a:rPr>
              <a:t>Agent数据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8382000" y="2414016"/>
            <a:ext cx="300228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4C0B7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对标  Meta、OpenAI个人Agent 2026年9月上线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8382000" y="2798064"/>
            <a:ext cx="30022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4C0B7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现在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8382000" y="2980944"/>
            <a:ext cx="30022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C4C0B7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Xitadel保留轨迹，个人Agent练习场开发中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8382000" y="3419856"/>
            <a:ext cx="30022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E27A3F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投入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8382000" y="3602736"/>
            <a:ext cx="300228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招2名环境工程师，复刻邮件、日历、文档</a:t>
            </a:r>
          </a:p>
          <a:p>
            <a:pPr marL="0" marR="0" lvl="0" indent="0" algn="l" rtl="0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交易、事件预测回合批量出轨迹，专家抽检</a:t>
            </a:r>
          </a:p>
          <a:p>
            <a:pPr marL="0" marR="0" lvl="0" indent="0" algn="l" rtl="0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招2名商务，对接实验室、企业和Agent团队</a:t>
            </a:r>
          </a:p>
        </p:txBody>
      </p:sp>
      <p:sp>
        <p:nvSpPr>
          <p:cNvPr id="5033" name="SimReal 5033"/>
          <p:cNvSpPr/>
          <p:nvPr/>
        </p:nvSpPr>
        <p:spPr>
          <a:xfrm>
            <a:off x="8382000" y="4370832"/>
            <a:ext cx="3002280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4" name="SimReal 5034"/>
          <p:cNvSpPr txBox="1"/>
          <p:nvPr/>
        </p:nvSpPr>
        <p:spPr>
          <a:xfrm>
            <a:off x="8382000" y="4498848"/>
            <a:ext cx="30022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E27A3F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下一步</a:t>
            </a:r>
          </a:p>
        </p:txBody>
      </p:sp>
      <p:sp>
        <p:nvSpPr>
          <p:cNvPr id="5035" name="SimReal 5035"/>
          <p:cNvSpPr txBox="1"/>
          <p:nvPr/>
        </p:nvSpPr>
        <p:spPr>
          <a:xfrm>
            <a:off x="8382000" y="4700016"/>
            <a:ext cx="30022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个人Agent团队接入，轨迹卖给实验室</a:t>
            </a:r>
          </a:p>
        </p:txBody>
      </p:sp>
      <p:sp>
        <p:nvSpPr>
          <p:cNvPr id="5036" name="SimReal 5036"/>
          <p:cNvSpPr txBox="1"/>
          <p:nvPr/>
        </p:nvSpPr>
        <p:spPr>
          <a:xfrm>
            <a:off x="548640" y="5650992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对手用14到16个月把收入做大，</a:t>
            </a:r>
            <a:r>
              <a:rPr lang="zh-CN" sz="18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我们计分和速度在前，融资后三条线同时交付</a:t>
            </a:r>
          </a:p>
        </p:txBody>
      </p:sp>
      <p:sp>
        <p:nvSpPr>
          <p:cNvPr id="5037" name="SimReal 5037"/>
          <p:cNvSpPr txBox="1"/>
          <p:nvPr/>
        </p:nvSpPr>
        <p:spPr>
          <a:xfrm>
            <a:off x="548640" y="6089904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7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资金投向、人数和目标均为计划。对标：Mercor（福布斯、Dealroom，2026年6月）；AfterQuery（Business Wire，2026年4月）；Meta、OpenAI发布（2026年9月）。</a:t>
            </a:r>
          </a:p>
        </p:txBody>
      </p:sp>
      <p:sp>
        <p:nvSpPr>
          <p:cNvPr id="5038" name="SimReal 5038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9" name="SimReal 5039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40" name="SimReal 5040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3802</Words>
  <Application>Microsoft Macintosh PowerPoint</Application>
  <PresentationFormat>Widescreen</PresentationFormat>
  <Paragraphs>542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Instrument Sans</vt:lpstr>
      <vt:lpstr>Newsreader</vt:lpstr>
      <vt:lpstr>Arial</vt:lpstr>
      <vt:lpstr>IBM Plex Mono</vt:lpstr>
      <vt:lpstr>Instrument 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chern wong</cp:lastModifiedBy>
  <cp:revision>2</cp:revision>
  <dcterms:modified xsi:type="dcterms:W3CDTF">2026-09-26T15:07:34Z</dcterms:modified>
</cp:coreProperties>
</file>