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0" r:id="rId6"/>
    <p:sldId id="269" r:id="rId15"/>
    <p:sldId id="275" r:id="rId21"/>
    <p:sldId id="262" r:id="rId8"/>
    <p:sldId id="264" r:id="rId10"/>
    <p:sldId id="271" r:id="rId17"/>
    <p:sldId id="267" r:id="rId13"/>
    <p:sldId id="268" r:id="rId14"/>
    <p:sldId id="272" r:id="rId18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1" Type="http://schemas.openxmlformats.org/officeDocument/2006/relationships/slide" Target="slides/slide21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0" name="Google Shape;660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8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Relationship Id="rId14" Type="http://schemas.openxmlformats.org/officeDocument/2006/relationships/image" Target="../media/image29.png"/><Relationship Id="rId15" Type="http://schemas.openxmlformats.org/officeDocument/2006/relationships/image" Target="../media/image30.png"/><Relationship Id="rId16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Every industry's best AI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will come from our worlds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3200400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Real data. Real environments. AI that gets it right.</a:t>
            </a:r>
          </a:p>
        </p:txBody>
      </p:sp>
      <p:sp>
        <p:nvSpPr>
          <p:cNvPr id="5003" name="SimReal 5003"/>
          <p:cNvSpPr/>
          <p:nvPr/>
        </p:nvSpPr>
        <p:spPr>
          <a:xfrm>
            <a:off x="548640" y="4526280"/>
            <a:ext cx="822960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4" name="SimReal 5004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Founded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September 10, 2026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32918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Business plan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32918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October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Overview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 is a neolab building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data, RL environments and recursive self-improvement (RSI)</a:t>
            </a: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 for next-generation AI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Revenue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24 days after founding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81051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 source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 GitHub stars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 products shipped in 14 days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of them open benchmarks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81051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93852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Research result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19456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9806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Training loop working in trading by week 2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trading days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Team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21yo quant team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Cambridge, LSE, Duke mathematics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Jane Street, Citadel, Optiver, Millennium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68503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Market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Annual spend on training data and RL envs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revenue up 27x in 16 months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685032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13048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Network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69080"/>
            <a:ext cx="3483864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 experts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672584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7,000+ more on the waitlist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Students and alumni of 21 universities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Team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founders, all 21.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They turned down $0.9M+ in first-year pay to build the next training engine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CEO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employee at United Stables: took USDU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0 to $1.4B in a year; Binance listing in a month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Led institutional partnerships (YZi Labs, SIG, DRW, Wintermute)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Only intern on HSBC HKD stablecoin project;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worked on HKMA compliance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Citadel hedge fund intern, London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LSE Mathematics · SCIE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USAMO qualifier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CTO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21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Mathematics, First Class, scholarship (St John's College)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Cambridge ML research with Po-Ling Loh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(IMS Fellow)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Ex-Quant at Jane Street, Citadel, Optiver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Designed all 5 open benchmarks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SCIE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Top 30 worldwide, Cambridge maths contest · BPhO Super Gold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429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5915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COO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21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44368"/>
            <a:ext cx="2965704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scientist, Millennium Hong Kong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First graduate hire, Millennium alt-data team</a:t>
            </a:r>
          </a:p>
          <a:p>
            <a:pPr marL="0" marR="0" lvl="0" indent="0" algn="l" rtl="0">
              <a:lnSpc>
                <a:spcPct val="112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Co-organized Plug and Play's first HK event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(with HKSTP, 200+ attendees)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4937760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029200"/>
            <a:ext cx="296570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Duke Mathematics &amp; Statistics · YK Pao School, Shanghai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Problem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can reason.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It still fails at real work.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3677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Looks like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67335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Actually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196596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196596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Trading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196596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Backtest climbs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196596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196596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Loses money live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5694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56946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Software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56946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All tests pass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56946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56946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Breaks in production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1729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17296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Finance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17296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Books look closed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17296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17296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Month-end won't reconcile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77647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77647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Forecasting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77647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Analysis sounds right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77647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77647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Outcome proves it wrong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3799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86000" y="4572000"/>
            <a:ext cx="86868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models trading real money made a profit in only 6 of 32 runs (Alpha Arena)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492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What is missing: </a:t>
            </a:r>
            <a:r>
              <a:rPr lang="zh-CN" sz="21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a training ground scored by real outcomes</a:t>
            </a: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Picture 237" descr="rs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463040"/>
            <a:ext cx="6949440" cy="4382530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RSI method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Attempt, get scored, fix the weak spots: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stronger every loop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7635240" y="1700784"/>
            <a:ext cx="40050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Where we are stronger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7635240" y="19568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35240" y="20665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scoring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635240" y="24688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Trading-desk standards: top model 77, rest 24–30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7635240" y="28712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635240" y="2980944"/>
            <a:ext cx="40050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Fast, precise tasks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635240" y="3383280"/>
            <a:ext cx="40050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Reviewed by 200K+ experts</a:t>
            </a:r>
          </a:p>
        </p:txBody>
      </p:sp>
      <p:sp>
        <p:nvSpPr>
          <p:cNvPr id="5012" name="SimReal 5012"/>
          <p:cNvSpPr/>
          <p:nvPr/>
        </p:nvSpPr>
        <p:spPr>
          <a:xfrm>
            <a:off x="7635240" y="3785616"/>
            <a:ext cx="4005072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3" name="SimReal 5013"/>
          <p:cNvSpPr/>
          <p:nvPr/>
        </p:nvSpPr>
        <p:spPr>
          <a:xfrm>
            <a:off x="7635240" y="3986784"/>
            <a:ext cx="4005072" cy="11887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7909560" y="4096512"/>
            <a:ext cx="3566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Verified gain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7909560" y="4315968"/>
            <a:ext cx="14630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9235440" y="4315968"/>
            <a:ext cx="22860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unseen trading days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Scores from the public Xitadel benchmark. +12% is the best of several independent replications.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2395728"/>
            <a:ext cx="5760720" cy="297813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Product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 products in 14 days.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5 open benchmarks, 602 GitHub stars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63040"/>
            <a:ext cx="237744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64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06" name="SimReal 5006"/>
          <p:cNvSpPr txBox="1"/>
          <p:nvPr/>
        </p:nvSpPr>
        <p:spPr>
          <a:xfrm>
            <a:off x="2743200" y="1463040"/>
            <a:ext cx="3566160" cy="86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benchmarks, as of Oct 4, 2026</a:t>
            </a:r>
          </a:p>
        </p:txBody>
      </p:sp>
      <p:sp>
        <p:nvSpPr>
          <p:cNvPr id="5007" name="SimReal 5007"/>
          <p:cNvSpPr/>
          <p:nvPr/>
        </p:nvSpPr>
        <p:spPr>
          <a:xfrm>
            <a:off x="6629400" y="1572768"/>
            <a:ext cx="501091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8" name="SimReal 5008"/>
          <p:cNvSpPr txBox="1"/>
          <p:nvPr/>
        </p:nvSpPr>
        <p:spPr>
          <a:xfrm>
            <a:off x="6629400" y="1627632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SimReal-MLBench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302★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629400" y="1901952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60 real ML competitions: can AI do research?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6629400" y="2176272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6629400" y="2231136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Xitadel-QuantBench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102★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629400" y="2505456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trading, scored against the best human strategy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629400" y="2779776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629400" y="2834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MathmoBench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101★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629400" y="3108960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Hard mathematics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6629400" y="3383280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6629400" y="3438144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Puzzle Benchmark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70★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629400" y="3712464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749 human-written reasoning puzzles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6629400" y="3986784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6629400" y="4041648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FuturePredict</a:t>
            </a: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   27★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629400" y="4315968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Forecast real events, scored on the outcome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6629400" y="4590288"/>
            <a:ext cx="501091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6629400" y="4754880"/>
            <a:ext cx="501091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Live training environments</a:t>
            </a:r>
          </a:p>
          <a:p>
            <a:pPr marL="0" marR="0" lvl="0" indent="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Trading  ·  AI research  ·  Forecasting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9880" y="2107597"/>
            <a:ext cx="1155853" cy="4482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39814" y="2176845"/>
            <a:ext cx="1672655" cy="30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447334" y="2014333"/>
            <a:ext cx="1294283" cy="634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549077" y="2162124"/>
            <a:ext cx="1527465" cy="339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38625" y="2167128"/>
            <a:ext cx="1785039" cy="329184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Expert 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Practitioners in our research and development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come from top trading firms like: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320040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200K+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Reachable experts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352544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7,000+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352544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Experts on the waitlist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156448" y="3429000"/>
            <a:ext cx="34838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Write; Score; Review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156448" y="4315968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What experts do in our envs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Logos show where practitioners work; no endorsement implied.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9" name="Google Shape;429;p15" descr="harvard-ink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83539" y="1851660"/>
            <a:ext cx="1178813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15" descr="stanford-ink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32938" y="1851660"/>
            <a:ext cx="77724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5" descr="mit-ink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54462" y="1851660"/>
            <a:ext cx="1431415" cy="777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432" name="Google Shape;432;p15" descr="oxford-ink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287262" y="2023739"/>
            <a:ext cx="1463040" cy="43308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15" descr="cambridge-ink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30196" y="1851660"/>
            <a:ext cx="874395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15" descr="princeton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84486" y="2040775"/>
            <a:ext cx="1463040" cy="3990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15" descr="yale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4501" y="2994660"/>
            <a:ext cx="1016890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15" descr="berkeley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590038" y="3157037"/>
            <a:ext cx="1463040" cy="4524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p15" descr="tsinghua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4438650" y="3145387"/>
            <a:ext cx="1463040" cy="475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15" descr="columbia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452044" y="2994660"/>
            <a:ext cx="1133475" cy="777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15" descr="uchicago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135874" y="3203766"/>
            <a:ext cx="1463040" cy="3590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15" descr="duke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9984486" y="3066376"/>
            <a:ext cx="1463040" cy="6338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5" descr="SimReal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University network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Students and alumni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of 21 top universities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16052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343400"/>
            <a:ext cx="2377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21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2926080" y="4343400"/>
            <a:ext cx="731520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Universities in our student and alumni network</a:t>
            </a:r>
          </a:p>
          <a:p>
            <a:pPr marL="0" marR="0" lvl="0" indent="0" algn="l" rtl="0">
              <a:lnSpc>
                <a:spcPct val="114999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From entry-level roles to frontier research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585216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Selected universities shown; no endorsement implied.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Market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today.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 leader grew revenue 27x in 16 months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Today: training data and RL environments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457200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$8.5B / year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Combined revenue of 50+ vendors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2030: the AI economy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$700B / year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$7T AI economy, 10% spent on training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27x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run-rate revenue,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$75M to $2B in 16 months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Expert-data demand is exploding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10x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Mercor valuation,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$2B to $20B in 17 months (in talks)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Capital is doubling down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18x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Snorkel AI new data business,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growth in one year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919472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Demand shifts to experts and envs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Deedy Das market map (Jul 2026); Mercor (TechCrunch, Dealroom); Snorkel AI (Sep 2026). 2030 figure is a company estimate.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Why us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Three shifts in RSI in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We already deliver on each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583680" y="1572768"/>
            <a:ext cx="5056632" cy="32735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changed in 2026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6812280" y="1591056"/>
            <a:ext cx="3657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SimReal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548640" y="188366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731520" y="2011680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does research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731520" y="239572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OpenAI: 3.1 agent-workdays per researcher-workday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731520" y="2633472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OpenAI, Sep 2026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6172200" y="1883664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6812280" y="1883664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MLBench: the exam for AI research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302 GitHub stars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548640" y="287121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731520" y="2999232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improves itself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731520" y="338328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 agent rewrote its own code: 7 gains in 8 days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731520" y="3621024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Weco AIDE², Sep 2026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172200" y="2871216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6812280" y="2871216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working in trading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Up to +12% on unseen days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85876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986784"/>
            <a:ext cx="5669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Environments are the bottleneck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731520" y="437083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Noisy env: top agents fall from 83.9% to 57.6%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731520" y="4608576"/>
            <a:ext cx="5669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Breaking the Environment Wall, Sep 2026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6172200" y="3858768"/>
            <a:ext cx="365760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812280" y="3858768"/>
            <a:ext cx="4736592" cy="98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200K+ experts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Millions of tasks delivered in 3 weeks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84632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/>
          <p:nvPr/>
        </p:nvSpPr>
        <p:spPr>
          <a:xfrm>
            <a:off x="548640" y="5138928"/>
            <a:ext cx="11091672" cy="6217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777240" y="5138928"/>
            <a:ext cx="1188720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ewsreader"/>
                <a:cs typeface="Newsreader"/>
                <a:sym typeface="Newsreader"/>
              </a:rPr>
              <a:t>So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828800" y="5138928"/>
            <a:ext cx="9628632" cy="621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C4C0B7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RSI is gated by environments, our core research. </a:t>
            </a: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neolabs have no revenue; we hit $7M ARR in 24 days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Sources: OpenAI (Sep 6, 2026); Weco AI, arXiv 2609.26457; Breaking the Environment Wall, arXiv 2609.29773; Deedy Das neolab list (May 2026). +12% is the best of several replications.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Traction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Founded September 10, 2026.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 ARR in 24 days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901952"/>
            <a:ext cx="11091672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68096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14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7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Products shipped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Trading training loop working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3390138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3609594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Week 3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390138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10+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3390138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Types of data delivered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31636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451092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231636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$7M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231636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ARR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6231636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No outside capital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073134" y="1837944"/>
            <a:ext cx="146304" cy="146304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292590" y="1536192"/>
            <a:ext cx="2292858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Day 24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073134" y="2103120"/>
            <a:ext cx="256717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602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073134" y="2779776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GitHub stars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9073134" y="307238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5 open benchmarks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3401568"/>
            <a:ext cx="110916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Days counted from founding; as of October 4, 2026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7673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548640" y="38770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Customers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48640" y="411480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2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4773168"/>
            <a:ext cx="24688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Frontier labs in talks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429000" y="3877056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Training infrastructure: more training per unit of compute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3429000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3429000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1/4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429000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Time per rollout cut to a quarter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6257544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6257544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+64%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6257544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More scored attempts on the same resources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9086088" y="4114800"/>
            <a:ext cx="255422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9086088" y="4169664"/>
            <a:ext cx="25542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9086088" y="4773168"/>
            <a:ext cx="255422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Checkpoint time down a third; half as many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Infrastructure figures are internal tests on different bases; do not multiply or add them.</a:t>
            </a:r>
          </a:p>
        </p:txBody>
      </p:sp>
      <p:sp>
        <p:nvSpPr>
          <p:cNvPr id="5041" name="SimReal 5041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2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Company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Opportunity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Product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Edge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Traction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Customers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AI frontier labs first, 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then enterprise agents and personal agents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29184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Now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FAF9F6"/>
                </a:solidFill>
                <a:latin typeface="Newsreader"/>
                <a:ea typeface="Newsreader"/>
                <a:cs typeface="Newsreader"/>
                <a:sym typeface="Newsreader"/>
              </a:rPr>
              <a:t>AI frontier labs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41248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Environments and data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 train stronger models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841248" y="3950208"/>
            <a:ext cx="2929128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841248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41248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FAF9F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Env licenses, training data, evals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337304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29912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Next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4629912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Enterprise agents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4629912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4629912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Turn workflows into practice tasks;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train and test before go-live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4629912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4629912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629912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Custom envs and acceptance evals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25968" y="1572768"/>
            <a:ext cx="3514344" cy="32918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18576" y="1792224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Then · B2C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418576" y="20482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4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Personal agents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418576" y="2761488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33322F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they need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418576" y="2999232"/>
            <a:ext cx="2929128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that knows them</a:t>
            </a: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and fits their day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418576" y="3950208"/>
            <a:ext cx="2929128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418576" y="4059936"/>
            <a:ext cx="296570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IBM Plex Mono"/>
                <a:cs typeface="IBM Plex Mono"/>
                <a:sym typeface="IBM Plex Mono"/>
              </a:rPr>
              <a:t>What we provide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418576" y="4279392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1" i="0" u="none" strike="noStrike" cap="none">
                <a:solidFill>
                  <a:srgbClr val="111110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AI tuned to personal habits, fast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12064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ewsreader"/>
                <a:cs typeface="Newsreader"/>
                <a:sym typeface="Newsreader"/>
              </a:rPr>
              <a:t>One set of environments, 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ewsreader"/>
                <a:cs typeface="Newsreader"/>
                <a:sym typeface="Newsreader"/>
              </a:rPr>
              <a:t>three customer groups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32588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Confidential  ·  For invited investors only  ·  October 2026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IBM Plex Mono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