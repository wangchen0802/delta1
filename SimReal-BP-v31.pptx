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1" r:id="rId7"/>
    <p:sldId id="263" r:id="rId9"/>
    <p:sldId id="275" r:id="rId21"/>
    <p:sldId id="264" r:id="rId10"/>
    <p:sldId id="265" r:id="rId11"/>
    <p:sldId id="259" r:id="rId5"/>
    <p:sldId id="269" r:id="rId15"/>
    <p:sldId id="270" r:id="rId16"/>
    <p:sldId id="271" r:id="rId17"/>
    <p:sldId id="266" r:id="rId12"/>
    <p:sldId id="267" r:id="rId13"/>
    <p:sldId id="268" r:id="rId14"/>
    <p:sldId id="272" r:id="rId18"/>
    <p:sldId id="278" r:id="rId45"/>
    <p:sldId id="279" r:id="rId46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46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78638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从交易开始：用可复现的结算给Agent打分、训练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面向AI实验室的金融与专业领域训练环境与数据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人民币4,000万元（等值美元）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把交易等专业工作做成AI的训练环境：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可计分、可复现、可训练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金融领域训练环境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把交易等专业工作做成可计分、可复现的环境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卖给实验室：环境授权、Agent轨迹、评测数据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7个基准与环境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交易、事件预测、AI研究、数学、推理、财务、软件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5个公开仓库；零外部融资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初步证据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Qwen3.8-27B在未见过的竞赛交易日上最高提升12%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【待补：N次运行均值与95%置信区间】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量化背景创始团队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剑桥、LSE、杜克数学；2005年生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约20家买家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金融类环境每家每年40万–200万美元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按Epoch AI定价自下而上推算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人民币（等值美元）；投后估值5亿元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12个月目标：2–3家付费实验室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先在金融拿下2–3家付费实验室，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再把同一套方法复制到下一个领域。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奥赛与名校 → 华尔街最残酷的交易台：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我们最懂做题与做事的差距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汇丰港元稳定币发行项目唯一实习生，全程协助推进香港金管局（HKMA）合规项目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剑桥机器学习暑研，师从著名统计学教授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参与落地Plug and Play香港首场活动（联合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香港科技园）；担任强生MedTech科技峰会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主持人（均200+人规模）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三人全职【待确认】；放弃【机构名】转正offer；</a:t>
            </a: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【待补：顾问、IMC Prosperity名次】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实验室已经在为环境和专家数据付费；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Agent开始碰钱，在交易里却还会亏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实验室在买环境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2万–30万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单个RL环境价格（美元）；合同每季度六到七位数（Epoch AI）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专家数据在放量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27倍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Agent开始碰钱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10亿美元+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Instinct创始人披露的年交易额，约一半是旅行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数千万美元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011680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英伟达一个季度付给Mercor的专家数据费用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323076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323076" y="3456432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2026年7月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86116" y="3456432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Mercor收购RL环境公司Deeptune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18倍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AI年化收入一年增至3.75亿美元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323076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323076" y="3968496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15亿美元+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86116" y="3968496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谷歌与RL环境公司Mechanize的交易（据报道）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011680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 Arena：前沿模型实盘交易，32轮只有6轮赚钱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323076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323076" y="4480560"/>
            <a:ext cx="14173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2/7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786116" y="4480560"/>
            <a:ext cx="385419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PolyBench：7个前沿模型在Polymarket上只有2个盈利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/>
          <p:nvPr/>
        </p:nvSpPr>
        <p:spPr>
          <a:xfrm>
            <a:off x="6323076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548640" y="526694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来源：Epoch AI；Mercor（TechCrunch、Dealroom、The Information、福布斯）；Instinct（创始人播客，2026年9月）；Snorkel AI（路透社）；Mechanize（Business Insider）；Alpha Arena（Nof1）；PolyBench（arXiv）。详见A2。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79776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79776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79776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832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832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832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832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867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9867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9867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986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照着下注却亏钱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5902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6634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证据：Alpha Arena实盘赛中，前沿模型32轮只有6轮赚钱；PolyBench中，7个前沿模型只有2个在Polymarket上盈利。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用真实结果结算每个动作的世界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一个训练回合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以交易为例：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从拿到数据到被计分，全程可复现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640080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005840" y="15544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拿到数据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423160" y="155448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历史订单簿与成交、仓位上限、产品规则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0312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0312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05840" y="21031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做研究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423160" y="210312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受限的文件、Python、回测与可视化工具；6或12小时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65176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6517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005840" y="26517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提交策略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423160" y="265176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写出Trader.run(state)，确认后不可撤回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20040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004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05840" y="320040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回放撮合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423160" y="320040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在留出交易日上逐笔撮合，成交按下单时的订单簿归因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74904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374904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05840" y="374904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计分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423160" y="374904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总分 = max(0, 盈亏 − 0.1×回撤) × 夏普系数；人类最佳记80分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29768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429768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05840" y="42976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再训练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423160" y="429768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高分回合的轨迹进入下一轮训练（专家迭代）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846320"/>
            <a:ext cx="64008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7269480" y="1554480"/>
            <a:ext cx="4370832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543800" y="1755648"/>
            <a:ext cx="38221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一次真实运行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543800" y="2011680"/>
            <a:ext cx="38221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【待补：截图或数字】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543800" y="2560320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543800" y="256032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 · 任务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902952" y="256032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【】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7543800" y="2980944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7543800" y="2980944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 · 最大回撤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902952" y="2980944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【】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543800" y="3401568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543800" y="3401568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夏普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902952" y="3401568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【】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7543800" y="3822192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7543800" y="3822192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得分（人类最佳80）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902952" y="3822192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【】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543800" y="4242816"/>
            <a:ext cx="38221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43800" y="4242816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用时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9902952" y="424281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【】小时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评分来自模拟器，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不来自另一个AI的意见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85216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来源：Xitadel-QuantBench公开仓库（README、REPORT、SCORING）。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AI完成任务，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真实结果成为下一轮训练信号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64592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834640" y="164592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按真实规则重建专业场景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4688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468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46888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结果评分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834640" y="24688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按真实结果打分，不靠另一个AI的主观判断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2918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918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291840"/>
            <a:ext cx="1554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专家反馈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834640" y="329184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提供专业判断与评分标准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1480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114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834640" y="411480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同一套环境，打通评测、数据与训练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64592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64592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AI行动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24028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4688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4688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环境按规则作出反应，结果可复现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0632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2918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2918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按真实结果结算，留下Agent轨迹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8862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11480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1148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下一轮训练：用成功轨迹迭代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每一轮用真实结果筛出成功轨迹再训练：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今天是专家迭代，长期目标是RSI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旗舰实证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两周，我们跑通了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做市交易的迭代训练闭环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竞赛级市场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828800" y="1554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回放IMC Prosperity交易竞赛订单簿，按规则撮合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模拟器当裁判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828800" y="20116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按盈亏、回撤与夏普计分，不用AI打分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4688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468880"/>
            <a:ext cx="1234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对标人类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82880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同一留出交易日上的最佳人类竞赛策略记80分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9260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980944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初步结果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3108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743200" y="3145536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开源模型Qwen3.8-27B训练后，</a:t>
            </a:r>
            <a:br>
              <a:rPr lang="zh-CN" sz="1250"/>
            </a:br>
            <a:r>
              <a:rPr lang="zh-CN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在未见过的竞赛交易日上表现最高提升12%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3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【待补：运行次数、均值、95%置信区间】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1513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261104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交易是第一个跑通迭代训练的领域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08576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下一步：更多留出日与随机种子，再接真实行情数据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812280" y="1554480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086600" y="1755648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Xitadel公开预览版：7个任务，人类最佳=80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086600" y="1993392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GPT-6在5/7个任务追平人类；多资产仅51分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086600" y="4608576"/>
            <a:ext cx="4279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总分为7个任务均分；公开结果用2/4小时试点时长（标准6/12小时）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0588752" y="2697480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9857232" y="247802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人类最佳 80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086600" y="28803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GPT-6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321040" y="2926080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908146" y="28803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7086600" y="33009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321040" y="3346704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229698" y="330098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086600" y="37216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8321040" y="3767328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9160532" y="3721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7086600" y="41422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8321040" y="4187952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72659" y="41422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产品矩阵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14天上线7个基准与环境，已有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5个公开仓库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产品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领域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状态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28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2880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2880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2880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回放竞赛订单簿，按盈亏、回撤与夏普计分；已跑通迭代训练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2880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3134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31343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31343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AI研究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31343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60个研究任务、7类数据，参照OpenAI的MLE-bench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31343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178星标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798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79806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79806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79806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预测真实事件，揭晓后按结果训练；数据实时接入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79806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部分开源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82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28269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328269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数学证明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328269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让AI证明答案，而不是猜答案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328269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102星标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76732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76732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逻辑推理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76732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749道人工编写的推理谜题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76732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17星标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251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425196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425196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财务结账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425196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让AI零差错完成月结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425196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365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73659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73659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软件工程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73659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检验AI写的代码能否挺过下一个版本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73659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已上线  ·  非公开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5221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以上全部在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零外部融资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下完成。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486400" y="5394960"/>
            <a:ext cx="61539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400星标（2026年9月29日）；使用数据【待补：外部提交、下载、跑分机构数】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环境与专家网络，产出三类AI数据：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Agent轨迹、专家数据、评测数据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AI在真实环境中完成多步任务的全过程：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每一步动作、世界的反馈、最终结果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按真实结果标注成败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背靠21所顶尖大学的学生和校友网络：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真实工作里的示范、判断与评分标准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覆盖各行业入门岗位与顶尖科研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用于对齐、奖励模型与评分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05456"/>
            <a:ext cx="296570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私有评测集与留出集：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只用于检验，从不参与训练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上线前经过攻防测试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用于模型验收与持续评测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133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和只卖人工数据的公司不同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同源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463040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数据、评分与训练，共用一套环境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4337304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可验证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1704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轨迹成败由真实结果判定，不靠人工意见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462272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会生长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040368" y="4462272"/>
            <a:ext cx="25999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模型错在哪，下一批数据就补到哪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训练数据与RL环境，今天已是年收入约85亿美元的生意：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这两样，我们都做</a:t>
            </a: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每一轮都有新交付：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合作越深，收入越高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三条产品线   </a:t>
            </a: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  ·  AI数据（Agent轨迹、专家、评测） ·  迭代训练服务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0" y="1499616"/>
            <a:ext cx="34107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同一模式：AfterQuery 14个月做到年化1亿美元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31520" y="20665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合作阶段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2926080" y="20665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客户买什么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8076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收费依据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595360" y="2066544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为什么继续买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35915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143000" y="23591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26080" y="23591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一项能力的环境、数据与评测包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080760" y="23591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固定范围、固定验收标准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595360" y="235915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验证接入与训练价值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9260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31520" y="29260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143000" y="292608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正式授权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926080" y="29260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环境、任务集、验证器、约定使用权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080760" y="2926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期限、范围、独占性；数据按交付量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595360" y="29260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扩大领域与任务覆盖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4930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" y="349300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143000" y="349300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26080" y="3493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新场景、新任务、新轨迹、私有留出集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4930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年度合同或分批订单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595360" y="34930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旧任务会饱和，新能力需要新数据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" y="405993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143000" y="405993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926080" y="405993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训练实验、消融分析、迁移验证、托管运行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080760" y="40599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595360" y="405993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解决客户下一阶段的能力缺口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86384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公开预览（免费）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86384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7个任务、训练数据、SDK、计分规则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用来建立信任：跑分即获客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4322064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付费授权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559808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撮合引擎、对手方模型、留出交易日、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储备任务、奖励接口、定制任务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095488" y="4882896"/>
            <a:ext cx="3544824" cy="11521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单位经济【待补】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333232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一个环境搭建【X人·天】，第2家边际成本【X】</a:t>
            </a:r>
          </a:p>
          <a:p>
            <a:pPr marL="0" marR="0" lvl="0" indent="0" algn="l" rtl="0">
              <a:spcBef>
                <a:spcPts val="367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试点报价【$X】；行业单价2万–30万美元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50094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607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904791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50498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产品已公开；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商业化以意向订单为准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90138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【X】份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意向订单 / 付费试点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【待补】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【待补：已验证人数】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9073134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【X】次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外部跑分与提交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【待补：榜单、下载】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2004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管线（逐行填写，可被核实）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43814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345643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客户（国家 · 类型）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17520" y="3456432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对接人角色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846320" y="3456432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阶段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2240" y="345643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试点范围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595360" y="345643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报价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058400" y="3456432"/>
            <a:ext cx="15819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预计时间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3712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371246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【实验室A】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017520" y="371246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【后训练负责人？】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846320" y="371246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【已跑评测？】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492240" y="371246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【】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595360" y="37124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【$】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058400" y="371246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【】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398678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【实验室B】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017520" y="398678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【】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846320" y="398678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【洽谈】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92240" y="39867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【】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595360" y="398678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【$】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058400" y="398678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【】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548640" y="42611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548640" y="426110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【交易机构C】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3017520" y="4261104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【】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4846320" y="4261104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【】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6492240" y="426110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【】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8595360" y="426110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【$】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058400" y="4261104"/>
            <a:ext cx="15819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【】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548640" y="45354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548640" y="46451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支持我们研发的交易机构从业者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9616745" y="499262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548640" y="5632704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标识仅表示支持者任职机构，不代表机构背书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7,000+专家已报名候补，来自21所顶尖大学的学生和校友：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专家数据的源头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已报名候补（可触达20万+）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21所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顶尖大学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入门岗位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00200" y="2852928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每个行业，AI最先接手的工作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顶尖科研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00200" y="3255264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最难的问题，最难的判断标准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向上延伸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0020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成员逐年晋升，网络延伸到资深与高层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网络覆盖的部分高校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每做一个领域，资产都会留下来：</a:t>
            </a:r>
            <a:r>
              <a:rPr lang="zh-CN" sz="13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专家网络 → 专家数据与判断标准 → 环境与验证器 → 失败案例库 → </a:t>
            </a: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复用到下一个领域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网络覆盖不等于已注册或参与交付；高校标识不代表学校背书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市场规模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按实验室采购价自下而上：金融一个领域，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每年约800万–4,000万美元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① 单价（Epoch AI）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2万–30万美元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每个RL环境：网站复刻约2万，Slack级产品约30万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935224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单个任务（美元）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478024" y="293522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200–2,000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319272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实验室合同（每季度，美元）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478024" y="331927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六到七位数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548640" y="3703320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金融环境：撮合、仓位、风险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478024" y="37033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偏复杂一端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② 买家 × 年采购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约20家实验室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398264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中美做Agent强化学习后训练的实验室（名单见A2）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2935224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每家每年 · 金融类（美元）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327648" y="293522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40万–200万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98264" y="331927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98264" y="3319272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金融一个领域（美元）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327648" y="331927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800万–4,000万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4398264" y="3703320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4398264" y="3703320"/>
            <a:ext cx="19293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3个已上线领域（美元）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327648" y="37033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0.24亿–1.2亿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247888" y="1517904"/>
            <a:ext cx="339242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③ 我们的12个月目标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2–3家付费实验室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85632" y="2542032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每家年合同（美元）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939528" y="254203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40万–100万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85632" y="2926080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85632" y="2926080"/>
            <a:ext cx="145389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年化收入（美元）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939528" y="29260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100万–300万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485632" y="3456432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【待补：意向订单与试点报价，用来校准这两行】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485632" y="4032504"/>
            <a:ext cx="291693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今天训练数据与RL环境供应商年收入</a:t>
            </a:r>
            <a:br>
              <a:rPr lang="zh-CN" sz="1000"/>
            </a:b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合计约85亿美元：这个目标不到其0.05%。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先在金融拿下20家买家中的2–3家，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再把同一套方法复制到下一个领域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来源：单价与合同规模见Epoch AI《An FAQ on RL environments》（2026）；行业收入见Menlo Ventures合伙人Deedy Das（2026.7）。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买家约20家为我们按公开信息统计；每家年采购与12个月目标为假设，待意向订单校准。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竞争格局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别人做一环，我们做让AI持续进步的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完整闭环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专家数据平台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Mercor、Surge、Handshake、AfterQuery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17904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专家示范与判断，按人工意见打分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正进入RL环境：Mercor收购Deeptune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中国同行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UniPat、Humanlaya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286000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专家数据、评测环境与基准；主要服务国内实验室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1272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AI交易评测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77240" y="347472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Nof1（Alpha Arena）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291840" y="3054096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实盘对战榜单：只评测，不训练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2026年5月融资1,500万美元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0416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3291840" y="3822192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只做自己熟悉的领域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46634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 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5010912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环境、数据、评分、迭代训练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4590288"/>
            <a:ext cx="3474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同一套环境打通数据、评分与训练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每次结果都进入下一轮，AI越练越强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我们的优势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金融know-how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把回撤和夏普写进评分：修好一个人类策略后盈亏+63%，夏普却从7.27跌到3.03，只看盈亏会选错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评分可验证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模拟器计分、留出交易日、结果哈希公开：同一策略永远得同一分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自有资产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环境构建工具、验证器、专业任务库和失败案例积累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14天7款产品，两周跑通做市交易的迭代训练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国内现状  </a:t>
            </a: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据彭博报道，阿里拟领投UniPat 3亿美元（估值25亿美元）；Humanlaya完成鼎晖领投的数亿元Pre-A；阿里、字节、DeepSeek等都买过两家的数据或服务。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做过交易台的人，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知道回测和实盘差在哪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金融know-how，直接写进了环境的设计（见Xitadel计分规范）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撮合真实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订单排队、穿价或挂在后面；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每笔成交按下单时的订单簿归因，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主动、被动成交分开算，过期订单计入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11624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风险进奖励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总分 = max(0, 盈亏 − 0.1×回撤) × 夏普系数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修好一个人类策略后，盈亏+63%，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夏普却从7.27跌到3.03：只看盈亏会选错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8125968" y="1755648"/>
            <a:ext cx="3514344" cy="20116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400288" y="193852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防钻空子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400288" y="2487168"/>
            <a:ext cx="2965704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最后一个交易日留出，训练时不可见；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结果哈希预先公开，事后不能挑；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同一策略永远得同一分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交易台经验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337304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交付速度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37304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14天上线7个基准与环境，零外部融资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4005072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25968" y="4078224"/>
            <a:ext cx="3514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【待补】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25968" y="4443984"/>
            <a:ext cx="3514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IMC Prosperity名次 · 全职状态 · 顾问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交易里学到的纪律，正是RL环境最缺的：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不让模型钻评分的空子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融资计划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本轮融资人民币4,000万元，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投后估值5亿元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601468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86384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人民币，等值美元投资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16452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16452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投前估值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4.6亿元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46520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9038844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9276588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276588" y="1810512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76588" y="2304288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人民币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68833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本轮目标 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12个月：2–3家付费实验室，年化收入100万–300万美元；交易与事件预测上的训练增益通过显著性检验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2369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估值参照：同类公司的早期轮次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86384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Applied Compute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86384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86384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种子轮投后（2025年6月）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86384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RL后训练；种子轮2,000万美元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78708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16452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Mirendil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16452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10亿美元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16452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种子轮投后（2026年6月）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616452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自我改进AI；a16z、Kleiner领投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208776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446520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海外 · Nof1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446520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1,500万美元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446520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AI交易评测融资额（2026年5月）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446520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 Arena；SUI Group等领投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38844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276588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国内 · 超衍智能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276588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近4亿元人民币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9276588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自进化（RSI）天使轮（2026年9月）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9276588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IDG资本等领投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065776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同类公司种子轮投后1亿–10亿美元；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本轮投后5亿元人民币（约7,400万美元）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59612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Compute、Mirendil为投后估值；Nof1、超衍智能为融资额；美元按2026年9月30日中间价6.7351折算。来源见A2。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资金用途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两台引擎：收入引擎赚今天的钱，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研发引擎把训练增益做实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41148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收入引擎  · 投入2,000万元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环境一次搭建，授权给多家实验室；数据按交付量收费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294436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755648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环境生产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944368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按行业批量搭建训练环境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41248" y="325526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248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755648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数据生产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944368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600万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755648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交付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944368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接入、验收与持续更新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387705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387705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300万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755648" y="3877056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销售与运营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944368" y="3877056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前沿实验室、企业与Agent开发者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41248" y="418795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41248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【X】名环境工程师 · 【X】名交付 · 【X】名商务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跑道【18–24】个月；行业环境单价2万–30万美元（Epoch AI）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1248" y="49560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124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124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首个付费试点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44906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44906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第2家授权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05688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05688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年化100–300万美元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31636" y="1517904"/>
            <a:ext cx="5408676" cy="41148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研发引擎  · 投入2,000万元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迭代训练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524244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先把一个领域的训练增益做实，再复制到下一个领域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6524244" y="294436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6524244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900万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438644" y="2944368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算力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627364" y="2944368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迭代训练、消融与显著性检验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524244" y="325526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524244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700万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438644" y="3255264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研究团队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627364" y="3255264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交易之后：事件预测、财务结账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400万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438644" y="3566160"/>
            <a:ext cx="11430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实盘与合规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627364" y="3566160"/>
            <a:ext cx="27203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小资金检验训练效果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6524244" y="387705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6524244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【X】名研究员 · 【X】万GPU小时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交易 → 事件预测 → 财务结账：每个领域先证明增益，再规模化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524244" y="49560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52424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3个月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52424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交易增益显著性检验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813206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6个月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813206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事件预测验证增益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73988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12个月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973988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小资金实盘验证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里程碑为本轮目标。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62" name="SimReal 506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315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每个行业最强的AI，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都出自我们的世界。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三个世界已上线：交易、AI研究、事件预测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衍真  ·  让AI在真实世界里自我进化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Xitadel：测试了什么，怎么测的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46304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46304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环境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46304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IMC Prosperity 3、4交易竞赛的订单簿数据（开源回测资源，MIT许可），7个任务；撮合与计分在SimReal引擎上运行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116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模型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0116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开源模型Qwen3.8-27B，比较训练前后表现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560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603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测试数据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5603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每个任务最后一个完整交易日留出，训练时不可见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108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10896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结果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10896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最高提升12%；【待补：运行次数、均值、95%置信区间、p值】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65760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局限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65760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竞赛市场由交易机器人构成，不等于交易所真实行情；回放不计我方订单对价格的冲击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20624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20624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公开基准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20624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Xitadel公开预览版：最佳人类竞赛策略记80分；前沿模型最高77.28（GPT-6），尚无模型越过人类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7548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548640" y="47548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尽调材料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103120" y="47548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运行记录、指标定义与脚本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53035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证据：实验设计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12%是初步结果；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我们按这套方法报告显著性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2926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19072"/>
            <a:ext cx="48600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现在有什么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822960" y="2249424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22960" y="2249424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任务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645920" y="2249424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7个：做市、篮子、期权、转换、多资产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2779776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2779776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留出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1645920" y="2779776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每个任务1个交易日，共7个测试点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310128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310128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对比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45920" y="3310128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Qwen3.8-27B，训练前后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822960" y="3840480"/>
            <a:ext cx="486003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822960" y="3840480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645920" y="3840480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单次最佳+12%；【待补：已跑次数、逐任务结果】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31636" y="1517904"/>
            <a:ext cx="5408676" cy="29260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505956" y="1719072"/>
            <a:ext cx="48600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下一步要报告的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505956" y="2249424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505956" y="2249424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种子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28916" y="2249424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 × 10个随机种子，训练前后配对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6505956" y="2779776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6505956" y="2779776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统计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328916" y="2779776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均值、95%置信区间、配对检验p值、逐任务增减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505956" y="3310128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310128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复验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328916" y="3310128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储备任务做第二组留出；事件预测跨领域复验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6505956" y="3840480"/>
            <a:ext cx="48600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6505956" y="3840480"/>
            <a:ext cx="8229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时间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328916" y="3840480"/>
            <a:ext cx="403707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【3个月内】完成，原始记录可审计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48640" y="460857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第二份证据 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FuturePredict用真实事件结算。【待补：已结算题数、训练前后Brier分数或收益】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只报能复现的数字：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原始记录与结果哈希在尽调时提供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数据来源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公司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Mercor年化收入：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TechCrunch（2025年2月，7,500万美元）；Sacra（2025年12月，7.6亿美元）；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Dealroom、福布斯（2026年6月，20亿美元）。均为毛营收，专家拿走60–70%（彭博）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Mercor估值与收购：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C轮100亿美元（2025年10月）；200亿美元估值仍在洽谈（彭博、The Information）；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2026年7月9日宣布收购RL环境公司Deeptune（福布斯）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Handshake：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AI训练业务年化毛营收近10亿美元（The Information，2026年4月）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路透社、TechCrunch，2026年9月22日（以35亿美元估值融资3.5亿美元；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年化收入3.75亿美元，一年增长约18倍）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Wire（2026年4月，A轮估值3亿美元，年化收入1亿美元）；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YC公司页（联合创始人曾在Citadel Securities实习）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Mechanize：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Insider（2026年8月、9月）：谷歌人才与技术授权交易，据报道逾15亿美元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彭博，2026年9月10日（阿里拟领投3亿美元，据报道估值25亿美元，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腾讯、红杉中国参与，谈判仍在进行；阿里、字节、DeepSeek等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买过UniPat与Humanlaya的数据或服务）；36氪（2026年9月24日）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2025年成立；2026年9月完成数亿元人民币Pre-A，鼎晖领投，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红杉中国、今日资本、BAI参投（界面新闻、东方财富）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Upstarts（2025年6月）：种子轮2,000万美元，投后1亿美元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Mirendil：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彭博（2026年6月、9月）：自我改进AI实验室，种子轮2亿美元，估值约10亿美元，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a16z与Kleiner Perkins联合领投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Nof1：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 Wire（2026年5月）：融资1,500万美元，SUI Group联合领投；Alpha Arena实盘赛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超衍智能：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36氪（2026年9月16日）：自进化（RSI）模型公司，天使与天使+轮合计近4亿元，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IDG资本、星连资本、晶泰科技领投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市场与研究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训练数据供应商收入：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Menlo Ventures合伙人Deedy Das，AI训练数据全景图（2026年7月）：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50余家公司合计收入约85亿美元（部分为毛营收）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RL环境定价：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AI《An FAQ on RL environments》（2026年）：网站复刻环境约2万美元，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Slack级产品约30万美元；单个任务200–2,000美元；合同通常每季度六到七位数美元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潜在买家（约20家）：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OpenAI、Google DeepMind、Meta、xAI、微软、亚马逊、英伟达、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Thinking Machines、Reflection AI、Applied Compute；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阿里、字节、DeepSeek、月之暗面、智谱、MiniMax、阶跃星辰、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腾讯、小米、百度（我们按公开信息统计）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英伟达与Mercor：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Information（2026年8月）：英伟达上季度向Mercor支付数千万美元专家数据费用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Instinct：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创始人Noah Shinn（Invest Like the Best播客，2026年9月）：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年交易额10亿美元以上，约一半为旅行；路透社（2026年9月28日）：估值100亿美元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Alpha Arena：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Nof1（2026年5月融资公告）：前沿模型实盘交易32轮仅6轮盈利，整体资金亏约三分之一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事件预测：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PolyBench（arXiv 2604.14199，2026年4月）：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7个前沿模型在38,666个Polymarket市场模拟交易，仅2个取得正收益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Xitadel数据与结果：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IMC Prosperity 3、4竞赛回测资源，MIT许可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（GitHub：jmerle/imc-prosperity-3-backtester等）；</a:t>
            </a:r>
            <a:br>
              <a:rPr lang="zh-CN" sz="850"/>
            </a:b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人类基准取自已公开的竞赛提交（6支队伍）；逐任务得分见公开报告REPORT.md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汇率：</a:t>
            </a:r>
            <a:r>
              <a:rPr lang="zh-CN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2026年9月30日人民币对美元中间价6.7351（中国外汇交易中心）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zh-CN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附录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术语表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让AI反复做真实工作、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从结果中学习的系统，即RL环境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AI完成一项任务的全过程：每一步动作、世界的反馈与最终结果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真实反馈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真实发生的结果为AI的每个动作结算：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盈亏、账目、代码能否运行、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事件是否发生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自我进化（RSI）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递归式自我改进：AI参与改进下一代AI；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每轮真实结果都成为下一轮的训练数据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留出集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只用于检验、从不参与训练的任务，防止模型背答案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专家迭代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用真实结果筛出成功轨迹，再拿来训练；今天做的是这一环，RSI是长期目标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受控实验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只改一个条件（是否在Xitadel训练），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比较前后表现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年化毛营收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按当前收入推算的全年收入，含付给专家的部分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19088"/>
            <a:ext cx="640080" cy="17282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市场与竞争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风险与对策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把风险写在前面：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每一条都有对应的验证节点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风险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743200" y="15544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现状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80760" y="15544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对策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418320" y="1554480"/>
            <a:ext cx="22219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验证节点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470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4708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仿真与真实市场的差距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743200" y="184708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公开版用竞赛订单簿，回放不计我方订单的冲击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080760" y="184708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接入真实行情数据；小资金实盘检验训练效果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418320" y="184708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12个月：小资金实盘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4871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48716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数据权属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743200" y="248716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公开版用Prosperity开源回测资源，不主张第三方数据权利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080760" y="248716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付费版改用自有或授权数据，交付附授权链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418320" y="248716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首个付费试点前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127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312724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统计显著性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743200" y="312724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每个任务只有1个留出交易日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080760" y="312724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多种子、储备任务、跨领域复验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418320" y="312724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3个月：报告置信区间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76732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买家集中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743200" y="376732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约20家实验室占大部分需求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76732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同一环境授权多家；延伸到交易机构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418320" y="376732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6个月：第2家授权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407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4407408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跨境合规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743200" y="440740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中国团队，服务中美实验室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080760" y="4407408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数据按客户所在地区分开存储与交付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418320" y="4407408"/>
            <a:ext cx="222199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【待补：主体与架构】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5047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不过度美化：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每个数字都能在尽调里复现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。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691640" y="638251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机密  ·  仅供受邀投资机构内部评估使用  ·  2026年9月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