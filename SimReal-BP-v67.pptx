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59" r:id="rId5"/>
    <p:sldId id="262" r:id="rId8"/>
    <p:sldId id="264" r:id="rId10"/>
    <p:sldId id="261" r:id="rId7"/>
    <p:sldId id="272" r:id="rId18"/>
    <p:sldId id="269" r:id="rId15"/>
    <p:sldId id="275" r:id="rId21"/>
    <p:sldId id="266" r:id="rId12"/>
    <p:sldId id="271" r:id="rId17"/>
    <p:sldId id="270" r:id="rId16"/>
    <p:sldId id="267" r:id="rId13"/>
    <p:sldId id="268" r:id="rId14"/>
    <p:sldId id="278" r:id="rId45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  <p:embeddedFont>
      <p:font typeface="Noto Serif CJK SC" pitchFamily="18" charset="-122"/>
      <p:regular r:id="rIdSimRealCJK1"/>
    </p:embeddedFont>
    <p:embeddedFont>
      <p:font typeface="Noto Sans CJK SC" pitchFamily="34" charset="-122"/>
      <p:regular r:id="rIdSimRealCJK2"/>
      <p:bold r:id="rIdSimRealCJK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1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8.xml"/><Relationship Id="rIdSimRealCJK1" Type="http://schemas.openxmlformats.org/officeDocument/2006/relationships/font" Target="fonts/cjk1.fntdata"/><Relationship Id="rIdSimRealCJK2" Type="http://schemas.openxmlformats.org/officeDocument/2006/relationships/font" Target="fonts/cjk2.fntdata"/><Relationship Id="rIdSimRealCJK3" Type="http://schemas.openxmlformats.org/officeDocument/2006/relationships/font" Target="fonts/cjk3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8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1481328" y="5029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让AI在真实世界里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3200400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用真实数据，驱动AI精准行动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4526280"/>
            <a:ext cx="82296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成立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2026年9月10日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918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2918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人民币4,000万元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0350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商业计划书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0350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2026年10月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公司概述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衍真是一家AI新实验室（Neolab），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为下一代AI构建数据、强化学习环境与递归自我改进（RSI）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371600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SimReal, a neolab building data, RL environments and recursive self-improvement (RSI) for future AI.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收入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ARR 4,500万元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人民币，成立24天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零外部融资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52544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开源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GitHub 602星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352544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成立14天上线7款产品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其中5个开源基准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8156448" y="181051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研究成果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+12%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156448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成立两周在交易环境跑通训练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没见过的交易日上表现最高提升12%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团队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05后量化团队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剑桥、LSE、杜克数学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Street、Citadel、Optiver、Millennium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4352544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4352544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市场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352544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训练数据与RL环境，今天的年收入规模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 16个月收入涨27倍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156448" y="368503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156448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人民币，投后估值5亿元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投向环境、RSI与交付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团队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三位21岁创始人，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放弃首年合计600万+薪酬的工作，搭建下一代训练引擎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CEO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United Stables首位员工：U稳定币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一年从0做到14亿美元，一个月上线币安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负责机构合作，对接SIG、DRW等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汇丰港元稳定币项目唯一实习生，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参与香港金管局合规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伦敦Citadel对冲基金实习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LSE数学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美国数学奥林匹克（USAMO）入围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CTO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剑桥数学一等荣誉，奖学金获得者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剑桥AI研究中心最年轻的研究员，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导师Po-Ling Loh（国际数理统计学会会士）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Street、Citadel、Optiver量化经历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主导设计全部5个开源基准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剑桥数学竞赛全球前30 · 英国物理竞赛超级金奖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COO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Millennium香港数据科学家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Millennium另类数据团队首位应届生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参与筹办Plug and Play香港首场活动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（联合香港科技园，200+人）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杜克数学与统计 · 上海包玉刚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为什么是现在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训练的瓶颈从公开文本转到可验证的数据和环境，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钱已经在花，专业领域的供给还很少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瓶颈转向可验证数据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公开的人类文本预计2026–2032年用完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推理模型改靠强化学习提升：在环境里做题、自动判对错，产出可验证的训练数据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可验证的数据和环境，成了稀缺资源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4337304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钱已经在花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一道强化学习训练题卖200–2,000美元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 2026年7月收购环境公司Deeptune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RSI新实验室Recursive估值46.5亿美元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4611624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4611624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实验室和资本为数据、环境、RSI买单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125968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专业数据和环境还很少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400288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Meta、OpenAI 9月推出替人办事的Agent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但做交易、做财务，大模型仍频繁出错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00288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00288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先从对错最清楚的交易做起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828032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4828032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窗口期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11680" y="4828032"/>
            <a:ext cx="94000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RL环境赛道约20家早期公司，预计最后剩3–5家。</a:t>
            </a: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先做出效果的，先拿下长期合同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来源：Epoch AI（2026年1月）；TechCrunch（2026年7月）；SiliconANGLE（2026年5月）；Meta、OpenAI发布（2026年9月）；Wing VC（2026年）。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问题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AI会推理，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但干不好真实的活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636776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看上去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实际上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96596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6596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交易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196596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回测一路上涨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196596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196596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实盘行情里亏钱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694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56946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软件工程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56946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测试全部通过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56946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56946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一上线就出错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1729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172968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财务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172968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账看着做完了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172968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17296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月底对不上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77647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77647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事件预测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7764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分析头头是道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37764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37764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结果一出就错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799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6/32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286000" y="45720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前沿大模型拿真钱做交易，32轮只有6轮赚钱（Alpha Arena）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缺的是一个</a:t>
            </a:r>
            <a:r>
              <a:rPr lang="zh-CN" sz="21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按真实结果打分的训练场</a:t>
            </a: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交付物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环境每跑一遍，产出一条带验证的轨迹：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客户拿到的不只是数据，还有证据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6638544" cy="39319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7373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一条交易轨迹  ·  XITADEL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044184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示意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77240" y="202996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步骤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1325880" y="202996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类型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331720" y="202996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内容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777240" y="2267712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77240" y="230428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1325880" y="236829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4A4844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观察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2331720" y="230428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订单簿快照：买一 101.05，卖一 101.10；持仓 0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777240" y="267004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77240" y="267004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1325880" y="273405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C2410C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FFFF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行动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2331720" y="267004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限价买入 100股，价格 101.05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777240" y="303580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777240" y="303580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1325880" y="3099816"/>
            <a:ext cx="786384" cy="237744"/>
          </a:xfrm>
          <a:prstGeom prst="roundRect">
            <a:avLst>
              <a:gd name="adj" fmla="val 22000"/>
            </a:avLst>
          </a:prstGeom>
          <a:noFill/>
          <a:ln w="12700">
            <a:solidFill>
              <a:srgbClr val="FAF9F6"/>
            </a:solidFill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世界反应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2331720" y="303580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部分成交 60股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777240" y="340156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340156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1325880" y="346557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C2410C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FFFF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行动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2331720" y="340156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撤销剩余 40股，改价 101.08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777240" y="376732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777240" y="376732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1325880" y="3831336"/>
            <a:ext cx="786384" cy="237744"/>
          </a:xfrm>
          <a:prstGeom prst="roundRect">
            <a:avLst>
              <a:gd name="adj" fmla="val 22000"/>
            </a:avLst>
          </a:prstGeom>
          <a:noFill/>
          <a:ln w="12700">
            <a:solidFill>
              <a:srgbClr val="FAF9F6"/>
            </a:solidFill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世界反应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331720" y="376732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剩余全部成交，行情上行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777240" y="413308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777240" y="413308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1325880" y="419709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C2410C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FFFF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行动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2331720" y="413308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收盘前卖出 100股，价格 101.30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777240" y="449884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777240" y="449884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1325880" y="456285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E8E6E1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结算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2331720" y="449884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按盈亏、回撤、夏普计分</a:t>
            </a:r>
          </a:p>
        </p:txBody>
      </p:sp>
      <p:sp>
        <p:nvSpPr>
          <p:cNvPr id="5039" name="SimReal 5039"/>
          <p:cNvSpPr/>
          <p:nvPr/>
        </p:nvSpPr>
        <p:spPr>
          <a:xfrm>
            <a:off x="777240" y="486460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0" name="SimReal 5040"/>
          <p:cNvSpPr txBox="1"/>
          <p:nvPr/>
        </p:nvSpPr>
        <p:spPr>
          <a:xfrm>
            <a:off x="777240" y="4937760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验证器：通过 ✓</a:t>
            </a: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 ·    </a:t>
            </a:r>
            <a:r>
              <a:rPr lang="zh-CN" sz="125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结果哈希已预先公开</a:t>
            </a:r>
          </a:p>
        </p:txBody>
      </p:sp>
      <p:sp>
        <p:nvSpPr>
          <p:cNvPr id="5041" name="SimReal 5041"/>
          <p:cNvSpPr/>
          <p:nvPr/>
        </p:nvSpPr>
        <p:spPr>
          <a:xfrm>
            <a:off x="7351776" y="1572768"/>
            <a:ext cx="4288536" cy="12252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2" name="SimReal 5042"/>
          <p:cNvSpPr txBox="1"/>
          <p:nvPr/>
        </p:nvSpPr>
        <p:spPr>
          <a:xfrm>
            <a:off x="7589520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7589520" y="1938528"/>
            <a:ext cx="38313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完整轨迹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7589520" y="2359152"/>
            <a:ext cx="3831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每一步的观察、行动和世界的反应，可完整回放；用于监督微调与强化学习</a:t>
            </a:r>
          </a:p>
        </p:txBody>
      </p:sp>
      <p:sp>
        <p:nvSpPr>
          <p:cNvPr id="5045" name="SimReal 5045"/>
          <p:cNvSpPr/>
          <p:nvPr/>
        </p:nvSpPr>
        <p:spPr>
          <a:xfrm>
            <a:off x="7351776" y="2926080"/>
            <a:ext cx="4288536" cy="12252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 txBox="1"/>
          <p:nvPr/>
        </p:nvSpPr>
        <p:spPr>
          <a:xfrm>
            <a:off x="7589520" y="30906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7589520" y="3291840"/>
            <a:ext cx="38313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自动验证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7589520" y="3712464"/>
            <a:ext cx="3831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验证器按真实结果判定成败，不靠人工意见；评分器上线前先经过攻击测试</a:t>
            </a:r>
          </a:p>
        </p:txBody>
      </p:sp>
      <p:sp>
        <p:nvSpPr>
          <p:cNvPr id="5049" name="SimReal 5049"/>
          <p:cNvSpPr/>
          <p:nvPr/>
        </p:nvSpPr>
        <p:spPr>
          <a:xfrm>
            <a:off x="7351776" y="4279392"/>
            <a:ext cx="4288536" cy="12252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0" name="SimReal 5050"/>
          <p:cNvSpPr txBox="1"/>
          <p:nvPr/>
        </p:nvSpPr>
        <p:spPr>
          <a:xfrm>
            <a:off x="7589520" y="444398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51" name="SimReal 5051"/>
          <p:cNvSpPr txBox="1"/>
          <p:nvPr/>
        </p:nvSpPr>
        <p:spPr>
          <a:xfrm>
            <a:off x="7589520" y="4645152"/>
            <a:ext cx="38313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质检报告</a:t>
            </a:r>
          </a:p>
        </p:txBody>
      </p:sp>
      <p:sp>
        <p:nvSpPr>
          <p:cNvPr id="5052" name="SimReal 5052"/>
          <p:cNvSpPr txBox="1"/>
          <p:nvPr/>
        </p:nvSpPr>
        <p:spPr>
          <a:xfrm>
            <a:off x="7589520" y="5065776"/>
            <a:ext cx="3831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每批附污染检测、难度分布与验证通过率：无污染、可验证、高难度，一次给齐</a:t>
            </a:r>
          </a:p>
        </p:txBody>
      </p:sp>
      <p:sp>
        <p:nvSpPr>
          <p:cNvPr id="5053" name="SimReal 5053"/>
          <p:cNvSpPr txBox="1"/>
          <p:nvPr/>
        </p:nvSpPr>
        <p:spPr>
          <a:xfrm>
            <a:off x="548640" y="55961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数商卖人力，</a:t>
            </a: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衍真卖验证。</a:t>
            </a:r>
          </a:p>
        </p:txBody>
      </p:sp>
      <p:sp>
        <p:nvSpPr>
          <p:cNvPr id="5054" name="SimReal 5054"/>
          <p:cNvSpPr txBox="1"/>
          <p:nvPr/>
        </p:nvSpPr>
        <p:spPr>
          <a:xfrm>
            <a:off x="548640" y="608990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轨迹为示意。</a:t>
            </a:r>
          </a:p>
        </p:txBody>
      </p:sp>
      <p:sp>
        <p:nvSpPr>
          <p:cNvPr id="5055" name="SimReal 505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56" name="SimReal 5056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57" name="SimReal 505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Picture 237" descr="r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63040"/>
            <a:ext cx="6949440" cy="438253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解决方案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递归自我改进（RSI）：模型在环境里做题、被打分、补短板，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一圈比一圈强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7635240" y="1700784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衍真强在哪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7635240" y="19568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35240" y="2066544"/>
            <a:ext cx="40050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打分专业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635240" y="2468880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量化标准，最强模型77分，其余24–30分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7635240" y="28712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635240" y="2980944"/>
            <a:ext cx="40050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出题又快又准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635240" y="3383280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20万+专家把关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7635240" y="37856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7635240" y="3986784"/>
            <a:ext cx="4005072" cy="11887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909560" y="409651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效果已验证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7909560" y="4315968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9235440" y="4315968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表现最高提升12%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分数来自Xitadel公开测评；+12%为多次独立复现中的最佳一次。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Picture 300" descr="xitad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2928" y="1591056"/>
            <a:ext cx="8732520" cy="1280160"/>
          </a:xfrm>
          <a:prstGeom prst="rect">
            <a:avLst/>
          </a:prstGeom>
        </p:spPr>
      </p:pic>
      <p:pic>
        <p:nvPicPr>
          <p:cNvPr id="302" name="Picture 301" descr="mlben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2928" y="2980944"/>
            <a:ext cx="8732520" cy="1280160"/>
          </a:xfrm>
          <a:prstGeom prst="rect">
            <a:avLst/>
          </a:prstGeom>
        </p:spPr>
      </p:pic>
      <p:pic>
        <p:nvPicPr>
          <p:cNvPr id="303" name="Picture 302" descr="foreca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2928" y="4370831"/>
            <a:ext cx="8732520" cy="128016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产品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三个训练环境已上线，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每个动作都按真实结果打分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313432" cy="131673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11576304" y="1572768"/>
            <a:ext cx="64008" cy="131673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/>
          <p:nvPr/>
        </p:nvSpPr>
        <p:spPr>
          <a:xfrm>
            <a:off x="548640" y="1572768"/>
            <a:ext cx="45720" cy="131673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777240" y="1773936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交易环境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777240" y="1975104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Xitadel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777240" y="2322576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★  102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77240" y="2542032"/>
            <a:ext cx="1965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AI写交易策略，和人类比盈亏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548640" y="2962656"/>
            <a:ext cx="2313432" cy="131673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11576304" y="2962656"/>
            <a:ext cx="64008" cy="131673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/>
          <p:nvPr/>
        </p:nvSpPr>
        <p:spPr>
          <a:xfrm>
            <a:off x="548640" y="2962656"/>
            <a:ext cx="45720" cy="131673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777240" y="3163824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AI研究环境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777240" y="3364992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777240" y="3712464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★  302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77240" y="3931920"/>
            <a:ext cx="1965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AI做研究，和人类队伍比名次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4352544"/>
            <a:ext cx="2313432" cy="131673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/>
          <p:nvPr/>
        </p:nvSpPr>
        <p:spPr>
          <a:xfrm>
            <a:off x="11576304" y="4352544"/>
            <a:ext cx="64008" cy="131673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/>
          <p:nvPr/>
        </p:nvSpPr>
        <p:spPr>
          <a:xfrm>
            <a:off x="548640" y="4352544"/>
            <a:ext cx="45720" cy="131673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77240" y="4553712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事件预测环境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77240" y="4754880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FuturePredict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77240" y="5102352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★  27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777240" y="5321808"/>
            <a:ext cx="1965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AI预测真实事件，揭晓后打分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5742432"/>
            <a:ext cx="11091672" cy="34747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77240" y="5742432"/>
            <a:ext cx="107259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5个开源基准，GitHub 602星</a:t>
            </a: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：SimReal-MLBench 302  ·  Xitadel 102  ·  MathmoBench 101  ·  Puzzle 70  ·  FuturePredict 27（截至2026年10月4日）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614476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数据来自各仓库公开文档：Xitadel为正式排行榜（人类最佳=IMC Prosperity真实参赛策略，记80分）；MLBench为基线提交的官方计分；事件预测的概率与分数为示例。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商业模式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环境授权、数据交付、联合训练，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模型每升级一次就要复购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环境授权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交易、AI研究、事件预测等训练环境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按期限和范围收费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29912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29912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数据交付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29912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环境每跑一遍就产出数据：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轨迹、专家示范、评测题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29912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按量收费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18576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18576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联合训练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8418576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用我们的环境，帮客户把模型练强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18576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按项目收费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373075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合作路径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77240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需求与验收标准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047238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3412998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3641598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付费试点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911596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6277356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6505956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授权交付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775954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9141714" y="3986784"/>
            <a:ext cx="2498598" cy="5669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9370314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持续更新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48640" y="48920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模型每升级一次都要换题，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环境和数据要持续更新，客户持续付费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4094" y="1858180"/>
            <a:ext cx="1027425" cy="398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32739" y="1919733"/>
            <a:ext cx="1486804" cy="275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04435" y="1768017"/>
            <a:ext cx="1180081" cy="578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33936" y="1906648"/>
            <a:ext cx="1357747" cy="301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13001" y="1906524"/>
            <a:ext cx="1636286" cy="301752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专家网络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参与研发的从业者来自顶级交易机构，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他们的产出由验证器逐条检验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69748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2816352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20万+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3602736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可触达的专家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352544" y="2816352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7,000+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4352544" y="3602736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已报名的候补专家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156448" y="2816352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出题 · 打分 · 把关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156448" y="3602736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专家在环境里做的事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548640" y="4160520"/>
            <a:ext cx="5408676" cy="13258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822960" y="4315968"/>
            <a:ext cx="48600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数据外包公司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822960" y="4590288"/>
            <a:ext cx="4860036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专家按小时计费，卖的是工时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质量靠人工抽检，项目做完就散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31636" y="4160520"/>
            <a:ext cx="5408676" cy="13258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505956" y="4315968"/>
            <a:ext cx="48600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505956" y="4590288"/>
            <a:ext cx="4860036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一线从业者出题、打分、把关，产出由验证器逐条检验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题目和验证器沉淀成自有环境，客户越多越值钱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标识仅表示从业者任职机构，不代表背书。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15" descr="harvard-in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421" y="1700784"/>
            <a:ext cx="943050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5" descr="stanford-in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10662" y="1700784"/>
            <a:ext cx="621792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5" descr="mit-ink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97604" y="1700784"/>
            <a:ext cx="1145132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5" descr="oxford-ink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55842" y="1815440"/>
            <a:ext cx="1325880" cy="392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5" descr="cambridge-in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17636" y="1700784"/>
            <a:ext cx="699516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5" descr="princeton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053066" y="1830878"/>
            <a:ext cx="1325879" cy="361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5" descr="yale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66190" y="2596896"/>
            <a:ext cx="813512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5" descr="berkeley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658618" y="2702759"/>
            <a:ext cx="1325879" cy="410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5" descr="tsinghua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507230" y="2692201"/>
            <a:ext cx="1325880" cy="431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5" descr="columbia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565392" y="2596896"/>
            <a:ext cx="906780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5" descr="uchicago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204454" y="2745107"/>
            <a:ext cx="1325880" cy="32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5" descr="duke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053066" y="2620598"/>
            <a:ext cx="1325879" cy="574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5" descr="SimReal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高校网络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21所顶尖高校的学生和校友，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覆盖顶级入门岗位和前沿科研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358444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3767328"/>
            <a:ext cx="5408676" cy="11887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/>
          <p:nvPr/>
        </p:nvSpPr>
        <p:spPr>
          <a:xfrm>
            <a:off x="548640" y="3767328"/>
            <a:ext cx="45720" cy="1188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841248" y="3895344"/>
            <a:ext cx="48600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顶级入门岗位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4297680"/>
            <a:ext cx="486003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交易、金融、软件等竞争最激烈的校招岗位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41248" y="4572000"/>
            <a:ext cx="48600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为替人处理日常工作的Agent提供训练数据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6231636" y="3767328"/>
            <a:ext cx="5408676" cy="11887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/>
          <p:nvPr/>
        </p:nvSpPr>
        <p:spPr>
          <a:xfrm>
            <a:off x="6231636" y="3767328"/>
            <a:ext cx="45720" cy="1188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524244" y="3895344"/>
            <a:ext cx="48600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前沿科研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524244" y="4297680"/>
            <a:ext cx="486003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AI、数学与量化研究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524244" y="4572000"/>
            <a:ext cx="48600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为自动做研究的Agent提供训练数据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这两类工作，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正是今天Agent主攻的两个方向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图为网络覆盖的部分高校；标识不代表学校背书。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市场空间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今天85亿美元，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头部公司16个月收入涨27倍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今天：训练数据与RL环境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 / 年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50余家供应商的收入合计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0" y="1572768"/>
            <a:ext cx="640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2030年：公司测算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7,000亿美元 / 年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按AI经济7万亿美元、10%投入训练估算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27倍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Mercor年化收入16个月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从7,500万涨到20亿美元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专家数据需求在爆发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10倍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Mercor估值17个月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从20亿涨到200亿美元（洽谈中）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资本在加注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18倍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Snorkel AI新数据业务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一年增长18倍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需求转向专家和环境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来源：Deedy Das行业图谱（2026年7月）；Mercor（TechCrunch、Dealroom）；Snorkel AI公告（2026年9月）。2030年为公司测算。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竞争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对手强在规模，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我们强在专业领域的打分和速度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8119872" y="1572768"/>
            <a:ext cx="3520440" cy="232257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客户现在的选择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547872" y="159105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强在哪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035040" y="1591056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弱在哪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641080" y="1591056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18653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31520" y="1865376"/>
            <a:ext cx="26517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数据外包公司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Scale AI、Mercor等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547872" y="1865376"/>
            <a:ext cx="21945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人多，实验室关系深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035040" y="1865376"/>
            <a:ext cx="2331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靠堆人，做不了专业打分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641080" y="1865376"/>
            <a:ext cx="2862072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量化出身，打分专业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254203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31520" y="2542032"/>
            <a:ext cx="26517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公开榜单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Alpha Arena等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547872" y="2542032"/>
            <a:ext cx="21945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方便比较模型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035040" y="2542032"/>
            <a:ext cx="2331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只能测不能训，很快被刷爆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641080" y="2542032"/>
            <a:ext cx="2862072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同一个环境既能测也能训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2186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218688"/>
            <a:ext cx="26517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实验室自建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547872" y="3218688"/>
            <a:ext cx="21945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贴合自己的需求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6035040" y="3218688"/>
            <a:ext cx="2331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缺规则缺专家，占研究人力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641080" y="3218688"/>
            <a:ext cx="2862072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现成环境，20万+专家随时调用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89534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411480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为什么难被抄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8912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462272"/>
            <a:ext cx="3483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失效地图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4864608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持续跑前沿模型，知道它们在哪类题上失手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102352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前沿模型24–77分，人类最佳80分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4352544" y="438912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4352544" y="4462272"/>
            <a:ext cx="3483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成本随规模下降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4352544" y="4864608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验证器建好后，合成加自动核验批量生产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4352544" y="5102352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单轮耗时降到1/4，同等资源多完成64%尝试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8156448" y="438912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8156448" y="4462272"/>
            <a:ext cx="3483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能自证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156448" y="4864608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无污染可审计，训练增益可验证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8156448" y="5102352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结果哈希预先公开；训练后+12%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548640" y="548640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对手拼规模，我们拼加速度：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14天上线7款产品，24天做到ARR 4,500万元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为什么是我们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2026年RSI的三个变化，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每一个我们都已经在交付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583680" y="1572768"/>
            <a:ext cx="5056632" cy="327355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2026年的变化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81228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31520" y="2011680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AI开始自己做研究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31520" y="239572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OpenAI研究团队每人每天配3.1个Agent工作日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31520" y="2633472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OpenAI，2026年9月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172200" y="1883664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812280" y="1883664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MLBench：AI做研究的考场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GitHub 302星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87121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31520" y="2999232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AI开始自己改进自己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731520" y="338328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Agent改写自己的代码，8天完成7轮自我改进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" y="3621024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Weco AIDE²，2026年9月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172200" y="2871216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812280" y="2871216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交易环境里跑通RSI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没见过的交易日上+12%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8587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986784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卡点变成环境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" y="437083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环境一乱，最强Agent通过率从83.9%掉到57.6%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31520" y="4608576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Breaking the Environment Wall，2026年9月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172200" y="3858768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812280" y="3858768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20万+专家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3周交付数百万需求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8463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/>
          <p:nvPr/>
        </p:nvSpPr>
        <p:spPr>
          <a:xfrm>
            <a:off x="548640" y="5138928"/>
            <a:ext cx="11091672" cy="6217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777240" y="5138928"/>
            <a:ext cx="118872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所以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828800" y="5138928"/>
            <a:ext cx="962863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RSI卡在环境，环境正是衍真的研究核心。</a:t>
            </a:r>
            <a:r>
              <a:rPr lang="zh-CN" sz="13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多数AI新实验室还没有收入，衍真成立24天ARR 4,500万元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来源：OpenAI（2026年9月6日）；Weco AI，arXiv 2609.26457；Breaking the Environment Wall，arXiv 2609.29773；Deedy Das新实验室名单（2026年5月）。+12%为多次独立复现中的最佳一次。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当前进展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2026年9月10日成立，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24天做到ARR 4,500万元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901952"/>
            <a:ext cx="11091672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8096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第14天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7款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产品上线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交易环境同期跑通训练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3390138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3609594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第3周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390138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数百万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390138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交付需求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31636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451092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第24天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31636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4,500万元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231636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ARR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231636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人民币，零外部融资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9073134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9292590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第24天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073134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602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073134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GitHub星标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9073134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5个开源基准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3401568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“第N天”从成立日算起；截至2026年10月4日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387705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客户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41148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2家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477316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前沿实验室在谈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429000" y="387705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训练基础设施：同样算力，跑更多训练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3429000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3429000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1/4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3429000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单轮耗时降到1/4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6257544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6257544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+64%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6257544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同样资源，多完成64%的训练尝试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9086088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9086088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086088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存档耗时减少1/3，存档次数减半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基础设施指标为公司内部测试，口径不同，不能相乘或相加。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本轮融资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融资4,000万元，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投向环境、RSI和交付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544824" cy="78638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04672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本轮融资（人民币）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04672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4322064" y="1517904"/>
            <a:ext cx="3544824" cy="7863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4578096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投后估值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4578096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5亿元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8095488" y="1517904"/>
            <a:ext cx="3544824" cy="7863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8351520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本轮出让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8351520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8%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487168"/>
            <a:ext cx="354482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22960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22960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环境与数据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22960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把交易的打法复制到更多专业领域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22960" y="4114800"/>
            <a:ext cx="29961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22960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22960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环境工程师  ·  专家网络扩容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22960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本轮目标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22960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10+个专业领域环境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322064" y="2487168"/>
            <a:ext cx="3544824" cy="30175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4596384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596384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RSI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4596384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把自我进化扩到更大的模型、更多的行业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4596384" y="4114800"/>
            <a:ext cx="299618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4596384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4596384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算力  ·  研究员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4596384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本轮目标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4596384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开源大模型实现RSI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8095488" y="2487168"/>
            <a:ext cx="354482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8369808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8369808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客户交付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8369808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前沿实验室从试点做到长期合同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8369808" y="4114800"/>
            <a:ext cx="29961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8369808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369808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交付团队  ·  商务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8369808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本轮目标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8369808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累计20家客户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548640" y="576072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business@simreal.co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·   </a:t>
            </a: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simreal.com.cn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我们卖环境、数据和评测：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前沿实验室现在付费，企业和个人Agent是下一步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20040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92224"/>
            <a:ext cx="29291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现在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048256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前沿AI实验室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761488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他们买什么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2999232"/>
            <a:ext cx="29291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环境、经过验证的训练题和评测，用来做后训练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41248" y="3767328"/>
            <a:ext cx="2929128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41248" y="3895344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怎么收费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41248" y="4133088"/>
            <a:ext cx="292912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按环境、按题计费，签季度合同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337304" y="1572768"/>
            <a:ext cx="3514344" cy="32004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29912" y="1792224"/>
            <a:ext cx="29291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下一步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29912" y="2048256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企业Agent团队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4629912" y="2761488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他们买什么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4629912" y="2999232"/>
            <a:ext cx="29291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定制环境和验收评测，证明Agent上线前能把活干好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629912" y="376732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629912" y="3895344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怎么收费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629912" y="4133088"/>
            <a:ext cx="292912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先付费试点，再签年度授权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25968" y="1572768"/>
            <a:ext cx="3514344" cy="32004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18576" y="1792224"/>
            <a:ext cx="29291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再下一步 · C端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418576" y="2048256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个人用户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418576" y="2761488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他们买什么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18576" y="2999232"/>
            <a:ext cx="29291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快速练习，让Agent贴合个人习惯后再替人办事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418576" y="376732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418576" y="3895344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怎么收费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418576" y="4133088"/>
            <a:ext cx="292912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按月订阅，或经Agent应用分发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同一套环境服务三类客户，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模型每升级一次都需要新题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